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28" r:id="rId3"/>
    <p:sldId id="425" r:id="rId4"/>
    <p:sldId id="422" r:id="rId5"/>
    <p:sldId id="423" r:id="rId6"/>
    <p:sldId id="438" r:id="rId7"/>
    <p:sldId id="437" r:id="rId8"/>
    <p:sldId id="439" r:id="rId9"/>
    <p:sldId id="427" r:id="rId10"/>
    <p:sldId id="428" r:id="rId11"/>
    <p:sldId id="426" r:id="rId12"/>
    <p:sldId id="440" r:id="rId13"/>
    <p:sldId id="424" r:id="rId14"/>
    <p:sldId id="285" r:id="rId15"/>
    <p:sldId id="407" r:id="rId16"/>
    <p:sldId id="289" r:id="rId17"/>
    <p:sldId id="416" r:id="rId18"/>
    <p:sldId id="415" r:id="rId19"/>
    <p:sldId id="419" r:id="rId20"/>
    <p:sldId id="417" r:id="rId21"/>
    <p:sldId id="418" r:id="rId22"/>
    <p:sldId id="435" r:id="rId23"/>
    <p:sldId id="436" r:id="rId24"/>
    <p:sldId id="414"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琦玥 李" initials="琦玥" lastIdx="2" clrIdx="0">
    <p:extLst>
      <p:ext uri="{19B8F6BF-5375-455C-9EA6-DF929625EA0E}">
        <p15:presenceInfo xmlns:p15="http://schemas.microsoft.com/office/powerpoint/2012/main" userId="ee7015cbc0615bf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83019" autoAdjust="0"/>
  </p:normalViewPr>
  <p:slideViewPr>
    <p:cSldViewPr snapToGrid="0">
      <p:cViewPr varScale="1">
        <p:scale>
          <a:sx n="72" d="100"/>
          <a:sy n="72" d="100"/>
        </p:scale>
        <p:origin x="100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0A9E4A-0759-4964-9856-65C32428782C}" type="datetimeFigureOut">
              <a:rPr lang="zh-CN" altLang="en-US" smtClean="0"/>
              <a:t>2024/3/15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2ABA14-E4A8-40DA-B7B0-41950E132D30}" type="slidenum">
              <a:rPr lang="zh-CN" altLang="en-US" smtClean="0"/>
              <a:t>‹#›</a:t>
            </a:fld>
            <a:endParaRPr lang="zh-CN" altLang="en-US"/>
          </a:p>
        </p:txBody>
      </p:sp>
    </p:spTree>
    <p:extLst>
      <p:ext uri="{BB962C8B-B14F-4D97-AF65-F5344CB8AC3E}">
        <p14:creationId xmlns:p14="http://schemas.microsoft.com/office/powerpoint/2010/main" val="1881017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手动</a:t>
            </a:r>
            <a:r>
              <a:rPr lang="en-US" altLang="zh-CN" dirty="0"/>
              <a:t>GRS</a:t>
            </a:r>
            <a:r>
              <a:rPr lang="zh-CN" altLang="en-US" dirty="0"/>
              <a:t>评分有相当大的差异</a:t>
            </a:r>
            <a:r>
              <a:rPr lang="en-US" altLang="zh-CN" dirty="0"/>
              <a:t>(6-30)</a:t>
            </a:r>
            <a:r>
              <a:rPr lang="zh-CN" altLang="en-US" dirty="0"/>
              <a:t>，而随附的视频大多具有相似的外观和背景挑战</a:t>
            </a:r>
            <a:r>
              <a:rPr lang="en-US" altLang="zh-CN" dirty="0"/>
              <a:t>:</a:t>
            </a:r>
            <a:r>
              <a:rPr lang="zh-CN" altLang="en-US" dirty="0"/>
              <a:t>仅使用总分值来区分这些分数，以便进行监督回归任务固有的降维近年来，对比回归机制在类似的行动质量评价</a:t>
            </a:r>
            <a:r>
              <a:rPr lang="en-US" altLang="zh-CN" dirty="0"/>
              <a:t>(AQA)</a:t>
            </a:r>
            <a:r>
              <a:rPr lang="zh-CN" altLang="en-US" dirty="0"/>
              <a:t>任务中显示出前景。鼓励功能编码不同视频之间的差异。</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2</a:t>
            </a:fld>
            <a:endParaRPr lang="zh-CN" altLang="en-US"/>
          </a:p>
        </p:txBody>
      </p:sp>
    </p:spTree>
    <p:extLst>
      <p:ext uri="{BB962C8B-B14F-4D97-AF65-F5344CB8AC3E}">
        <p14:creationId xmlns:p14="http://schemas.microsoft.com/office/powerpoint/2010/main" val="1927188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一种新的对比回归变压器模型</a:t>
            </a:r>
            <a:r>
              <a:rPr lang="en-US" altLang="zh-CN" dirty="0"/>
              <a:t>——</a:t>
            </a:r>
            <a:r>
              <a:rPr lang="zh-CN" altLang="en-US" dirty="0"/>
              <a:t>逆变变压器特别关注结构特征，以表达每个手术执行</a:t>
            </a:r>
            <a:r>
              <a:rPr lang="en-US" altLang="zh-CN" dirty="0"/>
              <a:t>(</a:t>
            </a:r>
            <a:r>
              <a:rPr lang="zh-CN" altLang="en-US" dirty="0"/>
              <a:t>即测试视频</a:t>
            </a:r>
            <a:r>
              <a:rPr lang="en-US" altLang="zh-CN" dirty="0"/>
              <a:t>)</a:t>
            </a:r>
            <a:r>
              <a:rPr lang="zh-CN" altLang="en-US" dirty="0"/>
              <a:t>与参考视频相比所展示的相似程度。我们的模型关注最佳视频并将其作为参考，学习输入视频的表现在时空上如何偏离参考对回归模型进行了优化，用于估计两次执行之间</a:t>
            </a:r>
            <a:r>
              <a:rPr lang="en-US" altLang="zh-CN" dirty="0"/>
              <a:t>GRS</a:t>
            </a:r>
            <a:r>
              <a:rPr lang="zh-CN" altLang="en-US" dirty="0"/>
              <a:t>评分的差异。</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3</a:t>
            </a:fld>
            <a:endParaRPr lang="zh-CN" altLang="en-US"/>
          </a:p>
        </p:txBody>
      </p:sp>
    </p:spTree>
    <p:extLst>
      <p:ext uri="{BB962C8B-B14F-4D97-AF65-F5344CB8AC3E}">
        <p14:creationId xmlns:p14="http://schemas.microsoft.com/office/powerpoint/2010/main" val="1059182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4</a:t>
            </a:fld>
            <a:endParaRPr lang="zh-CN" altLang="en-US"/>
          </a:p>
        </p:txBody>
      </p:sp>
    </p:spTree>
    <p:extLst>
      <p:ext uri="{BB962C8B-B14F-4D97-AF65-F5344CB8AC3E}">
        <p14:creationId xmlns:p14="http://schemas.microsoft.com/office/powerpoint/2010/main" val="4049847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5</a:t>
            </a:fld>
            <a:endParaRPr lang="zh-CN" altLang="en-US"/>
          </a:p>
        </p:txBody>
      </p:sp>
    </p:spTree>
    <p:extLst>
      <p:ext uri="{BB962C8B-B14F-4D97-AF65-F5344CB8AC3E}">
        <p14:creationId xmlns:p14="http://schemas.microsoft.com/office/powerpoint/2010/main" val="3349393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使用每帧手势标签进行训练，从而生成捕获帧级局部偏差的特征，涉及构成每个任务的手势的顺序和持续时间</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在</a:t>
            </a:r>
            <a:r>
              <a:rPr lang="en-US" altLang="zh-CN" b="0" i="0" dirty="0">
                <a:solidFill>
                  <a:srgbClr val="2A2B2E"/>
                </a:solidFill>
                <a:effectLst/>
                <a:latin typeface="PingFang SC"/>
              </a:rPr>
              <a:t>GRS</a:t>
            </a:r>
            <a:r>
              <a:rPr lang="zh-CN" altLang="en-US" b="0" i="0" dirty="0">
                <a:solidFill>
                  <a:srgbClr val="2A2B2E"/>
                </a:solidFill>
                <a:effectLst/>
                <a:latin typeface="PingFang SC"/>
              </a:rPr>
              <a:t>标签监督下的训练将提供在全球层面上表达两个视频之间相似</a:t>
            </a:r>
            <a:r>
              <a:rPr lang="en-US" altLang="zh-CN" b="0" i="0" dirty="0">
                <a:solidFill>
                  <a:srgbClr val="2A2B2E"/>
                </a:solidFill>
                <a:effectLst/>
                <a:latin typeface="PingFang SC"/>
              </a:rPr>
              <a:t>/</a:t>
            </a:r>
            <a:r>
              <a:rPr lang="zh-CN" altLang="en-US" b="0" i="0" dirty="0">
                <a:solidFill>
                  <a:srgbClr val="2A2B2E"/>
                </a:solidFill>
                <a:effectLst/>
                <a:latin typeface="PingFang SC"/>
              </a:rPr>
              <a:t>偏差的特征。</a:t>
            </a:r>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6</a:t>
            </a:fld>
            <a:endParaRPr lang="zh-CN" altLang="en-US"/>
          </a:p>
        </p:txBody>
      </p:sp>
    </p:spTree>
    <p:extLst>
      <p:ext uri="{BB962C8B-B14F-4D97-AF65-F5344CB8AC3E}">
        <p14:creationId xmlns:p14="http://schemas.microsoft.com/office/powerpoint/2010/main" val="2324658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1800" b="0" i="0" u="none" strike="noStrike" baseline="0" dirty="0">
                <a:latin typeface="Times-Roman"/>
              </a:rPr>
              <a:t>However, simple concatenation does not encourage the generation of features representing the differences between the two videos.</a:t>
            </a:r>
          </a:p>
          <a:p>
            <a:pPr algn="l"/>
            <a:r>
              <a:rPr lang="zh-CN" altLang="en-US" dirty="0"/>
              <a:t>不鼓励生成表示两个视频之间差异的特征</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7</a:t>
            </a:fld>
            <a:endParaRPr lang="zh-CN" altLang="en-US"/>
          </a:p>
        </p:txBody>
      </p:sp>
    </p:spTree>
    <p:extLst>
      <p:ext uri="{BB962C8B-B14F-4D97-AF65-F5344CB8AC3E}">
        <p14:creationId xmlns:p14="http://schemas.microsoft.com/office/powerpoint/2010/main" val="163140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8</a:t>
            </a:fld>
            <a:endParaRPr lang="zh-CN" altLang="en-US"/>
          </a:p>
        </p:txBody>
      </p:sp>
    </p:spTree>
    <p:extLst>
      <p:ext uri="{BB962C8B-B14F-4D97-AF65-F5344CB8AC3E}">
        <p14:creationId xmlns:p14="http://schemas.microsoft.com/office/powerpoint/2010/main" val="485490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9</a:t>
            </a:fld>
            <a:endParaRPr lang="zh-CN" altLang="en-US"/>
          </a:p>
        </p:txBody>
      </p:sp>
    </p:spTree>
    <p:extLst>
      <p:ext uri="{BB962C8B-B14F-4D97-AF65-F5344CB8AC3E}">
        <p14:creationId xmlns:p14="http://schemas.microsoft.com/office/powerpoint/2010/main" val="682218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10</a:t>
            </a:fld>
            <a:endParaRPr lang="zh-CN" altLang="en-US"/>
          </a:p>
        </p:txBody>
      </p:sp>
    </p:spTree>
    <p:extLst>
      <p:ext uri="{BB962C8B-B14F-4D97-AF65-F5344CB8AC3E}">
        <p14:creationId xmlns:p14="http://schemas.microsoft.com/office/powerpoint/2010/main" val="2466917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11</a:t>
            </a:fld>
            <a:endParaRPr lang="zh-CN" altLang="en-US"/>
          </a:p>
        </p:txBody>
      </p:sp>
    </p:spTree>
    <p:extLst>
      <p:ext uri="{BB962C8B-B14F-4D97-AF65-F5344CB8AC3E}">
        <p14:creationId xmlns:p14="http://schemas.microsoft.com/office/powerpoint/2010/main" val="3346130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12</a:t>
            </a:fld>
            <a:endParaRPr lang="zh-CN" altLang="en-US"/>
          </a:p>
        </p:txBody>
      </p:sp>
    </p:spTree>
    <p:extLst>
      <p:ext uri="{BB962C8B-B14F-4D97-AF65-F5344CB8AC3E}">
        <p14:creationId xmlns:p14="http://schemas.microsoft.com/office/powerpoint/2010/main" val="1232259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2ABA14-E4A8-40DA-B7B0-41950E132D30}" type="slidenum">
              <a:rPr lang="zh-CN" altLang="en-US" smtClean="0"/>
              <a:t>13</a:t>
            </a:fld>
            <a:endParaRPr lang="zh-CN" altLang="en-US"/>
          </a:p>
        </p:txBody>
      </p:sp>
    </p:spTree>
    <p:extLst>
      <p:ext uri="{BB962C8B-B14F-4D97-AF65-F5344CB8AC3E}">
        <p14:creationId xmlns:p14="http://schemas.microsoft.com/office/powerpoint/2010/main" val="1943203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5F9A1-0690-9F52-6E4C-02EFC73D1A4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F00E950-5A63-2FAB-48F2-38D46116B7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D1AE32F-0EE9-E009-F342-F46AD2262E0A}"/>
              </a:ext>
            </a:extLst>
          </p:cNvPr>
          <p:cNvSpPr>
            <a:spLocks noGrp="1"/>
          </p:cNvSpPr>
          <p:nvPr>
            <p:ph type="dt" sz="half" idx="10"/>
          </p:nvPr>
        </p:nvSpPr>
        <p:spPr/>
        <p:txBody>
          <a:bodyPr/>
          <a:lstStyle/>
          <a:p>
            <a:fld id="{5DEE46E2-5CC7-453D-88A4-D771605C39FA}" type="datetime1">
              <a:rPr lang="zh-CN" altLang="en-US" smtClean="0"/>
              <a:t>2024/3/15</a:t>
            </a:fld>
            <a:endParaRPr lang="zh-CN" altLang="en-US"/>
          </a:p>
        </p:txBody>
      </p:sp>
      <p:sp>
        <p:nvSpPr>
          <p:cNvPr id="5" name="页脚占位符 4">
            <a:extLst>
              <a:ext uri="{FF2B5EF4-FFF2-40B4-BE49-F238E27FC236}">
                <a16:creationId xmlns:a16="http://schemas.microsoft.com/office/drawing/2014/main" id="{E5D8DD50-5F26-B5FF-0407-7D48124D9F3D}"/>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586B665D-BF8F-3B19-62F0-5BFB6C03AE2D}"/>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776445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B39521-E985-90EB-6AC6-421E9A5722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63467D3-69D1-211B-A2D9-AD12996CB01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F63A57-3F04-B0C9-5CF7-6A86E2B92327}"/>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9D32FE96-40B1-0A67-9E38-7CC8A1EC1DCF}"/>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017539EF-D233-D0D1-2288-2799B4FE0B0A}"/>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156959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C450E5-FF71-A70A-5238-86C325E01C2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569328F-FB28-F827-982D-3273D44858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2B5B6E0-2903-3825-61F6-8A4CFA8D56F4}"/>
              </a:ext>
            </a:extLst>
          </p:cNvPr>
          <p:cNvSpPr>
            <a:spLocks noGrp="1"/>
          </p:cNvSpPr>
          <p:nvPr>
            <p:ph type="dt" sz="half" idx="10"/>
          </p:nvPr>
        </p:nvSpPr>
        <p:spPr/>
        <p:txBody>
          <a:bodyPr/>
          <a:lstStyle/>
          <a:p>
            <a:fld id="{ED7523DD-0761-48D9-A072-88FAAD8A2B8A}" type="datetime1">
              <a:rPr lang="zh-CN" altLang="en-US" smtClean="0"/>
              <a:t>2024/3/15</a:t>
            </a:fld>
            <a:endParaRPr lang="zh-CN" altLang="en-US"/>
          </a:p>
        </p:txBody>
      </p:sp>
      <p:sp>
        <p:nvSpPr>
          <p:cNvPr id="5" name="页脚占位符 4">
            <a:extLst>
              <a:ext uri="{FF2B5EF4-FFF2-40B4-BE49-F238E27FC236}">
                <a16:creationId xmlns:a16="http://schemas.microsoft.com/office/drawing/2014/main" id="{DEBC5BC9-2950-3D31-90F0-71A5350DCB13}"/>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65745345-616F-1CDE-C300-85763894061B}"/>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03394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6C70F-DD6A-EC3D-0EB2-330B2D987C1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5EB655-23DB-370C-262B-A28D2A16262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33426C1-4B1A-F8FF-1D4C-FEEA6A70C32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E298D47-7833-8E76-5DA4-AC43E445F936}"/>
              </a:ext>
            </a:extLst>
          </p:cNvPr>
          <p:cNvSpPr>
            <a:spLocks noGrp="1"/>
          </p:cNvSpPr>
          <p:nvPr>
            <p:ph type="dt" sz="half" idx="10"/>
          </p:nvPr>
        </p:nvSpPr>
        <p:spPr/>
        <p:txBody>
          <a:bodyPr/>
          <a:lstStyle/>
          <a:p>
            <a:fld id="{5CCC982C-C85D-4FDB-9E5A-8333A69BCC27}" type="datetime1">
              <a:rPr lang="zh-CN" altLang="en-US" smtClean="0"/>
              <a:t>2024/3/15</a:t>
            </a:fld>
            <a:endParaRPr lang="zh-CN" altLang="en-US"/>
          </a:p>
        </p:txBody>
      </p:sp>
      <p:sp>
        <p:nvSpPr>
          <p:cNvPr id="6" name="页脚占位符 5">
            <a:extLst>
              <a:ext uri="{FF2B5EF4-FFF2-40B4-BE49-F238E27FC236}">
                <a16:creationId xmlns:a16="http://schemas.microsoft.com/office/drawing/2014/main" id="{147E6CA1-46EB-CEAC-2925-F5F61100032F}"/>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FB0855ED-767F-A0C5-287E-4B6A91261F8B}"/>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885803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E99C2B-A92B-6567-D905-08A6375B80E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DFE2485-1C8F-8BB6-D0BB-169E987BCF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300396-13FA-F275-B374-0A3F884FBAB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BE2F9F3-CF47-62A8-195B-2CEFED4855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5475F61-D3EF-9603-AAA5-CAC812555BB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EFDEA3A-BA09-86B4-A55C-60A4BBB298F9}"/>
              </a:ext>
            </a:extLst>
          </p:cNvPr>
          <p:cNvSpPr>
            <a:spLocks noGrp="1"/>
          </p:cNvSpPr>
          <p:nvPr>
            <p:ph type="dt" sz="half" idx="10"/>
          </p:nvPr>
        </p:nvSpPr>
        <p:spPr/>
        <p:txBody>
          <a:bodyPr/>
          <a:lstStyle/>
          <a:p>
            <a:fld id="{F158F8F2-60C9-4021-B43C-C1DAB43CD9E6}" type="datetime1">
              <a:rPr lang="zh-CN" altLang="en-US" smtClean="0"/>
              <a:t>2024/3/15</a:t>
            </a:fld>
            <a:endParaRPr lang="zh-CN" altLang="en-US"/>
          </a:p>
        </p:txBody>
      </p:sp>
      <p:sp>
        <p:nvSpPr>
          <p:cNvPr id="8" name="页脚占位符 7">
            <a:extLst>
              <a:ext uri="{FF2B5EF4-FFF2-40B4-BE49-F238E27FC236}">
                <a16:creationId xmlns:a16="http://schemas.microsoft.com/office/drawing/2014/main" id="{A277037E-EC93-518C-638E-58B82546EE95}"/>
              </a:ext>
            </a:extLst>
          </p:cNvPr>
          <p:cNvSpPr>
            <a:spLocks noGrp="1"/>
          </p:cNvSpPr>
          <p:nvPr>
            <p:ph type="ftr" sz="quarter" idx="11"/>
          </p:nvPr>
        </p:nvSpPr>
        <p:spPr/>
        <p:txBody>
          <a:bodyPr/>
          <a:lstStyle/>
          <a:p>
            <a:r>
              <a:rPr lang="en-US" altLang="zh-CN"/>
              <a:t>lqy</a:t>
            </a:r>
            <a:endParaRPr lang="zh-CN" altLang="en-US"/>
          </a:p>
        </p:txBody>
      </p:sp>
      <p:sp>
        <p:nvSpPr>
          <p:cNvPr id="9" name="灯片编号占位符 8">
            <a:extLst>
              <a:ext uri="{FF2B5EF4-FFF2-40B4-BE49-F238E27FC236}">
                <a16:creationId xmlns:a16="http://schemas.microsoft.com/office/drawing/2014/main" id="{687DFB6F-7FF7-9A0E-3D66-78B5E0BC3536}"/>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6123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45031-D372-105D-5296-FE5DAC7C3CC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5256C2-5FCE-3106-8FE2-7B30BA723155}"/>
              </a:ext>
            </a:extLst>
          </p:cNvPr>
          <p:cNvSpPr>
            <a:spLocks noGrp="1"/>
          </p:cNvSpPr>
          <p:nvPr>
            <p:ph type="dt" sz="half" idx="10"/>
          </p:nvPr>
        </p:nvSpPr>
        <p:spPr/>
        <p:txBody>
          <a:bodyPr/>
          <a:lstStyle/>
          <a:p>
            <a:fld id="{426F321C-952D-4214-B766-AF94C9E3CAFF}" type="datetime1">
              <a:rPr lang="zh-CN" altLang="en-US" smtClean="0"/>
              <a:t>2024/3/15</a:t>
            </a:fld>
            <a:endParaRPr lang="zh-CN" altLang="en-US"/>
          </a:p>
        </p:txBody>
      </p:sp>
      <p:sp>
        <p:nvSpPr>
          <p:cNvPr id="4" name="页脚占位符 3">
            <a:extLst>
              <a:ext uri="{FF2B5EF4-FFF2-40B4-BE49-F238E27FC236}">
                <a16:creationId xmlns:a16="http://schemas.microsoft.com/office/drawing/2014/main" id="{FF1AF100-952E-1B3C-6496-3D8AA076BC78}"/>
              </a:ext>
            </a:extLst>
          </p:cNvPr>
          <p:cNvSpPr>
            <a:spLocks noGrp="1"/>
          </p:cNvSpPr>
          <p:nvPr>
            <p:ph type="ftr" sz="quarter" idx="11"/>
          </p:nvPr>
        </p:nvSpPr>
        <p:spPr/>
        <p:txBody>
          <a:bodyPr/>
          <a:lstStyle/>
          <a:p>
            <a:r>
              <a:rPr lang="en-US" altLang="zh-CN"/>
              <a:t>lqy</a:t>
            </a:r>
            <a:endParaRPr lang="zh-CN" altLang="en-US"/>
          </a:p>
        </p:txBody>
      </p:sp>
      <p:sp>
        <p:nvSpPr>
          <p:cNvPr id="5" name="灯片编号占位符 4">
            <a:extLst>
              <a:ext uri="{FF2B5EF4-FFF2-40B4-BE49-F238E27FC236}">
                <a16:creationId xmlns:a16="http://schemas.microsoft.com/office/drawing/2014/main" id="{FE6ACC92-F59F-7B22-4047-DABBD190560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467392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641B9AF-2066-98C2-2F70-1828257E257F}"/>
              </a:ext>
            </a:extLst>
          </p:cNvPr>
          <p:cNvSpPr>
            <a:spLocks noGrp="1"/>
          </p:cNvSpPr>
          <p:nvPr>
            <p:ph type="dt" sz="half" idx="10"/>
          </p:nvPr>
        </p:nvSpPr>
        <p:spPr/>
        <p:txBody>
          <a:bodyPr/>
          <a:lstStyle/>
          <a:p>
            <a:fld id="{3392C486-05C0-48DE-8AE5-6121A84E55A2}" type="datetime1">
              <a:rPr lang="zh-CN" altLang="en-US" smtClean="0"/>
              <a:t>2024/3/15</a:t>
            </a:fld>
            <a:endParaRPr lang="zh-CN" altLang="en-US"/>
          </a:p>
        </p:txBody>
      </p:sp>
      <p:sp>
        <p:nvSpPr>
          <p:cNvPr id="3" name="页脚占位符 2">
            <a:extLst>
              <a:ext uri="{FF2B5EF4-FFF2-40B4-BE49-F238E27FC236}">
                <a16:creationId xmlns:a16="http://schemas.microsoft.com/office/drawing/2014/main" id="{C4B06837-4BFC-62F5-46ED-8AE659E67452}"/>
              </a:ext>
            </a:extLst>
          </p:cNvPr>
          <p:cNvSpPr>
            <a:spLocks noGrp="1"/>
          </p:cNvSpPr>
          <p:nvPr>
            <p:ph type="ftr" sz="quarter" idx="11"/>
          </p:nvPr>
        </p:nvSpPr>
        <p:spPr/>
        <p:txBody>
          <a:bodyPr/>
          <a:lstStyle/>
          <a:p>
            <a:r>
              <a:rPr lang="en-US" altLang="zh-CN"/>
              <a:t>lqy</a:t>
            </a:r>
            <a:endParaRPr lang="zh-CN" altLang="en-US"/>
          </a:p>
        </p:txBody>
      </p:sp>
      <p:sp>
        <p:nvSpPr>
          <p:cNvPr id="4" name="灯片编号占位符 3">
            <a:extLst>
              <a:ext uri="{FF2B5EF4-FFF2-40B4-BE49-F238E27FC236}">
                <a16:creationId xmlns:a16="http://schemas.microsoft.com/office/drawing/2014/main" id="{023A3226-376E-3EF4-3082-F92D5202AEB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141584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335523-4003-48DF-C8D9-664D03517D9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063AA1E-88E9-A968-D904-740D3E8058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70CA983-4A52-C228-59EA-8381B768B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3D07EE0-6861-DBFC-C132-708F05F7AC2C}"/>
              </a:ext>
            </a:extLst>
          </p:cNvPr>
          <p:cNvSpPr>
            <a:spLocks noGrp="1"/>
          </p:cNvSpPr>
          <p:nvPr>
            <p:ph type="dt" sz="half" idx="10"/>
          </p:nvPr>
        </p:nvSpPr>
        <p:spPr/>
        <p:txBody>
          <a:bodyPr/>
          <a:lstStyle/>
          <a:p>
            <a:fld id="{E4A4F0E9-2C6C-4841-ACA4-86E4382E8656}" type="datetime1">
              <a:rPr lang="zh-CN" altLang="en-US" smtClean="0"/>
              <a:t>2024/3/15</a:t>
            </a:fld>
            <a:endParaRPr lang="zh-CN" altLang="en-US"/>
          </a:p>
        </p:txBody>
      </p:sp>
      <p:sp>
        <p:nvSpPr>
          <p:cNvPr id="6" name="页脚占位符 5">
            <a:extLst>
              <a:ext uri="{FF2B5EF4-FFF2-40B4-BE49-F238E27FC236}">
                <a16:creationId xmlns:a16="http://schemas.microsoft.com/office/drawing/2014/main" id="{459A823A-A172-1203-6E7D-F5994CE97956}"/>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A3920480-9F11-3BDC-7758-55B0500A5779}"/>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723682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D525F-D728-7D12-3911-F94130CF2CE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071D9CB-8823-0234-20E3-E9C4B6F62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06B7F5-A0FC-B2A3-CF48-E82298D3E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94F1D10-2DFF-66CE-0AC9-8A5C906FAC39}"/>
              </a:ext>
            </a:extLst>
          </p:cNvPr>
          <p:cNvSpPr>
            <a:spLocks noGrp="1"/>
          </p:cNvSpPr>
          <p:nvPr>
            <p:ph type="dt" sz="half" idx="10"/>
          </p:nvPr>
        </p:nvSpPr>
        <p:spPr/>
        <p:txBody>
          <a:bodyPr/>
          <a:lstStyle/>
          <a:p>
            <a:fld id="{27E92021-1565-4C01-BF64-E189B982E6DB}" type="datetime1">
              <a:rPr lang="zh-CN" altLang="en-US" smtClean="0"/>
              <a:t>2024/3/15</a:t>
            </a:fld>
            <a:endParaRPr lang="zh-CN" altLang="en-US"/>
          </a:p>
        </p:txBody>
      </p:sp>
      <p:sp>
        <p:nvSpPr>
          <p:cNvPr id="6" name="页脚占位符 5">
            <a:extLst>
              <a:ext uri="{FF2B5EF4-FFF2-40B4-BE49-F238E27FC236}">
                <a16:creationId xmlns:a16="http://schemas.microsoft.com/office/drawing/2014/main" id="{B9610AE5-311D-A583-89D8-C711CFAF6BD2}"/>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A53A88F2-F65D-49D9-A8C3-578D65DC3102}"/>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207464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402DEA-5CB3-A9CB-4237-BA007D7DC86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917644-2125-CA43-B082-F6A56995C16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9EA9C6D-34A8-B2BC-C079-BCFE9EA9BB62}"/>
              </a:ext>
            </a:extLst>
          </p:cNvPr>
          <p:cNvSpPr>
            <a:spLocks noGrp="1"/>
          </p:cNvSpPr>
          <p:nvPr>
            <p:ph type="dt" sz="half" idx="10"/>
          </p:nvPr>
        </p:nvSpPr>
        <p:spPr/>
        <p:txBody>
          <a:bodyPr/>
          <a:lstStyle/>
          <a:p>
            <a:fld id="{64FDAB72-A1C1-4907-A5D9-300D78DDF13D}" type="datetime1">
              <a:rPr lang="zh-CN" altLang="en-US" smtClean="0"/>
              <a:t>2024/3/15</a:t>
            </a:fld>
            <a:endParaRPr lang="zh-CN" altLang="en-US"/>
          </a:p>
        </p:txBody>
      </p:sp>
      <p:sp>
        <p:nvSpPr>
          <p:cNvPr id="5" name="页脚占位符 4">
            <a:extLst>
              <a:ext uri="{FF2B5EF4-FFF2-40B4-BE49-F238E27FC236}">
                <a16:creationId xmlns:a16="http://schemas.microsoft.com/office/drawing/2014/main" id="{F7A6AD81-4502-EAF8-AF62-2F922FD2E89C}"/>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1C4CD785-5CD2-D550-EA31-8C3A71D24253}"/>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107662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664AE5-2175-3FCD-3056-9840D2F583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DA3F94F-EB43-73DD-83B2-4950D750E56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7B3F7B0-30B5-CDF6-83E8-365F977E7BAF}"/>
              </a:ext>
            </a:extLst>
          </p:cNvPr>
          <p:cNvSpPr>
            <a:spLocks noGrp="1"/>
          </p:cNvSpPr>
          <p:nvPr>
            <p:ph type="dt" sz="half" idx="10"/>
          </p:nvPr>
        </p:nvSpPr>
        <p:spPr/>
        <p:txBody>
          <a:bodyPr/>
          <a:lstStyle/>
          <a:p>
            <a:fld id="{19278E53-48F3-4F60-9258-70FB4868ACF6}" type="datetime1">
              <a:rPr lang="zh-CN" altLang="en-US" smtClean="0"/>
              <a:t>2024/3/15</a:t>
            </a:fld>
            <a:endParaRPr lang="zh-CN" altLang="en-US"/>
          </a:p>
        </p:txBody>
      </p:sp>
      <p:sp>
        <p:nvSpPr>
          <p:cNvPr id="5" name="页脚占位符 4">
            <a:extLst>
              <a:ext uri="{FF2B5EF4-FFF2-40B4-BE49-F238E27FC236}">
                <a16:creationId xmlns:a16="http://schemas.microsoft.com/office/drawing/2014/main" id="{949C15C7-2396-BDC1-3662-8033F0AF6740}"/>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637C4850-ECEF-DD93-F734-A7E5B5EE0CE6}"/>
              </a:ext>
            </a:extLst>
          </p:cNvPr>
          <p:cNvSpPr>
            <a:spLocks noGrp="1"/>
          </p:cNvSpPr>
          <p:nvPr>
            <p:ph type="sldNum" sz="quarter" idx="12"/>
          </p:nvPr>
        </p:nvSpPr>
        <p:spPr/>
        <p:txBody>
          <a:body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597650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6E6E89-0CB6-0A78-6FFB-06EA6B706C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8767239-88CA-CE88-E876-BE1F67173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0C8342E-89C8-2246-3EE2-106BE7B28D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8AFA3C-2BB7-4B8A-96D4-7CEC45A0E1CC}" type="datetime1">
              <a:rPr lang="zh-CN" altLang="en-US" smtClean="0"/>
              <a:t>2024/3/15</a:t>
            </a:fld>
            <a:endParaRPr lang="zh-CN" altLang="en-US"/>
          </a:p>
        </p:txBody>
      </p:sp>
      <p:sp>
        <p:nvSpPr>
          <p:cNvPr id="5" name="页脚占位符 4">
            <a:extLst>
              <a:ext uri="{FF2B5EF4-FFF2-40B4-BE49-F238E27FC236}">
                <a16:creationId xmlns:a16="http://schemas.microsoft.com/office/drawing/2014/main" id="{789532D6-F4AC-186B-C970-B6B14896D5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lqy</a:t>
            </a:r>
            <a:endParaRPr lang="zh-CN" altLang="en-US"/>
          </a:p>
        </p:txBody>
      </p:sp>
      <p:sp>
        <p:nvSpPr>
          <p:cNvPr id="6" name="灯片编号占位符 5">
            <a:extLst>
              <a:ext uri="{FF2B5EF4-FFF2-40B4-BE49-F238E27FC236}">
                <a16:creationId xmlns:a16="http://schemas.microsoft.com/office/drawing/2014/main" id="{CA418EE2-863F-CAEC-1A91-A31F3BC3CA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108E69-35C3-4395-AB4C-CBC2CBC07E89}" type="slidenum">
              <a:rPr lang="zh-CN" altLang="en-US" smtClean="0"/>
              <a:t>‹#›</a:t>
            </a:fld>
            <a:endParaRPr lang="zh-CN" altLang="en-US"/>
          </a:p>
        </p:txBody>
      </p:sp>
    </p:spTree>
    <p:extLst>
      <p:ext uri="{BB962C8B-B14F-4D97-AF65-F5344CB8AC3E}">
        <p14:creationId xmlns:p14="http://schemas.microsoft.com/office/powerpoint/2010/main" val="3052578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DB1D2D-383D-3281-1EBE-DC83F41FF097}"/>
              </a:ext>
            </a:extLst>
          </p:cNvPr>
          <p:cNvSpPr>
            <a:spLocks noGrp="1"/>
          </p:cNvSpPr>
          <p:nvPr>
            <p:ph type="ctrTitle"/>
          </p:nvPr>
        </p:nvSpPr>
        <p:spPr>
          <a:xfrm>
            <a:off x="838200" y="833002"/>
            <a:ext cx="10515600" cy="2387600"/>
          </a:xfrm>
        </p:spPr>
        <p:txBody>
          <a:bodyPr>
            <a:normAutofit/>
          </a:bodyPr>
          <a:lstStyle/>
          <a:p>
            <a:r>
              <a:rPr lang="en-US" altLang="zh-CN" sz="3600" i="0" u="none" strike="noStrike" baseline="0" dirty="0">
                <a:latin typeface="NimbusRomNo9L-Medi"/>
              </a:rPr>
              <a:t>Keep Your Eye on the Best: Contrastive Regression</a:t>
            </a:r>
            <a:br>
              <a:rPr lang="en-US" altLang="zh-CN" sz="3600" i="0" u="none" strike="noStrike" baseline="0" dirty="0">
                <a:latin typeface="NimbusRomNo9L-Medi"/>
              </a:rPr>
            </a:br>
            <a:r>
              <a:rPr lang="en-US" altLang="zh-CN" sz="3600" i="0" u="none" strike="noStrike" baseline="0" dirty="0">
                <a:latin typeface="NimbusRomNo9L-Medi"/>
              </a:rPr>
              <a:t>Transformer for Skill Assessment in Robotic Surgery</a:t>
            </a:r>
            <a:endParaRPr lang="zh-CN" altLang="en-US" sz="9600" dirty="0"/>
          </a:p>
        </p:txBody>
      </p:sp>
      <p:sp>
        <p:nvSpPr>
          <p:cNvPr id="7" name="日期占位符 6">
            <a:extLst>
              <a:ext uri="{FF2B5EF4-FFF2-40B4-BE49-F238E27FC236}">
                <a16:creationId xmlns:a16="http://schemas.microsoft.com/office/drawing/2014/main" id="{8E1C0253-5588-EF20-929A-FB655388E9AB}"/>
              </a:ext>
            </a:extLst>
          </p:cNvPr>
          <p:cNvSpPr>
            <a:spLocks noGrp="1"/>
          </p:cNvSpPr>
          <p:nvPr>
            <p:ph type="dt" sz="half" idx="10"/>
          </p:nvPr>
        </p:nvSpPr>
        <p:spPr/>
        <p:txBody>
          <a:bodyPr/>
          <a:lstStyle/>
          <a:p>
            <a:fld id="{4C6F0ADB-DA21-4884-9CAA-465E3A289692}" type="datetime1">
              <a:rPr lang="zh-CN" altLang="en-US" smtClean="0"/>
              <a:t>2024/3/15</a:t>
            </a:fld>
            <a:endParaRPr lang="zh-CN" altLang="en-US"/>
          </a:p>
        </p:txBody>
      </p:sp>
      <p:sp>
        <p:nvSpPr>
          <p:cNvPr id="8" name="页脚占位符 7">
            <a:extLst>
              <a:ext uri="{FF2B5EF4-FFF2-40B4-BE49-F238E27FC236}">
                <a16:creationId xmlns:a16="http://schemas.microsoft.com/office/drawing/2014/main" id="{F1D27184-395C-7317-B86E-22CF227FF7ED}"/>
              </a:ext>
            </a:extLst>
          </p:cNvPr>
          <p:cNvSpPr>
            <a:spLocks noGrp="1"/>
          </p:cNvSpPr>
          <p:nvPr>
            <p:ph type="ftr" sz="quarter" idx="11"/>
          </p:nvPr>
        </p:nvSpPr>
        <p:spPr/>
        <p:txBody>
          <a:bodyPr/>
          <a:lstStyle/>
          <a:p>
            <a:r>
              <a:rPr lang="en-US" altLang="zh-CN"/>
              <a:t>lqy</a:t>
            </a:r>
            <a:endParaRPr lang="zh-CN" altLang="en-US"/>
          </a:p>
        </p:txBody>
      </p:sp>
      <p:sp>
        <p:nvSpPr>
          <p:cNvPr id="9" name="灯片编号占位符 8">
            <a:extLst>
              <a:ext uri="{FF2B5EF4-FFF2-40B4-BE49-F238E27FC236}">
                <a16:creationId xmlns:a16="http://schemas.microsoft.com/office/drawing/2014/main" id="{1EF615FA-433E-85A1-B135-CAAA09775A62}"/>
              </a:ext>
            </a:extLst>
          </p:cNvPr>
          <p:cNvSpPr>
            <a:spLocks noGrp="1"/>
          </p:cNvSpPr>
          <p:nvPr>
            <p:ph type="sldNum" sz="quarter" idx="12"/>
          </p:nvPr>
        </p:nvSpPr>
        <p:spPr/>
        <p:txBody>
          <a:bodyPr/>
          <a:lstStyle/>
          <a:p>
            <a:fld id="{52108E69-35C3-4395-AB4C-CBC2CBC07E89}" type="slidenum">
              <a:rPr lang="zh-CN" altLang="en-US" smtClean="0"/>
              <a:t>1</a:t>
            </a:fld>
            <a:endParaRPr lang="zh-CN" altLang="en-US"/>
          </a:p>
        </p:txBody>
      </p:sp>
      <p:sp>
        <p:nvSpPr>
          <p:cNvPr id="5" name="副标题 4">
            <a:extLst>
              <a:ext uri="{FF2B5EF4-FFF2-40B4-BE49-F238E27FC236}">
                <a16:creationId xmlns:a16="http://schemas.microsoft.com/office/drawing/2014/main" id="{D81C6DBF-F65E-9204-31C6-C6136DBC97F5}"/>
              </a:ext>
            </a:extLst>
          </p:cNvPr>
          <p:cNvSpPr>
            <a:spLocks noGrp="1"/>
          </p:cNvSpPr>
          <p:nvPr>
            <p:ph type="subTitle" idx="1"/>
          </p:nvPr>
        </p:nvSpPr>
        <p:spPr>
          <a:xfrm>
            <a:off x="1524000" y="4856098"/>
            <a:ext cx="9144000" cy="401702"/>
          </a:xfrm>
        </p:spPr>
        <p:txBody>
          <a:bodyPr>
            <a:normAutofit/>
          </a:bodyPr>
          <a:lstStyle/>
          <a:p>
            <a:r>
              <a:rPr lang="en-US" altLang="zh-CN" sz="2000" dirty="0">
                <a:latin typeface="NimbusRomNo9L-Medi"/>
                <a:ea typeface="+mj-ea"/>
                <a:cs typeface="+mj-cs"/>
              </a:rPr>
              <a:t>IEEE ROBOTICS AND AUTOMATION LETTERS</a:t>
            </a:r>
            <a:endParaRPr lang="zh-CN" altLang="en-US" sz="2000" dirty="0">
              <a:latin typeface="NimbusRomNo9L-Medi"/>
              <a:ea typeface="+mj-ea"/>
              <a:cs typeface="+mj-cs"/>
            </a:endParaRPr>
          </a:p>
        </p:txBody>
      </p:sp>
      <p:pic>
        <p:nvPicPr>
          <p:cNvPr id="4" name="图片 3">
            <a:extLst>
              <a:ext uri="{FF2B5EF4-FFF2-40B4-BE49-F238E27FC236}">
                <a16:creationId xmlns:a16="http://schemas.microsoft.com/office/drawing/2014/main" id="{8B67B1DE-BDC1-D1CA-786F-8739B33B30B8}"/>
              </a:ext>
            </a:extLst>
          </p:cNvPr>
          <p:cNvPicPr>
            <a:picLocks noChangeAspect="1"/>
          </p:cNvPicPr>
          <p:nvPr/>
        </p:nvPicPr>
        <p:blipFill>
          <a:blip r:embed="rId2"/>
          <a:stretch>
            <a:fillRect/>
          </a:stretch>
        </p:blipFill>
        <p:spPr>
          <a:xfrm>
            <a:off x="1682347" y="3757548"/>
            <a:ext cx="9144001" cy="623147"/>
          </a:xfrm>
          <a:prstGeom prst="rect">
            <a:avLst/>
          </a:prstGeom>
        </p:spPr>
      </p:pic>
    </p:spTree>
    <p:extLst>
      <p:ext uri="{BB962C8B-B14F-4D97-AF65-F5344CB8AC3E}">
        <p14:creationId xmlns:p14="http://schemas.microsoft.com/office/powerpoint/2010/main" val="2842794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Background</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Manual GRS scores have considerable variation (6-30), while the accompanying videos have mostly similar appearance and context</a:t>
            </a: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Challenging :</a:t>
            </a:r>
          </a:p>
          <a:p>
            <a:pPr marL="0" indent="0">
              <a:buNone/>
            </a:pP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Distinguish between these scores using only the total score value for supervision</a:t>
            </a:r>
          </a:p>
          <a:p>
            <a:pPr marL="0" indent="0">
              <a:buNone/>
            </a:pP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I</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nherent dimensionality reduction of the regression task </a:t>
            </a:r>
          </a:p>
          <a:p>
            <a:pPr marL="0" indent="0">
              <a:buNone/>
            </a:pPr>
            <a:endPar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Recently, the contrastive regression mechanism showed promise in a similar task of action quality assessment (AQA) </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a:t>
            </a:r>
            <a:r>
              <a:rPr lang="en-US" altLang="zh-CN" sz="20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ncourages the features to encode the difference among different videos.</a:t>
            </a:r>
            <a:endParaRPr lang="zh-CN" altLang="en-US" sz="4000" dirty="0"/>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2</a:t>
            </a:fld>
            <a:endParaRPr lang="zh-CN" altLang="en-US"/>
          </a:p>
        </p:txBody>
      </p:sp>
    </p:spTree>
    <p:extLst>
      <p:ext uri="{BB962C8B-B14F-4D97-AF65-F5344CB8AC3E}">
        <p14:creationId xmlns:p14="http://schemas.microsoft.com/office/powerpoint/2010/main" val="3075009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Background</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 novel Contrastive Regression Transformer model, Contra-</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Sformer</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Focuses specifically on structuring features to express the level of similarity that each surgical execution (i.e., test video) exhibits when compared to a reference one. </a:t>
            </a:r>
          </a:p>
          <a:p>
            <a:r>
              <a:rPr lang="en-US" altLang="zh-CN" sz="2000" i="1"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Keeping the eye on the best </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and using it as reference, our model learns how the performance in the input video </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spatio</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-temporally deviates from the reference</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Regression model is optimized for estimating the difference in the GRS score between the two executions.</a:t>
            </a:r>
            <a:endPar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3</a:t>
            </a:fld>
            <a:endParaRPr lang="zh-CN" altLang="en-US"/>
          </a:p>
        </p:txBody>
      </p:sp>
    </p:spTree>
    <p:extLst>
      <p:ext uri="{BB962C8B-B14F-4D97-AF65-F5344CB8AC3E}">
        <p14:creationId xmlns:p14="http://schemas.microsoft.com/office/powerpoint/2010/main" val="3563292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Framework</a:t>
            </a:r>
            <a:endParaRPr lang="zh-CN" altLang="en-US" dirty="0">
              <a:latin typeface="NimbusRomNo9L-Medi"/>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4</a:t>
            </a:fld>
            <a:endParaRPr lang="zh-CN" altLang="en-US"/>
          </a:p>
        </p:txBody>
      </p:sp>
      <p:sp>
        <p:nvSpPr>
          <p:cNvPr id="8" name="内容占位符 7">
            <a:extLst>
              <a:ext uri="{FF2B5EF4-FFF2-40B4-BE49-F238E27FC236}">
                <a16:creationId xmlns:a16="http://schemas.microsoft.com/office/drawing/2014/main" id="{BD0162A6-C5BD-4013-2FBF-E9483B820833}"/>
              </a:ext>
            </a:extLst>
          </p:cNvPr>
          <p:cNvSpPr>
            <a:spLocks noGrp="1"/>
          </p:cNvSpPr>
          <p:nvPr>
            <p:ph idx="1"/>
          </p:nvPr>
        </p:nvSpPr>
        <p:spPr/>
        <p:txBody>
          <a:bodyPr/>
          <a:lstStyle/>
          <a:p>
            <a:endParaRPr lang="zh-CN" altLang="en-US" dirty="0"/>
          </a:p>
        </p:txBody>
      </p:sp>
      <p:pic>
        <p:nvPicPr>
          <p:cNvPr id="7" name="图片 6">
            <a:extLst>
              <a:ext uri="{FF2B5EF4-FFF2-40B4-BE49-F238E27FC236}">
                <a16:creationId xmlns:a16="http://schemas.microsoft.com/office/drawing/2014/main" id="{5C4A90D6-96D8-84F7-B276-24337EC5EFA2}"/>
              </a:ext>
            </a:extLst>
          </p:cNvPr>
          <p:cNvPicPr>
            <a:picLocks noChangeAspect="1"/>
          </p:cNvPicPr>
          <p:nvPr/>
        </p:nvPicPr>
        <p:blipFill>
          <a:blip r:embed="rId3"/>
          <a:stretch>
            <a:fillRect/>
          </a:stretch>
        </p:blipFill>
        <p:spPr>
          <a:xfrm>
            <a:off x="276740" y="1915319"/>
            <a:ext cx="11638519" cy="4351338"/>
          </a:xfrm>
          <a:prstGeom prst="rect">
            <a:avLst/>
          </a:prstGeom>
        </p:spPr>
      </p:pic>
    </p:spTree>
    <p:extLst>
      <p:ext uri="{BB962C8B-B14F-4D97-AF65-F5344CB8AC3E}">
        <p14:creationId xmlns:p14="http://schemas.microsoft.com/office/powerpoint/2010/main" val="761731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Method</a:t>
            </a:r>
            <a:endParaRPr lang="zh-CN" altLang="en-US" dirty="0">
              <a:latin typeface="NimbusRomNo9L-Medi"/>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5</a:t>
            </a:fld>
            <a:endParaRPr lang="zh-CN" altLang="en-US"/>
          </a:p>
        </p:txBody>
      </p:sp>
      <p:sp>
        <p:nvSpPr>
          <p:cNvPr id="8" name="内容占位符 7">
            <a:extLst>
              <a:ext uri="{FF2B5EF4-FFF2-40B4-BE49-F238E27FC236}">
                <a16:creationId xmlns:a16="http://schemas.microsoft.com/office/drawing/2014/main" id="{7F02DAAB-C7FC-A720-551A-19091A4C3C55}"/>
              </a:ext>
            </a:extLst>
          </p:cNvPr>
          <p:cNvSpPr>
            <a:spLocks noGrp="1"/>
          </p:cNvSpPr>
          <p:nvPr>
            <p:ph idx="1"/>
          </p:nvPr>
        </p:nvSpPr>
        <p:spPr>
          <a:xfrm>
            <a:off x="838199" y="1825625"/>
            <a:ext cx="10515600" cy="4351338"/>
          </a:xfrm>
        </p:spPr>
        <p:txBody>
          <a:bodyPr>
            <a:normAutofit/>
          </a:bodyPr>
          <a:lstStyle/>
          <a:p>
            <a:r>
              <a:rPr lang="en-US" altLang="zh-CN" sz="2000" b="1" dirty="0">
                <a:solidFill>
                  <a:srgbClr val="000000"/>
                </a:solidFill>
                <a:latin typeface="Times New Roman" panose="02020603050405020304" pitchFamily="18" charset="0"/>
                <a:cs typeface="Times New Roman" panose="02020603050405020304" pitchFamily="18" charset="0"/>
              </a:rPr>
              <a:t>Contrastive Regression From the Best</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Typically</a:t>
            </a:r>
          </a:p>
          <a:p>
            <a:r>
              <a:rPr lang="en-US" altLang="zh-CN" sz="2000" dirty="0">
                <a:solidFill>
                  <a:srgbClr val="000000"/>
                </a:solidFill>
                <a:latin typeface="Times New Roman" panose="02020603050405020304" pitchFamily="18" charset="0"/>
                <a:cs typeface="Times New Roman" panose="02020603050405020304" pitchFamily="18" charset="0"/>
              </a:rPr>
              <a:t>This work</a:t>
            </a:r>
          </a:p>
          <a:p>
            <a:endParaRPr lang="en-US" altLang="zh-CN" sz="2000" dirty="0">
              <a:solidFill>
                <a:srgbClr val="000000"/>
              </a:solidFill>
              <a:latin typeface="Times New Roman" panose="02020603050405020304" pitchFamily="18" charset="0"/>
              <a:cs typeface="Times New Roman" panose="02020603050405020304" pitchFamily="18" charset="0"/>
            </a:endParaRPr>
          </a:p>
          <a:p>
            <a:pPr algn="l"/>
            <a:r>
              <a:rPr lang="en-US" altLang="zh-CN" sz="2000" dirty="0">
                <a:solidFill>
                  <a:srgbClr val="000000"/>
                </a:solidFill>
                <a:latin typeface="Times New Roman" panose="02020603050405020304" pitchFamily="18" charset="0"/>
                <a:cs typeface="Times New Roman" panose="02020603050405020304" pitchFamily="18" charset="0"/>
              </a:rPr>
              <a:t>A contrastive regression framework that estimates the relative score between an input test video and a reference video instead of regressing to the absolute score of the input</a:t>
            </a:r>
          </a:p>
          <a:p>
            <a:pPr algn="l"/>
            <a:r>
              <a:rPr lang="en-US" altLang="zh-CN" sz="2000" dirty="0">
                <a:solidFill>
                  <a:srgbClr val="000000"/>
                </a:solidFill>
                <a:latin typeface="Times New Roman" panose="02020603050405020304" pitchFamily="18" charset="0"/>
                <a:cs typeface="Times New Roman" panose="02020603050405020304" pitchFamily="18" charset="0"/>
              </a:rPr>
              <a:t>Reference video: Execution with the highest available GRS score in the dataset (for each task)</a:t>
            </a:r>
          </a:p>
          <a:p>
            <a:pPr algn="l"/>
            <a:r>
              <a:rPr lang="en-US" altLang="zh-CN" sz="2000" dirty="0">
                <a:solidFill>
                  <a:srgbClr val="000000"/>
                </a:solidFill>
                <a:latin typeface="Times New Roman" panose="02020603050405020304" pitchFamily="18" charset="0"/>
                <a:cs typeface="Times New Roman" panose="02020603050405020304" pitchFamily="18" charset="0"/>
              </a:rPr>
              <a:t>Mark: all reference videos are free of major mistakes (e.g., dropping the needle), that may affect the modeling of the similarity/deviation between input and reference</a:t>
            </a:r>
            <a:r>
              <a:rPr lang="en-US" altLang="zh-CN" sz="1800" b="0" i="0" u="none" strike="noStrike" baseline="0" dirty="0">
                <a:latin typeface="Times-Roman"/>
              </a:rPr>
              <a:t>.</a:t>
            </a:r>
            <a:endPar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6C473A24-C946-8D3E-5B55-901214A026C8}"/>
              </a:ext>
            </a:extLst>
          </p:cNvPr>
          <p:cNvPicPr>
            <a:picLocks noChangeAspect="1"/>
          </p:cNvPicPr>
          <p:nvPr/>
        </p:nvPicPr>
        <p:blipFill>
          <a:blip r:embed="rId3"/>
          <a:stretch>
            <a:fillRect/>
          </a:stretch>
        </p:blipFill>
        <p:spPr>
          <a:xfrm>
            <a:off x="3167194" y="2616275"/>
            <a:ext cx="1244030" cy="349309"/>
          </a:xfrm>
          <a:prstGeom prst="rect">
            <a:avLst/>
          </a:prstGeom>
        </p:spPr>
      </p:pic>
      <p:pic>
        <p:nvPicPr>
          <p:cNvPr id="11" name="图片 10">
            <a:extLst>
              <a:ext uri="{FF2B5EF4-FFF2-40B4-BE49-F238E27FC236}">
                <a16:creationId xmlns:a16="http://schemas.microsoft.com/office/drawing/2014/main" id="{257CCB8C-A42B-9FEC-D1E4-DEC258AB113C}"/>
              </a:ext>
            </a:extLst>
          </p:cNvPr>
          <p:cNvPicPr>
            <a:picLocks noChangeAspect="1"/>
          </p:cNvPicPr>
          <p:nvPr/>
        </p:nvPicPr>
        <p:blipFill>
          <a:blip r:embed="rId4"/>
          <a:stretch>
            <a:fillRect/>
          </a:stretch>
        </p:blipFill>
        <p:spPr>
          <a:xfrm>
            <a:off x="3167194" y="3036793"/>
            <a:ext cx="2742381" cy="392207"/>
          </a:xfrm>
          <a:prstGeom prst="rect">
            <a:avLst/>
          </a:prstGeom>
        </p:spPr>
      </p:pic>
    </p:spTree>
    <p:extLst>
      <p:ext uri="{BB962C8B-B14F-4D97-AF65-F5344CB8AC3E}">
        <p14:creationId xmlns:p14="http://schemas.microsoft.com/office/powerpoint/2010/main" val="237149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Method</a:t>
            </a:r>
            <a:endParaRPr lang="zh-CN" altLang="en-US" dirty="0">
              <a:latin typeface="NimbusRomNo9L-Medi"/>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6</a:t>
            </a:fld>
            <a:endParaRPr lang="zh-CN" altLang="en-US"/>
          </a:p>
        </p:txBody>
      </p:sp>
      <mc:AlternateContent xmlns:mc="http://schemas.openxmlformats.org/markup-compatibility/2006">
        <mc:Choice xmlns:a14="http://schemas.microsoft.com/office/drawing/2010/main" Requires="a14">
          <p:sp>
            <p:nvSpPr>
              <p:cNvPr id="8" name="内容占位符 7">
                <a:extLst>
                  <a:ext uri="{FF2B5EF4-FFF2-40B4-BE49-F238E27FC236}">
                    <a16:creationId xmlns:a16="http://schemas.microsoft.com/office/drawing/2014/main" id="{7F02DAAB-C7FC-A720-551A-19091A4C3C55}"/>
                  </a:ext>
                </a:extLst>
              </p:cNvPr>
              <p:cNvSpPr>
                <a:spLocks noGrp="1"/>
              </p:cNvSpPr>
              <p:nvPr>
                <p:ph idx="1"/>
              </p:nvPr>
            </p:nvSpPr>
            <p:spPr>
              <a:xfrm>
                <a:off x="838199" y="1825625"/>
                <a:ext cx="10968614" cy="4351338"/>
              </a:xfrm>
            </p:spPr>
            <p:txBody>
              <a:bodyPr>
                <a:normAutofit/>
              </a:bodyPr>
              <a:lstStyle/>
              <a:p>
                <a:r>
                  <a:rPr lang="en-US" altLang="zh-CN" sz="2000" b="1" dirty="0">
                    <a:solidFill>
                      <a:srgbClr val="000000"/>
                    </a:solidFill>
                    <a:latin typeface="Times New Roman" panose="02020603050405020304" pitchFamily="18" charset="0"/>
                    <a:cs typeface="Times New Roman" panose="02020603050405020304" pitchFamily="18" charset="0"/>
                  </a:rPr>
                  <a:t>Spatio-Temporal Feature Extraction</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ResNet-18</a:t>
                </a:r>
                <a:r>
                  <a:rPr lang="en-US" altLang="zh-CN" sz="2000" dirty="0">
                    <a:solidFill>
                      <a:srgbClr val="000000"/>
                    </a:solidFill>
                    <a:latin typeface="Times New Roman" panose="02020603050405020304" pitchFamily="18" charset="0"/>
                    <a:cs typeface="Times New Roman" panose="02020603050405020304" pitchFamily="18" charset="0"/>
                  </a:rPr>
                  <a:t>: fined-tuned on surgical gesture labels, extract </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high-level spatial features from </a:t>
                </a:r>
                <a14:m>
                  <m:oMath xmlns:m="http://schemas.openxmlformats.org/officeDocument/2006/math">
                    <m:sSub>
                      <m:sSubPr>
                        <m:ctrlPr>
                          <a:rPr lang="en-US" altLang="zh-CN" sz="2000" b="0" i="1" dirty="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i="1" dirty="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000" i="1" dirty="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sub>
                    </m:sSub>
                  </m:oMath>
                </a14:m>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gesture label: capture local deviations, sequence and duration of the gestures that constitute each task</a:t>
                </a:r>
              </a:p>
              <a:p>
                <a:r>
                  <a:rPr lang="en-US" altLang="zh-CN" sz="2000" dirty="0">
                    <a:solidFill>
                      <a:srgbClr val="000000"/>
                    </a:solidFill>
                    <a:latin typeface="Times New Roman" panose="02020603050405020304" pitchFamily="18" charset="0"/>
                    <a:cs typeface="Times New Roman" panose="02020603050405020304" pitchFamily="18" charset="0"/>
                  </a:rPr>
                  <a:t>Training under GRS label supervision will provide features expressing the similarity/deviation between the two videos at a global level</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Customized TCN architecture: improve temporal information modeling</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1D Convolution + 1D Max Pooling+ Batch Normalization</a:t>
                </a:r>
                <a:endPar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mc:Choice>
        <mc:Fallback>
          <p:sp>
            <p:nvSpPr>
              <p:cNvPr id="8" name="内容占位符 7">
                <a:extLst>
                  <a:ext uri="{FF2B5EF4-FFF2-40B4-BE49-F238E27FC236}">
                    <a16:creationId xmlns:a16="http://schemas.microsoft.com/office/drawing/2014/main" id="{7F02DAAB-C7FC-A720-551A-19091A4C3C55}"/>
                  </a:ext>
                </a:extLst>
              </p:cNvPr>
              <p:cNvSpPr>
                <a:spLocks noGrp="1" noRot="1" noChangeAspect="1" noMove="1" noResize="1" noEditPoints="1" noAdjustHandles="1" noChangeArrowheads="1" noChangeShapeType="1" noTextEdit="1"/>
              </p:cNvSpPr>
              <p:nvPr>
                <p:ph idx="1"/>
              </p:nvPr>
            </p:nvSpPr>
            <p:spPr>
              <a:xfrm>
                <a:off x="838199" y="1825625"/>
                <a:ext cx="10968614" cy="4351338"/>
              </a:xfrm>
              <a:blipFill>
                <a:blip r:embed="rId3"/>
                <a:stretch>
                  <a:fillRect l="-444" t="-1401" r="-556"/>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003C9163-30F4-4AF1-36C4-1BC8AA4A5E1C}"/>
              </a:ext>
            </a:extLst>
          </p:cNvPr>
          <p:cNvPicPr>
            <a:picLocks noChangeAspect="1"/>
          </p:cNvPicPr>
          <p:nvPr/>
        </p:nvPicPr>
        <p:blipFill rotWithShape="1">
          <a:blip r:embed="rId4">
            <a:clrChange>
              <a:clrFrom>
                <a:srgbClr val="FFFFFF"/>
              </a:clrFrom>
              <a:clrTo>
                <a:srgbClr val="FFFFFF">
                  <a:alpha val="0"/>
                </a:srgbClr>
              </a:clrTo>
            </a:clrChange>
          </a:blip>
          <a:srcRect l="7800" r="6920" b="21780"/>
          <a:stretch/>
        </p:blipFill>
        <p:spPr>
          <a:xfrm>
            <a:off x="5165173" y="681037"/>
            <a:ext cx="6890854" cy="1652341"/>
          </a:xfrm>
          <a:prstGeom prst="rect">
            <a:avLst/>
          </a:prstGeom>
        </p:spPr>
      </p:pic>
      <p:pic>
        <p:nvPicPr>
          <p:cNvPr id="12" name="图片 11">
            <a:extLst>
              <a:ext uri="{FF2B5EF4-FFF2-40B4-BE49-F238E27FC236}">
                <a16:creationId xmlns:a16="http://schemas.microsoft.com/office/drawing/2014/main" id="{175BDE56-9875-070C-9D3A-3314B02BD8C0}"/>
              </a:ext>
            </a:extLst>
          </p:cNvPr>
          <p:cNvPicPr>
            <a:picLocks noChangeAspect="1"/>
          </p:cNvPicPr>
          <p:nvPr/>
        </p:nvPicPr>
        <p:blipFill>
          <a:blip r:embed="rId5"/>
          <a:stretch>
            <a:fillRect/>
          </a:stretch>
        </p:blipFill>
        <p:spPr>
          <a:xfrm>
            <a:off x="7254909" y="4839251"/>
            <a:ext cx="4210259" cy="517156"/>
          </a:xfrm>
          <a:prstGeom prst="rect">
            <a:avLst/>
          </a:prstGeom>
        </p:spPr>
      </p:pic>
    </p:spTree>
    <p:extLst>
      <p:ext uri="{BB962C8B-B14F-4D97-AF65-F5344CB8AC3E}">
        <p14:creationId xmlns:p14="http://schemas.microsoft.com/office/powerpoint/2010/main" val="4253584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Method</a:t>
            </a:r>
            <a:endParaRPr lang="zh-CN" altLang="en-US" dirty="0">
              <a:latin typeface="NimbusRomNo9L-Medi"/>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7</a:t>
            </a:fld>
            <a:endParaRPr lang="zh-CN" altLang="en-US"/>
          </a:p>
        </p:txBody>
      </p:sp>
      <p:sp>
        <p:nvSpPr>
          <p:cNvPr id="8" name="内容占位符 7">
            <a:extLst>
              <a:ext uri="{FF2B5EF4-FFF2-40B4-BE49-F238E27FC236}">
                <a16:creationId xmlns:a16="http://schemas.microsoft.com/office/drawing/2014/main" id="{7F02DAAB-C7FC-A720-551A-19091A4C3C55}"/>
              </a:ext>
            </a:extLst>
          </p:cNvPr>
          <p:cNvSpPr>
            <a:spLocks noGrp="1"/>
          </p:cNvSpPr>
          <p:nvPr>
            <p:ph idx="1"/>
          </p:nvPr>
        </p:nvSpPr>
        <p:spPr>
          <a:xfrm>
            <a:off x="838199" y="1825625"/>
            <a:ext cx="10515600" cy="4351338"/>
          </a:xfrm>
        </p:spPr>
        <p:txBody>
          <a:bodyPr>
            <a:normAutofit/>
          </a:bodyPr>
          <a:lstStyle/>
          <a:p>
            <a:r>
              <a:rPr lang="en-US" altLang="zh-CN" sz="2000" b="1" dirty="0">
                <a:solidFill>
                  <a:srgbClr val="000000"/>
                </a:solidFill>
                <a:latin typeface="Times New Roman" panose="02020603050405020304" pitchFamily="18" charset="0"/>
                <a:cs typeface="Times New Roman" panose="02020603050405020304" pitchFamily="18" charset="0"/>
              </a:rPr>
              <a:t>Relation Modeling Via Action-Aware Transformer</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Straightforward way:</a:t>
            </a:r>
            <a:r>
              <a:rPr lang="zh-CN" altLang="en-US" sz="2000" dirty="0">
                <a:solidFill>
                  <a:srgbClr val="000000"/>
                </a:solidFill>
                <a:latin typeface="Times New Roman" panose="02020603050405020304" pitchFamily="18" charset="0"/>
                <a:cs typeface="Times New Roman" panose="02020603050405020304" pitchFamily="18" charset="0"/>
              </a:rPr>
              <a:t> </a:t>
            </a:r>
            <a:r>
              <a:rPr lang="en-US" altLang="zh-CN" sz="2000" dirty="0">
                <a:solidFill>
                  <a:srgbClr val="000000"/>
                </a:solidFill>
                <a:latin typeface="Times New Roman" panose="02020603050405020304" pitchFamily="18" charset="0"/>
                <a:cs typeface="Times New Roman" panose="02020603050405020304" pitchFamily="18" charset="0"/>
              </a:rPr>
              <a:t>Concatenate feature vectors and use for regression</a:t>
            </a:r>
          </a:p>
          <a:p>
            <a:r>
              <a:rPr lang="en-US" altLang="zh-CN" sz="2000" dirty="0">
                <a:solidFill>
                  <a:srgbClr val="000000"/>
                </a:solidFill>
                <a:latin typeface="Times New Roman" panose="02020603050405020304" pitchFamily="18" charset="0"/>
                <a:cs typeface="Times New Roman" panose="02020603050405020304" pitchFamily="18" charset="0"/>
              </a:rPr>
              <a:t>This work: Explicitly model the relation by computing the similarity function between corresponding high-level feature vectors</a:t>
            </a:r>
          </a:p>
          <a:p>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Relation modeling: Multi-head attention(8 heads, hidden dim 16, no dropout) Transformer</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fully connected layer to compute the relative score</a:t>
            </a:r>
            <a:endPar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0ED6377D-F87F-4233-606A-5AD2D5B2AFEE}"/>
              </a:ext>
            </a:extLst>
          </p:cNvPr>
          <p:cNvPicPr>
            <a:picLocks noChangeAspect="1"/>
          </p:cNvPicPr>
          <p:nvPr/>
        </p:nvPicPr>
        <p:blipFill rotWithShape="1">
          <a:blip r:embed="rId3"/>
          <a:srcRect l="7379" r="30200" b="23012"/>
          <a:stretch/>
        </p:blipFill>
        <p:spPr>
          <a:xfrm>
            <a:off x="7465925" y="365125"/>
            <a:ext cx="4491614" cy="2071172"/>
          </a:xfrm>
          <a:prstGeom prst="rect">
            <a:avLst/>
          </a:prstGeom>
        </p:spPr>
      </p:pic>
      <p:sp>
        <p:nvSpPr>
          <p:cNvPr id="9" name="矩形 8">
            <a:extLst>
              <a:ext uri="{FF2B5EF4-FFF2-40B4-BE49-F238E27FC236}">
                <a16:creationId xmlns:a16="http://schemas.microsoft.com/office/drawing/2014/main" id="{B8420121-3020-C191-2AC4-1A9F8AB5FDE3}"/>
              </a:ext>
            </a:extLst>
          </p:cNvPr>
          <p:cNvSpPr/>
          <p:nvPr/>
        </p:nvSpPr>
        <p:spPr>
          <a:xfrm>
            <a:off x="7465925" y="365125"/>
            <a:ext cx="1808704" cy="2071172"/>
          </a:xfrm>
          <a:prstGeom prst="rect">
            <a:avLst/>
          </a:prstGeom>
          <a:solidFill>
            <a:srgbClr val="FFFFFF">
              <a:alpha val="5686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a:extLst>
              <a:ext uri="{FF2B5EF4-FFF2-40B4-BE49-F238E27FC236}">
                <a16:creationId xmlns:a16="http://schemas.microsoft.com/office/drawing/2014/main" id="{B31C453B-A97A-48EB-2D2B-ADA37E053ECB}"/>
              </a:ext>
            </a:extLst>
          </p:cNvPr>
          <p:cNvSpPr/>
          <p:nvPr/>
        </p:nvSpPr>
        <p:spPr>
          <a:xfrm>
            <a:off x="10601847" y="441325"/>
            <a:ext cx="1808704" cy="2071172"/>
          </a:xfrm>
          <a:prstGeom prst="rect">
            <a:avLst/>
          </a:prstGeom>
          <a:solidFill>
            <a:srgbClr val="FFFFFF">
              <a:alpha val="5686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3" name="图片 12">
            <a:extLst>
              <a:ext uri="{FF2B5EF4-FFF2-40B4-BE49-F238E27FC236}">
                <a16:creationId xmlns:a16="http://schemas.microsoft.com/office/drawing/2014/main" id="{A2D3F489-6021-B103-1A34-5F99B6BAA7B5}"/>
              </a:ext>
            </a:extLst>
          </p:cNvPr>
          <p:cNvPicPr>
            <a:picLocks noChangeAspect="1"/>
          </p:cNvPicPr>
          <p:nvPr/>
        </p:nvPicPr>
        <p:blipFill>
          <a:blip r:embed="rId4"/>
          <a:stretch>
            <a:fillRect/>
          </a:stretch>
        </p:blipFill>
        <p:spPr>
          <a:xfrm>
            <a:off x="3821837" y="4532497"/>
            <a:ext cx="4548324" cy="1095816"/>
          </a:xfrm>
          <a:prstGeom prst="rect">
            <a:avLst/>
          </a:prstGeom>
        </p:spPr>
      </p:pic>
    </p:spTree>
    <p:extLst>
      <p:ext uri="{BB962C8B-B14F-4D97-AF65-F5344CB8AC3E}">
        <p14:creationId xmlns:p14="http://schemas.microsoft.com/office/powerpoint/2010/main" val="86517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Method</a:t>
            </a:r>
            <a:endParaRPr lang="zh-CN" altLang="en-US" dirty="0">
              <a:latin typeface="NimbusRomNo9L-Medi"/>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8</a:t>
            </a:fld>
            <a:endParaRPr lang="zh-CN" altLang="en-US"/>
          </a:p>
        </p:txBody>
      </p:sp>
      <p:sp>
        <p:nvSpPr>
          <p:cNvPr id="8" name="内容占位符 7">
            <a:extLst>
              <a:ext uri="{FF2B5EF4-FFF2-40B4-BE49-F238E27FC236}">
                <a16:creationId xmlns:a16="http://schemas.microsoft.com/office/drawing/2014/main" id="{7F02DAAB-C7FC-A720-551A-19091A4C3C55}"/>
              </a:ext>
            </a:extLst>
          </p:cNvPr>
          <p:cNvSpPr>
            <a:spLocks noGrp="1"/>
          </p:cNvSpPr>
          <p:nvPr>
            <p:ph idx="1"/>
          </p:nvPr>
        </p:nvSpPr>
        <p:spPr>
          <a:xfrm>
            <a:off x="838199" y="1825625"/>
            <a:ext cx="10515600" cy="4351338"/>
          </a:xfrm>
        </p:spPr>
        <p:txBody>
          <a:bodyPr>
            <a:normAutofit/>
          </a:bodyPr>
          <a:lstStyle/>
          <a:p>
            <a:r>
              <a:rPr lang="en-US" altLang="zh-CN" sz="2000" b="1" dirty="0">
                <a:solidFill>
                  <a:srgbClr val="000000"/>
                </a:solidFill>
                <a:latin typeface="Times New Roman" panose="02020603050405020304" pitchFamily="18" charset="0"/>
                <a:cs typeface="Times New Roman" panose="02020603050405020304" pitchFamily="18" charset="0"/>
              </a:rPr>
              <a:t>Training Procedure</a:t>
            </a:r>
          </a:p>
          <a:p>
            <a:endParaRPr lang="en-US" altLang="zh-CN" sz="2000" b="1"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End-to end</a:t>
            </a:r>
          </a:p>
          <a:p>
            <a:r>
              <a:rPr lang="en-US" altLang="zh-CN" sz="2000" dirty="0">
                <a:solidFill>
                  <a:srgbClr val="000000"/>
                </a:solidFill>
                <a:latin typeface="Times New Roman" panose="02020603050405020304" pitchFamily="18" charset="0"/>
                <a:cs typeface="Times New Roman" panose="02020603050405020304" pitchFamily="18" charset="0"/>
              </a:rPr>
              <a:t>Loss: Mean Squared Error (MSE) and Mean Absolute Error (MAE)</a:t>
            </a:r>
          </a:p>
          <a:p>
            <a:pPr marL="0" indent="0">
              <a:buNone/>
            </a:pPr>
            <a:endParaRPr lang="en-US" altLang="zh-CN" sz="2000" dirty="0">
              <a:solidFill>
                <a:srgbClr val="000000"/>
              </a:solidFill>
              <a:latin typeface="Times New Roman" panose="02020603050405020304" pitchFamily="18" charset="0"/>
              <a:cs typeface="Times New Roman" panose="02020603050405020304" pitchFamily="18" charset="0"/>
            </a:endParaRPr>
          </a:p>
          <a:p>
            <a:r>
              <a:rPr lang="en-US" altLang="zh-CN" sz="2000" dirty="0">
                <a:solidFill>
                  <a:srgbClr val="000000"/>
                </a:solidFill>
                <a:latin typeface="Times New Roman" panose="02020603050405020304" pitchFamily="18" charset="0"/>
                <a:cs typeface="Times New Roman" panose="02020603050405020304" pitchFamily="18" charset="0"/>
              </a:rPr>
              <a:t>A two-step process:</a:t>
            </a:r>
          </a:p>
          <a:p>
            <a:r>
              <a:rPr lang="en-US" altLang="zh-CN" sz="2000" dirty="0">
                <a:solidFill>
                  <a:srgbClr val="000000"/>
                </a:solidFill>
                <a:latin typeface="Times New Roman" panose="02020603050405020304" pitchFamily="18" charset="0"/>
                <a:cs typeface="Times New Roman" panose="02020603050405020304" pitchFamily="18" charset="0"/>
              </a:rPr>
              <a:t>First, feature encoder: trained using gesture labels and fixed using the weights corresponding to the minimum cross-entropy loss </a:t>
            </a:r>
            <a:r>
              <a:rPr lang="en-US" altLang="zh-CN" sz="20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2000" dirty="0">
                <a:solidFill>
                  <a:srgbClr val="000000"/>
                </a:solidFill>
                <a:latin typeface="Times New Roman" panose="02020603050405020304" pitchFamily="18" charset="0"/>
                <a:cs typeface="Times New Roman" panose="02020603050405020304" pitchFamily="18" charset="0"/>
              </a:rPr>
              <a:t>high-level representation of the video </a:t>
            </a:r>
          </a:p>
          <a:p>
            <a:r>
              <a:rPr lang="en-US" altLang="zh-CN" sz="2000" dirty="0">
                <a:solidFill>
                  <a:srgbClr val="000000"/>
                </a:solidFill>
                <a:latin typeface="Times New Roman" panose="02020603050405020304" pitchFamily="18" charset="0"/>
                <a:cs typeface="Times New Roman" panose="02020603050405020304" pitchFamily="18" charset="0"/>
              </a:rPr>
              <a:t>Feature as inputs to the TCN, trained jointly with the rest of the network in an end-to-end manner</a:t>
            </a:r>
          </a:p>
          <a:p>
            <a:r>
              <a:rPr lang="en-US" altLang="zh-CN" sz="2000" dirty="0">
                <a:solidFill>
                  <a:srgbClr val="000000"/>
                </a:solidFill>
                <a:latin typeface="Times New Roman" panose="02020603050405020304" pitchFamily="18" charset="0"/>
                <a:cs typeface="Times New Roman" panose="02020603050405020304" pitchFamily="18" charset="0"/>
              </a:rPr>
              <a:t>Whole video sequences, instead of frame clips, are used as inputs</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BB71270D-9BDB-D7DE-5CF9-372A0A591C51}"/>
              </a:ext>
            </a:extLst>
          </p:cNvPr>
          <p:cNvPicPr>
            <a:picLocks noChangeAspect="1"/>
          </p:cNvPicPr>
          <p:nvPr/>
        </p:nvPicPr>
        <p:blipFill>
          <a:blip r:embed="rId3"/>
          <a:stretch>
            <a:fillRect/>
          </a:stretch>
        </p:blipFill>
        <p:spPr>
          <a:xfrm>
            <a:off x="4155063" y="3429000"/>
            <a:ext cx="3881872" cy="424248"/>
          </a:xfrm>
          <a:prstGeom prst="rect">
            <a:avLst/>
          </a:prstGeom>
        </p:spPr>
      </p:pic>
    </p:spTree>
    <p:extLst>
      <p:ext uri="{BB962C8B-B14F-4D97-AF65-F5344CB8AC3E}">
        <p14:creationId xmlns:p14="http://schemas.microsoft.com/office/powerpoint/2010/main" val="2736361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Experiments</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Dataset: JIGSAWS</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Cross-validation schemes: Leave-One-</a:t>
            </a:r>
            <a:r>
              <a:rPr lang="en-US" altLang="zh-CN" sz="2000" dirty="0" err="1">
                <a:solidFill>
                  <a:srgbClr val="000000"/>
                </a:solidFill>
                <a:latin typeface="Times New Roman" panose="02020603050405020304" pitchFamily="18" charset="0"/>
                <a:ea typeface="等线" panose="02010600030101010101" pitchFamily="2" charset="-122"/>
                <a:cs typeface="Times New Roman" panose="02020603050405020304" pitchFamily="18" charset="0"/>
              </a:rPr>
              <a:t>Supertrial</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-Out (LOSO), Leave-One-User-Out (LOUO), random 4-Fold scheme</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evaluation metric: SROCC</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Resized: 240 × 240, center cropped at 224 × 224</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Augmentation: Random Horizontal Flip with p = 0.1 and Random Rotation of ±5 deg are used for KT and NP</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FPS: 5 Hz</a:t>
            </a:r>
            <a:endPar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9</a:t>
            </a:fld>
            <a:endParaRPr lang="zh-CN" altLang="en-US"/>
          </a:p>
        </p:txBody>
      </p:sp>
      <p:pic>
        <p:nvPicPr>
          <p:cNvPr id="9" name="图片 8">
            <a:extLst>
              <a:ext uri="{FF2B5EF4-FFF2-40B4-BE49-F238E27FC236}">
                <a16:creationId xmlns:a16="http://schemas.microsoft.com/office/drawing/2014/main" id="{14C945A2-5C37-7A96-CD21-BDB8BF22D76A}"/>
              </a:ext>
            </a:extLst>
          </p:cNvPr>
          <p:cNvPicPr>
            <a:picLocks noChangeAspect="1"/>
          </p:cNvPicPr>
          <p:nvPr/>
        </p:nvPicPr>
        <p:blipFill>
          <a:blip r:embed="rId3"/>
          <a:stretch>
            <a:fillRect/>
          </a:stretch>
        </p:blipFill>
        <p:spPr>
          <a:xfrm>
            <a:off x="4755827" y="2714982"/>
            <a:ext cx="3071838" cy="785178"/>
          </a:xfrm>
          <a:prstGeom prst="rect">
            <a:avLst/>
          </a:prstGeom>
        </p:spPr>
      </p:pic>
    </p:spTree>
    <p:extLst>
      <p:ext uri="{BB962C8B-B14F-4D97-AF65-F5344CB8AC3E}">
        <p14:creationId xmlns:p14="http://schemas.microsoft.com/office/powerpoint/2010/main" val="634853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Experiments</a:t>
            </a:r>
            <a:endParaRPr lang="zh-CN" altLang="en-US" dirty="0">
              <a:latin typeface="NimbusRomNo9L-Medi"/>
            </a:endParaRP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10</a:t>
            </a:fld>
            <a:endParaRPr lang="zh-CN" altLang="en-US"/>
          </a:p>
        </p:txBody>
      </p:sp>
      <p:sp>
        <p:nvSpPr>
          <p:cNvPr id="8" name="内容占位符 7">
            <a:extLst>
              <a:ext uri="{FF2B5EF4-FFF2-40B4-BE49-F238E27FC236}">
                <a16:creationId xmlns:a16="http://schemas.microsoft.com/office/drawing/2014/main" id="{D2F4530E-8DEF-3605-14F1-2AD483EE1B3E}"/>
              </a:ext>
            </a:extLst>
          </p:cNvPr>
          <p:cNvSpPr>
            <a:spLocks noGrp="1"/>
          </p:cNvSpPr>
          <p:nvPr>
            <p:ph idx="1"/>
          </p:nvPr>
        </p:nvSpPr>
        <p:spPr/>
        <p:txBody>
          <a:bodyPr/>
          <a:lstStyle/>
          <a:p>
            <a:endParaRPr lang="zh-CN" altLang="en-US"/>
          </a:p>
        </p:txBody>
      </p:sp>
      <p:pic>
        <p:nvPicPr>
          <p:cNvPr id="10" name="图片 9">
            <a:extLst>
              <a:ext uri="{FF2B5EF4-FFF2-40B4-BE49-F238E27FC236}">
                <a16:creationId xmlns:a16="http://schemas.microsoft.com/office/drawing/2014/main" id="{FA961747-9805-BD4A-FA6D-9651CB42A86C}"/>
              </a:ext>
            </a:extLst>
          </p:cNvPr>
          <p:cNvPicPr>
            <a:picLocks noChangeAspect="1"/>
          </p:cNvPicPr>
          <p:nvPr/>
        </p:nvPicPr>
        <p:blipFill>
          <a:blip r:embed="rId3"/>
          <a:stretch>
            <a:fillRect/>
          </a:stretch>
        </p:blipFill>
        <p:spPr>
          <a:xfrm>
            <a:off x="1566286" y="1407908"/>
            <a:ext cx="9059427" cy="4855945"/>
          </a:xfrm>
          <a:prstGeom prst="rect">
            <a:avLst/>
          </a:prstGeom>
        </p:spPr>
      </p:pic>
    </p:spTree>
    <p:extLst>
      <p:ext uri="{BB962C8B-B14F-4D97-AF65-F5344CB8AC3E}">
        <p14:creationId xmlns:p14="http://schemas.microsoft.com/office/powerpoint/2010/main" val="4106233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Ablation Study</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a:xfrm>
            <a:off x="838200" y="5054321"/>
            <a:ext cx="10515600" cy="1122642"/>
          </a:xfrm>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key design components</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Selection of the reference video</a:t>
            </a: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11</a:t>
            </a:fld>
            <a:endParaRPr lang="zh-CN" altLang="en-US"/>
          </a:p>
        </p:txBody>
      </p:sp>
      <p:pic>
        <p:nvPicPr>
          <p:cNvPr id="10" name="图片 9">
            <a:extLst>
              <a:ext uri="{FF2B5EF4-FFF2-40B4-BE49-F238E27FC236}">
                <a16:creationId xmlns:a16="http://schemas.microsoft.com/office/drawing/2014/main" id="{46C546C1-AB64-4746-2ECF-2F67606C8798}"/>
              </a:ext>
            </a:extLst>
          </p:cNvPr>
          <p:cNvPicPr>
            <a:picLocks noChangeAspect="1"/>
          </p:cNvPicPr>
          <p:nvPr/>
        </p:nvPicPr>
        <p:blipFill>
          <a:blip r:embed="rId3"/>
          <a:stretch>
            <a:fillRect/>
          </a:stretch>
        </p:blipFill>
        <p:spPr>
          <a:xfrm>
            <a:off x="3390522" y="1629716"/>
            <a:ext cx="5410955" cy="3091294"/>
          </a:xfrm>
          <a:prstGeom prst="rect">
            <a:avLst/>
          </a:prstGeom>
        </p:spPr>
      </p:pic>
    </p:spTree>
    <p:extLst>
      <p:ext uri="{BB962C8B-B14F-4D97-AF65-F5344CB8AC3E}">
        <p14:creationId xmlns:p14="http://schemas.microsoft.com/office/powerpoint/2010/main" val="1044924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Visualizing the Deviation</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a:xfrm>
            <a:off x="838200" y="5054321"/>
            <a:ext cx="10515600" cy="1122642"/>
          </a:xfrm>
        </p:spPr>
        <p:txBody>
          <a:bodyPr>
            <a:normAutofit/>
          </a:body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Procedural errors: any deviation from an ideal sequence of surgical gestures</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Executional errors: poor/failed manipulation of gestures within the task (e.g., needle drop, multiple attempts)</a:t>
            </a: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12</a:t>
            </a:fld>
            <a:endParaRPr lang="zh-CN" altLang="en-US"/>
          </a:p>
        </p:txBody>
      </p:sp>
      <p:pic>
        <p:nvPicPr>
          <p:cNvPr id="8" name="图片 7">
            <a:extLst>
              <a:ext uri="{FF2B5EF4-FFF2-40B4-BE49-F238E27FC236}">
                <a16:creationId xmlns:a16="http://schemas.microsoft.com/office/drawing/2014/main" id="{55671ACD-D114-86CF-85CF-1959C2A9C449}"/>
              </a:ext>
            </a:extLst>
          </p:cNvPr>
          <p:cNvPicPr>
            <a:picLocks noChangeAspect="1"/>
          </p:cNvPicPr>
          <p:nvPr/>
        </p:nvPicPr>
        <p:blipFill>
          <a:blip r:embed="rId3"/>
          <a:stretch>
            <a:fillRect/>
          </a:stretch>
        </p:blipFill>
        <p:spPr>
          <a:xfrm>
            <a:off x="336620" y="1493036"/>
            <a:ext cx="11518760" cy="3561285"/>
          </a:xfrm>
          <a:prstGeom prst="rect">
            <a:avLst/>
          </a:prstGeom>
        </p:spPr>
      </p:pic>
    </p:spTree>
    <p:extLst>
      <p:ext uri="{BB962C8B-B14F-4D97-AF65-F5344CB8AC3E}">
        <p14:creationId xmlns:p14="http://schemas.microsoft.com/office/powerpoint/2010/main" val="3437406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0A1967-6BB5-3500-A2A1-2C9115F2579D}"/>
              </a:ext>
            </a:extLst>
          </p:cNvPr>
          <p:cNvSpPr>
            <a:spLocks noGrp="1"/>
          </p:cNvSpPr>
          <p:nvPr>
            <p:ph type="title"/>
          </p:nvPr>
        </p:nvSpPr>
        <p:spPr/>
        <p:txBody>
          <a:bodyPr/>
          <a:lstStyle/>
          <a:p>
            <a:r>
              <a:rPr lang="en-US" altLang="zh-CN" dirty="0">
                <a:latin typeface="NimbusRomNo9L-Medi"/>
              </a:rPr>
              <a:t>Conclusions</a:t>
            </a:r>
            <a:endParaRPr lang="zh-CN" altLang="en-US" dirty="0">
              <a:latin typeface="NimbusRomNo9L-Medi"/>
            </a:endParaRPr>
          </a:p>
        </p:txBody>
      </p:sp>
      <p:sp>
        <p:nvSpPr>
          <p:cNvPr id="3" name="内容占位符 2">
            <a:extLst>
              <a:ext uri="{FF2B5EF4-FFF2-40B4-BE49-F238E27FC236}">
                <a16:creationId xmlns:a16="http://schemas.microsoft.com/office/drawing/2014/main" id="{F2B4EB6F-1444-31A5-0D3F-CFA5B5A8CC4A}"/>
              </a:ext>
            </a:extLst>
          </p:cNvPr>
          <p:cNvSpPr>
            <a:spLocks noGrp="1"/>
          </p:cNvSpPr>
          <p:nvPr>
            <p:ph idx="1"/>
          </p:nvPr>
        </p:nvSpPr>
        <p:spPr/>
        <p:txBody>
          <a:bodyPr>
            <a:normAutofit/>
          </a:bodyPr>
          <a:lstStyle/>
          <a:p>
            <a:pPr>
              <a:lnSpc>
                <a:spcPct val="120000"/>
              </a:lnSpc>
            </a:pPr>
            <a:r>
              <a:rPr lang="en-US" altLang="zh-CN" sz="2000" dirty="0">
                <a:latin typeface="Times New Roman" panose="02020603050405020304" pitchFamily="18" charset="0"/>
                <a:cs typeface="Times New Roman" panose="02020603050405020304" pitchFamily="18" charset="0"/>
              </a:rPr>
              <a:t>Formulate the regression task based on the skill-similarity/deviation of the test videos compared to a gold-standard reference</a:t>
            </a:r>
          </a:p>
          <a:p>
            <a:pPr>
              <a:lnSpc>
                <a:spcPct val="120000"/>
              </a:lnSpc>
            </a:pPr>
            <a:r>
              <a:rPr lang="en-US" altLang="zh-CN" sz="2000" dirty="0">
                <a:latin typeface="Times New Roman" panose="02020603050405020304" pitchFamily="18" charset="0"/>
                <a:cs typeface="Times New Roman" panose="02020603050405020304" pitchFamily="18" charset="0"/>
              </a:rPr>
              <a:t>Transformer fusion model</a:t>
            </a:r>
          </a:p>
          <a:p>
            <a:pPr>
              <a:lnSpc>
                <a:spcPct val="120000"/>
              </a:lnSpc>
            </a:pPr>
            <a:r>
              <a:rPr lang="en-US" altLang="zh-CN" sz="2000" dirty="0">
                <a:latin typeface="Times New Roman" panose="02020603050405020304" pitchFamily="18" charset="0"/>
                <a:cs typeface="Times New Roman" panose="02020603050405020304" pitchFamily="18" charset="0"/>
              </a:rPr>
              <a:t>Action segmentation as finetune task</a:t>
            </a:r>
          </a:p>
        </p:txBody>
      </p:sp>
      <p:sp>
        <p:nvSpPr>
          <p:cNvPr id="4" name="日期占位符 3">
            <a:extLst>
              <a:ext uri="{FF2B5EF4-FFF2-40B4-BE49-F238E27FC236}">
                <a16:creationId xmlns:a16="http://schemas.microsoft.com/office/drawing/2014/main" id="{1D3D95B7-F67E-81C3-5B81-EE1A59817613}"/>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1DCD8309-35C5-023D-9FB7-9A27C7C9CEB6}"/>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F874F72F-FF7E-D7FD-CB38-374F42E19806}"/>
              </a:ext>
            </a:extLst>
          </p:cNvPr>
          <p:cNvSpPr>
            <a:spLocks noGrp="1"/>
          </p:cNvSpPr>
          <p:nvPr>
            <p:ph type="sldNum" sz="quarter" idx="12"/>
          </p:nvPr>
        </p:nvSpPr>
        <p:spPr/>
        <p:txBody>
          <a:bodyPr/>
          <a:lstStyle/>
          <a:p>
            <a:fld id="{52108E69-35C3-4395-AB4C-CBC2CBC07E89}" type="slidenum">
              <a:rPr lang="zh-CN" altLang="en-US" smtClean="0"/>
              <a:t>13</a:t>
            </a:fld>
            <a:endParaRPr lang="zh-CN" altLang="en-US"/>
          </a:p>
        </p:txBody>
      </p:sp>
    </p:spTree>
    <p:extLst>
      <p:ext uri="{BB962C8B-B14F-4D97-AF65-F5344CB8AC3E}">
        <p14:creationId xmlns:p14="http://schemas.microsoft.com/office/powerpoint/2010/main" val="2749684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3A129C-144D-DEB1-758F-60B0CFFFEBE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9CB1ED7-F089-59DE-8B74-3C176AEE482D}"/>
              </a:ext>
            </a:extLst>
          </p:cNvPr>
          <p:cNvSpPr>
            <a:spLocks noGrp="1"/>
          </p:cNvSpPr>
          <p:nvPr>
            <p:ph idx="1"/>
          </p:nvPr>
        </p:nvSpPr>
        <p:spPr/>
        <p:txBody>
          <a:bodyPr>
            <a:normAutofit/>
          </a:bodyPr>
          <a:lstStyle/>
          <a:p>
            <a:pPr marL="0" indent="0">
              <a:buNone/>
            </a:pPr>
            <a:r>
              <a:rPr lang="en-US" altLang="zh-CN" sz="4400" dirty="0"/>
              <a:t>Writing</a:t>
            </a:r>
            <a:endParaRPr lang="zh-CN" altLang="en-US" sz="4400" dirty="0"/>
          </a:p>
        </p:txBody>
      </p:sp>
      <p:sp>
        <p:nvSpPr>
          <p:cNvPr id="4" name="日期占位符 3">
            <a:extLst>
              <a:ext uri="{FF2B5EF4-FFF2-40B4-BE49-F238E27FC236}">
                <a16:creationId xmlns:a16="http://schemas.microsoft.com/office/drawing/2014/main" id="{3B6C928F-0F3E-1320-16F9-ACDBAA37388D}"/>
              </a:ext>
            </a:extLst>
          </p:cNvPr>
          <p:cNvSpPr>
            <a:spLocks noGrp="1"/>
          </p:cNvSpPr>
          <p:nvPr>
            <p:ph type="dt" sz="half" idx="10"/>
          </p:nvPr>
        </p:nvSpPr>
        <p:spPr/>
        <p:txBody>
          <a:bodyPr/>
          <a:lstStyle/>
          <a:p>
            <a:fld id="{8E932608-8EB3-47D2-A62F-0F2B30F5F626}" type="datetime1">
              <a:rPr lang="zh-CN" altLang="en-US" smtClean="0"/>
              <a:t>2024/3/15</a:t>
            </a:fld>
            <a:endParaRPr lang="zh-CN" altLang="en-US"/>
          </a:p>
        </p:txBody>
      </p:sp>
      <p:sp>
        <p:nvSpPr>
          <p:cNvPr id="5" name="页脚占位符 4">
            <a:extLst>
              <a:ext uri="{FF2B5EF4-FFF2-40B4-BE49-F238E27FC236}">
                <a16:creationId xmlns:a16="http://schemas.microsoft.com/office/drawing/2014/main" id="{BE0CAAF9-B2A0-720B-ADFE-927B4F2548E9}"/>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6EC917B7-EEF7-678C-91E1-1098C3D4C867}"/>
              </a:ext>
            </a:extLst>
          </p:cNvPr>
          <p:cNvSpPr>
            <a:spLocks noGrp="1"/>
          </p:cNvSpPr>
          <p:nvPr>
            <p:ph type="sldNum" sz="quarter" idx="12"/>
          </p:nvPr>
        </p:nvSpPr>
        <p:spPr/>
        <p:txBody>
          <a:bodyPr/>
          <a:lstStyle/>
          <a:p>
            <a:fld id="{52108E69-35C3-4395-AB4C-CBC2CBC07E89}" type="slidenum">
              <a:rPr lang="zh-CN" altLang="en-US" smtClean="0"/>
              <a:t>14</a:t>
            </a:fld>
            <a:endParaRPr lang="zh-CN" altLang="en-US"/>
          </a:p>
        </p:txBody>
      </p:sp>
    </p:spTree>
    <p:extLst>
      <p:ext uri="{BB962C8B-B14F-4D97-AF65-F5344CB8AC3E}">
        <p14:creationId xmlns:p14="http://schemas.microsoft.com/office/powerpoint/2010/main" val="744459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CD8FE1E-CE56-C49F-2058-6071EF5CE26D}"/>
              </a:ext>
            </a:extLst>
          </p:cNvPr>
          <p:cNvSpPr>
            <a:spLocks noGrp="1"/>
          </p:cNvSpPr>
          <p:nvPr>
            <p:ph idx="1"/>
          </p:nvPr>
        </p:nvSpPr>
        <p:spPr>
          <a:xfrm>
            <a:off x="345831" y="689908"/>
            <a:ext cx="8587154" cy="5486444"/>
          </a:xfrm>
        </p:spPr>
        <p:txBody>
          <a:bodyPr>
            <a:normAutofit/>
          </a:bodyPr>
          <a:lstStyle/>
          <a:p>
            <a:pPr marL="0" indent="0" algn="l">
              <a:lnSpc>
                <a:spcPct val="120000"/>
              </a:lnSpc>
              <a:buNone/>
            </a:pPr>
            <a:r>
              <a:rPr lang="en-US" altLang="zh-CN" sz="1800" dirty="0">
                <a:latin typeface="Times-Roman"/>
                <a:cs typeface="Times New Roman" panose="02020603050405020304" pitchFamily="18" charset="0"/>
              </a:rPr>
              <a:t>This letter </a:t>
            </a:r>
            <a:r>
              <a:rPr lang="en-US" altLang="zh-CN" sz="1800" dirty="0">
                <a:solidFill>
                  <a:schemeClr val="accent1"/>
                </a:solidFill>
                <a:latin typeface="Times-Roman"/>
                <a:cs typeface="Times New Roman" panose="02020603050405020304" pitchFamily="18" charset="0"/>
              </a:rPr>
              <a:t>proposes</a:t>
            </a:r>
            <a:r>
              <a:rPr lang="en-US" altLang="zh-CN" sz="1800" dirty="0">
                <a:latin typeface="Times-Roman"/>
                <a:cs typeface="Times New Roman" panose="02020603050405020304" pitchFamily="18" charset="0"/>
              </a:rPr>
              <a:t> a novel video-based, contrastive regression architecture, Contra-</a:t>
            </a:r>
            <a:r>
              <a:rPr lang="en-US" altLang="zh-CN" sz="1800" dirty="0" err="1">
                <a:latin typeface="Times-Roman"/>
                <a:cs typeface="Times New Roman" panose="02020603050405020304" pitchFamily="18" charset="0"/>
              </a:rPr>
              <a:t>Sformer</a:t>
            </a:r>
            <a:r>
              <a:rPr lang="en-US" altLang="zh-CN" sz="1800" dirty="0">
                <a:latin typeface="Times-Roman"/>
                <a:cs typeface="Times New Roman" panose="02020603050405020304" pitchFamily="18" charset="0"/>
              </a:rPr>
              <a:t>, for automated surgical skill assessment in robot-assisted surgery.</a:t>
            </a:r>
            <a:r>
              <a:rPr lang="en-US" altLang="zh-CN" sz="1800" dirty="0">
                <a:solidFill>
                  <a:schemeClr val="accent1"/>
                </a:solidFill>
                <a:latin typeface="Times-Roman"/>
                <a:cs typeface="Times New Roman" panose="02020603050405020304" pitchFamily="18" charset="0"/>
              </a:rPr>
              <a:t> </a:t>
            </a:r>
            <a:r>
              <a:rPr lang="en-US" altLang="zh-CN" sz="1800" dirty="0">
                <a:latin typeface="Times-Roman"/>
                <a:cs typeface="Times New Roman" panose="02020603050405020304" pitchFamily="18" charset="0"/>
              </a:rPr>
              <a:t>The proposed framework </a:t>
            </a:r>
            <a:r>
              <a:rPr lang="en-US" altLang="zh-CN" sz="1800" dirty="0">
                <a:solidFill>
                  <a:schemeClr val="accent1"/>
                </a:solidFill>
                <a:latin typeface="Times-Roman"/>
                <a:cs typeface="Times New Roman" panose="02020603050405020304" pitchFamily="18" charset="0"/>
              </a:rPr>
              <a:t>is structured to capture </a:t>
            </a:r>
            <a:r>
              <a:rPr lang="en-US" altLang="zh-CN" sz="1800" dirty="0">
                <a:latin typeface="Times-Roman"/>
                <a:cs typeface="Times New Roman" panose="02020603050405020304" pitchFamily="18" charset="0"/>
              </a:rPr>
              <a:t>the differences in the surgical performance, between a test video and a reference video which represents optimal surgical execution. A feature extractor combining a spatial component (ResNet-18), supervised on frame-level with gesture labels, and a temporal component (TCN), </a:t>
            </a:r>
            <a:r>
              <a:rPr lang="en-US" altLang="zh-CN" sz="1800" dirty="0">
                <a:solidFill>
                  <a:schemeClr val="accent1"/>
                </a:solidFill>
                <a:latin typeface="Times-Roman"/>
                <a:cs typeface="Times New Roman" panose="02020603050405020304" pitchFamily="18" charset="0"/>
              </a:rPr>
              <a:t>generates</a:t>
            </a:r>
            <a:r>
              <a:rPr lang="en-US" altLang="zh-CN" sz="1800" dirty="0">
                <a:latin typeface="Times-Roman"/>
                <a:cs typeface="Times New Roman" panose="02020603050405020304" pitchFamily="18" charset="0"/>
              </a:rPr>
              <a:t> spatiotemporal feature matrices of the test and reference videos. These are </a:t>
            </a:r>
            <a:r>
              <a:rPr lang="en-US" altLang="zh-CN" sz="1800" dirty="0">
                <a:solidFill>
                  <a:schemeClr val="accent1"/>
                </a:solidFill>
                <a:latin typeface="Times-Roman"/>
                <a:cs typeface="Times New Roman" panose="02020603050405020304" pitchFamily="18" charset="0"/>
              </a:rPr>
              <a:t>then fed into </a:t>
            </a:r>
            <a:r>
              <a:rPr lang="en-US" altLang="zh-CN" sz="1800" dirty="0">
                <a:latin typeface="Times-Roman"/>
                <a:cs typeface="Times New Roman" panose="02020603050405020304" pitchFamily="18" charset="0"/>
              </a:rPr>
              <a:t>an action-aware Transformer with multi-head attention that produces inter-video contrastive features at frame level, representative of the skill similarity/deviation between the two videos. Moments of sub-optimal performance </a:t>
            </a:r>
            <a:r>
              <a:rPr lang="en-US" altLang="zh-CN" sz="1800" dirty="0">
                <a:solidFill>
                  <a:schemeClr val="accent1"/>
                </a:solidFill>
                <a:latin typeface="Times-Roman"/>
                <a:cs typeface="Times New Roman" panose="02020603050405020304" pitchFamily="18" charset="0"/>
              </a:rPr>
              <a:t>can be identified </a:t>
            </a:r>
            <a:r>
              <a:rPr lang="en-US" altLang="zh-CN" sz="1800" dirty="0">
                <a:latin typeface="Times-Roman"/>
                <a:cs typeface="Times New Roman" panose="02020603050405020304" pitchFamily="18" charset="0"/>
              </a:rPr>
              <a:t>and temporally localized in the obtained feature vectors, which are ultimately used to regress the manually assigned skill scores. Validated on the JIGSAWS dataset, Contra-</a:t>
            </a:r>
            <a:r>
              <a:rPr lang="en-US" altLang="zh-CN" sz="1800" dirty="0" err="1">
                <a:latin typeface="Times-Roman"/>
                <a:cs typeface="Times New Roman" panose="02020603050405020304" pitchFamily="18" charset="0"/>
              </a:rPr>
              <a:t>Sformer</a:t>
            </a:r>
            <a:r>
              <a:rPr lang="en-US" altLang="zh-CN" sz="1800" dirty="0">
                <a:latin typeface="Times-Roman"/>
                <a:cs typeface="Times New Roman" panose="02020603050405020304" pitchFamily="18" charset="0"/>
              </a:rPr>
              <a:t> achieves competitive </a:t>
            </a:r>
            <a:r>
              <a:rPr lang="en-US" altLang="zh-CN" sz="1800" dirty="0">
                <a:solidFill>
                  <a:schemeClr val="accent1"/>
                </a:solidFill>
                <a:latin typeface="Times-Roman"/>
                <a:cs typeface="Times New Roman" panose="02020603050405020304" pitchFamily="18" charset="0"/>
              </a:rPr>
              <a:t>performance</a:t>
            </a:r>
            <a:r>
              <a:rPr lang="en-US" altLang="zh-CN" sz="1800" dirty="0">
                <a:latin typeface="Times-Roman"/>
                <a:cs typeface="Times New Roman" panose="02020603050405020304" pitchFamily="18" charset="0"/>
              </a:rPr>
              <a:t> (Spearman 0.65–0.89), with a normalized mean absolute error between 5.8%-13.4% on all tasks and across validation setups.</a:t>
            </a:r>
            <a:endParaRPr lang="zh-CN" altLang="en-US" sz="1800" dirty="0">
              <a:latin typeface="Times-Roman"/>
              <a:cs typeface="Times New Roman" panose="02020603050405020304" pitchFamily="18" charset="0"/>
            </a:endParaRPr>
          </a:p>
        </p:txBody>
      </p:sp>
      <p:sp>
        <p:nvSpPr>
          <p:cNvPr id="4" name="内容占位符 2">
            <a:extLst>
              <a:ext uri="{FF2B5EF4-FFF2-40B4-BE49-F238E27FC236}">
                <a16:creationId xmlns:a16="http://schemas.microsoft.com/office/drawing/2014/main" id="{5A954D5E-2443-3C27-5D81-D2B76007FC00}"/>
              </a:ext>
            </a:extLst>
          </p:cNvPr>
          <p:cNvSpPr txBox="1">
            <a:spLocks/>
          </p:cNvSpPr>
          <p:nvPr/>
        </p:nvSpPr>
        <p:spPr>
          <a:xfrm>
            <a:off x="8932984" y="800000"/>
            <a:ext cx="3259015" cy="5258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Method &amp; Task</a:t>
            </a: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Motivation</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Detailed modules</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Effect of modules</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Experiment</a:t>
            </a:r>
            <a:endParaRPr lang="en-US" altLang="zh-CN" sz="1800" dirty="0">
              <a:latin typeface="NimbusRomNo9L-Regu"/>
            </a:endParaRPr>
          </a:p>
        </p:txBody>
      </p:sp>
      <p:sp>
        <p:nvSpPr>
          <p:cNvPr id="5" name="日期占位符 4">
            <a:extLst>
              <a:ext uri="{FF2B5EF4-FFF2-40B4-BE49-F238E27FC236}">
                <a16:creationId xmlns:a16="http://schemas.microsoft.com/office/drawing/2014/main" id="{B506BAF6-29BD-8D04-15E2-D103558CD122}"/>
              </a:ext>
            </a:extLst>
          </p:cNvPr>
          <p:cNvSpPr>
            <a:spLocks noGrp="1"/>
          </p:cNvSpPr>
          <p:nvPr>
            <p:ph type="dt" sz="half" idx="10"/>
          </p:nvPr>
        </p:nvSpPr>
        <p:spPr/>
        <p:txBody>
          <a:bodyPr/>
          <a:lstStyle/>
          <a:p>
            <a:fld id="{406CE5F7-A797-4ACA-8E8F-F356EF9082F7}" type="datetime1">
              <a:rPr lang="zh-CN" altLang="en-US" smtClean="0"/>
              <a:t>2024/3/15</a:t>
            </a:fld>
            <a:endParaRPr lang="zh-CN" altLang="en-US"/>
          </a:p>
        </p:txBody>
      </p:sp>
      <p:sp>
        <p:nvSpPr>
          <p:cNvPr id="6" name="页脚占位符 5">
            <a:extLst>
              <a:ext uri="{FF2B5EF4-FFF2-40B4-BE49-F238E27FC236}">
                <a16:creationId xmlns:a16="http://schemas.microsoft.com/office/drawing/2014/main" id="{359EAE5D-99EE-B3AF-2B10-6D3B01B388C3}"/>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D15A451-72AE-5A72-D410-3EBB730C38AF}"/>
              </a:ext>
            </a:extLst>
          </p:cNvPr>
          <p:cNvSpPr>
            <a:spLocks noGrp="1"/>
          </p:cNvSpPr>
          <p:nvPr>
            <p:ph type="sldNum" sz="quarter" idx="12"/>
          </p:nvPr>
        </p:nvSpPr>
        <p:spPr/>
        <p:txBody>
          <a:bodyPr/>
          <a:lstStyle/>
          <a:p>
            <a:fld id="{52108E69-35C3-4395-AB4C-CBC2CBC07E89}" type="slidenum">
              <a:rPr lang="zh-CN" altLang="en-US" smtClean="0"/>
              <a:t>15</a:t>
            </a:fld>
            <a:endParaRPr lang="zh-CN" altLang="en-US"/>
          </a:p>
        </p:txBody>
      </p:sp>
    </p:spTree>
    <p:extLst>
      <p:ext uri="{BB962C8B-B14F-4D97-AF65-F5344CB8AC3E}">
        <p14:creationId xmlns:p14="http://schemas.microsoft.com/office/powerpoint/2010/main" val="2512830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1/6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956930"/>
            <a:ext cx="7763189" cy="5824629"/>
          </a:xfrm>
        </p:spPr>
        <p:txBody>
          <a:bodyPr>
            <a:normAutofit lnSpcReduction="10000"/>
          </a:bodyPr>
          <a:lstStyle/>
          <a:p>
            <a:pPr marL="0" indent="0" algn="l">
              <a:lnSpc>
                <a:spcPct val="120000"/>
              </a:lnSpc>
              <a:buNone/>
            </a:pPr>
            <a:r>
              <a:rPr lang="en-US" altLang="zh-CN" sz="1800" dirty="0">
                <a:solidFill>
                  <a:schemeClr val="accent1"/>
                </a:solidFill>
                <a:latin typeface="Times New Roman" panose="02020603050405020304" pitchFamily="18" charset="0"/>
                <a:cs typeface="Times New Roman" panose="02020603050405020304" pitchFamily="18" charset="0"/>
              </a:rPr>
              <a:t>ROBOT-ASSISTED minimally invasive surgery </a:t>
            </a:r>
            <a:r>
              <a:rPr lang="en-US" altLang="zh-CN" sz="1800" dirty="0">
                <a:latin typeface="Times New Roman" panose="02020603050405020304" pitchFamily="18" charset="0"/>
                <a:cs typeface="Times New Roman" panose="02020603050405020304" pitchFamily="18" charset="0"/>
              </a:rPr>
              <a:t>(RMIS) is firmly established in clinical practice, offering enhanced visualization and manipulability compared to standard laparoscopy [1]. </a:t>
            </a:r>
            <a:r>
              <a:rPr lang="en-US" altLang="zh-CN" sz="1800" dirty="0">
                <a:solidFill>
                  <a:schemeClr val="accent1"/>
                </a:solidFill>
                <a:latin typeface="Times New Roman" panose="02020603050405020304" pitchFamily="18" charset="0"/>
                <a:cs typeface="Times New Roman" panose="02020603050405020304" pitchFamily="18" charset="0"/>
              </a:rPr>
              <a:t>Operative performance assessment </a:t>
            </a:r>
            <a:r>
              <a:rPr lang="en-US" altLang="zh-CN" sz="1800" dirty="0">
                <a:latin typeface="Times New Roman" panose="02020603050405020304" pitchFamily="18" charset="0"/>
                <a:cs typeface="Times New Roman" panose="02020603050405020304" pitchFamily="18" charset="0"/>
              </a:rPr>
              <a:t>is a fundamental element of surgical education and practice, and similar to</a:t>
            </a:r>
            <a:r>
              <a:rPr lang="en-US" altLang="zh-CN" sz="1800" b="0" i="0" u="none" strike="noStrike" baseline="0" dirty="0">
                <a:solidFill>
                  <a:srgbClr val="000000"/>
                </a:solidFill>
                <a:latin typeface="Times-Roman"/>
              </a:rPr>
              <a:t> other surgical specialties, significant efforts have been </a:t>
            </a:r>
            <a:r>
              <a:rPr lang="en-US" altLang="zh-CN" sz="1800" b="0" i="0" u="none" strike="noStrike" baseline="0" dirty="0">
                <a:latin typeface="Times-Roman"/>
              </a:rPr>
              <a:t>devoted towards standardized objective skill assessment systems for RMIS [2]. Global rating sc</a:t>
            </a:r>
            <a:r>
              <a:rPr lang="en-US" altLang="zh-CN" sz="1800" b="0" i="0" u="none" strike="noStrike" baseline="0" dirty="0">
                <a:solidFill>
                  <a:srgbClr val="000000"/>
                </a:solidFill>
                <a:latin typeface="Times-Roman"/>
              </a:rPr>
              <a:t>ales (GRS) such as the Objective Structured Assessment of Technical Skills (OSATS) are established </a:t>
            </a:r>
            <a:r>
              <a:rPr lang="en-US" altLang="zh-CN" sz="1800" b="0" i="0" u="none" strike="noStrike" baseline="0" dirty="0">
                <a:solidFill>
                  <a:schemeClr val="accent1"/>
                </a:solidFill>
                <a:latin typeface="Times-Roman"/>
              </a:rPr>
              <a:t>assessment tools</a:t>
            </a:r>
            <a:r>
              <a:rPr lang="en-US" altLang="zh-CN" sz="1800" b="0" i="0" u="none" strike="noStrike" baseline="0" dirty="0">
                <a:solidFill>
                  <a:srgbClr val="000000"/>
                </a:solidFill>
                <a:latin typeface="Times-Roman"/>
              </a:rPr>
              <a:t>. The OSATS comprise a list of core procedural components (e.g., handling of instruments, and respect for tissue), assessed and scored on a Likert-style (typically 5-point) scale. Summing the individual GRS components produces an overall performance score (7-35 for </a:t>
            </a:r>
            <a:r>
              <a:rPr lang="en-US" altLang="zh-CN" sz="1800" b="0" i="0" u="none" strike="noStrike" baseline="0" dirty="0">
                <a:latin typeface="Times-Roman"/>
              </a:rPr>
              <a:t>OSATS [3]). Each </a:t>
            </a:r>
            <a:r>
              <a:rPr lang="en-US" altLang="zh-CN" sz="1800" b="0" i="0" u="none" strike="noStrike" baseline="0" dirty="0">
                <a:solidFill>
                  <a:srgbClr val="000000"/>
                </a:solidFill>
                <a:latin typeface="Times-Roman"/>
              </a:rPr>
              <a:t>component is assigned a score based on performance characteristics. For example, “time and motion” is scored with 5 when there is economy of movement, maximum efficiency and optimal </a:t>
            </a:r>
            <a:r>
              <a:rPr lang="en-US" altLang="zh-CN" sz="1800" b="0" i="0" u="none" strike="noStrike" baseline="0" dirty="0">
                <a:latin typeface="Times-Roman"/>
              </a:rPr>
              <a:t>outcome [3]. </a:t>
            </a:r>
            <a:r>
              <a:rPr lang="en-US" altLang="zh-CN" sz="1800" b="0" i="0" u="none" strike="noStrike" baseline="0" dirty="0">
                <a:solidFill>
                  <a:schemeClr val="accent1"/>
                </a:solidFill>
                <a:latin typeface="Times-Roman"/>
              </a:rPr>
              <a:t>Nevertheless,</a:t>
            </a:r>
            <a:r>
              <a:rPr lang="en-US" altLang="zh-CN" sz="1800" b="0" i="0" u="none" strike="noStrike" baseline="0" dirty="0">
                <a:solidFill>
                  <a:srgbClr val="000000"/>
                </a:solidFill>
                <a:latin typeface="Times-Roman"/>
              </a:rPr>
              <a:t> RMIS evaluation with GRS is </a:t>
            </a:r>
            <a:r>
              <a:rPr lang="en-US" altLang="zh-CN" sz="1800" b="0" i="0" u="none" strike="noStrike" baseline="0" dirty="0">
                <a:solidFill>
                  <a:schemeClr val="accent1"/>
                </a:solidFill>
                <a:latin typeface="Times-Roman"/>
              </a:rPr>
              <a:t>time-consuming, laborious and inherently subjective </a:t>
            </a:r>
            <a:r>
              <a:rPr lang="en-US" altLang="zh-CN" sz="1800" b="0" i="0" u="none" strike="noStrike" baseline="0" dirty="0">
                <a:solidFill>
                  <a:srgbClr val="000000"/>
                </a:solidFill>
                <a:latin typeface="Times-Roman"/>
              </a:rPr>
              <a:t>as different evaluators may assess GRS items differently. </a:t>
            </a:r>
            <a:r>
              <a:rPr lang="en-US" altLang="zh-CN" sz="1800" b="0" i="0" u="none" strike="noStrike" baseline="0" dirty="0">
                <a:solidFill>
                  <a:schemeClr val="accent1"/>
                </a:solidFill>
                <a:latin typeface="Times-Roman"/>
              </a:rPr>
              <a:t>To address these limitations</a:t>
            </a:r>
            <a:r>
              <a:rPr lang="en-US" altLang="zh-CN" sz="1800" b="0" i="0" u="none" strike="noStrike" baseline="0" dirty="0">
                <a:solidFill>
                  <a:srgbClr val="000000"/>
                </a:solidFill>
                <a:latin typeface="Times-Roman"/>
              </a:rPr>
              <a:t>, several works have </a:t>
            </a:r>
            <a:r>
              <a:rPr lang="en-US" altLang="zh-CN" sz="1800" b="0" i="0" u="none" strike="noStrike" baseline="0" dirty="0">
                <a:latin typeface="Times-Roman"/>
              </a:rPr>
              <a:t>developed computational methods that evaluate surgical execution by processing intraoperative information (e.g., surgical video and robot kinematics) [4].</a:t>
            </a:r>
            <a:endParaRPr lang="en-US" altLang="zh-CN" sz="1800" dirty="0">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介绍任务应用</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人工标注方法</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buNone/>
            </a:pP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buNone/>
            </a:pP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不足</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引出前人工作</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2024/3/15</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16</a:t>
            </a:fld>
            <a:endParaRPr lang="zh-CN" altLang="en-US"/>
          </a:p>
        </p:txBody>
      </p:sp>
    </p:spTree>
    <p:extLst>
      <p:ext uri="{BB962C8B-B14F-4D97-AF65-F5344CB8AC3E}">
        <p14:creationId xmlns:p14="http://schemas.microsoft.com/office/powerpoint/2010/main" val="2327515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2/6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gn="l">
              <a:lnSpc>
                <a:spcPct val="120000"/>
              </a:lnSpc>
              <a:buNone/>
            </a:pPr>
            <a:r>
              <a:rPr lang="en-US" altLang="zh-CN" sz="1800" b="0" i="0" u="none" strike="noStrike" baseline="0" dirty="0">
                <a:solidFill>
                  <a:srgbClr val="000000"/>
                </a:solidFill>
                <a:latin typeface="Times-Roman"/>
              </a:rPr>
              <a:t>Automated surgical skill assessment in RMIS can have </a:t>
            </a:r>
            <a:r>
              <a:rPr lang="en-US" altLang="zh-CN" sz="1800" b="0" i="0" u="none" strike="noStrike" baseline="0" dirty="0">
                <a:solidFill>
                  <a:schemeClr val="accent1"/>
                </a:solidFill>
                <a:latin typeface="Times-Roman"/>
              </a:rPr>
              <a:t>a profound impact</a:t>
            </a:r>
            <a:r>
              <a:rPr lang="en-US" altLang="zh-CN" sz="1800" b="0" i="0" u="none" strike="noStrike" baseline="0" dirty="0">
                <a:solidFill>
                  <a:srgbClr val="000000"/>
                </a:solidFill>
                <a:latin typeface="Times-Roman"/>
              </a:rPr>
              <a:t>, streamlining the evaluation process, overcoming the need for manual assessment, and eliminating </a:t>
            </a:r>
            <a:r>
              <a:rPr lang="en-US" altLang="zh-CN" sz="1800" b="0" i="0" u="none" strike="noStrike" baseline="0" dirty="0">
                <a:latin typeface="Times-Roman"/>
              </a:rPr>
              <a:t>subjectivity [5]. Modeling optimal surgical execution can also introduce performance awareness in the design of actuation and control policies towards automation of surgical tasks where robotic systems mimic the performance of expert surgeons [1], [4]. The release </a:t>
            </a:r>
            <a:r>
              <a:rPr lang="en-US" altLang="zh-CN" sz="1800" b="0" i="0" u="none" strike="noStrike" baseline="0" dirty="0">
                <a:solidFill>
                  <a:srgbClr val="000000"/>
                </a:solidFill>
                <a:latin typeface="Times-Roman"/>
              </a:rPr>
              <a:t>of the JHU-ISI Gesture and Skill Assessment Working Set (</a:t>
            </a:r>
            <a:r>
              <a:rPr lang="en-US" altLang="zh-CN" sz="1800" b="0" i="0" u="none" strike="noStrike" baseline="0" dirty="0">
                <a:solidFill>
                  <a:schemeClr val="accent1"/>
                </a:solidFill>
                <a:latin typeface="Times-Roman"/>
              </a:rPr>
              <a:t>JIGSAWS</a:t>
            </a:r>
            <a:r>
              <a:rPr lang="en-US" altLang="zh-CN" sz="1800" b="0" i="0" u="none" strike="noStrike" baseline="0" dirty="0">
                <a:solidFill>
                  <a:srgbClr val="000000"/>
                </a:solidFill>
                <a:latin typeface="Times-Roman"/>
              </a:rPr>
              <a:t>) </a:t>
            </a:r>
            <a:r>
              <a:rPr lang="en-US" altLang="zh-CN" sz="1800" b="0" i="0" u="none" strike="noStrike" baseline="0" dirty="0">
                <a:latin typeface="Times-Roman"/>
              </a:rPr>
              <a:t>[6] </a:t>
            </a:r>
            <a:r>
              <a:rPr lang="en-US" altLang="zh-CN" sz="1800" b="0" i="0" u="none" strike="noStrike" baseline="0" dirty="0">
                <a:solidFill>
                  <a:srgbClr val="000000"/>
                </a:solidFill>
                <a:latin typeface="Times-Roman"/>
              </a:rPr>
              <a:t>containing synchronized kinematics and video captured using the da Vinci Surgical System, alongside atomic gestures and Global Rating Scale (GRS) score annotations (range of 6-30), provided the first structured benchmark to support activity in this space. Several methods for GRS estimation </a:t>
            </a:r>
            <a:r>
              <a:rPr lang="en-US" altLang="zh-CN" sz="1800" b="0" i="0" u="none" strike="noStrike" baseline="0" dirty="0">
                <a:solidFill>
                  <a:schemeClr val="accent1"/>
                </a:solidFill>
                <a:latin typeface="Times-Roman"/>
              </a:rPr>
              <a:t>have been developed and validated</a:t>
            </a:r>
            <a:r>
              <a:rPr lang="en-US" altLang="zh-CN" sz="1800" b="0" i="0" u="none" strike="noStrike" baseline="0" dirty="0">
                <a:solidFill>
                  <a:srgbClr val="000000"/>
                </a:solidFill>
                <a:latin typeface="Times-Roman"/>
              </a:rPr>
              <a:t> on JIGSAWS. Initial works utilized kinematic data to regress the GRS score</a:t>
            </a:r>
            <a:endParaRPr lang="en-US" altLang="zh-CN" sz="1800" dirty="0">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自动化手术评价的好处</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介绍数据集</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数据集的可靠性</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2024/3/15</a:t>
            </a:fld>
            <a:endParaRPr lang="zh-CN" altLang="en-US" dirty="0"/>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dirty="0" err="1"/>
              <a:t>lqy</a:t>
            </a:r>
            <a:endParaRPr lang="zh-CN" altLang="en-US" dirty="0"/>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17</a:t>
            </a:fld>
            <a:endParaRPr lang="zh-CN" altLang="en-US"/>
          </a:p>
        </p:txBody>
      </p:sp>
    </p:spTree>
    <p:extLst>
      <p:ext uri="{BB962C8B-B14F-4D97-AF65-F5344CB8AC3E}">
        <p14:creationId xmlns:p14="http://schemas.microsoft.com/office/powerpoint/2010/main" val="3004434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3/6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999460"/>
            <a:ext cx="8454656" cy="6007396"/>
          </a:xfrm>
        </p:spPr>
        <p:txBody>
          <a:bodyPr>
            <a:normAutofit/>
          </a:bodyPr>
          <a:lstStyle/>
          <a:p>
            <a:pPr marL="0" indent="0" algn="l">
              <a:lnSpc>
                <a:spcPct val="140000"/>
              </a:lnSpc>
              <a:buNone/>
            </a:pPr>
            <a:r>
              <a:rPr lang="en-US" altLang="zh-CN" sz="1800" b="0" i="0" u="none" strike="noStrike" baseline="0" dirty="0">
                <a:solidFill>
                  <a:schemeClr val="accent1"/>
                </a:solidFill>
                <a:latin typeface="Times-Roman"/>
              </a:rPr>
              <a:t>Initial works </a:t>
            </a:r>
            <a:r>
              <a:rPr lang="en-US" altLang="zh-CN" sz="1800" b="0" i="0" u="none" strike="noStrike" baseline="0" dirty="0">
                <a:latin typeface="Times-Roman"/>
              </a:rPr>
              <a:t>utilized kinematic data to regress the GRS score by exploring different types of holistic features [5], and temporal convolutional neural networks (TCNs) [7]. Reported outcomes indicate that modeling surgical skills to regress GRS scores </a:t>
            </a:r>
            <a:r>
              <a:rPr lang="en-US" altLang="zh-CN" sz="1800" b="0" i="0" u="none" strike="noStrike" baseline="0" dirty="0">
                <a:solidFill>
                  <a:schemeClr val="accent1"/>
                </a:solidFill>
                <a:latin typeface="Times-Roman"/>
              </a:rPr>
              <a:t>only using kinematic cues </a:t>
            </a:r>
            <a:r>
              <a:rPr lang="en-US" altLang="zh-CN" sz="1800" b="0" i="0" u="none" strike="noStrike" baseline="0" dirty="0">
                <a:latin typeface="Times-Roman"/>
              </a:rPr>
              <a:t>is challenging (Spearman’s coefficient: 0.38-0.73). </a:t>
            </a:r>
            <a:r>
              <a:rPr lang="en-US" altLang="zh-CN" sz="1800" b="0" i="0" u="none" strike="noStrike" baseline="0" dirty="0">
                <a:solidFill>
                  <a:schemeClr val="accent1"/>
                </a:solidFill>
                <a:latin typeface="Times-Roman"/>
              </a:rPr>
              <a:t>Furthermore</a:t>
            </a:r>
            <a:r>
              <a:rPr lang="en-US" altLang="zh-CN" sz="1800" b="0" i="0" u="none" strike="noStrike" baseline="0" dirty="0">
                <a:latin typeface="Times-Roman"/>
              </a:rPr>
              <a:t>, kinematic data are rarely available in real-world RMIS practice. </a:t>
            </a:r>
            <a:r>
              <a:rPr lang="en-US" altLang="zh-CN" sz="1800" b="0" i="0" u="none" strike="noStrike" baseline="0" dirty="0">
                <a:solidFill>
                  <a:schemeClr val="accent1"/>
                </a:solidFill>
                <a:latin typeface="Times-Roman"/>
              </a:rPr>
              <a:t>More recent works </a:t>
            </a:r>
            <a:r>
              <a:rPr lang="en-US" altLang="zh-CN" sz="1800" b="0" i="0" u="none" strike="noStrike" baseline="0" dirty="0">
                <a:latin typeface="Times-Roman"/>
              </a:rPr>
              <a:t>propose video- or hybrid-based methods, leveraging spatial and temporal feature encoders to extract discriminative features or by </a:t>
            </a:r>
            <a:r>
              <a:rPr lang="en-US" altLang="zh-CN" sz="1800" b="0" i="0" u="none" strike="noStrike" baseline="0" dirty="0" err="1">
                <a:latin typeface="Times-Roman"/>
              </a:rPr>
              <a:t>usingmulti</a:t>
            </a:r>
            <a:r>
              <a:rPr lang="en-US" altLang="zh-CN" sz="1800" b="0" i="0" u="none" strike="noStrike" baseline="0" dirty="0">
                <a:latin typeface="Times-Roman"/>
              </a:rPr>
              <a:t>-task architectures [8], [9], [10], [11], [12], [13], [14], [15], [16], [17], [18]. </a:t>
            </a:r>
            <a:r>
              <a:rPr lang="en-US" altLang="zh-CN" sz="1800" b="0" i="0" u="none" strike="noStrike" baseline="0" dirty="0">
                <a:solidFill>
                  <a:schemeClr val="accent1"/>
                </a:solidFill>
                <a:latin typeface="Times-Roman"/>
              </a:rPr>
              <a:t>Tang et al. propose </a:t>
            </a:r>
            <a:r>
              <a:rPr lang="en-US" altLang="zh-CN" sz="1800" b="0" i="0" u="none" strike="noStrike" baseline="0" dirty="0">
                <a:latin typeface="Times-Roman"/>
              </a:rPr>
              <a:t>an uncertainty-aware score distribution method based on 3D Convolutional Neural Networks (CNNs), where a distribution of different scores, instead of a single one, acts as the supervisory signal [17]. This method achieves good performance on JIGSAWS and other datasets (AQA-7 and MTL-AQA). Employing surgical gesture information (</a:t>
            </a:r>
            <a:r>
              <a:rPr lang="en-US" altLang="zh-CN" sz="1800" b="0" i="1" u="none" strike="noStrike" baseline="0" dirty="0" err="1">
                <a:latin typeface="Times-Italic"/>
              </a:rPr>
              <a:t>e.g</a:t>
            </a:r>
            <a:r>
              <a:rPr lang="en-US" altLang="zh-CN" sz="1800" b="0" i="1" u="none" strike="noStrike" baseline="0" dirty="0">
                <a:latin typeface="Times-Italic"/>
              </a:rPr>
              <a:t> ., </a:t>
            </a:r>
            <a:r>
              <a:rPr lang="en-US" altLang="zh-CN" sz="1800" b="0" i="0" u="none" strike="noStrike" baseline="0" dirty="0">
                <a:latin typeface="Times-Roman"/>
              </a:rPr>
              <a:t>pushing needle through the tissue, orienting needle) can be beneficial for capturing the subtle differences across time, during execution by different surgeons [8]. </a:t>
            </a:r>
            <a:endParaRPr lang="en-US" altLang="zh-CN" sz="1800" dirty="0">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9643729" y="999460"/>
            <a:ext cx="2444437" cy="55420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最初的方法和不足</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buNone/>
            </a:pP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最近的方法</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r>
              <a:rPr lang="zh-CN" altLang="en-US"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a:t>
            </a:r>
            <a:r>
              <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1</a:t>
            </a: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marL="457200" lvl="1" indent="0">
              <a:buNone/>
            </a:pPr>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2024/3/15</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18</a:t>
            </a:fld>
            <a:endParaRPr lang="zh-CN" altLang="en-US"/>
          </a:p>
        </p:txBody>
      </p:sp>
    </p:spTree>
    <p:extLst>
      <p:ext uri="{BB962C8B-B14F-4D97-AF65-F5344CB8AC3E}">
        <p14:creationId xmlns:p14="http://schemas.microsoft.com/office/powerpoint/2010/main" val="3220166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3/6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nSpc>
                <a:spcPct val="120000"/>
              </a:lnSpc>
              <a:buNone/>
            </a:pPr>
            <a:r>
              <a:rPr lang="en-US" altLang="zh-CN" sz="1800" b="0" i="0" u="none" strike="noStrike" baseline="0" dirty="0">
                <a:solidFill>
                  <a:schemeClr val="accent1"/>
                </a:solidFill>
                <a:latin typeface="Times-Roman"/>
              </a:rPr>
              <a:t>Wang et al. propose</a:t>
            </a:r>
            <a:r>
              <a:rPr lang="en-US" altLang="zh-CN" sz="1800" b="0" i="0" u="none" strike="noStrike" baseline="0" dirty="0">
                <a:latin typeface="Times-Roman"/>
              </a:rPr>
              <a:t> a multi-task learning framework, with primary task the GRS score prediction, and auxiliary tasks of gesture recognition and expertise classification [8]. </a:t>
            </a:r>
            <a:r>
              <a:rPr lang="en-US" altLang="zh-CN" sz="1800" b="0" i="0" u="none" strike="noStrike" baseline="0" dirty="0">
                <a:solidFill>
                  <a:schemeClr val="accent1"/>
                </a:solidFill>
                <a:latin typeface="Times-Roman"/>
              </a:rPr>
              <a:t>Li et al. developed</a:t>
            </a:r>
            <a:r>
              <a:rPr lang="en-US" altLang="zh-CN" sz="1800" b="0" i="0" u="none" strike="noStrike" baseline="0" dirty="0">
                <a:latin typeface="Times-Roman"/>
              </a:rPr>
              <a:t> </a:t>
            </a:r>
            <a:r>
              <a:rPr lang="en-US" altLang="zh-CN" sz="1800" b="0" i="0" u="none" strike="noStrike" baseline="0" dirty="0" err="1">
                <a:latin typeface="Times-Roman"/>
              </a:rPr>
              <a:t>ViSA</a:t>
            </a:r>
            <a:r>
              <a:rPr lang="en-US" altLang="zh-CN" sz="1800" b="0" i="0" u="none" strike="noStrike" baseline="0" dirty="0">
                <a:latin typeface="Times-Roman"/>
              </a:rPr>
              <a:t>, reporting state-of-the-art performance on JIGSAWS. To model tool-tissue </a:t>
            </a:r>
            <a:r>
              <a:rPr lang="en-US" altLang="zh-CN" sz="1800" b="0" i="0" u="none" strike="noStrike" baseline="0" dirty="0" err="1">
                <a:latin typeface="Times-Roman"/>
              </a:rPr>
              <a:t>interaction,ViSA</a:t>
            </a:r>
            <a:r>
              <a:rPr lang="en-US" altLang="zh-CN" sz="1800" b="0" i="0" u="none" strike="noStrike" baseline="0" dirty="0">
                <a:latin typeface="Times-Roman"/>
              </a:rPr>
              <a:t> clusters local semantic features, produced by a 3D CNN, to generate abstract features for each group (</a:t>
            </a:r>
            <a:r>
              <a:rPr lang="en-US" altLang="zh-CN" sz="1800" b="0" i="1" u="none" strike="noStrike" baseline="0" dirty="0">
                <a:latin typeface="Times-Italic"/>
              </a:rPr>
              <a:t>e.g., </a:t>
            </a:r>
            <a:r>
              <a:rPr lang="en-US" altLang="zh-CN" sz="1800" b="0" i="0" u="none" strike="noStrike" baseline="0" dirty="0">
                <a:latin typeface="Times-Roman"/>
              </a:rPr>
              <a:t>tools, tissue and background). These are fed to Bidirectional LSTMs and regress the GRS score [14].Multimodal methods combining video and kinematics have also been proposed [2], [19], [20]. </a:t>
            </a:r>
            <a:r>
              <a:rPr lang="en-US" altLang="zh-CN" sz="1800" b="0" i="0" u="none" strike="noStrike" baseline="0" dirty="0">
                <a:solidFill>
                  <a:schemeClr val="accent1"/>
                </a:solidFill>
                <a:latin typeface="Times-Roman"/>
              </a:rPr>
              <a:t>Liu et al. propose </a:t>
            </a:r>
            <a:r>
              <a:rPr lang="en-US" altLang="zh-CN" sz="1800" b="0" i="0" u="none" strike="noStrike" baseline="0" dirty="0">
                <a:latin typeface="Times-Roman"/>
              </a:rPr>
              <a:t>a unified multi-path framework for surgical skill </a:t>
            </a:r>
            <a:r>
              <a:rPr lang="en-US" altLang="zh-CN" sz="1800" b="0" i="0" u="none" strike="noStrike" baseline="0" dirty="0" err="1">
                <a:latin typeface="Times-Roman"/>
              </a:rPr>
              <a:t>assessment,with</a:t>
            </a:r>
            <a:r>
              <a:rPr lang="en-US" altLang="zh-CN" sz="1800" b="0" i="0" u="none" strike="noStrike" baseline="0" dirty="0">
                <a:latin typeface="Times-Roman"/>
              </a:rPr>
              <a:t> each path focusing </a:t>
            </a:r>
            <a:r>
              <a:rPr lang="en-US" altLang="zh-CN" sz="1800" b="0" i="0" u="none" strike="noStrike" baseline="0" dirty="0" err="1">
                <a:latin typeface="Times-Roman"/>
              </a:rPr>
              <a:t>onmodeling</a:t>
            </a:r>
            <a:r>
              <a:rPr lang="en-US" altLang="zh-CN" sz="1800" b="0" i="0" u="none" strike="noStrike" baseline="0" dirty="0">
                <a:latin typeface="Times-Roman"/>
              </a:rPr>
              <a:t> a different aspect of skill (e.g., semantic visual features, tools, events) [2]. Video features (extracted by ResNet-101), kinematic data, and gesture probabilities (obtained from an MS-TCN) are used. The model is supervised with regression loss and a self-supervised contrastive loss, achieving promising performance (see Table I).</a:t>
            </a:r>
            <a:endParaRPr lang="en-US" altLang="zh-CN" sz="1800" dirty="0">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49439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chemeClr val="accent3"/>
                </a:solidFill>
                <a:latin typeface="Times New Roman" panose="02020603050405020304" pitchFamily="18" charset="0"/>
                <a:ea typeface="等线" panose="02010600030101010101" pitchFamily="2" charset="-122"/>
                <a:cs typeface="Times New Roman" panose="02020603050405020304" pitchFamily="18" charset="0"/>
              </a:rPr>
              <a:t>最近的方法</a:t>
            </a:r>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r>
              <a:rPr lang="zh-CN" altLang="en-US"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a:t>
            </a:r>
            <a:r>
              <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2</a:t>
            </a:r>
          </a:p>
          <a:p>
            <a:pPr lvl="1"/>
            <a:r>
              <a:rPr lang="zh-CN" altLang="en-US"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a:t>
            </a:r>
            <a:r>
              <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3</a:t>
            </a: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lvl="1"/>
            <a:r>
              <a:rPr lang="zh-CN" altLang="en-US"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a:t>
            </a:r>
            <a:r>
              <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4</a:t>
            </a: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2024/3/15</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19</a:t>
            </a:fld>
            <a:endParaRPr lang="zh-CN" altLang="en-US"/>
          </a:p>
        </p:txBody>
      </p:sp>
    </p:spTree>
    <p:extLst>
      <p:ext uri="{BB962C8B-B14F-4D97-AF65-F5344CB8AC3E}">
        <p14:creationId xmlns:p14="http://schemas.microsoft.com/office/powerpoint/2010/main" val="2018511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4/6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gn="l">
              <a:lnSpc>
                <a:spcPct val="120000"/>
              </a:lnSpc>
              <a:buNone/>
            </a:pPr>
            <a:r>
              <a:rPr lang="en-US" altLang="zh-CN" sz="1800" b="0" i="0" u="none" strike="noStrike" baseline="0" dirty="0">
                <a:solidFill>
                  <a:schemeClr val="accent1"/>
                </a:solidFill>
                <a:latin typeface="Times-Roman"/>
              </a:rPr>
              <a:t>Previous works attempt to </a:t>
            </a:r>
            <a:r>
              <a:rPr lang="en-US" altLang="zh-CN" sz="1800" b="0" i="0" u="none" strike="noStrike" baseline="0" dirty="0">
                <a:latin typeface="Times-Roman"/>
              </a:rPr>
              <a:t>directly regress the skill score for the target surgical video from its extracted feature vectors [8], [9], [10], [14], [16], [17], [18]. </a:t>
            </a:r>
            <a:r>
              <a:rPr lang="en-US" altLang="zh-CN" sz="1800" b="0" i="0" u="none" strike="noStrike" baseline="0" dirty="0">
                <a:solidFill>
                  <a:schemeClr val="accent1"/>
                </a:solidFill>
                <a:latin typeface="Times-Roman"/>
              </a:rPr>
              <a:t>However,</a:t>
            </a:r>
            <a:r>
              <a:rPr lang="en-US" altLang="zh-CN" sz="1800" b="0" i="0" u="none" strike="noStrike" baseline="0" dirty="0">
                <a:latin typeface="Times-Roman"/>
              </a:rPr>
              <a:t> the manual GRS scores in JIGSAWS have considerable variation (6-30), while the accompanying videos have mostly similar appearance and context. Thus, it is challenging for deep models to robustly learn to distinguish between these scores, using only the total score value for supervision. </a:t>
            </a:r>
            <a:r>
              <a:rPr lang="en-US" altLang="zh-CN" sz="1800" b="0" i="0" u="none" strike="noStrike" baseline="0" dirty="0">
                <a:solidFill>
                  <a:schemeClr val="accent1"/>
                </a:solidFill>
                <a:latin typeface="Times-Roman"/>
              </a:rPr>
              <a:t>We argue that </a:t>
            </a:r>
            <a:r>
              <a:rPr lang="en-US" altLang="zh-CN" sz="1800" b="0" i="0" u="none" strike="noStrike" baseline="0" dirty="0">
                <a:latin typeface="Times-Roman"/>
              </a:rPr>
              <a:t>the inherent dimensionality reduction of the regression task makes it very challenging to structure a model to learn representations that capture the subtle differences observed across the videos. Recently</a:t>
            </a:r>
            <a:r>
              <a:rPr lang="en-US" altLang="zh-CN" sz="1800" b="0" i="0" u="none" strike="noStrike" baseline="0" dirty="0">
                <a:solidFill>
                  <a:schemeClr val="accent1"/>
                </a:solidFill>
                <a:latin typeface="Times-Roman"/>
              </a:rPr>
              <a:t>, the contrastive regression mechanism showed promise </a:t>
            </a:r>
            <a:r>
              <a:rPr lang="en-US" altLang="zh-CN" sz="1800" b="0" i="0" u="none" strike="noStrike" baseline="0" dirty="0">
                <a:latin typeface="Times-Roman"/>
              </a:rPr>
              <a:t>in a similar task of action quality assessment (AQA) [15]. Instead of learning representations that describe the skill score of a specific video, contrastive regression encourages the features to encode the difference among different videos.</a:t>
            </a:r>
            <a:endParaRPr lang="en-US" altLang="zh-CN" sz="1800" dirty="0">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之前工作总结</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不足</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buNone/>
            </a:pP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动机</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任务属性</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动机</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方法好用</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2024/3/15</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20</a:t>
            </a:fld>
            <a:endParaRPr lang="zh-CN" altLang="en-US"/>
          </a:p>
        </p:txBody>
      </p:sp>
    </p:spTree>
    <p:extLst>
      <p:ext uri="{BB962C8B-B14F-4D97-AF65-F5344CB8AC3E}">
        <p14:creationId xmlns:p14="http://schemas.microsoft.com/office/powerpoint/2010/main" val="1146682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5/6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gn="l">
              <a:lnSpc>
                <a:spcPct val="120000"/>
              </a:lnSpc>
              <a:buNone/>
            </a:pPr>
            <a:r>
              <a:rPr lang="en-US" altLang="zh-CN" sz="1800" b="0" i="0" u="none" strike="noStrike" baseline="0" dirty="0">
                <a:solidFill>
                  <a:srgbClr val="000000"/>
                </a:solidFill>
                <a:latin typeface="Times-Roman"/>
              </a:rPr>
              <a:t>In this letter, </a:t>
            </a:r>
            <a:r>
              <a:rPr lang="en-US" altLang="zh-CN" sz="1800" b="0" i="0" u="none" strike="noStrike" baseline="0" dirty="0">
                <a:solidFill>
                  <a:schemeClr val="accent1"/>
                </a:solidFill>
                <a:latin typeface="Times-Roman"/>
              </a:rPr>
              <a:t>we propose </a:t>
            </a:r>
            <a:r>
              <a:rPr lang="en-US" altLang="zh-CN" sz="1800" b="0" i="0" u="none" strike="noStrike" baseline="0" dirty="0">
                <a:solidFill>
                  <a:srgbClr val="000000"/>
                </a:solidFill>
                <a:latin typeface="Times-Roman"/>
              </a:rPr>
              <a:t>a novel Contrastive Regression Transformer model, </a:t>
            </a:r>
            <a:r>
              <a:rPr lang="en-US" altLang="zh-CN" sz="1800" b="0" i="1" u="none" strike="noStrike" baseline="0" dirty="0">
                <a:solidFill>
                  <a:srgbClr val="000000"/>
                </a:solidFill>
                <a:latin typeface="Times-Italic"/>
              </a:rPr>
              <a:t>Contra-</a:t>
            </a:r>
            <a:r>
              <a:rPr lang="en-US" altLang="zh-CN" sz="1800" b="0" i="1" u="none" strike="noStrike" baseline="0" dirty="0" err="1">
                <a:solidFill>
                  <a:srgbClr val="000000"/>
                </a:solidFill>
                <a:latin typeface="Times-Italic"/>
              </a:rPr>
              <a:t>Sformer</a:t>
            </a:r>
            <a:r>
              <a:rPr lang="en-US" altLang="zh-CN" sz="1800" b="0" i="0" u="none" strike="noStrike" baseline="0" dirty="0">
                <a:solidFill>
                  <a:srgbClr val="000000"/>
                </a:solidFill>
                <a:latin typeface="Times-Roman"/>
              </a:rPr>
              <a:t>, for surgical skill assessment (formulated as a GRS regression task). Contra-</a:t>
            </a:r>
            <a:r>
              <a:rPr lang="en-US" altLang="zh-CN" sz="1800" b="0" i="0" u="none" strike="noStrike" baseline="0" dirty="0" err="1">
                <a:solidFill>
                  <a:srgbClr val="000000"/>
                </a:solidFill>
                <a:latin typeface="Times-Roman"/>
              </a:rPr>
              <a:t>Sformer</a:t>
            </a:r>
            <a:r>
              <a:rPr lang="en-US" altLang="zh-CN" sz="1800" b="0" i="0" u="none" strike="noStrike" baseline="0" dirty="0">
                <a:solidFill>
                  <a:srgbClr val="000000"/>
                </a:solidFill>
                <a:latin typeface="Times-Roman"/>
              </a:rPr>
              <a:t> </a:t>
            </a:r>
            <a:r>
              <a:rPr lang="en-US" altLang="zh-CN" sz="1800" b="0" i="0" u="none" strike="noStrike" baseline="0" dirty="0">
                <a:solidFill>
                  <a:schemeClr val="accent1"/>
                </a:solidFill>
                <a:latin typeface="Times-Roman"/>
              </a:rPr>
              <a:t>focuses specifically on </a:t>
            </a:r>
            <a:r>
              <a:rPr lang="en-US" altLang="zh-CN" sz="1800" b="0" i="0" u="none" strike="noStrike" baseline="0" dirty="0">
                <a:solidFill>
                  <a:srgbClr val="000000"/>
                </a:solidFill>
                <a:latin typeface="Times-Roman"/>
              </a:rPr>
              <a:t>structuring features to express the level of similarity that each surgical execution (</a:t>
            </a:r>
            <a:r>
              <a:rPr lang="en-US" altLang="zh-CN" sz="1800" b="0" i="1" u="none" strike="noStrike" baseline="0" dirty="0">
                <a:solidFill>
                  <a:srgbClr val="000000"/>
                </a:solidFill>
                <a:latin typeface="Times-Italic"/>
              </a:rPr>
              <a:t>i.e., </a:t>
            </a:r>
            <a:r>
              <a:rPr lang="en-US" altLang="zh-CN" sz="1800" b="0" i="0" u="none" strike="noStrike" baseline="0" dirty="0">
                <a:solidFill>
                  <a:srgbClr val="000000"/>
                </a:solidFill>
                <a:latin typeface="Times-Roman"/>
              </a:rPr>
              <a:t>test video) exhibits when compared to a reference one. </a:t>
            </a:r>
            <a:r>
              <a:rPr lang="en-US" altLang="zh-CN" sz="1800" b="0" i="0" u="none" strike="noStrike" baseline="0" dirty="0">
                <a:solidFill>
                  <a:schemeClr val="accent1"/>
                </a:solidFill>
                <a:latin typeface="Times-Roman"/>
              </a:rPr>
              <a:t>Unlike</a:t>
            </a:r>
            <a:r>
              <a:rPr lang="en-US" altLang="zh-CN" sz="1800" b="0" i="0" u="none" strike="noStrike" baseline="0" dirty="0">
                <a:latin typeface="Times-Roman"/>
              </a:rPr>
              <a:t> [15], where the reference video is randomly selected according to the coarse category of </a:t>
            </a:r>
            <a:r>
              <a:rPr lang="en-US" altLang="zh-CN" sz="1800" b="0" i="0" u="none" strike="noStrike" baseline="0" dirty="0">
                <a:solidFill>
                  <a:srgbClr val="000000"/>
                </a:solidFill>
                <a:latin typeface="Times-Roman"/>
              </a:rPr>
              <a:t>the input test video, we set the reference video as the one with the highest assessment score for this particular surgical task. This is </a:t>
            </a:r>
            <a:r>
              <a:rPr lang="en-US" altLang="zh-CN" sz="1800" b="0" i="0" u="none" strike="noStrike" baseline="0" dirty="0">
                <a:solidFill>
                  <a:schemeClr val="accent1"/>
                </a:solidFill>
                <a:latin typeface="Times-Roman"/>
              </a:rPr>
              <a:t>motivated by </a:t>
            </a:r>
            <a:r>
              <a:rPr lang="en-US" altLang="zh-CN" sz="1800" b="0" i="0" u="none" strike="noStrike" baseline="0" dirty="0">
                <a:solidFill>
                  <a:srgbClr val="000000"/>
                </a:solidFill>
                <a:latin typeface="Times-Roman"/>
              </a:rPr>
              <a:t>the current surgical training paradigm: an expert surgeon assesses a surgical execution by comparing it to an ideal execution, and deducing points when perceiving deviations. Therefore, </a:t>
            </a:r>
            <a:r>
              <a:rPr lang="en-US" altLang="zh-CN" sz="1800" b="0" i="1" u="none" strike="noStrike" baseline="0" dirty="0">
                <a:solidFill>
                  <a:srgbClr val="000000"/>
                </a:solidFill>
                <a:latin typeface="Times-Italic"/>
              </a:rPr>
              <a:t>keeping the eye on the best </a:t>
            </a:r>
            <a:r>
              <a:rPr lang="en-US" altLang="zh-CN" sz="1800" b="0" i="0" u="none" strike="noStrike" baseline="0" dirty="0">
                <a:solidFill>
                  <a:srgbClr val="000000"/>
                </a:solidFill>
                <a:latin typeface="Times-Roman"/>
              </a:rPr>
              <a:t>and using it as reference, </a:t>
            </a:r>
            <a:r>
              <a:rPr lang="en-US" altLang="zh-CN" sz="1800" b="0" i="0" u="none" strike="noStrike" baseline="0" dirty="0">
                <a:solidFill>
                  <a:schemeClr val="accent1"/>
                </a:solidFill>
                <a:latin typeface="Times-Roman"/>
              </a:rPr>
              <a:t>our model learns</a:t>
            </a:r>
            <a:r>
              <a:rPr lang="en-US" altLang="zh-CN" sz="1800" b="0" i="0" u="none" strike="noStrike" baseline="0" dirty="0">
                <a:solidFill>
                  <a:srgbClr val="000000"/>
                </a:solidFill>
                <a:latin typeface="Times-Roman"/>
              </a:rPr>
              <a:t> how the performance in the input video </a:t>
            </a:r>
            <a:r>
              <a:rPr lang="en-US" altLang="zh-CN" sz="1800" b="0" i="0" u="none" strike="noStrike" baseline="0" dirty="0" err="1">
                <a:solidFill>
                  <a:srgbClr val="000000"/>
                </a:solidFill>
                <a:latin typeface="Times-Roman"/>
              </a:rPr>
              <a:t>spatio</a:t>
            </a:r>
            <a:r>
              <a:rPr lang="en-US" altLang="zh-CN" sz="1800" b="0" i="0" u="none" strike="noStrike" baseline="0" dirty="0">
                <a:solidFill>
                  <a:srgbClr val="000000"/>
                </a:solidFill>
                <a:latin typeface="Times-Roman"/>
              </a:rPr>
              <a:t>-temporally deviates from the reference</a:t>
            </a:r>
            <a:r>
              <a:rPr lang="en-US" altLang="zh-CN" sz="1800" b="0" i="0" u="none" strike="noStrike" baseline="0" dirty="0">
                <a:solidFill>
                  <a:schemeClr val="accent1"/>
                </a:solidFill>
                <a:latin typeface="Times-Roman"/>
              </a:rPr>
              <a:t>. In Contra-</a:t>
            </a:r>
            <a:r>
              <a:rPr lang="en-US" altLang="zh-CN" sz="1800" b="0" i="0" u="none" strike="noStrike" baseline="0" dirty="0" err="1">
                <a:solidFill>
                  <a:schemeClr val="accent1"/>
                </a:solidFill>
                <a:latin typeface="Times-Roman"/>
              </a:rPr>
              <a:t>Sformer</a:t>
            </a:r>
            <a:r>
              <a:rPr lang="en-US" altLang="zh-CN" sz="1800" b="0" i="0" u="none" strike="noStrike" baseline="0" dirty="0">
                <a:solidFill>
                  <a:schemeClr val="accent1"/>
                </a:solidFill>
                <a:latin typeface="Times-Roman"/>
              </a:rPr>
              <a:t>, </a:t>
            </a:r>
            <a:r>
              <a:rPr lang="en-US" altLang="zh-CN" sz="1800" b="0" i="0" u="none" strike="noStrike" baseline="0" dirty="0">
                <a:solidFill>
                  <a:srgbClr val="000000"/>
                </a:solidFill>
                <a:latin typeface="Times-Roman"/>
              </a:rPr>
              <a:t>the regression model is optimized for estimating the difference in the GRS score between the two executions. </a:t>
            </a:r>
            <a:endParaRPr lang="en-US" altLang="zh-CN" sz="1800" dirty="0">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我们的方法</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主要解决的问题</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和</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baseline</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比较</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Motivation</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效果（点题）</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方法</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2024/3/15</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21</a:t>
            </a:fld>
            <a:endParaRPr lang="zh-CN" altLang="en-US"/>
          </a:p>
        </p:txBody>
      </p:sp>
    </p:spTree>
    <p:extLst>
      <p:ext uri="{BB962C8B-B14F-4D97-AF65-F5344CB8AC3E}">
        <p14:creationId xmlns:p14="http://schemas.microsoft.com/office/powerpoint/2010/main" val="460360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5/6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1265480"/>
            <a:ext cx="7763189" cy="5516079"/>
          </a:xfrm>
        </p:spPr>
        <p:txBody>
          <a:bodyPr>
            <a:normAutofit/>
          </a:bodyPr>
          <a:lstStyle/>
          <a:p>
            <a:pPr marL="0" indent="0" algn="l">
              <a:lnSpc>
                <a:spcPct val="120000"/>
              </a:lnSpc>
              <a:buNone/>
            </a:pPr>
            <a:r>
              <a:rPr lang="en-US" altLang="zh-CN" sz="1800" b="0" i="0" u="none" strike="noStrike" baseline="0" dirty="0">
                <a:solidFill>
                  <a:schemeClr val="accent1"/>
                </a:solidFill>
                <a:latin typeface="Times-Roman"/>
              </a:rPr>
              <a:t>We argue that </a:t>
            </a:r>
            <a:r>
              <a:rPr lang="en-US" altLang="zh-CN" sz="1800" b="0" i="0" u="none" strike="noStrike" baseline="0" dirty="0">
                <a:solidFill>
                  <a:srgbClr val="000000"/>
                </a:solidFill>
                <a:latin typeface="Times-Roman"/>
              </a:rPr>
              <a:t>by following this contrastive approach we obtain more discriminative and robust features, that are able to better generalize to the varied GRS scores among the different operators. </a:t>
            </a:r>
            <a:r>
              <a:rPr lang="en-US" altLang="zh-CN" sz="1800" b="0" i="0" u="none" strike="noStrike" baseline="0" dirty="0" err="1">
                <a:solidFill>
                  <a:srgbClr val="000000"/>
                </a:solidFill>
                <a:latin typeface="Times-Roman"/>
              </a:rPr>
              <a:t>Spatio</a:t>
            </a:r>
            <a:r>
              <a:rPr lang="en-US" altLang="zh-CN" sz="1800" b="0" i="0" u="none" strike="noStrike" baseline="0" dirty="0">
                <a:solidFill>
                  <a:srgbClr val="000000"/>
                </a:solidFill>
                <a:latin typeface="Times-Roman"/>
              </a:rPr>
              <a:t>-temporal feature extraction </a:t>
            </a:r>
            <a:r>
              <a:rPr lang="en-US" altLang="zh-CN" sz="1800" b="0" i="0" u="none" strike="noStrike" baseline="0" dirty="0">
                <a:solidFill>
                  <a:schemeClr val="accent1"/>
                </a:solidFill>
                <a:latin typeface="Times-Roman"/>
              </a:rPr>
              <a:t>is implemented with </a:t>
            </a:r>
            <a:r>
              <a:rPr lang="en-US" altLang="zh-CN" sz="1800" b="0" i="0" u="none" strike="noStrike" baseline="0" dirty="0">
                <a:solidFill>
                  <a:srgbClr val="000000"/>
                </a:solidFill>
                <a:latin typeface="Times-Roman"/>
              </a:rPr>
              <a:t>a ResNet-18 and an enhanced TCN architecture. To capture similarities/deviations, </a:t>
            </a:r>
            <a:r>
              <a:rPr lang="en-US" altLang="zh-CN" sz="1800" b="0" i="0" u="none" strike="noStrike" baseline="0" dirty="0">
                <a:solidFill>
                  <a:schemeClr val="accent1"/>
                </a:solidFill>
                <a:latin typeface="Times-Roman"/>
              </a:rPr>
              <a:t>we take advantage of </a:t>
            </a:r>
            <a:r>
              <a:rPr lang="en-US" altLang="zh-CN" sz="1800" b="0" i="0" u="none" strike="noStrike" baseline="0" dirty="0">
                <a:solidFill>
                  <a:srgbClr val="000000"/>
                </a:solidFill>
                <a:latin typeface="Times-Roman"/>
              </a:rPr>
              <a:t>the self-attention mechanism and use a multi-head attention block. With this modeling, we </a:t>
            </a:r>
            <a:r>
              <a:rPr lang="en-US" altLang="zh-CN" sz="1800" b="0" i="0" u="none" strike="noStrike" baseline="0" dirty="0">
                <a:solidFill>
                  <a:schemeClr val="accent1"/>
                </a:solidFill>
                <a:latin typeface="Times-Roman"/>
              </a:rPr>
              <a:t>aim to </a:t>
            </a:r>
            <a:r>
              <a:rPr lang="en-US" altLang="zh-CN" sz="1800" b="0" i="0" u="none" strike="noStrike" baseline="0" dirty="0">
                <a:solidFill>
                  <a:srgbClr val="000000"/>
                </a:solidFill>
                <a:latin typeface="Times-Roman"/>
              </a:rPr>
              <a:t>encourage the generation of rich intra-video, action and skill-related features, as well as multi-aspect (tool usage, respect for tissue), inter-video features modeled by multi-head attention. </a:t>
            </a:r>
            <a:r>
              <a:rPr lang="en-US" altLang="zh-CN" sz="1800" b="0" i="0" u="none" strike="noStrike" baseline="0" dirty="0">
                <a:solidFill>
                  <a:schemeClr val="accent1"/>
                </a:solidFill>
                <a:latin typeface="Times-Roman"/>
              </a:rPr>
              <a:t>Different to </a:t>
            </a:r>
            <a:r>
              <a:rPr lang="en-US" altLang="zh-CN" sz="1800" b="0" i="0" u="none" strike="noStrike" baseline="0" dirty="0">
                <a:solidFill>
                  <a:srgbClr val="000000"/>
                </a:solidFill>
                <a:latin typeface="Times-Roman"/>
              </a:rPr>
              <a:t>[15] where the two signals (i.e. reference, test) are combined with simple concatenation, we introduce multi-head attention to model similarity/deviation between videos. Also, in our work the action knowledge </a:t>
            </a:r>
            <a:r>
              <a:rPr lang="en-US" altLang="zh-CN" sz="1800" b="0" i="0" u="none" strike="noStrike" baseline="0" dirty="0">
                <a:solidFill>
                  <a:schemeClr val="accent1"/>
                </a:solidFill>
                <a:latin typeface="Times-Roman"/>
              </a:rPr>
              <a:t>is implicitly embedded</a:t>
            </a:r>
            <a:r>
              <a:rPr lang="en-US" altLang="zh-CN" sz="1800" b="0" i="0" u="none" strike="noStrike" baseline="0" dirty="0">
                <a:solidFill>
                  <a:srgbClr val="000000"/>
                </a:solidFill>
                <a:latin typeface="Times-Roman"/>
              </a:rPr>
              <a:t> in the model by fine-tuning the feature extractor on atomic gestures. </a:t>
            </a:r>
            <a:r>
              <a:rPr lang="en-US" altLang="zh-CN" sz="1800" b="0" i="0" u="none" strike="noStrike" baseline="0" dirty="0">
                <a:solidFill>
                  <a:schemeClr val="accent1"/>
                </a:solidFill>
                <a:latin typeface="Times-Roman"/>
              </a:rPr>
              <a:t>That allows </a:t>
            </a:r>
            <a:r>
              <a:rPr lang="en-US" altLang="zh-CN" sz="1800" b="0" i="0" u="none" strike="noStrike" baseline="0" dirty="0">
                <a:solidFill>
                  <a:srgbClr val="000000"/>
                </a:solidFill>
                <a:latin typeface="Times-Roman"/>
              </a:rPr>
              <a:t>the generation of gesture-related features, which help assess skill. This approach is different than others that use multi-task [2], [8] or segment-aware architectures [18] to encode action knowledge.</a:t>
            </a:r>
            <a:endParaRPr lang="en-US" altLang="zh-CN" sz="1800" dirty="0">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1265480"/>
            <a:ext cx="3426488" cy="527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效果</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具体实现</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1</a:t>
            </a:r>
          </a:p>
          <a:p>
            <a:pPr lvl="1"/>
            <a:endParaRPr lang="en-US" altLang="zh-CN" sz="16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pPr marL="0" indent="0">
              <a:buNone/>
            </a:pP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	</a:t>
            </a: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作用</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1</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与</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baseline</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对比</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具体实现</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2</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作用</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2</a:t>
            </a: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2024/3/15</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22</a:t>
            </a:fld>
            <a:endParaRPr lang="zh-CN" altLang="en-US"/>
          </a:p>
        </p:txBody>
      </p:sp>
    </p:spTree>
    <p:extLst>
      <p:ext uri="{BB962C8B-B14F-4D97-AF65-F5344CB8AC3E}">
        <p14:creationId xmlns:p14="http://schemas.microsoft.com/office/powerpoint/2010/main" val="249385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89EE8-3B09-7BDE-5CFC-7A15DC793218}"/>
              </a:ext>
            </a:extLst>
          </p:cNvPr>
          <p:cNvSpPr>
            <a:spLocks noGrp="1"/>
          </p:cNvSpPr>
          <p:nvPr>
            <p:ph type="title"/>
          </p:nvPr>
        </p:nvSpPr>
        <p:spPr>
          <a:xfrm>
            <a:off x="838200" y="0"/>
            <a:ext cx="10515600" cy="1325563"/>
          </a:xfrm>
        </p:spPr>
        <p:txBody>
          <a:bodyPr/>
          <a:lstStyle/>
          <a:p>
            <a:r>
              <a:rPr lang="en-US" altLang="zh-CN" dirty="0">
                <a:latin typeface="NimbusRomNo9L-Medi"/>
              </a:rPr>
              <a:t>Introduction – 6/6</a:t>
            </a:r>
            <a:endParaRPr lang="zh-CN" altLang="en-US" dirty="0"/>
          </a:p>
        </p:txBody>
      </p:sp>
      <p:sp>
        <p:nvSpPr>
          <p:cNvPr id="3" name="内容占位符 2">
            <a:extLst>
              <a:ext uri="{FF2B5EF4-FFF2-40B4-BE49-F238E27FC236}">
                <a16:creationId xmlns:a16="http://schemas.microsoft.com/office/drawing/2014/main" id="{7322CE21-2F91-0EB4-A0A3-98BE4121DBBA}"/>
              </a:ext>
            </a:extLst>
          </p:cNvPr>
          <p:cNvSpPr>
            <a:spLocks noGrp="1"/>
          </p:cNvSpPr>
          <p:nvPr>
            <p:ph idx="1"/>
          </p:nvPr>
        </p:nvSpPr>
        <p:spPr>
          <a:xfrm>
            <a:off x="838200" y="882502"/>
            <a:ext cx="7763189" cy="5899057"/>
          </a:xfrm>
        </p:spPr>
        <p:txBody>
          <a:bodyPr>
            <a:normAutofit fontScale="92500" lnSpcReduction="10000"/>
          </a:bodyPr>
          <a:lstStyle/>
          <a:p>
            <a:pPr marL="0" indent="0" algn="l">
              <a:lnSpc>
                <a:spcPct val="120000"/>
              </a:lnSpc>
              <a:buNone/>
            </a:pPr>
            <a:r>
              <a:rPr lang="en-US" altLang="zh-CN" sz="1800" b="0" i="0" u="none" strike="noStrike" baseline="0" dirty="0">
                <a:solidFill>
                  <a:srgbClr val="000000"/>
                </a:solidFill>
                <a:latin typeface="Times-Roman"/>
              </a:rPr>
              <a:t>We </a:t>
            </a:r>
            <a:r>
              <a:rPr lang="en-US" altLang="zh-CN" sz="1800" b="0" i="0" u="none" strike="noStrike" baseline="0" dirty="0">
                <a:solidFill>
                  <a:schemeClr val="accent1"/>
                </a:solidFill>
                <a:latin typeface="Times-Roman"/>
              </a:rPr>
              <a:t>evaluate</a:t>
            </a:r>
            <a:r>
              <a:rPr lang="en-US" altLang="zh-CN" sz="1800" b="0" i="0" u="none" strike="noStrike" baseline="0" dirty="0">
                <a:solidFill>
                  <a:srgbClr val="000000"/>
                </a:solidFill>
                <a:latin typeface="Times-Roman"/>
              </a:rPr>
              <a:t> the Contra-</a:t>
            </a:r>
            <a:r>
              <a:rPr lang="en-US" altLang="zh-CN" sz="1800" b="0" i="0" u="none" strike="noStrike" baseline="0" dirty="0" err="1">
                <a:solidFill>
                  <a:srgbClr val="000000"/>
                </a:solidFill>
                <a:latin typeface="Times-Roman"/>
              </a:rPr>
              <a:t>Sformer</a:t>
            </a:r>
            <a:r>
              <a:rPr lang="en-US" altLang="zh-CN" sz="1800" b="0" i="0" u="none" strike="noStrike" baseline="0" dirty="0">
                <a:solidFill>
                  <a:srgbClr val="000000"/>
                </a:solidFill>
                <a:latin typeface="Times-Roman"/>
              </a:rPr>
              <a:t> with Spearman’s correlation coefficient (SCC) and Mean Absolute Error (MAE) on three tasks and three cross-validation schemes on JIGSAWS. </a:t>
            </a:r>
            <a:r>
              <a:rPr lang="en-US" altLang="zh-CN" sz="1800" b="0" i="0" u="none" strike="noStrike" baseline="0" dirty="0">
                <a:solidFill>
                  <a:schemeClr val="accent1"/>
                </a:solidFill>
                <a:latin typeface="Times-Roman"/>
              </a:rPr>
              <a:t>We also validate </a:t>
            </a:r>
            <a:r>
              <a:rPr lang="en-US" altLang="zh-CN" sz="1800" b="0" i="0" u="none" strike="noStrike" baseline="0" dirty="0">
                <a:solidFill>
                  <a:srgbClr val="000000"/>
                </a:solidFill>
                <a:latin typeface="Times-Roman"/>
              </a:rPr>
              <a:t>the learned features for their ability to represent skill similarity/deviation with ground truth error labels as defined in </a:t>
            </a:r>
            <a:r>
              <a:rPr lang="en-US" altLang="zh-CN" sz="1800" b="0" i="0" u="none" strike="noStrike" baseline="0" dirty="0">
                <a:solidFill>
                  <a:srgbClr val="0000FF"/>
                </a:solidFill>
                <a:latin typeface="Times-Roman"/>
              </a:rPr>
              <a:t>[21]</a:t>
            </a:r>
            <a:r>
              <a:rPr lang="en-US" altLang="zh-CN" sz="1800" b="0" i="0" u="none" strike="noStrike" baseline="0" dirty="0">
                <a:solidFill>
                  <a:srgbClr val="000000"/>
                </a:solidFill>
                <a:latin typeface="Times-Roman"/>
              </a:rPr>
              <a:t>. Our method </a:t>
            </a:r>
            <a:r>
              <a:rPr lang="en-US" altLang="zh-CN" sz="1800" b="0" i="0" u="none" strike="noStrike" baseline="0" dirty="0">
                <a:solidFill>
                  <a:schemeClr val="accent1"/>
                </a:solidFill>
                <a:latin typeface="Times-Roman"/>
              </a:rPr>
              <a:t>achieves competitive performance </a:t>
            </a:r>
            <a:r>
              <a:rPr lang="en-US" altLang="zh-CN" sz="1800" b="0" i="0" u="none" strike="noStrike" baseline="0" dirty="0">
                <a:solidFill>
                  <a:srgbClr val="000000"/>
                </a:solidFill>
                <a:latin typeface="Times-Roman"/>
              </a:rPr>
              <a:t>compared to the state-of-the-art with a 5.8%–13.4% normalized MAE, outperforming current methods on the knot-tying and suturing tasks. Our main contributions are summarized as follows: </a:t>
            </a:r>
          </a:p>
          <a:p>
            <a:pPr marL="0" indent="0" algn="l">
              <a:lnSpc>
                <a:spcPct val="120000"/>
              </a:lnSpc>
              <a:buNone/>
            </a:pPr>
            <a:r>
              <a:rPr lang="en-US" altLang="zh-CN" sz="1800" b="0" i="0" u="none" strike="noStrike" baseline="0" dirty="0">
                <a:latin typeface="Times-Roman"/>
              </a:rPr>
              <a:t>1) Propose a novel contrastive regression framework for surgical skill assessment, integrating surgical domain knowledge by contrasting test inputs with a reference, selected as the optimal execution (highest GRS score). </a:t>
            </a:r>
          </a:p>
          <a:p>
            <a:pPr marL="0" indent="0" algn="l">
              <a:lnSpc>
                <a:spcPct val="120000"/>
              </a:lnSpc>
              <a:buNone/>
            </a:pPr>
            <a:r>
              <a:rPr lang="en-US" altLang="zh-CN" sz="1800" b="0" i="0" u="none" strike="noStrike" baseline="0" dirty="0">
                <a:latin typeface="Times-Roman"/>
              </a:rPr>
              <a:t>2) Derive frame-level </a:t>
            </a:r>
            <a:r>
              <a:rPr lang="en-US" altLang="zh-CN" sz="1800" b="0" i="0" u="none" strike="noStrike" baseline="0" dirty="0" err="1">
                <a:latin typeface="Times-Roman"/>
              </a:rPr>
              <a:t>spatio</a:t>
            </a:r>
            <a:r>
              <a:rPr lang="en-US" altLang="zh-CN" sz="1800" b="0" i="0" u="none" strike="noStrike" baseline="0" dirty="0">
                <a:latin typeface="Times-Roman"/>
              </a:rPr>
              <a:t>-temporal features embedding action/gesture information, combining ResNet-18 outputs with a new temporal convolution network (TCN). </a:t>
            </a:r>
          </a:p>
          <a:p>
            <a:pPr marL="0" indent="0" algn="l">
              <a:lnSpc>
                <a:spcPct val="120000"/>
              </a:lnSpc>
              <a:buNone/>
            </a:pPr>
            <a:r>
              <a:rPr lang="en-US" altLang="zh-CN" sz="1800" b="0" i="0" u="none" strike="noStrike" baseline="0" dirty="0">
                <a:latin typeface="Times-Roman"/>
              </a:rPr>
              <a:t>3) Propose multi-head attention to model the similarity/deviation between the input test and reference video. We show that moments of skill deviation/similarity can be identified from the derived </a:t>
            </a:r>
            <a:r>
              <a:rPr lang="en-US" altLang="zh-CN" sz="1800" b="0" i="0" u="none" strike="noStrike" baseline="0" dirty="0" err="1">
                <a:latin typeface="Times-Roman"/>
              </a:rPr>
              <a:t>spatio</a:t>
            </a:r>
            <a:r>
              <a:rPr lang="en-US" altLang="zh-CN" sz="1800" b="0" i="0" u="none" strike="noStrike" baseline="0" dirty="0">
                <a:latin typeface="Times-Roman"/>
              </a:rPr>
              <a:t>-temporal features.</a:t>
            </a:r>
          </a:p>
          <a:p>
            <a:pPr marL="0" indent="0" algn="l">
              <a:lnSpc>
                <a:spcPct val="120000"/>
              </a:lnSpc>
              <a:buNone/>
            </a:pPr>
            <a:r>
              <a:rPr lang="en-US" altLang="zh-CN" sz="1800" b="0" i="0" u="none" strike="noStrike" baseline="0" dirty="0">
                <a:latin typeface="Times-Roman"/>
              </a:rPr>
              <a:t>4) Perform detailed analysis on the prediction error and introduce the MAE to complement SCC for evaluating regression performance of GRS score prediction in JIGSAWS.</a:t>
            </a:r>
            <a:endParaRPr lang="en-US" altLang="zh-CN" sz="1800" dirty="0">
              <a:latin typeface="Times New Roman" panose="02020603050405020304" pitchFamily="18" charset="0"/>
              <a:cs typeface="Times New Roman" panose="02020603050405020304" pitchFamily="18" charset="0"/>
            </a:endParaRPr>
          </a:p>
        </p:txBody>
      </p:sp>
      <p:sp>
        <p:nvSpPr>
          <p:cNvPr id="4" name="内容占位符 2">
            <a:extLst>
              <a:ext uri="{FF2B5EF4-FFF2-40B4-BE49-F238E27FC236}">
                <a16:creationId xmlns:a16="http://schemas.microsoft.com/office/drawing/2014/main" id="{ADFBBF16-B53B-EB63-0DF4-A3A6C018AC76}"/>
              </a:ext>
            </a:extLst>
          </p:cNvPr>
          <p:cNvSpPr txBox="1">
            <a:spLocks/>
          </p:cNvSpPr>
          <p:nvPr/>
        </p:nvSpPr>
        <p:spPr>
          <a:xfrm>
            <a:off x="8661679" y="882502"/>
            <a:ext cx="3426488" cy="56589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实验</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结果</a:t>
            </a:r>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贡献</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1</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framework</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贡献</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2</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embedding module</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贡献</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3</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fusion module</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贡献</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4</a:t>
            </a:r>
            <a:r>
              <a:rPr lang="zh-CN" altLang="en-US"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rPr>
              <a:t>analysis</a:t>
            </a:r>
          </a:p>
          <a:p>
            <a:endParaRPr lang="en-US" altLang="zh-CN" sz="2000" dirty="0">
              <a:solidFill>
                <a:srgbClr val="0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5" name="日期占位符 4">
            <a:extLst>
              <a:ext uri="{FF2B5EF4-FFF2-40B4-BE49-F238E27FC236}">
                <a16:creationId xmlns:a16="http://schemas.microsoft.com/office/drawing/2014/main" id="{3F970D7C-0130-2E45-155D-C4460119AE8C}"/>
              </a:ext>
            </a:extLst>
          </p:cNvPr>
          <p:cNvSpPr>
            <a:spLocks noGrp="1"/>
          </p:cNvSpPr>
          <p:nvPr>
            <p:ph type="dt" sz="half" idx="10"/>
          </p:nvPr>
        </p:nvSpPr>
        <p:spPr/>
        <p:txBody>
          <a:bodyPr/>
          <a:lstStyle/>
          <a:p>
            <a:fld id="{CA6D1005-75B9-45A9-81F2-694867CDD9CB}" type="datetime1">
              <a:rPr lang="zh-CN" altLang="en-US" smtClean="0"/>
              <a:t>2024/3/15</a:t>
            </a:fld>
            <a:endParaRPr lang="zh-CN" altLang="en-US"/>
          </a:p>
        </p:txBody>
      </p:sp>
      <p:sp>
        <p:nvSpPr>
          <p:cNvPr id="6" name="页脚占位符 5">
            <a:extLst>
              <a:ext uri="{FF2B5EF4-FFF2-40B4-BE49-F238E27FC236}">
                <a16:creationId xmlns:a16="http://schemas.microsoft.com/office/drawing/2014/main" id="{CDF84173-FC3E-81CA-75D6-992D9065762A}"/>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BDD8423-5199-045C-5955-87C0E9C1784F}"/>
              </a:ext>
            </a:extLst>
          </p:cNvPr>
          <p:cNvSpPr>
            <a:spLocks noGrp="1"/>
          </p:cNvSpPr>
          <p:nvPr>
            <p:ph type="sldNum" sz="quarter" idx="12"/>
          </p:nvPr>
        </p:nvSpPr>
        <p:spPr/>
        <p:txBody>
          <a:bodyPr/>
          <a:lstStyle/>
          <a:p>
            <a:fld id="{52108E69-35C3-4395-AB4C-CBC2CBC07E89}" type="slidenum">
              <a:rPr lang="zh-CN" altLang="en-US" smtClean="0"/>
              <a:t>23</a:t>
            </a:fld>
            <a:endParaRPr lang="zh-CN" altLang="en-US"/>
          </a:p>
        </p:txBody>
      </p:sp>
    </p:spTree>
    <p:extLst>
      <p:ext uri="{BB962C8B-B14F-4D97-AF65-F5344CB8AC3E}">
        <p14:creationId xmlns:p14="http://schemas.microsoft.com/office/powerpoint/2010/main" val="2541894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4B0F20-82A6-00C0-060A-8EFA282A68B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9520F74-1AEE-59D3-AD9B-A0FAB95A76C8}"/>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6DEE6D3C-9F2C-B5E2-DA0E-FA54A9C8871B}"/>
              </a:ext>
            </a:extLst>
          </p:cNvPr>
          <p:cNvSpPr>
            <a:spLocks noGrp="1"/>
          </p:cNvSpPr>
          <p:nvPr>
            <p:ph type="dt" sz="half" idx="10"/>
          </p:nvPr>
        </p:nvSpPr>
        <p:spPr/>
        <p:txBody>
          <a:bodyPr/>
          <a:lstStyle/>
          <a:p>
            <a:fld id="{A2B860FA-A935-404B-8354-606133A2817F}" type="datetime1">
              <a:rPr lang="zh-CN" altLang="en-US" smtClean="0"/>
              <a:t>2024/3/15</a:t>
            </a:fld>
            <a:endParaRPr lang="zh-CN" altLang="en-US"/>
          </a:p>
        </p:txBody>
      </p:sp>
      <p:sp>
        <p:nvSpPr>
          <p:cNvPr id="5" name="页脚占位符 4">
            <a:extLst>
              <a:ext uri="{FF2B5EF4-FFF2-40B4-BE49-F238E27FC236}">
                <a16:creationId xmlns:a16="http://schemas.microsoft.com/office/drawing/2014/main" id="{9D6BE30A-EEE0-86FE-0B54-66681BB4FC97}"/>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E5D80F58-847F-9CF3-9117-B42A297CF2E6}"/>
              </a:ext>
            </a:extLst>
          </p:cNvPr>
          <p:cNvSpPr>
            <a:spLocks noGrp="1"/>
          </p:cNvSpPr>
          <p:nvPr>
            <p:ph type="sldNum" sz="quarter" idx="12"/>
          </p:nvPr>
        </p:nvSpPr>
        <p:spPr/>
        <p:txBody>
          <a:bodyPr/>
          <a:lstStyle/>
          <a:p>
            <a:fld id="{52108E69-35C3-4395-AB4C-CBC2CBC07E89}" type="slidenum">
              <a:rPr lang="zh-CN" altLang="en-US" smtClean="0"/>
              <a:t>24</a:t>
            </a:fld>
            <a:endParaRPr lang="zh-CN" altLang="en-US"/>
          </a:p>
        </p:txBody>
      </p:sp>
    </p:spTree>
    <p:extLst>
      <p:ext uri="{BB962C8B-B14F-4D97-AF65-F5344CB8AC3E}">
        <p14:creationId xmlns:p14="http://schemas.microsoft.com/office/powerpoint/2010/main" val="18251835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14922</TotalTime>
  <Words>2808</Words>
  <Application>Microsoft Office PowerPoint</Application>
  <PresentationFormat>宽屏</PresentationFormat>
  <Paragraphs>281</Paragraphs>
  <Slides>24</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NimbusRomNo9L-Medi</vt:lpstr>
      <vt:lpstr>NimbusRomNo9L-Regu</vt:lpstr>
      <vt:lpstr>PingFang SC</vt:lpstr>
      <vt:lpstr>Times-Italic</vt:lpstr>
      <vt:lpstr>Times-Roman</vt:lpstr>
      <vt:lpstr>等线</vt:lpstr>
      <vt:lpstr>等线 Light</vt:lpstr>
      <vt:lpstr>Arial</vt:lpstr>
      <vt:lpstr>Cambria Math</vt:lpstr>
      <vt:lpstr>Times New Roman</vt:lpstr>
      <vt:lpstr>Office 主题​​</vt:lpstr>
      <vt:lpstr>Keep Your Eye on the Best: Contrastive Regression Transformer for Skill Assessment in Robotic Surgery</vt:lpstr>
      <vt:lpstr>Background</vt:lpstr>
      <vt:lpstr>Background</vt:lpstr>
      <vt:lpstr>Framework</vt:lpstr>
      <vt:lpstr>Method</vt:lpstr>
      <vt:lpstr>Method</vt:lpstr>
      <vt:lpstr>Method</vt:lpstr>
      <vt:lpstr>Method</vt:lpstr>
      <vt:lpstr>Experiments</vt:lpstr>
      <vt:lpstr>Experiments</vt:lpstr>
      <vt:lpstr>Ablation Study</vt:lpstr>
      <vt:lpstr>Visualizing the Deviation</vt:lpstr>
      <vt:lpstr>Conclusions</vt:lpstr>
      <vt:lpstr>PowerPoint 演示文稿</vt:lpstr>
      <vt:lpstr>PowerPoint 演示文稿</vt:lpstr>
      <vt:lpstr>Introduction – 1/6</vt:lpstr>
      <vt:lpstr>Introduction – 2/6</vt:lpstr>
      <vt:lpstr>Introduction – 3/6</vt:lpstr>
      <vt:lpstr>Introduction – 3/6</vt:lpstr>
      <vt:lpstr>Introduction – 4/6</vt:lpstr>
      <vt:lpstr>Introduction – 5/6</vt:lpstr>
      <vt:lpstr>Introduction – 5/6</vt:lpstr>
      <vt:lpstr>Introduction – 6/6</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琦玥 李</dc:creator>
  <cp:lastModifiedBy>琦玥 李</cp:lastModifiedBy>
  <cp:revision>53</cp:revision>
  <dcterms:created xsi:type="dcterms:W3CDTF">2023-01-02T07:25:47Z</dcterms:created>
  <dcterms:modified xsi:type="dcterms:W3CDTF">2024-03-17T08:45:45Z</dcterms:modified>
</cp:coreProperties>
</file>