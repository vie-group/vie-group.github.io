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64" r:id="rId3"/>
    <p:sldId id="327" r:id="rId4"/>
    <p:sldId id="336" r:id="rId5"/>
    <p:sldId id="337" r:id="rId6"/>
    <p:sldId id="338" r:id="rId7"/>
    <p:sldId id="339" r:id="rId8"/>
    <p:sldId id="340" r:id="rId9"/>
    <p:sldId id="341" r:id="rId10"/>
    <p:sldId id="273" r:id="rId11"/>
    <p:sldId id="316" r:id="rId12"/>
    <p:sldId id="342" r:id="rId13"/>
    <p:sldId id="344" r:id="rId14"/>
    <p:sldId id="345" r:id="rId15"/>
    <p:sldId id="343" r:id="rId16"/>
    <p:sldId id="346" r:id="rId17"/>
    <p:sldId id="347" r:id="rId18"/>
    <p:sldId id="348" r:id="rId19"/>
    <p:sldId id="284" r:id="rId20"/>
    <p:sldId id="257" r:id="rId21"/>
    <p:sldId id="258" r:id="rId22"/>
    <p:sldId id="349" r:id="rId23"/>
    <p:sldId id="329" r:id="rId24"/>
    <p:sldId id="330" r:id="rId25"/>
    <p:sldId id="332" r:id="rId26"/>
    <p:sldId id="259" r:id="rId27"/>
    <p:sldId id="335" r:id="rId28"/>
    <p:sldId id="333" r:id="rId29"/>
    <p:sldId id="260" r:id="rId30"/>
    <p:sldId id="303" r:id="rId31"/>
    <p:sldId id="285" r:id="rId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1300" autoAdjust="0"/>
  </p:normalViewPr>
  <p:slideViewPr>
    <p:cSldViewPr snapToGrid="0">
      <p:cViewPr varScale="1">
        <p:scale>
          <a:sx n="75" d="100"/>
          <a:sy n="75" d="100"/>
        </p:scale>
        <p:origin x="68" y="9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0A9E4A-0759-4964-9856-65C32428782C}" type="datetimeFigureOut">
              <a:rPr lang="zh-CN" altLang="en-US" smtClean="0"/>
              <a:t>2023/12/6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2ABA14-E4A8-40DA-B7B0-41950E132D30}" type="slidenum">
              <a:rPr lang="zh-CN" altLang="en-US" smtClean="0"/>
              <a:t>‹#›</a:t>
            </a:fld>
            <a:endParaRPr lang="zh-CN" altLang="en-US"/>
          </a:p>
        </p:txBody>
      </p:sp>
    </p:spTree>
    <p:extLst>
      <p:ext uri="{BB962C8B-B14F-4D97-AF65-F5344CB8AC3E}">
        <p14:creationId xmlns:p14="http://schemas.microsoft.com/office/powerpoint/2010/main" val="1881017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101214"/>
                </a:solidFill>
                <a:effectLst/>
                <a:latin typeface="PingFang SC"/>
              </a:rPr>
              <a:t>盲图像质量评价的测试时间自适应</a:t>
            </a:r>
            <a:endParaRPr lang="en-US" altLang="zh-CN" b="0" i="0" dirty="0">
              <a:solidFill>
                <a:srgbClr val="101214"/>
              </a:solidFill>
              <a:effectLst/>
              <a:latin typeface="PingFang SC"/>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101214"/>
              </a:solidFill>
              <a:effectLst/>
              <a:latin typeface="PingFang SC"/>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101214"/>
                </a:solidFill>
                <a:effectLst/>
                <a:latin typeface="PingFang SC"/>
              </a:rPr>
              <a:t>印度科学研究所，班加罗尔，印度</a:t>
            </a:r>
            <a:endParaRPr lang="en-US" altLang="zh-CN"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fld id="{722ABA14-E4A8-40DA-B7B0-41950E132D30}" type="slidenum">
              <a:rPr lang="zh-CN" altLang="en-US" smtClean="0"/>
              <a:t>1</a:t>
            </a:fld>
            <a:endParaRPr lang="zh-CN" altLang="en-US"/>
          </a:p>
        </p:txBody>
      </p:sp>
    </p:spTree>
    <p:extLst>
      <p:ext uri="{BB962C8B-B14F-4D97-AF65-F5344CB8AC3E}">
        <p14:creationId xmlns:p14="http://schemas.microsoft.com/office/powerpoint/2010/main" val="6433355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IQA</a:t>
            </a:r>
            <a:r>
              <a:rPr lang="zh-CN" altLang="en-US" dirty="0"/>
              <a:t>面对的图像非常多样化，需要处理几种不同的失真和分布变化。</a:t>
            </a:r>
            <a:r>
              <a:rPr lang="en-US" altLang="zh-CN" dirty="0"/>
              <a:t>IQA</a:t>
            </a:r>
            <a:r>
              <a:rPr lang="zh-CN" altLang="en-US" dirty="0"/>
              <a:t>模型通常泛化能力较差。</a:t>
            </a:r>
            <a:endParaRPr lang="en-US" altLang="zh-CN" dirty="0"/>
          </a:p>
          <a:p>
            <a:endParaRPr lang="en-US" altLang="zh-CN" dirty="0"/>
          </a:p>
          <a:p>
            <a:r>
              <a:rPr lang="zh-CN" altLang="en-US" dirty="0"/>
              <a:t>测试时适应</a:t>
            </a:r>
            <a:r>
              <a:rPr lang="en-US" altLang="zh-CN" dirty="0"/>
              <a:t>(TTA)</a:t>
            </a:r>
            <a:r>
              <a:rPr lang="zh-CN" altLang="en-US" dirty="0"/>
              <a:t>已成为解决测试时分布变化的重要方法。</a:t>
            </a:r>
            <a:endParaRPr lang="en-US" altLang="zh-CN" dirty="0"/>
          </a:p>
          <a:p>
            <a:r>
              <a:rPr lang="zh-CN" altLang="en-US" dirty="0"/>
              <a:t>但是为</a:t>
            </a:r>
            <a:r>
              <a:rPr lang="en-US" altLang="zh-CN" dirty="0"/>
              <a:t>IQA</a:t>
            </a:r>
            <a:r>
              <a:rPr lang="zh-CN" altLang="en-US" dirty="0"/>
              <a:t>设计</a:t>
            </a:r>
            <a:r>
              <a:rPr lang="en-US" altLang="zh-CN" dirty="0"/>
              <a:t>TTA</a:t>
            </a:r>
            <a:r>
              <a:rPr lang="zh-CN" altLang="en-US" dirty="0"/>
              <a:t>有很多挑战。用于</a:t>
            </a:r>
            <a:r>
              <a:rPr lang="en-US" altLang="zh-CN" dirty="0"/>
              <a:t>TTA</a:t>
            </a:r>
            <a:r>
              <a:rPr lang="zh-CN" altLang="en-US" dirty="0"/>
              <a:t>的典型损失，如熵最小化，不适用于</a:t>
            </a:r>
            <a:r>
              <a:rPr lang="en-US" altLang="zh-CN" dirty="0"/>
              <a:t>IQA</a:t>
            </a:r>
            <a:r>
              <a:rPr lang="zh-CN" altLang="en-US" dirty="0"/>
              <a:t>。</a:t>
            </a:r>
            <a:r>
              <a:rPr lang="en-US" altLang="zh-CN" dirty="0"/>
              <a:t>TTA</a:t>
            </a:r>
            <a:r>
              <a:rPr lang="zh-CN" altLang="en-US" dirty="0"/>
              <a:t>的设计基本是针对图像分类任务的，对于</a:t>
            </a:r>
            <a:r>
              <a:rPr lang="en-US" altLang="zh-CN" dirty="0"/>
              <a:t>IQA</a:t>
            </a:r>
            <a:r>
              <a:rPr lang="zh-CN" altLang="en-US" dirty="0"/>
              <a:t>这类回归任务是不适用的。</a:t>
            </a:r>
            <a:endParaRPr lang="en-US" altLang="zh-CN" dirty="0"/>
          </a:p>
          <a:p>
            <a:endParaRPr lang="en-US" altLang="zh-CN" dirty="0"/>
          </a:p>
          <a:p>
            <a:r>
              <a:rPr lang="zh-CN" altLang="en-US" dirty="0"/>
              <a:t>本文的主要贡献是设计辅助任务，使</a:t>
            </a:r>
            <a:r>
              <a:rPr lang="en-US" altLang="zh-CN" dirty="0"/>
              <a:t>TTA</a:t>
            </a:r>
            <a:r>
              <a:rPr lang="zh-CN" altLang="en-US" dirty="0"/>
              <a:t>能够用于</a:t>
            </a:r>
            <a:r>
              <a:rPr lang="en-US" altLang="zh-CN" dirty="0"/>
              <a:t>IQA</a:t>
            </a:r>
            <a:r>
              <a:rPr lang="zh-CN" altLang="en-US" dirty="0"/>
              <a:t>。</a:t>
            </a:r>
          </a:p>
        </p:txBody>
      </p:sp>
      <p:sp>
        <p:nvSpPr>
          <p:cNvPr id="4" name="灯片编号占位符 3"/>
          <p:cNvSpPr>
            <a:spLocks noGrp="1"/>
          </p:cNvSpPr>
          <p:nvPr>
            <p:ph type="sldNum" sz="quarter" idx="5"/>
          </p:nvPr>
        </p:nvSpPr>
        <p:spPr/>
        <p:txBody>
          <a:bodyPr/>
          <a:lstStyle/>
          <a:p>
            <a:fld id="{722ABA14-E4A8-40DA-B7B0-41950E132D30}" type="slidenum">
              <a:rPr lang="zh-CN" altLang="en-US" smtClean="0"/>
              <a:t>2</a:t>
            </a:fld>
            <a:endParaRPr lang="zh-CN" altLang="en-US"/>
          </a:p>
        </p:txBody>
      </p:sp>
    </p:spTree>
    <p:extLst>
      <p:ext uri="{BB962C8B-B14F-4D97-AF65-F5344CB8AC3E}">
        <p14:creationId xmlns:p14="http://schemas.microsoft.com/office/powerpoint/2010/main" val="19330948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整个过程可以这样来理解：首先在一个源域或者源数据集上训练了一个</a:t>
            </a:r>
            <a:r>
              <a:rPr lang="en-US" altLang="zh-CN" dirty="0"/>
              <a:t>IQA</a:t>
            </a:r>
            <a:r>
              <a:rPr lang="zh-CN" altLang="en-US" dirty="0"/>
              <a:t>模型（模型包括特征提取器和质量预测器），现在测试和推理的阶段是在另一个源域或者源数据集进行的。由于原数据集和目前的数据集室友一定的分布差异的，因此</a:t>
            </a:r>
            <a:r>
              <a:rPr lang="en-US" altLang="zh-CN" dirty="0"/>
              <a:t>TTA</a:t>
            </a:r>
            <a:r>
              <a:rPr lang="zh-CN" altLang="en-US" dirty="0"/>
              <a:t>的目的就是通过一个自监督的训练方法来提高泛化性。</a:t>
            </a:r>
            <a:endParaRPr lang="en-US" altLang="zh-CN" dirty="0"/>
          </a:p>
          <a:p>
            <a:endParaRPr lang="en-US" altLang="zh-CN" dirty="0"/>
          </a:p>
          <a:p>
            <a:r>
              <a:rPr lang="zh-CN" altLang="en-US" dirty="0"/>
              <a:t>整个训练和推理过程的图示，在自监督训练过程中，测试样本通过预训练模型的特征提取器提取特征，再通过一个映射头（新增的层）降低特征维度到</a:t>
            </a:r>
            <a:r>
              <a:rPr lang="en-US" altLang="zh-CN" dirty="0"/>
              <a:t>256</a:t>
            </a:r>
            <a:r>
              <a:rPr lang="zh-CN" altLang="en-US" dirty="0"/>
              <a:t>维，通过设计好的自监督损失（这里是</a:t>
            </a:r>
            <a:r>
              <a:rPr lang="en-US" altLang="zh-CN" dirty="0"/>
              <a:t>Rank loss</a:t>
            </a:r>
            <a:r>
              <a:rPr lang="zh-CN" altLang="en-US" dirty="0"/>
              <a:t>和</a:t>
            </a:r>
            <a:r>
              <a:rPr lang="en-US" altLang="zh-CN" dirty="0"/>
              <a:t>Group Contrastive Loss</a:t>
            </a:r>
            <a:r>
              <a:rPr lang="zh-CN" altLang="en-US" dirty="0"/>
              <a:t>）来优化映射头的参数和特征提取器中</a:t>
            </a:r>
            <a:r>
              <a:rPr lang="en-US" altLang="zh-CN" dirty="0"/>
              <a:t>Batch Normalization</a:t>
            </a:r>
            <a:r>
              <a:rPr lang="zh-CN" altLang="en-US" dirty="0"/>
              <a:t>的参数，其他参数冻结保持不变。（类似于低秩学习</a:t>
            </a:r>
            <a:r>
              <a:rPr lang="en-US" altLang="zh-CN" dirty="0"/>
              <a:t>+</a:t>
            </a:r>
            <a:r>
              <a:rPr lang="zh-CN" altLang="en-US" dirty="0"/>
              <a:t>稀疏微调的组合）</a:t>
            </a:r>
            <a:endParaRPr lang="en-US" altLang="zh-CN" dirty="0"/>
          </a:p>
          <a:p>
            <a:endParaRPr lang="en-US" altLang="zh-CN" dirty="0"/>
          </a:p>
          <a:p>
            <a:r>
              <a:rPr lang="zh-CN" altLang="en-US" dirty="0"/>
              <a:t>在推理时，使用更新的特征提取器和预训练模型的质量回归器来预测测试图像的质量分数。</a:t>
            </a:r>
            <a:endParaRPr lang="en-US" altLang="zh-CN" dirty="0"/>
          </a:p>
          <a:p>
            <a:endParaRPr lang="en-US" altLang="zh-CN" dirty="0"/>
          </a:p>
          <a:p>
            <a:r>
              <a:rPr lang="zh-CN" altLang="en-US" dirty="0"/>
              <a:t>下面我们详细说明</a:t>
            </a:r>
            <a:r>
              <a:rPr lang="en-US" altLang="zh-CN" dirty="0"/>
              <a:t>Rank loss</a:t>
            </a:r>
            <a:r>
              <a:rPr lang="zh-CN" altLang="en-US" dirty="0"/>
              <a:t>和</a:t>
            </a:r>
            <a:r>
              <a:rPr lang="en-US" altLang="zh-CN" dirty="0"/>
              <a:t>Group Contrastive Loss</a:t>
            </a:r>
            <a:r>
              <a:rPr lang="zh-CN" altLang="en-US" dirty="0"/>
              <a:t>两个自监督损失怎么设计的。</a:t>
            </a:r>
          </a:p>
        </p:txBody>
      </p:sp>
      <p:sp>
        <p:nvSpPr>
          <p:cNvPr id="4" name="灯片编号占位符 3"/>
          <p:cNvSpPr>
            <a:spLocks noGrp="1"/>
          </p:cNvSpPr>
          <p:nvPr>
            <p:ph type="sldNum" sz="quarter" idx="5"/>
          </p:nvPr>
        </p:nvSpPr>
        <p:spPr/>
        <p:txBody>
          <a:bodyPr/>
          <a:lstStyle/>
          <a:p>
            <a:fld id="{722ABA14-E4A8-40DA-B7B0-41950E132D30}" type="slidenum">
              <a:rPr lang="zh-CN" altLang="en-US" smtClean="0"/>
              <a:t>3</a:t>
            </a:fld>
            <a:endParaRPr lang="zh-CN" altLang="en-US"/>
          </a:p>
        </p:txBody>
      </p:sp>
    </p:spTree>
    <p:extLst>
      <p:ext uri="{BB962C8B-B14F-4D97-AF65-F5344CB8AC3E}">
        <p14:creationId xmlns:p14="http://schemas.microsoft.com/office/powerpoint/2010/main" val="37845963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首先是</a:t>
            </a:r>
            <a:r>
              <a:rPr lang="en-US" altLang="zh-CN" dirty="0"/>
              <a:t>Group Contrastive Loss</a:t>
            </a:r>
          </a:p>
          <a:p>
            <a:endParaRPr lang="en-US" altLang="zh-CN" dirty="0"/>
          </a:p>
          <a:p>
            <a:r>
              <a:rPr lang="zh-CN" altLang="en-US" dirty="0"/>
              <a:t>对于一个</a:t>
            </a:r>
            <a:r>
              <a:rPr lang="en-US" altLang="zh-CN" dirty="0"/>
              <a:t>batch</a:t>
            </a:r>
            <a:r>
              <a:rPr lang="zh-CN" altLang="en-US" dirty="0"/>
              <a:t>中的图像，首先通过预训练好的模型给出他们的伪标签，根据伪标签的大小把这些图像组成两个不同的组（质量分数较高的放在一组，较低的放在一组，居中的图像不归属于两者组中的任意一个组）。群体对比损失试图将同一组图像中提取的特征之间的距离最小化，而将不同组图像中提取的特征之间的距离最大化。</a:t>
            </a:r>
            <a:endParaRPr lang="en-US" altLang="zh-CN" dirty="0"/>
          </a:p>
          <a:p>
            <a:endParaRPr lang="en-US" altLang="zh-CN" dirty="0"/>
          </a:p>
          <a:p>
            <a:r>
              <a:rPr lang="en-US" altLang="zh-CN" dirty="0"/>
              <a:t>GC</a:t>
            </a:r>
            <a:r>
              <a:rPr lang="zh-CN" altLang="en-US" dirty="0"/>
              <a:t>学习损失背后的假设是，来自相同质量组的图像应该在较低维空间中给出相似的特征表示，而来自不同组的图像的特征应该差异很大。因此训练的时候来自同一组的图像对作为一对正样本，来自不同组的图像对作为一对负样本。</a:t>
            </a:r>
          </a:p>
        </p:txBody>
      </p:sp>
      <p:sp>
        <p:nvSpPr>
          <p:cNvPr id="4" name="灯片编号占位符 3"/>
          <p:cNvSpPr>
            <a:spLocks noGrp="1"/>
          </p:cNvSpPr>
          <p:nvPr>
            <p:ph type="sldNum" sz="quarter" idx="5"/>
          </p:nvPr>
        </p:nvSpPr>
        <p:spPr/>
        <p:txBody>
          <a:bodyPr/>
          <a:lstStyle/>
          <a:p>
            <a:fld id="{722ABA14-E4A8-40DA-B7B0-41950E132D30}" type="slidenum">
              <a:rPr lang="zh-CN" altLang="en-US" smtClean="0"/>
              <a:t>4</a:t>
            </a:fld>
            <a:endParaRPr lang="zh-CN" altLang="en-US"/>
          </a:p>
        </p:txBody>
      </p:sp>
    </p:spTree>
    <p:extLst>
      <p:ext uri="{BB962C8B-B14F-4D97-AF65-F5344CB8AC3E}">
        <p14:creationId xmlns:p14="http://schemas.microsoft.com/office/powerpoint/2010/main" val="25866907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计算方式</a:t>
            </a:r>
            <a:r>
              <a:rPr lang="en-US" altLang="zh-CN" dirty="0"/>
              <a:t>:</a:t>
            </a:r>
          </a:p>
          <a:p>
            <a:r>
              <a:rPr lang="zh-CN" altLang="en-US" dirty="0"/>
              <a:t>使用改进的</a:t>
            </a:r>
            <a:r>
              <a:rPr lang="en-US" altLang="zh-CN" dirty="0"/>
              <a:t>NT-</a:t>
            </a:r>
            <a:r>
              <a:rPr lang="en-US" altLang="zh-CN" dirty="0" err="1"/>
              <a:t>Xent</a:t>
            </a:r>
            <a:r>
              <a:rPr lang="zh-CN" altLang="en-US" dirty="0"/>
              <a:t>对比损失作为的目标函数。第一个公式中，</a:t>
            </a:r>
            <a:r>
              <a:rPr lang="en-US" altLang="zh-CN" dirty="0"/>
              <a:t>N</a:t>
            </a:r>
            <a:r>
              <a:rPr lang="zh-CN" altLang="en-US" dirty="0"/>
              <a:t>是</a:t>
            </a:r>
            <a:r>
              <a:rPr lang="en-US" altLang="zh-CN" dirty="0" err="1"/>
              <a:t>batchsize</a:t>
            </a:r>
            <a:r>
              <a:rPr lang="zh-CN" altLang="en-US" dirty="0"/>
              <a:t>的大小，</a:t>
            </a:r>
            <a:r>
              <a:rPr lang="en-US" altLang="zh-CN" dirty="0"/>
              <a:t>p</a:t>
            </a:r>
            <a:r>
              <a:rPr lang="zh-CN" altLang="en-US" dirty="0"/>
              <a:t>是一个</a:t>
            </a:r>
            <a:r>
              <a:rPr lang="en-US" altLang="zh-CN" dirty="0"/>
              <a:t>0-0.5</a:t>
            </a:r>
            <a:r>
              <a:rPr lang="zh-CN" altLang="en-US" dirty="0"/>
              <a:t>之间的参数。假设</a:t>
            </a:r>
            <a:r>
              <a:rPr lang="en-US" altLang="zh-CN" dirty="0"/>
              <a:t>zi</a:t>
            </a:r>
            <a:r>
              <a:rPr lang="zh-CN" altLang="en-US" dirty="0"/>
              <a:t>和</a:t>
            </a:r>
            <a:r>
              <a:rPr lang="en-US" altLang="zh-CN" dirty="0" err="1"/>
              <a:t>zj</a:t>
            </a:r>
            <a:r>
              <a:rPr lang="zh-CN" altLang="en-US" dirty="0"/>
              <a:t>是来自相同</a:t>
            </a:r>
            <a:r>
              <a:rPr lang="en-US" altLang="zh-CN" dirty="0"/>
              <a:t>group</a:t>
            </a:r>
            <a:r>
              <a:rPr lang="zh-CN" altLang="en-US" dirty="0"/>
              <a:t>的样本的特征，</a:t>
            </a:r>
            <a:r>
              <a:rPr lang="en-US" altLang="zh-CN" dirty="0"/>
              <a:t>k&gt;(1-p)N</a:t>
            </a:r>
            <a:r>
              <a:rPr lang="zh-CN" altLang="en-US" dirty="0"/>
              <a:t>代表的是来自于质量高的那个组。第二个公式中，通过最小化该目标函数，可以让来自相同组的样本特征尽可能的接近。</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5</a:t>
            </a:fld>
            <a:endParaRPr lang="zh-CN" altLang="en-US"/>
          </a:p>
        </p:txBody>
      </p:sp>
    </p:spTree>
    <p:extLst>
      <p:ext uri="{BB962C8B-B14F-4D97-AF65-F5344CB8AC3E}">
        <p14:creationId xmlns:p14="http://schemas.microsoft.com/office/powerpoint/2010/main" val="23612265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测试时间自适应的秩损失框架。</a:t>
            </a:r>
            <a:endParaRPr lang="en-US" altLang="zh-CN" dirty="0"/>
          </a:p>
          <a:p>
            <a:endParaRPr lang="en-US" altLang="zh-CN" dirty="0"/>
          </a:p>
          <a:p>
            <a:r>
              <a:rPr lang="zh-CN" altLang="en-US" dirty="0"/>
              <a:t>对于每一幅图片，用两种不同程度的失真来处理图像，一个是更严重的失真，一个是轻微的失真。然后，我们通过当前的特征提取器和映射头获取三个图像的低纬特征表示。轻微失真图像的特征和原图的特征的距离应该很小，严重失真图像的特征和原图的特征的距离应该很大，以此来构建排序损失。</a:t>
            </a:r>
            <a:endParaRPr lang="en-US" altLang="zh-CN"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6</a:t>
            </a:fld>
            <a:endParaRPr lang="zh-CN" altLang="en-US"/>
          </a:p>
        </p:txBody>
      </p:sp>
    </p:spTree>
    <p:extLst>
      <p:ext uri="{BB962C8B-B14F-4D97-AF65-F5344CB8AC3E}">
        <p14:creationId xmlns:p14="http://schemas.microsoft.com/office/powerpoint/2010/main" val="21020144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实现这个排序的概率是通过</a:t>
            </a:r>
            <a:r>
              <a:rPr lang="en-US" altLang="zh-CN" dirty="0"/>
              <a:t>sigmoid</a:t>
            </a:r>
            <a:r>
              <a:rPr lang="zh-CN" altLang="en-US" dirty="0"/>
              <a:t>函数考虑距离差来估计的。</a:t>
            </a:r>
            <a:endParaRPr lang="en-US" altLang="zh-CN" dirty="0"/>
          </a:p>
          <a:p>
            <a:endParaRPr lang="en-US" altLang="zh-CN" dirty="0"/>
          </a:p>
          <a:p>
            <a:r>
              <a:rPr lang="zh-CN" altLang="en-US" dirty="0"/>
              <a:t>使用真实标签</a:t>
            </a:r>
            <a:r>
              <a:rPr lang="en-US" altLang="zh-CN" dirty="0"/>
              <a:t>¯Pi = 1</a:t>
            </a:r>
            <a:r>
              <a:rPr lang="zh-CN" altLang="en-US" dirty="0"/>
              <a:t>和预测概率</a:t>
            </a:r>
            <a:r>
              <a:rPr lang="en-US" altLang="zh-CN" dirty="0"/>
              <a:t>Pi</a:t>
            </a:r>
            <a:r>
              <a:rPr lang="zh-CN" altLang="en-US" dirty="0"/>
              <a:t>之间的二元交叉熵损失来获得</a:t>
            </a:r>
            <a:r>
              <a:rPr lang="en-US" altLang="zh-CN" dirty="0"/>
              <a:t>Loss</a:t>
            </a:r>
            <a:r>
              <a:rPr lang="zh-CN" altLang="en-US" dirty="0"/>
              <a:t>损失：</a:t>
            </a:r>
            <a:endParaRPr lang="en-US" altLang="zh-CN" dirty="0"/>
          </a:p>
          <a:p>
            <a:endParaRPr lang="en-US" altLang="zh-CN" dirty="0"/>
          </a:p>
          <a:p>
            <a:r>
              <a:rPr lang="zh-CN" altLang="en-US" dirty="0"/>
              <a:t>若</a:t>
            </a:r>
            <a:r>
              <a:rPr lang="en-US" altLang="zh-CN" dirty="0" err="1"/>
              <a:t>batchsize</a:t>
            </a:r>
            <a:r>
              <a:rPr lang="zh-CN" altLang="en-US" dirty="0"/>
              <a:t>为</a:t>
            </a:r>
            <a:r>
              <a:rPr lang="en-US" altLang="zh-CN" dirty="0"/>
              <a:t>N</a:t>
            </a:r>
            <a:r>
              <a:rPr lang="zh-CN" altLang="en-US" dirty="0"/>
              <a:t>，总的秩损失为</a:t>
            </a:r>
          </a:p>
        </p:txBody>
      </p:sp>
      <p:sp>
        <p:nvSpPr>
          <p:cNvPr id="4" name="灯片编号占位符 3"/>
          <p:cNvSpPr>
            <a:spLocks noGrp="1"/>
          </p:cNvSpPr>
          <p:nvPr>
            <p:ph type="sldNum" sz="quarter" idx="5"/>
          </p:nvPr>
        </p:nvSpPr>
        <p:spPr/>
        <p:txBody>
          <a:bodyPr/>
          <a:lstStyle/>
          <a:p>
            <a:fld id="{722ABA14-E4A8-40DA-B7B0-41950E132D30}" type="slidenum">
              <a:rPr lang="zh-CN" altLang="en-US" smtClean="0"/>
              <a:t>7</a:t>
            </a:fld>
            <a:endParaRPr lang="zh-CN" altLang="en-US"/>
          </a:p>
        </p:txBody>
      </p:sp>
    </p:spTree>
    <p:extLst>
      <p:ext uri="{BB962C8B-B14F-4D97-AF65-F5344CB8AC3E}">
        <p14:creationId xmlns:p14="http://schemas.microsoft.com/office/powerpoint/2010/main" val="8809491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整体自监督</a:t>
            </a:r>
            <a:r>
              <a:rPr lang="en-US" altLang="zh-CN" dirty="0"/>
              <a:t>TTA</a:t>
            </a:r>
            <a:r>
              <a:rPr lang="zh-CN" altLang="en-US" dirty="0"/>
              <a:t>目标函数是</a:t>
            </a:r>
            <a:r>
              <a:rPr lang="en-US" altLang="zh-CN" dirty="0"/>
              <a:t>Rank</a:t>
            </a:r>
            <a:r>
              <a:rPr lang="zh-CN" altLang="en-US" dirty="0"/>
              <a:t>和</a:t>
            </a:r>
            <a:r>
              <a:rPr lang="en-US" altLang="zh-CN" dirty="0"/>
              <a:t>GC</a:t>
            </a:r>
            <a:r>
              <a:rPr lang="zh-CN" altLang="en-US" dirty="0"/>
              <a:t>损失的组合</a:t>
            </a:r>
          </a:p>
        </p:txBody>
      </p:sp>
      <p:sp>
        <p:nvSpPr>
          <p:cNvPr id="4" name="灯片编号占位符 3"/>
          <p:cNvSpPr>
            <a:spLocks noGrp="1"/>
          </p:cNvSpPr>
          <p:nvPr>
            <p:ph type="sldNum" sz="quarter" idx="5"/>
          </p:nvPr>
        </p:nvSpPr>
        <p:spPr/>
        <p:txBody>
          <a:bodyPr/>
          <a:lstStyle/>
          <a:p>
            <a:fld id="{722ABA14-E4A8-40DA-B7B0-41950E132D30}" type="slidenum">
              <a:rPr lang="zh-CN" altLang="en-US" smtClean="0"/>
              <a:t>8</a:t>
            </a:fld>
            <a:endParaRPr lang="zh-CN" altLang="en-US"/>
          </a:p>
        </p:txBody>
      </p:sp>
    </p:spTree>
    <p:extLst>
      <p:ext uri="{BB962C8B-B14F-4D97-AF65-F5344CB8AC3E}">
        <p14:creationId xmlns:p14="http://schemas.microsoft.com/office/powerpoint/2010/main" val="40328141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评估指标是</a:t>
            </a:r>
            <a:r>
              <a:rPr lang="en-US" altLang="zh-CN" dirty="0"/>
              <a:t>PLCC </a:t>
            </a:r>
            <a:r>
              <a:rPr lang="zh-CN" altLang="en-US" dirty="0"/>
              <a:t>和 </a:t>
            </a:r>
            <a:r>
              <a:rPr lang="en-US" altLang="zh-CN" dirty="0"/>
              <a:t>SRCC</a:t>
            </a:r>
            <a:r>
              <a:rPr lang="zh-CN" altLang="en-US" dirty="0"/>
              <a:t>，实验中用到的模型是</a:t>
            </a:r>
            <a:r>
              <a:rPr lang="en-US" altLang="zh-CN" dirty="0" err="1">
                <a:latin typeface="NimbusRomNo9L-Medi"/>
              </a:rPr>
              <a:t>TReS</a:t>
            </a:r>
            <a:r>
              <a:rPr lang="en-US" altLang="zh-CN" dirty="0">
                <a:latin typeface="NimbusRomNo9L-Medi"/>
              </a:rPr>
              <a:t> , MUSIQ , </a:t>
            </a:r>
            <a:r>
              <a:rPr lang="en-US" altLang="zh-CN" dirty="0" err="1">
                <a:latin typeface="NimbusRomNo9L-Medi"/>
              </a:rPr>
              <a:t>HyperIQA</a:t>
            </a:r>
            <a:r>
              <a:rPr lang="en-US" altLang="zh-CN" dirty="0">
                <a:latin typeface="NimbusRomNo9L-Medi"/>
              </a:rPr>
              <a:t> , </a:t>
            </a:r>
            <a:r>
              <a:rPr lang="en-US" altLang="zh-CN" dirty="0" err="1">
                <a:latin typeface="NimbusRomNo9L-Medi"/>
              </a:rPr>
              <a:t>MetaIQA</a:t>
            </a:r>
            <a:r>
              <a:rPr lang="zh-CN" altLang="en-US" dirty="0">
                <a:latin typeface="NimbusRomNo9L-Medi"/>
              </a:rPr>
              <a:t>四种，其中</a:t>
            </a:r>
            <a:r>
              <a:rPr lang="en-US" altLang="zh-CN" dirty="0" err="1">
                <a:latin typeface="NimbusRomNo9L-Medi"/>
              </a:rPr>
              <a:t>TReS</a:t>
            </a:r>
            <a:r>
              <a:rPr lang="en-US" altLang="zh-CN" dirty="0">
                <a:latin typeface="NimbusRomNo9L-Medi"/>
              </a:rPr>
              <a:t> , MUSIQ , </a:t>
            </a:r>
            <a:r>
              <a:rPr lang="en-US" altLang="zh-CN" dirty="0" err="1">
                <a:latin typeface="NimbusRomNo9L-Medi"/>
              </a:rPr>
              <a:t>HyperIQA</a:t>
            </a:r>
            <a:r>
              <a:rPr lang="en-US" altLang="zh-CN" dirty="0">
                <a:latin typeface="NimbusRomNo9L-Medi"/>
              </a:rPr>
              <a:t> </a:t>
            </a:r>
            <a:r>
              <a:rPr lang="zh-CN" altLang="en-US" dirty="0">
                <a:latin typeface="NimbusRomNo9L-Medi"/>
              </a:rPr>
              <a:t>是在</a:t>
            </a:r>
            <a:r>
              <a:rPr lang="en-US" altLang="zh-CN" sz="1200" b="0" i="0" u="none" strike="noStrike" kern="1200" baseline="0" dirty="0">
                <a:solidFill>
                  <a:schemeClr val="dk1"/>
                </a:solidFill>
                <a:latin typeface="+mn-lt"/>
                <a:ea typeface="+mn-ea"/>
                <a:cs typeface="+mn-cs"/>
              </a:rPr>
              <a:t>LIVEFB</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上预训练好的，</a:t>
            </a:r>
            <a:r>
              <a:rPr lang="en-US" altLang="zh-CN" dirty="0" err="1">
                <a:latin typeface="NimbusRomNo9L-Medi"/>
              </a:rPr>
              <a:t>MetaIQA</a:t>
            </a:r>
            <a:r>
              <a:rPr lang="zh-CN" altLang="en-US" dirty="0">
                <a:latin typeface="NimbusRomNo9L-Medi"/>
              </a:rPr>
              <a:t>是在</a:t>
            </a:r>
            <a:r>
              <a:rPr lang="en-US" altLang="zh-CN" dirty="0"/>
              <a:t>TID2013 &amp; KADID-10k</a:t>
            </a:r>
            <a:r>
              <a:rPr lang="zh-CN" altLang="en-US" dirty="0"/>
              <a:t>预训练好的。</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通过</a:t>
            </a:r>
            <a:r>
              <a:rPr lang="en-US" altLang="zh-CN" dirty="0"/>
              <a:t>TTA-IQA</a:t>
            </a:r>
            <a:r>
              <a:rPr lang="zh-CN" altLang="en-US" dirty="0"/>
              <a:t>，让这些模型在</a:t>
            </a:r>
            <a:r>
              <a:rPr lang="en-US" altLang="zh-CN" sz="1200" b="0" i="0" u="none" strike="noStrike" kern="1200" baseline="0" dirty="0">
                <a:solidFill>
                  <a:schemeClr val="dk1"/>
                </a:solidFill>
                <a:latin typeface="+mn-lt"/>
                <a:ea typeface="+mn-ea"/>
                <a:cs typeface="+mn-cs"/>
              </a:rPr>
              <a:t>LIVE-IQA</a:t>
            </a:r>
            <a:r>
              <a:rPr lang="zh-CN" altLang="en-US" sz="1200" b="0" i="0" u="none" strike="noStrike" kern="1200" baseline="0" dirty="0">
                <a:solidFill>
                  <a:schemeClr val="dk1"/>
                </a:solidFill>
                <a:latin typeface="+mn-lt"/>
                <a:ea typeface="+mn-ea"/>
                <a:cs typeface="+mn-cs"/>
              </a:rPr>
              <a:t>，</a:t>
            </a:r>
            <a:r>
              <a:rPr lang="en-US" altLang="zh-CN" sz="1200" b="0" i="0" u="none" strike="noStrike" kern="1200" baseline="0" dirty="0">
                <a:solidFill>
                  <a:schemeClr val="dk1"/>
                </a:solidFill>
                <a:latin typeface="+mn-lt"/>
                <a:ea typeface="+mn-ea"/>
                <a:cs typeface="+mn-cs"/>
              </a:rPr>
              <a:t>CID2013</a:t>
            </a:r>
            <a:r>
              <a:rPr lang="zh-CN" altLang="en-US" sz="1200" b="0" i="0" u="none" strike="noStrike" kern="1200" baseline="0" dirty="0">
                <a:solidFill>
                  <a:schemeClr val="dk1"/>
                </a:solidFill>
                <a:latin typeface="+mn-lt"/>
                <a:ea typeface="+mn-ea"/>
                <a:cs typeface="+mn-cs"/>
              </a:rPr>
              <a:t>，</a:t>
            </a:r>
            <a:r>
              <a:rPr lang="en-US" altLang="zh-CN" sz="1200" b="0" i="0" u="none" strike="noStrike" kern="1200" baseline="0" dirty="0">
                <a:solidFill>
                  <a:schemeClr val="dk1"/>
                </a:solidFill>
                <a:latin typeface="+mn-lt"/>
                <a:ea typeface="+mn-ea"/>
                <a:cs typeface="+mn-cs"/>
              </a:rPr>
              <a:t>PIPAL</a:t>
            </a:r>
            <a:r>
              <a:rPr lang="zh-CN" altLang="en-US" sz="1200" b="0" i="0" u="none" strike="noStrike" kern="1200" baseline="0" dirty="0">
                <a:solidFill>
                  <a:schemeClr val="dk1"/>
                </a:solidFill>
                <a:latin typeface="+mn-lt"/>
                <a:ea typeface="+mn-ea"/>
                <a:cs typeface="+mn-cs"/>
              </a:rPr>
              <a:t>，</a:t>
            </a:r>
            <a:r>
              <a:rPr lang="en-US" altLang="zh-CN" sz="1200" b="0" i="0" u="none" strike="noStrike" kern="1200" baseline="0" dirty="0">
                <a:solidFill>
                  <a:schemeClr val="dk1"/>
                </a:solidFill>
                <a:latin typeface="+mn-lt"/>
                <a:ea typeface="+mn-ea"/>
                <a:cs typeface="+mn-cs"/>
              </a:rPr>
              <a:t>KonIQ-10k</a:t>
            </a:r>
            <a:r>
              <a:rPr lang="zh-CN" altLang="en-US" dirty="0"/>
              <a:t>这四个数据集上进行测试。</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9</a:t>
            </a:fld>
            <a:endParaRPr lang="zh-CN" altLang="en-US"/>
          </a:p>
        </p:txBody>
      </p:sp>
    </p:spTree>
    <p:extLst>
      <p:ext uri="{BB962C8B-B14F-4D97-AF65-F5344CB8AC3E}">
        <p14:creationId xmlns:p14="http://schemas.microsoft.com/office/powerpoint/2010/main" val="14308771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一些实验细节</a:t>
            </a:r>
          </a:p>
        </p:txBody>
      </p:sp>
      <p:sp>
        <p:nvSpPr>
          <p:cNvPr id="4" name="灯片编号占位符 3"/>
          <p:cNvSpPr>
            <a:spLocks noGrp="1"/>
          </p:cNvSpPr>
          <p:nvPr>
            <p:ph type="sldNum" sz="quarter" idx="5"/>
          </p:nvPr>
        </p:nvSpPr>
        <p:spPr/>
        <p:txBody>
          <a:bodyPr/>
          <a:lstStyle/>
          <a:p>
            <a:fld id="{722ABA14-E4A8-40DA-B7B0-41950E132D30}" type="slidenum">
              <a:rPr lang="zh-CN" altLang="en-US" smtClean="0"/>
              <a:t>10</a:t>
            </a:fld>
            <a:endParaRPr lang="zh-CN" altLang="en-US"/>
          </a:p>
        </p:txBody>
      </p:sp>
    </p:spTree>
    <p:extLst>
      <p:ext uri="{BB962C8B-B14F-4D97-AF65-F5344CB8AC3E}">
        <p14:creationId xmlns:p14="http://schemas.microsoft.com/office/powerpoint/2010/main" val="25532486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a:t>
            </a:r>
            <a:r>
              <a:rPr lang="en-US" altLang="zh-CN" dirty="0"/>
              <a:t>1</a:t>
            </a:r>
            <a:r>
              <a:rPr lang="zh-CN" altLang="en-US" dirty="0"/>
              <a:t>显示了所提出方法在使用四个</a:t>
            </a:r>
            <a:r>
              <a:rPr lang="en-US" altLang="zh-CN" dirty="0"/>
              <a:t>IQA</a:t>
            </a:r>
            <a:r>
              <a:rPr lang="zh-CN" altLang="en-US" dirty="0"/>
              <a:t>模型的四个测试数据集上的性能。除了源模型，还比较了旋转预测作为</a:t>
            </a:r>
            <a:r>
              <a:rPr lang="en-US" altLang="zh-CN" dirty="0"/>
              <a:t>TTA</a:t>
            </a:r>
            <a:r>
              <a:rPr lang="zh-CN" altLang="en-US" dirty="0"/>
              <a:t>中的辅助任务的效果。</a:t>
            </a:r>
            <a:endParaRPr lang="en-US" altLang="zh-CN" dirty="0"/>
          </a:p>
          <a:p>
            <a:endParaRPr lang="en-US" altLang="zh-CN" dirty="0"/>
          </a:p>
          <a:p>
            <a:r>
              <a:rPr lang="zh-CN" altLang="en-US" dirty="0"/>
              <a:t>我们观察到，结合</a:t>
            </a:r>
            <a:r>
              <a:rPr lang="en-US" altLang="zh-CN" dirty="0"/>
              <a:t>rank</a:t>
            </a:r>
            <a:r>
              <a:rPr lang="zh-CN" altLang="en-US" dirty="0"/>
              <a:t>和</a:t>
            </a:r>
            <a:r>
              <a:rPr lang="en-US" altLang="zh-CN" dirty="0"/>
              <a:t>GC</a:t>
            </a:r>
            <a:r>
              <a:rPr lang="zh-CN" altLang="en-US" dirty="0"/>
              <a:t>损失的</a:t>
            </a:r>
            <a:r>
              <a:rPr lang="en-US" altLang="zh-CN" dirty="0"/>
              <a:t>TTA-IQA</a:t>
            </a:r>
            <a:r>
              <a:rPr lang="zh-CN" altLang="en-US" dirty="0"/>
              <a:t>在所有情况下都优于源模型，大部分也比旋转预测方法的效果好。其中</a:t>
            </a:r>
            <a:r>
              <a:rPr lang="en-US" altLang="zh-CN" dirty="0"/>
              <a:t>PIPAL</a:t>
            </a:r>
            <a:r>
              <a:rPr lang="zh-CN" altLang="en-US" dirty="0"/>
              <a:t>数据集与</a:t>
            </a:r>
            <a:r>
              <a:rPr lang="en-US" altLang="zh-CN" dirty="0"/>
              <a:t>LIVEFB</a:t>
            </a:r>
            <a:r>
              <a:rPr lang="zh-CN" altLang="en-US" dirty="0"/>
              <a:t>数据集</a:t>
            </a:r>
            <a:r>
              <a:rPr lang="en-US" altLang="zh-CN" dirty="0"/>
              <a:t>(</a:t>
            </a:r>
            <a:r>
              <a:rPr lang="zh-CN" altLang="en-US" dirty="0"/>
              <a:t>其中三个模型是在</a:t>
            </a:r>
            <a:r>
              <a:rPr lang="en-US" altLang="zh-CN" dirty="0"/>
              <a:t>LIVEFB</a:t>
            </a:r>
            <a:r>
              <a:rPr lang="zh-CN" altLang="en-US" dirty="0"/>
              <a:t>数据集上训练的</a:t>
            </a:r>
            <a:r>
              <a:rPr lang="en-US" altLang="zh-CN" dirty="0"/>
              <a:t>)</a:t>
            </a:r>
            <a:r>
              <a:rPr lang="zh-CN" altLang="en-US" dirty="0"/>
              <a:t>有很大的分布变化。</a:t>
            </a:r>
          </a:p>
        </p:txBody>
      </p:sp>
      <p:sp>
        <p:nvSpPr>
          <p:cNvPr id="4" name="灯片编号占位符 3"/>
          <p:cNvSpPr>
            <a:spLocks noGrp="1"/>
          </p:cNvSpPr>
          <p:nvPr>
            <p:ph type="sldNum" sz="quarter" idx="5"/>
          </p:nvPr>
        </p:nvSpPr>
        <p:spPr/>
        <p:txBody>
          <a:bodyPr/>
          <a:lstStyle/>
          <a:p>
            <a:fld id="{722ABA14-E4A8-40DA-B7B0-41950E132D30}" type="slidenum">
              <a:rPr lang="zh-CN" altLang="en-US" smtClean="0"/>
              <a:t>11</a:t>
            </a:fld>
            <a:endParaRPr lang="zh-CN" altLang="en-US"/>
          </a:p>
        </p:txBody>
      </p:sp>
    </p:spTree>
    <p:extLst>
      <p:ext uri="{BB962C8B-B14F-4D97-AF65-F5344CB8AC3E}">
        <p14:creationId xmlns:p14="http://schemas.microsoft.com/office/powerpoint/2010/main" val="3972731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a:t>
            </a:r>
            <a:r>
              <a:rPr lang="en-US" altLang="zh-CN" dirty="0"/>
              <a:t>2</a:t>
            </a:r>
            <a:r>
              <a:rPr lang="zh-CN" altLang="en-US" dirty="0"/>
              <a:t>中对两种损失进行了消融实验。从结果中我们可以看出，</a:t>
            </a:r>
            <a:r>
              <a:rPr lang="en-US" altLang="zh-CN" dirty="0"/>
              <a:t>rank</a:t>
            </a:r>
            <a:r>
              <a:rPr lang="zh-CN" altLang="en-US" dirty="0"/>
              <a:t>损失和</a:t>
            </a:r>
            <a:r>
              <a:rPr lang="en-US" altLang="zh-CN" dirty="0"/>
              <a:t>GC</a:t>
            </a:r>
            <a:r>
              <a:rPr lang="zh-CN" altLang="en-US" dirty="0"/>
              <a:t>损失分别总是在源模型上得到改进。</a:t>
            </a:r>
            <a:endParaRPr lang="en-US" altLang="zh-CN" dirty="0"/>
          </a:p>
          <a:p>
            <a:endParaRPr lang="en-US" altLang="zh-CN" dirty="0"/>
          </a:p>
          <a:p>
            <a:r>
              <a:rPr lang="zh-CN" altLang="en-US" dirty="0"/>
              <a:t>此外，在大多数评估场景中，</a:t>
            </a:r>
            <a:r>
              <a:rPr lang="en-US" altLang="zh-CN" dirty="0"/>
              <a:t>rank</a:t>
            </a:r>
            <a:r>
              <a:rPr lang="zh-CN" altLang="en-US" dirty="0"/>
              <a:t>和</a:t>
            </a:r>
            <a:r>
              <a:rPr lang="en-US" altLang="zh-CN" dirty="0"/>
              <a:t>GC</a:t>
            </a:r>
            <a:r>
              <a:rPr lang="zh-CN" altLang="en-US" dirty="0"/>
              <a:t>损失的组合提供了比单独损失更好的性能。即使在组合</a:t>
            </a:r>
            <a:r>
              <a:rPr lang="en-US" altLang="zh-CN" dirty="0"/>
              <a:t>loss</a:t>
            </a:r>
            <a:r>
              <a:rPr lang="zh-CN" altLang="en-US" dirty="0"/>
              <a:t>达到次优性能的情况下，其性能也非常接近最佳性能。</a:t>
            </a:r>
            <a:endParaRPr lang="en-US" altLang="zh-CN" dirty="0"/>
          </a:p>
          <a:p>
            <a:endParaRPr lang="en-US" altLang="zh-CN" dirty="0"/>
          </a:p>
          <a:p>
            <a:r>
              <a:rPr lang="zh-CN" altLang="en-US" dirty="0"/>
              <a:t>后面的实验，作者是单独使用</a:t>
            </a:r>
            <a:r>
              <a:rPr lang="en-US" altLang="zh-CN" dirty="0" err="1"/>
              <a:t>TReS</a:t>
            </a:r>
            <a:r>
              <a:rPr lang="zh-CN" altLang="en-US" dirty="0"/>
              <a:t>方法在所有四个数据集上展示结果。</a:t>
            </a:r>
          </a:p>
        </p:txBody>
      </p:sp>
      <p:sp>
        <p:nvSpPr>
          <p:cNvPr id="4" name="灯片编号占位符 3"/>
          <p:cNvSpPr>
            <a:spLocks noGrp="1"/>
          </p:cNvSpPr>
          <p:nvPr>
            <p:ph type="sldNum" sz="quarter" idx="5"/>
          </p:nvPr>
        </p:nvSpPr>
        <p:spPr/>
        <p:txBody>
          <a:bodyPr/>
          <a:lstStyle/>
          <a:p>
            <a:fld id="{722ABA14-E4A8-40DA-B7B0-41950E132D30}" type="slidenum">
              <a:rPr lang="zh-CN" altLang="en-US" smtClean="0"/>
              <a:t>12</a:t>
            </a:fld>
            <a:endParaRPr lang="zh-CN" altLang="en-US"/>
          </a:p>
        </p:txBody>
      </p:sp>
    </p:spTree>
    <p:extLst>
      <p:ext uri="{BB962C8B-B14F-4D97-AF65-F5344CB8AC3E}">
        <p14:creationId xmlns:p14="http://schemas.microsoft.com/office/powerpoint/2010/main" val="36251496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这里讨论了</a:t>
            </a:r>
            <a:r>
              <a:rPr lang="en-US" altLang="zh-CN" dirty="0"/>
              <a:t>GC</a:t>
            </a:r>
            <a:r>
              <a:rPr lang="zh-CN" altLang="en-US" dirty="0"/>
              <a:t>损失比</a:t>
            </a:r>
            <a:r>
              <a:rPr lang="en-US" altLang="zh-CN" dirty="0"/>
              <a:t>Rank</a:t>
            </a:r>
            <a:r>
              <a:rPr lang="zh-CN" altLang="en-US" dirty="0"/>
              <a:t>损失更有用的场景。如果测试图像失真十分严重，针对各种失真类型，模型都不能在两个失真版本的感知质量上产生太大的差异。这时候</a:t>
            </a:r>
            <a:r>
              <a:rPr lang="en-US" altLang="zh-CN" dirty="0"/>
              <a:t>GC</a:t>
            </a:r>
            <a:r>
              <a:rPr lang="zh-CN" altLang="en-US" dirty="0"/>
              <a:t>损失比</a:t>
            </a:r>
            <a:r>
              <a:rPr lang="en-US" altLang="zh-CN" dirty="0"/>
              <a:t>Rank</a:t>
            </a:r>
            <a:r>
              <a:rPr lang="zh-CN" altLang="en-US" dirty="0"/>
              <a:t>损失更有效。</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实验中，考虑了</a:t>
            </a:r>
            <a:r>
              <a:rPr lang="en-US" altLang="zh-CN" dirty="0"/>
              <a:t>LIVE-IQA</a:t>
            </a:r>
            <a:r>
              <a:rPr lang="zh-CN" altLang="en-US" dirty="0"/>
              <a:t>数据集中不同失真类型的失真严重的图像</a:t>
            </a:r>
            <a:r>
              <a:rPr lang="en-US" altLang="zh-CN" dirty="0"/>
              <a:t>(</a:t>
            </a:r>
            <a:r>
              <a:rPr lang="zh-CN" altLang="en-US" dirty="0"/>
              <a:t>对应于大于</a:t>
            </a:r>
            <a:r>
              <a:rPr lang="en-US" altLang="zh-CN" dirty="0"/>
              <a:t>70</a:t>
            </a:r>
            <a:r>
              <a:rPr lang="zh-CN" altLang="en-US" dirty="0"/>
              <a:t>的</a:t>
            </a:r>
            <a:r>
              <a:rPr lang="zh-CN" altLang="en-US" b="0" i="0" dirty="0">
                <a:solidFill>
                  <a:srgbClr val="4D4D4D"/>
                </a:solidFill>
                <a:effectLst/>
                <a:latin typeface="-apple-system"/>
              </a:rPr>
              <a:t>平均主观得分差异 </a:t>
            </a:r>
            <a:r>
              <a:rPr lang="en-US" altLang="zh-CN" b="0" i="0" dirty="0">
                <a:solidFill>
                  <a:srgbClr val="4D4D4D"/>
                </a:solidFill>
                <a:effectLst/>
                <a:latin typeface="-apple-system"/>
              </a:rPr>
              <a:t>(Differential mean opinion score, DMOS)</a:t>
            </a:r>
            <a:r>
              <a:rPr lang="zh-CN" altLang="en-US" b="0" i="0" dirty="0">
                <a:solidFill>
                  <a:srgbClr val="4D4D4D"/>
                </a:solidFill>
                <a:effectLst/>
                <a:latin typeface="-apple-system"/>
              </a:rPr>
              <a:t>，</a:t>
            </a:r>
            <a:r>
              <a:rPr lang="en-US" altLang="zh-CN" b="0" i="0" dirty="0">
                <a:solidFill>
                  <a:srgbClr val="4D4D4D"/>
                </a:solidFill>
                <a:effectLst/>
                <a:latin typeface="-apple-system"/>
              </a:rPr>
              <a:t>DMOS</a:t>
            </a:r>
            <a:r>
              <a:rPr lang="zh-CN" altLang="en-US" b="0" i="0" dirty="0">
                <a:solidFill>
                  <a:srgbClr val="4D4D4D"/>
                </a:solidFill>
                <a:effectLst/>
                <a:latin typeface="-apple-system"/>
              </a:rPr>
              <a:t>越小越好</a:t>
            </a:r>
            <a:r>
              <a:rPr lang="en-US" altLang="zh-CN" dirty="0"/>
              <a:t>)</a:t>
            </a:r>
            <a:r>
              <a:rPr lang="zh-CN" altLang="en-US" dirty="0"/>
              <a:t>。分别用</a:t>
            </a:r>
            <a:r>
              <a:rPr lang="en-US" altLang="zh-CN" dirty="0"/>
              <a:t>Rank</a:t>
            </a:r>
            <a:r>
              <a:rPr lang="zh-CN" altLang="en-US" dirty="0"/>
              <a:t>和</a:t>
            </a:r>
            <a:r>
              <a:rPr lang="en-US" altLang="zh-CN" dirty="0"/>
              <a:t>GC</a:t>
            </a:r>
            <a:r>
              <a:rPr lang="zh-CN" altLang="en-US" dirty="0"/>
              <a:t>损失做</a:t>
            </a:r>
            <a:r>
              <a:rPr lang="en-US" altLang="zh-CN" dirty="0"/>
              <a:t>TTA</a:t>
            </a:r>
            <a:r>
              <a:rPr lang="zh-CN" altLang="en-US" dirty="0"/>
              <a:t>的训练。图中这些图像的</a:t>
            </a:r>
            <a:r>
              <a:rPr lang="en-US" altLang="zh-CN" dirty="0"/>
              <a:t>SROCC</a:t>
            </a:r>
            <a:r>
              <a:rPr lang="zh-CN" altLang="en-US" dirty="0"/>
              <a:t>性能显示，</a:t>
            </a:r>
            <a:r>
              <a:rPr lang="en-US" altLang="zh-CN" dirty="0"/>
              <a:t>Rank</a:t>
            </a:r>
            <a:r>
              <a:rPr lang="zh-CN" altLang="en-US" dirty="0"/>
              <a:t> </a:t>
            </a:r>
            <a:r>
              <a:rPr lang="en-US" altLang="zh-CN" dirty="0"/>
              <a:t>loss</a:t>
            </a:r>
            <a:r>
              <a:rPr lang="zh-CN" altLang="en-US" dirty="0"/>
              <a:t>不是很有效。然而，</a:t>
            </a:r>
            <a:r>
              <a:rPr lang="en-US" altLang="zh-CN" dirty="0"/>
              <a:t>GC</a:t>
            </a:r>
            <a:r>
              <a:rPr lang="zh-CN" altLang="en-US" dirty="0"/>
              <a:t> </a:t>
            </a:r>
            <a:r>
              <a:rPr lang="en-US" altLang="zh-CN" dirty="0"/>
              <a:t>loss</a:t>
            </a:r>
            <a:r>
              <a:rPr lang="zh-CN" altLang="en-US" dirty="0"/>
              <a:t>在这种情况下表现得很好。</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13</a:t>
            </a:fld>
            <a:endParaRPr lang="zh-CN" altLang="en-US"/>
          </a:p>
        </p:txBody>
      </p:sp>
    </p:spTree>
    <p:extLst>
      <p:ext uri="{BB962C8B-B14F-4D97-AF65-F5344CB8AC3E}">
        <p14:creationId xmlns:p14="http://schemas.microsoft.com/office/powerpoint/2010/main" val="29037091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作者还讨论了</a:t>
            </a:r>
            <a:r>
              <a:rPr lang="en-US" altLang="zh-CN" dirty="0"/>
              <a:t>Rank</a:t>
            </a:r>
            <a:r>
              <a:rPr lang="zh-CN" altLang="en-US" dirty="0"/>
              <a:t>损失比</a:t>
            </a:r>
            <a:r>
              <a:rPr lang="en-US" altLang="zh-CN" dirty="0"/>
              <a:t>GC</a:t>
            </a:r>
            <a:r>
              <a:rPr lang="zh-CN" altLang="en-US" dirty="0"/>
              <a:t>损失更有用的场景。为了说明这个想法，从</a:t>
            </a:r>
            <a:r>
              <a:rPr lang="en-US" altLang="zh-CN" dirty="0"/>
              <a:t>LIVE-IQA</a:t>
            </a:r>
            <a:r>
              <a:rPr lang="zh-CN" altLang="en-US" dirty="0"/>
              <a:t>数据集中选择一些</a:t>
            </a:r>
            <a:r>
              <a:rPr lang="en-US" altLang="zh-CN" dirty="0"/>
              <a:t>DMOS</a:t>
            </a:r>
            <a:r>
              <a:rPr lang="zh-CN" altLang="en-US" dirty="0"/>
              <a:t>在</a:t>
            </a:r>
            <a:r>
              <a:rPr lang="en-US" altLang="zh-CN" dirty="0"/>
              <a:t>28-44</a:t>
            </a:r>
            <a:r>
              <a:rPr lang="zh-CN" altLang="en-US" dirty="0"/>
              <a:t>之间的图像（质量分数比较接近）。我们使用</a:t>
            </a:r>
            <a:r>
              <a:rPr lang="en-US" altLang="zh-CN" dirty="0"/>
              <a:t>GC</a:t>
            </a:r>
            <a:r>
              <a:rPr lang="zh-CN" altLang="en-US" dirty="0"/>
              <a:t>和</a:t>
            </a:r>
            <a:r>
              <a:rPr lang="en-US" altLang="zh-CN" dirty="0"/>
              <a:t>Rank</a:t>
            </a:r>
            <a:r>
              <a:rPr lang="zh-CN" altLang="en-US" dirty="0"/>
              <a:t>损失来训练这组图像的</a:t>
            </a:r>
            <a:r>
              <a:rPr lang="en-US" altLang="zh-CN" dirty="0"/>
              <a:t>TTA</a:t>
            </a:r>
            <a:r>
              <a:rPr lang="zh-CN" altLang="en-US" dirty="0"/>
              <a:t>模型。</a:t>
            </a:r>
            <a:endParaRPr lang="en-US" altLang="zh-CN" dirty="0"/>
          </a:p>
          <a:p>
            <a:endParaRPr lang="en-US" altLang="zh-CN" dirty="0"/>
          </a:p>
          <a:p>
            <a:r>
              <a:rPr lang="zh-CN" altLang="en-US" dirty="0"/>
              <a:t>从图</a:t>
            </a:r>
            <a:r>
              <a:rPr lang="en-US" altLang="zh-CN" dirty="0"/>
              <a:t>4</a:t>
            </a:r>
            <a:r>
              <a:rPr lang="zh-CN" altLang="en-US" dirty="0"/>
              <a:t>中，我们观察到，</a:t>
            </a:r>
            <a:r>
              <a:rPr lang="en-US" altLang="zh-CN" dirty="0"/>
              <a:t>Rank</a:t>
            </a:r>
            <a:r>
              <a:rPr lang="zh-CN" altLang="en-US" dirty="0"/>
              <a:t>损失比</a:t>
            </a:r>
            <a:r>
              <a:rPr lang="en-US" altLang="zh-CN" dirty="0"/>
              <a:t>GC</a:t>
            </a:r>
            <a:r>
              <a:rPr lang="zh-CN" altLang="en-US" dirty="0"/>
              <a:t>损失效果更好。</a:t>
            </a:r>
            <a:endParaRPr lang="en-US" altLang="zh-CN" dirty="0"/>
          </a:p>
          <a:p>
            <a:endParaRPr lang="en-US" altLang="zh-CN" dirty="0"/>
          </a:p>
          <a:p>
            <a:r>
              <a:rPr lang="zh-CN" altLang="en-US" dirty="0"/>
              <a:t>直观地说，当输入图像具有相似的质量时，源模型给出的伪标签可能是有噪声的，从而导致不准确地将图像分为低质量组和高质量组。这可能会对</a:t>
            </a:r>
            <a:r>
              <a:rPr lang="en-US" altLang="zh-CN" dirty="0"/>
              <a:t>GC</a:t>
            </a:r>
            <a:r>
              <a:rPr lang="zh-CN" altLang="en-US" dirty="0"/>
              <a:t>损耗产生不利影响。</a:t>
            </a:r>
          </a:p>
        </p:txBody>
      </p:sp>
      <p:sp>
        <p:nvSpPr>
          <p:cNvPr id="4" name="灯片编号占位符 3"/>
          <p:cNvSpPr>
            <a:spLocks noGrp="1"/>
          </p:cNvSpPr>
          <p:nvPr>
            <p:ph type="sldNum" sz="quarter" idx="5"/>
          </p:nvPr>
        </p:nvSpPr>
        <p:spPr/>
        <p:txBody>
          <a:bodyPr/>
          <a:lstStyle/>
          <a:p>
            <a:fld id="{722ABA14-E4A8-40DA-B7B0-41950E132D30}" type="slidenum">
              <a:rPr lang="zh-CN" altLang="en-US" smtClean="0"/>
              <a:t>14</a:t>
            </a:fld>
            <a:endParaRPr lang="zh-CN" altLang="en-US"/>
          </a:p>
        </p:txBody>
      </p:sp>
    </p:spTree>
    <p:extLst>
      <p:ext uri="{BB962C8B-B14F-4D97-AF65-F5344CB8AC3E}">
        <p14:creationId xmlns:p14="http://schemas.microsoft.com/office/powerpoint/2010/main" val="36231443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这里探讨了失真类型的选择方法对</a:t>
            </a:r>
            <a:r>
              <a:rPr lang="en-US" altLang="zh-CN" dirty="0"/>
              <a:t>Rank loss</a:t>
            </a:r>
            <a:r>
              <a:rPr lang="zh-CN" altLang="en-US" dirty="0"/>
              <a:t>的影响。三种方案，一是随机选择一种失真类型，二是使用各种失真类型得到多个损失项，将它们加在一起来更新模型，最后一种是只选择让模型评估的</a:t>
            </a:r>
            <a:r>
              <a:rPr lang="en-US" altLang="zh-CN" dirty="0"/>
              <a:t>MOS</a:t>
            </a:r>
            <a:r>
              <a:rPr lang="zh-CN" altLang="en-US" dirty="0"/>
              <a:t>结果差异最大的那种失真类型。可以看出第三种方式最有效。</a:t>
            </a:r>
          </a:p>
        </p:txBody>
      </p:sp>
      <p:sp>
        <p:nvSpPr>
          <p:cNvPr id="4" name="灯片编号占位符 3"/>
          <p:cNvSpPr>
            <a:spLocks noGrp="1"/>
          </p:cNvSpPr>
          <p:nvPr>
            <p:ph type="sldNum" sz="quarter" idx="5"/>
          </p:nvPr>
        </p:nvSpPr>
        <p:spPr/>
        <p:txBody>
          <a:bodyPr/>
          <a:lstStyle/>
          <a:p>
            <a:fld id="{722ABA14-E4A8-40DA-B7B0-41950E132D30}" type="slidenum">
              <a:rPr lang="zh-CN" altLang="en-US" smtClean="0"/>
              <a:t>15</a:t>
            </a:fld>
            <a:endParaRPr lang="zh-CN" altLang="en-US"/>
          </a:p>
        </p:txBody>
      </p:sp>
    </p:spTree>
    <p:extLst>
      <p:ext uri="{BB962C8B-B14F-4D97-AF65-F5344CB8AC3E}">
        <p14:creationId xmlns:p14="http://schemas.microsoft.com/office/powerpoint/2010/main" val="15555424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考虑了</a:t>
            </a:r>
            <a:r>
              <a:rPr lang="en-US" altLang="zh-CN" dirty="0"/>
              <a:t>group</a:t>
            </a:r>
            <a:r>
              <a:rPr lang="zh-CN" altLang="en-US" dirty="0"/>
              <a:t>大小的影响。</a:t>
            </a:r>
            <a:endParaRPr lang="en-US" altLang="zh-CN" dirty="0"/>
          </a:p>
          <a:p>
            <a:endParaRPr lang="en-US" altLang="zh-CN" dirty="0"/>
          </a:p>
          <a:p>
            <a:r>
              <a:rPr lang="zh-CN" altLang="en-US" dirty="0"/>
              <a:t>我们探索了不同的</a:t>
            </a:r>
            <a:r>
              <a:rPr lang="en-US" altLang="zh-CN" dirty="0"/>
              <a:t>p</a:t>
            </a:r>
            <a:r>
              <a:rPr lang="zh-CN" altLang="en-US" dirty="0"/>
              <a:t>值来构建</a:t>
            </a:r>
            <a:r>
              <a:rPr lang="en-US" altLang="zh-CN" dirty="0"/>
              <a:t>GC</a:t>
            </a:r>
            <a:r>
              <a:rPr lang="zh-CN" altLang="en-US" dirty="0"/>
              <a:t>损失。</a:t>
            </a:r>
            <a:r>
              <a:rPr lang="en-US" altLang="zh-CN" dirty="0" err="1"/>
              <a:t>batchsize</a:t>
            </a:r>
            <a:r>
              <a:rPr lang="zh-CN" altLang="en-US" dirty="0"/>
              <a:t>为</a:t>
            </a:r>
            <a:r>
              <a:rPr lang="en-US" altLang="zh-CN" dirty="0"/>
              <a:t>8</a:t>
            </a:r>
            <a:r>
              <a:rPr lang="zh-CN" altLang="en-US" dirty="0"/>
              <a:t>时，</a:t>
            </a:r>
            <a:r>
              <a:rPr lang="en-US" altLang="zh-CN" dirty="0"/>
              <a:t>group</a:t>
            </a:r>
            <a:r>
              <a:rPr lang="zh-CN" altLang="en-US" dirty="0"/>
              <a:t>大小的可能的选择分别为</a:t>
            </a:r>
            <a:r>
              <a:rPr lang="en-US" altLang="zh-CN" dirty="0"/>
              <a:t>2</a:t>
            </a:r>
            <a:r>
              <a:rPr lang="zh-CN" altLang="en-US" dirty="0"/>
              <a:t>、</a:t>
            </a:r>
            <a:r>
              <a:rPr lang="en-US" altLang="zh-CN" dirty="0"/>
              <a:t>3</a:t>
            </a:r>
            <a:r>
              <a:rPr lang="zh-CN" altLang="en-US" dirty="0"/>
              <a:t>、</a:t>
            </a:r>
            <a:r>
              <a:rPr lang="en-US" altLang="zh-CN" dirty="0"/>
              <a:t>4</a:t>
            </a:r>
            <a:r>
              <a:rPr lang="zh-CN" altLang="en-US" dirty="0"/>
              <a:t>，对应于</a:t>
            </a:r>
            <a:r>
              <a:rPr lang="en-US" altLang="zh-CN" dirty="0"/>
              <a:t>p = 0.25</a:t>
            </a:r>
            <a:r>
              <a:rPr lang="zh-CN" altLang="en-US" dirty="0"/>
              <a:t>、</a:t>
            </a:r>
            <a:r>
              <a:rPr lang="en-US" altLang="zh-CN" dirty="0"/>
              <a:t>0.375</a:t>
            </a:r>
            <a:r>
              <a:rPr lang="zh-CN" altLang="en-US" dirty="0"/>
              <a:t>、</a:t>
            </a:r>
            <a:r>
              <a:rPr lang="en-US" altLang="zh-CN" dirty="0"/>
              <a:t>0.5</a:t>
            </a:r>
            <a:r>
              <a:rPr lang="zh-CN" altLang="en-US" dirty="0"/>
              <a:t>。从表中观察到不同</a:t>
            </a:r>
            <a:r>
              <a:rPr lang="en-US" altLang="zh-CN" dirty="0"/>
              <a:t>p</a:t>
            </a:r>
            <a:r>
              <a:rPr lang="zh-CN" altLang="en-US" dirty="0"/>
              <a:t>值的性能大致相似，</a:t>
            </a:r>
            <a:r>
              <a:rPr lang="en-US" altLang="zh-CN" dirty="0"/>
              <a:t>p = 0.25</a:t>
            </a:r>
            <a:r>
              <a:rPr lang="zh-CN" altLang="en-US" dirty="0"/>
              <a:t>时性能略好。这是因为随着</a:t>
            </a:r>
            <a:r>
              <a:rPr lang="en-US" altLang="zh-CN" dirty="0"/>
              <a:t>p</a:t>
            </a:r>
            <a:r>
              <a:rPr lang="zh-CN" altLang="en-US" dirty="0"/>
              <a:t>的增加，</a:t>
            </a:r>
            <a:r>
              <a:rPr lang="en-US" altLang="zh-CN" dirty="0"/>
              <a:t>group</a:t>
            </a:r>
            <a:r>
              <a:rPr lang="zh-CN" altLang="en-US" dirty="0"/>
              <a:t>更大，在质量方面可能不那么具有区分性了，导致表现略差。 </a:t>
            </a:r>
          </a:p>
        </p:txBody>
      </p:sp>
      <p:sp>
        <p:nvSpPr>
          <p:cNvPr id="4" name="灯片编号占位符 3"/>
          <p:cNvSpPr>
            <a:spLocks noGrp="1"/>
          </p:cNvSpPr>
          <p:nvPr>
            <p:ph type="sldNum" sz="quarter" idx="5"/>
          </p:nvPr>
        </p:nvSpPr>
        <p:spPr/>
        <p:txBody>
          <a:bodyPr/>
          <a:lstStyle/>
          <a:p>
            <a:fld id="{722ABA14-E4A8-40DA-B7B0-41950E132D30}" type="slidenum">
              <a:rPr lang="zh-CN" altLang="en-US" smtClean="0"/>
              <a:t>16</a:t>
            </a:fld>
            <a:endParaRPr lang="zh-CN" altLang="en-US"/>
          </a:p>
        </p:txBody>
      </p:sp>
    </p:spTree>
    <p:extLst>
      <p:ext uri="{BB962C8B-B14F-4D97-AF65-F5344CB8AC3E}">
        <p14:creationId xmlns:p14="http://schemas.microsoft.com/office/powerpoint/2010/main" val="12271363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选择</a:t>
            </a:r>
            <a:r>
              <a:rPr lang="en-US" altLang="zh-CN" dirty="0"/>
              <a:t>GC</a:t>
            </a:r>
            <a:r>
              <a:rPr lang="zh-CN" altLang="en-US" dirty="0"/>
              <a:t>损失的组数。在我们的公式中，我们只定义两个对比组之间的</a:t>
            </a:r>
            <a:r>
              <a:rPr lang="en-US" altLang="zh-CN" dirty="0"/>
              <a:t>GC</a:t>
            </a:r>
            <a:r>
              <a:rPr lang="zh-CN" altLang="en-US" dirty="0"/>
              <a:t>损失。原则上，我们可以将</a:t>
            </a:r>
            <a:r>
              <a:rPr lang="en-US" altLang="zh-CN" dirty="0"/>
              <a:t>GC</a:t>
            </a:r>
            <a:r>
              <a:rPr lang="zh-CN" altLang="en-US" dirty="0"/>
              <a:t>损失的概念扩展到多个组。具体来说，可以将一批图像聚类成多个组，并在每对组之间应用</a:t>
            </a:r>
            <a:r>
              <a:rPr lang="en-US" altLang="zh-CN" dirty="0"/>
              <a:t>GC</a:t>
            </a:r>
            <a:r>
              <a:rPr lang="zh-CN" altLang="en-US" dirty="0"/>
              <a:t>损失并对损失项求和。可以看出组的数量</a:t>
            </a:r>
            <a:r>
              <a:rPr lang="en-US" altLang="zh-CN" dirty="0"/>
              <a:t>G</a:t>
            </a:r>
            <a:r>
              <a:rPr lang="zh-CN" altLang="en-US" dirty="0"/>
              <a:t>对性能的影响不大。</a:t>
            </a:r>
          </a:p>
        </p:txBody>
      </p:sp>
      <p:sp>
        <p:nvSpPr>
          <p:cNvPr id="4" name="灯片编号占位符 3"/>
          <p:cNvSpPr>
            <a:spLocks noGrp="1"/>
          </p:cNvSpPr>
          <p:nvPr>
            <p:ph type="sldNum" sz="quarter" idx="5"/>
          </p:nvPr>
        </p:nvSpPr>
        <p:spPr/>
        <p:txBody>
          <a:bodyPr/>
          <a:lstStyle/>
          <a:p>
            <a:fld id="{722ABA14-E4A8-40DA-B7B0-41950E132D30}" type="slidenum">
              <a:rPr lang="zh-CN" altLang="en-US" smtClean="0"/>
              <a:t>17</a:t>
            </a:fld>
            <a:endParaRPr lang="zh-CN" altLang="en-US"/>
          </a:p>
        </p:txBody>
      </p:sp>
    </p:spTree>
    <p:extLst>
      <p:ext uri="{BB962C8B-B14F-4D97-AF65-F5344CB8AC3E}">
        <p14:creationId xmlns:p14="http://schemas.microsoft.com/office/powerpoint/2010/main" val="23836602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研究了</a:t>
            </a:r>
            <a:r>
              <a:rPr lang="en-US" altLang="zh-CN" dirty="0"/>
              <a:t>TTA</a:t>
            </a:r>
            <a:r>
              <a:rPr lang="zh-CN" altLang="en-US" dirty="0"/>
              <a:t>期间参数更新迭代次数的影响。图中显示，模型性能在</a:t>
            </a:r>
            <a:r>
              <a:rPr lang="en-US" altLang="zh-CN" dirty="0"/>
              <a:t>4</a:t>
            </a:r>
            <a:r>
              <a:rPr lang="zh-CN" altLang="en-US" dirty="0"/>
              <a:t>次迭代之前相当稳健。之后性能下降，这是因为模型会过度拟合辅助任务，导致测试时的性能不佳。</a:t>
            </a:r>
          </a:p>
        </p:txBody>
      </p:sp>
      <p:sp>
        <p:nvSpPr>
          <p:cNvPr id="4" name="灯片编号占位符 3"/>
          <p:cNvSpPr>
            <a:spLocks noGrp="1"/>
          </p:cNvSpPr>
          <p:nvPr>
            <p:ph type="sldNum" sz="quarter" idx="5"/>
          </p:nvPr>
        </p:nvSpPr>
        <p:spPr/>
        <p:txBody>
          <a:bodyPr/>
          <a:lstStyle/>
          <a:p>
            <a:fld id="{722ABA14-E4A8-40DA-B7B0-41950E132D30}" type="slidenum">
              <a:rPr lang="zh-CN" altLang="en-US" smtClean="0"/>
              <a:t>18</a:t>
            </a:fld>
            <a:endParaRPr lang="zh-CN" altLang="en-US"/>
          </a:p>
        </p:txBody>
      </p:sp>
    </p:spTree>
    <p:extLst>
      <p:ext uri="{BB962C8B-B14F-4D97-AF65-F5344CB8AC3E}">
        <p14:creationId xmlns:p14="http://schemas.microsoft.com/office/powerpoint/2010/main" val="33374448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这项工作可能是在盲</a:t>
            </a:r>
            <a:r>
              <a:rPr lang="en-US" altLang="zh-CN" dirty="0"/>
              <a:t>IQA</a:t>
            </a:r>
            <a:r>
              <a:rPr lang="zh-CN" altLang="en-US" dirty="0"/>
              <a:t>背景下设计</a:t>
            </a:r>
            <a:r>
              <a:rPr lang="en-US" altLang="zh-CN" dirty="0"/>
              <a:t>TTA</a:t>
            </a:r>
            <a:r>
              <a:rPr lang="zh-CN" altLang="en-US" dirty="0"/>
              <a:t>方法的第一次尝试之一。</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本文提出了一种新的自监督辅助任务，利用秩和群对比损失从测试数据中学习质量感知信息。</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由于在测试时的自适应，所提出的</a:t>
            </a:r>
            <a:r>
              <a:rPr lang="en-US" altLang="zh-CN" dirty="0"/>
              <a:t>TTA-IQA</a:t>
            </a:r>
            <a:r>
              <a:rPr lang="zh-CN" altLang="en-US" dirty="0"/>
              <a:t>方法优于现有的先进方法。</a:t>
            </a:r>
          </a:p>
        </p:txBody>
      </p:sp>
      <p:sp>
        <p:nvSpPr>
          <p:cNvPr id="4" name="灯片编号占位符 3"/>
          <p:cNvSpPr>
            <a:spLocks noGrp="1"/>
          </p:cNvSpPr>
          <p:nvPr>
            <p:ph type="sldNum" sz="quarter" idx="5"/>
          </p:nvPr>
        </p:nvSpPr>
        <p:spPr/>
        <p:txBody>
          <a:bodyPr/>
          <a:lstStyle/>
          <a:p>
            <a:fld id="{722ABA14-E4A8-40DA-B7B0-41950E132D30}" type="slidenum">
              <a:rPr lang="zh-CN" altLang="en-US" smtClean="0"/>
              <a:t>19</a:t>
            </a:fld>
            <a:endParaRPr lang="zh-CN" altLang="en-US"/>
          </a:p>
        </p:txBody>
      </p:sp>
    </p:spTree>
    <p:extLst>
      <p:ext uri="{BB962C8B-B14F-4D97-AF65-F5344CB8AC3E}">
        <p14:creationId xmlns:p14="http://schemas.microsoft.com/office/powerpoint/2010/main" val="832708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26</a:t>
            </a:fld>
            <a:endParaRPr lang="zh-CN" altLang="en-US"/>
          </a:p>
        </p:txBody>
      </p:sp>
    </p:spTree>
    <p:extLst>
      <p:ext uri="{BB962C8B-B14F-4D97-AF65-F5344CB8AC3E}">
        <p14:creationId xmlns:p14="http://schemas.microsoft.com/office/powerpoint/2010/main" val="27149458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27</a:t>
            </a:fld>
            <a:endParaRPr lang="zh-CN" altLang="en-US"/>
          </a:p>
        </p:txBody>
      </p:sp>
    </p:spTree>
    <p:extLst>
      <p:ext uri="{BB962C8B-B14F-4D97-AF65-F5344CB8AC3E}">
        <p14:creationId xmlns:p14="http://schemas.microsoft.com/office/powerpoint/2010/main" val="11647269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28</a:t>
            </a:fld>
            <a:endParaRPr lang="zh-CN" altLang="en-US"/>
          </a:p>
        </p:txBody>
      </p:sp>
    </p:spTree>
    <p:extLst>
      <p:ext uri="{BB962C8B-B14F-4D97-AF65-F5344CB8AC3E}">
        <p14:creationId xmlns:p14="http://schemas.microsoft.com/office/powerpoint/2010/main" val="18110995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29</a:t>
            </a:fld>
            <a:endParaRPr lang="zh-CN" altLang="en-US"/>
          </a:p>
        </p:txBody>
      </p:sp>
    </p:spTree>
    <p:extLst>
      <p:ext uri="{BB962C8B-B14F-4D97-AF65-F5344CB8AC3E}">
        <p14:creationId xmlns:p14="http://schemas.microsoft.com/office/powerpoint/2010/main" val="22552431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30</a:t>
            </a:fld>
            <a:endParaRPr lang="zh-CN" altLang="en-US"/>
          </a:p>
        </p:txBody>
      </p:sp>
    </p:spTree>
    <p:extLst>
      <p:ext uri="{BB962C8B-B14F-4D97-AF65-F5344CB8AC3E}">
        <p14:creationId xmlns:p14="http://schemas.microsoft.com/office/powerpoint/2010/main" val="5621496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31</a:t>
            </a:fld>
            <a:endParaRPr lang="zh-CN" altLang="en-US"/>
          </a:p>
        </p:txBody>
      </p:sp>
    </p:spTree>
    <p:extLst>
      <p:ext uri="{BB962C8B-B14F-4D97-AF65-F5344CB8AC3E}">
        <p14:creationId xmlns:p14="http://schemas.microsoft.com/office/powerpoint/2010/main" val="38972663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85F9A1-0690-9F52-6E4C-02EFC73D1A4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F00E950-5A63-2FAB-48F2-38D46116B7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D1AE32F-0EE9-E009-F342-F46AD2262E0A}"/>
              </a:ext>
            </a:extLst>
          </p:cNvPr>
          <p:cNvSpPr>
            <a:spLocks noGrp="1"/>
          </p:cNvSpPr>
          <p:nvPr>
            <p:ph type="dt" sz="half" idx="10"/>
          </p:nvPr>
        </p:nvSpPr>
        <p:spPr/>
        <p:txBody>
          <a:bodyPr/>
          <a:lstStyle/>
          <a:p>
            <a:fld id="{1B2220C5-105D-484E-AF45-85C930F5AD70}" type="datetimeFigureOut">
              <a:rPr lang="zh-CN" altLang="en-US" smtClean="0"/>
              <a:t>2023/12/6</a:t>
            </a:fld>
            <a:endParaRPr lang="zh-CN" altLang="en-US"/>
          </a:p>
        </p:txBody>
      </p:sp>
      <p:sp>
        <p:nvSpPr>
          <p:cNvPr id="5" name="页脚占位符 4">
            <a:extLst>
              <a:ext uri="{FF2B5EF4-FFF2-40B4-BE49-F238E27FC236}">
                <a16:creationId xmlns:a16="http://schemas.microsoft.com/office/drawing/2014/main" id="{E5D8DD50-5F26-B5FF-0407-7D48124D9F3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86B665D-BF8F-3B19-62F0-5BFB6C03AE2D}"/>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776445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B39521-E985-90EB-6AC6-421E9A5722B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63467D3-69D1-211B-A2D9-AD12996CB01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3F63A57-3F04-B0C9-5CF7-6A86E2B92327}"/>
              </a:ext>
            </a:extLst>
          </p:cNvPr>
          <p:cNvSpPr>
            <a:spLocks noGrp="1"/>
          </p:cNvSpPr>
          <p:nvPr>
            <p:ph type="dt" sz="half" idx="10"/>
          </p:nvPr>
        </p:nvSpPr>
        <p:spPr/>
        <p:txBody>
          <a:bodyPr/>
          <a:lstStyle/>
          <a:p>
            <a:fld id="{1B2220C5-105D-484E-AF45-85C930F5AD70}" type="datetimeFigureOut">
              <a:rPr lang="zh-CN" altLang="en-US" smtClean="0"/>
              <a:t>2023/12/6</a:t>
            </a:fld>
            <a:endParaRPr lang="zh-CN" altLang="en-US"/>
          </a:p>
        </p:txBody>
      </p:sp>
      <p:sp>
        <p:nvSpPr>
          <p:cNvPr id="5" name="页脚占位符 4">
            <a:extLst>
              <a:ext uri="{FF2B5EF4-FFF2-40B4-BE49-F238E27FC236}">
                <a16:creationId xmlns:a16="http://schemas.microsoft.com/office/drawing/2014/main" id="{9D32FE96-40B1-0A67-9E38-7CC8A1EC1DC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17539EF-D233-D0D1-2288-2799B4FE0B0A}"/>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21569590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C450E5-FF71-A70A-5238-86C325E01C2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569328F-FB28-F827-982D-3273D44858A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2B5B6E0-2903-3825-61F6-8A4CFA8D56F4}"/>
              </a:ext>
            </a:extLst>
          </p:cNvPr>
          <p:cNvSpPr>
            <a:spLocks noGrp="1"/>
          </p:cNvSpPr>
          <p:nvPr>
            <p:ph type="dt" sz="half" idx="10"/>
          </p:nvPr>
        </p:nvSpPr>
        <p:spPr/>
        <p:txBody>
          <a:bodyPr/>
          <a:lstStyle/>
          <a:p>
            <a:fld id="{1B2220C5-105D-484E-AF45-85C930F5AD70}" type="datetimeFigureOut">
              <a:rPr lang="zh-CN" altLang="en-US" smtClean="0"/>
              <a:t>2023/12/6</a:t>
            </a:fld>
            <a:endParaRPr lang="zh-CN" altLang="en-US"/>
          </a:p>
        </p:txBody>
      </p:sp>
      <p:sp>
        <p:nvSpPr>
          <p:cNvPr id="5" name="页脚占位符 4">
            <a:extLst>
              <a:ext uri="{FF2B5EF4-FFF2-40B4-BE49-F238E27FC236}">
                <a16:creationId xmlns:a16="http://schemas.microsoft.com/office/drawing/2014/main" id="{DEBC5BC9-2950-3D31-90F0-71A5350DCB1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5745345-616F-1CDE-C300-85763894061B}"/>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2033942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86C70F-DD6A-EC3D-0EB2-330B2D987C1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55EB655-23DB-370C-262B-A28D2A16262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33426C1-4B1A-F8FF-1D4C-FEEA6A70C32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E298D47-7833-8E76-5DA4-AC43E445F936}"/>
              </a:ext>
            </a:extLst>
          </p:cNvPr>
          <p:cNvSpPr>
            <a:spLocks noGrp="1"/>
          </p:cNvSpPr>
          <p:nvPr>
            <p:ph type="dt" sz="half" idx="10"/>
          </p:nvPr>
        </p:nvSpPr>
        <p:spPr/>
        <p:txBody>
          <a:bodyPr/>
          <a:lstStyle/>
          <a:p>
            <a:fld id="{1B2220C5-105D-484E-AF45-85C930F5AD70}" type="datetimeFigureOut">
              <a:rPr lang="zh-CN" altLang="en-US" smtClean="0"/>
              <a:t>2023/12/6</a:t>
            </a:fld>
            <a:endParaRPr lang="zh-CN" altLang="en-US"/>
          </a:p>
        </p:txBody>
      </p:sp>
      <p:sp>
        <p:nvSpPr>
          <p:cNvPr id="6" name="页脚占位符 5">
            <a:extLst>
              <a:ext uri="{FF2B5EF4-FFF2-40B4-BE49-F238E27FC236}">
                <a16:creationId xmlns:a16="http://schemas.microsoft.com/office/drawing/2014/main" id="{147E6CA1-46EB-CEAC-2925-F5F61100032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B0855ED-767F-A0C5-287E-4B6A91261F8B}"/>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3885803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E99C2B-A92B-6567-D905-08A6375B80E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DFE2485-1C8F-8BB6-D0BB-169E987BCF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2300396-13FA-F275-B374-0A3F884FBAB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BE2F9F3-CF47-62A8-195B-2CEFED4855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5475F61-D3EF-9603-AAA5-CAC812555BB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7EFDEA3A-BA09-86B4-A55C-60A4BBB298F9}"/>
              </a:ext>
            </a:extLst>
          </p:cNvPr>
          <p:cNvSpPr>
            <a:spLocks noGrp="1"/>
          </p:cNvSpPr>
          <p:nvPr>
            <p:ph type="dt" sz="half" idx="10"/>
          </p:nvPr>
        </p:nvSpPr>
        <p:spPr/>
        <p:txBody>
          <a:bodyPr/>
          <a:lstStyle/>
          <a:p>
            <a:fld id="{1B2220C5-105D-484E-AF45-85C930F5AD70}" type="datetimeFigureOut">
              <a:rPr lang="zh-CN" altLang="en-US" smtClean="0"/>
              <a:t>2023/12/6</a:t>
            </a:fld>
            <a:endParaRPr lang="zh-CN" altLang="en-US"/>
          </a:p>
        </p:txBody>
      </p:sp>
      <p:sp>
        <p:nvSpPr>
          <p:cNvPr id="8" name="页脚占位符 7">
            <a:extLst>
              <a:ext uri="{FF2B5EF4-FFF2-40B4-BE49-F238E27FC236}">
                <a16:creationId xmlns:a16="http://schemas.microsoft.com/office/drawing/2014/main" id="{A277037E-EC93-518C-638E-58B82546EE9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87DFB6F-7FF7-9A0E-3D66-78B5E0BC3536}"/>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61234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45031-D372-105D-5296-FE5DAC7C3CC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5256C2-5FCE-3106-8FE2-7B30BA723155}"/>
              </a:ext>
            </a:extLst>
          </p:cNvPr>
          <p:cNvSpPr>
            <a:spLocks noGrp="1"/>
          </p:cNvSpPr>
          <p:nvPr>
            <p:ph type="dt" sz="half" idx="10"/>
          </p:nvPr>
        </p:nvSpPr>
        <p:spPr/>
        <p:txBody>
          <a:bodyPr/>
          <a:lstStyle/>
          <a:p>
            <a:fld id="{1B2220C5-105D-484E-AF45-85C930F5AD70}" type="datetimeFigureOut">
              <a:rPr lang="zh-CN" altLang="en-US" smtClean="0"/>
              <a:t>2023/12/6</a:t>
            </a:fld>
            <a:endParaRPr lang="zh-CN" altLang="en-US"/>
          </a:p>
        </p:txBody>
      </p:sp>
      <p:sp>
        <p:nvSpPr>
          <p:cNvPr id="4" name="页脚占位符 3">
            <a:extLst>
              <a:ext uri="{FF2B5EF4-FFF2-40B4-BE49-F238E27FC236}">
                <a16:creationId xmlns:a16="http://schemas.microsoft.com/office/drawing/2014/main" id="{FF1AF100-952E-1B3C-6496-3D8AA076BC7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E6ACC92-F59F-7B22-4047-DABBD1905609}"/>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3467392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641B9AF-2066-98C2-2F70-1828257E257F}"/>
              </a:ext>
            </a:extLst>
          </p:cNvPr>
          <p:cNvSpPr>
            <a:spLocks noGrp="1"/>
          </p:cNvSpPr>
          <p:nvPr>
            <p:ph type="dt" sz="half" idx="10"/>
          </p:nvPr>
        </p:nvSpPr>
        <p:spPr/>
        <p:txBody>
          <a:bodyPr/>
          <a:lstStyle/>
          <a:p>
            <a:fld id="{1B2220C5-105D-484E-AF45-85C930F5AD70}" type="datetimeFigureOut">
              <a:rPr lang="zh-CN" altLang="en-US" smtClean="0"/>
              <a:t>2023/12/6</a:t>
            </a:fld>
            <a:endParaRPr lang="zh-CN" altLang="en-US"/>
          </a:p>
        </p:txBody>
      </p:sp>
      <p:sp>
        <p:nvSpPr>
          <p:cNvPr id="3" name="页脚占位符 2">
            <a:extLst>
              <a:ext uri="{FF2B5EF4-FFF2-40B4-BE49-F238E27FC236}">
                <a16:creationId xmlns:a16="http://schemas.microsoft.com/office/drawing/2014/main" id="{C4B06837-4BFC-62F5-46ED-8AE659E6745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23A3226-376E-3EF4-3082-F92D5202AEB9}"/>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1141584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335523-4003-48DF-C8D9-664D03517D9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063AA1E-88E9-A968-D904-740D3E8058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70CA983-4A52-C228-59EA-8381B768BD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3D07EE0-6861-DBFC-C132-708F05F7AC2C}"/>
              </a:ext>
            </a:extLst>
          </p:cNvPr>
          <p:cNvSpPr>
            <a:spLocks noGrp="1"/>
          </p:cNvSpPr>
          <p:nvPr>
            <p:ph type="dt" sz="half" idx="10"/>
          </p:nvPr>
        </p:nvSpPr>
        <p:spPr/>
        <p:txBody>
          <a:bodyPr/>
          <a:lstStyle/>
          <a:p>
            <a:fld id="{1B2220C5-105D-484E-AF45-85C930F5AD70}" type="datetimeFigureOut">
              <a:rPr lang="zh-CN" altLang="en-US" smtClean="0"/>
              <a:t>2023/12/6</a:t>
            </a:fld>
            <a:endParaRPr lang="zh-CN" altLang="en-US"/>
          </a:p>
        </p:txBody>
      </p:sp>
      <p:sp>
        <p:nvSpPr>
          <p:cNvPr id="6" name="页脚占位符 5">
            <a:extLst>
              <a:ext uri="{FF2B5EF4-FFF2-40B4-BE49-F238E27FC236}">
                <a16:creationId xmlns:a16="http://schemas.microsoft.com/office/drawing/2014/main" id="{459A823A-A172-1203-6E7D-F5994CE9795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3920480-9F11-3BDC-7758-55B0500A5779}"/>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1723682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FD525F-D728-7D12-3911-F94130CF2CE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071D9CB-8823-0234-20E3-E9C4B6F626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106B7F5-A0FC-B2A3-CF48-E82298D3EF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94F1D10-2DFF-66CE-0AC9-8A5C906FAC39}"/>
              </a:ext>
            </a:extLst>
          </p:cNvPr>
          <p:cNvSpPr>
            <a:spLocks noGrp="1"/>
          </p:cNvSpPr>
          <p:nvPr>
            <p:ph type="dt" sz="half" idx="10"/>
          </p:nvPr>
        </p:nvSpPr>
        <p:spPr/>
        <p:txBody>
          <a:bodyPr/>
          <a:lstStyle/>
          <a:p>
            <a:fld id="{1B2220C5-105D-484E-AF45-85C930F5AD70}" type="datetimeFigureOut">
              <a:rPr lang="zh-CN" altLang="en-US" smtClean="0"/>
              <a:t>2023/12/6</a:t>
            </a:fld>
            <a:endParaRPr lang="zh-CN" altLang="en-US"/>
          </a:p>
        </p:txBody>
      </p:sp>
      <p:sp>
        <p:nvSpPr>
          <p:cNvPr id="6" name="页脚占位符 5">
            <a:extLst>
              <a:ext uri="{FF2B5EF4-FFF2-40B4-BE49-F238E27FC236}">
                <a16:creationId xmlns:a16="http://schemas.microsoft.com/office/drawing/2014/main" id="{B9610AE5-311D-A583-89D8-C711CFAF6BD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53A88F2-F65D-49D9-A8C3-578D65DC3102}"/>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2074642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402DEA-5CB3-A9CB-4237-BA007D7DC86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E917644-2125-CA43-B082-F6A56995C16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9EA9C6D-34A8-B2BC-C079-BCFE9EA9BB62}"/>
              </a:ext>
            </a:extLst>
          </p:cNvPr>
          <p:cNvSpPr>
            <a:spLocks noGrp="1"/>
          </p:cNvSpPr>
          <p:nvPr>
            <p:ph type="dt" sz="half" idx="10"/>
          </p:nvPr>
        </p:nvSpPr>
        <p:spPr/>
        <p:txBody>
          <a:bodyPr/>
          <a:lstStyle/>
          <a:p>
            <a:fld id="{1B2220C5-105D-484E-AF45-85C930F5AD70}" type="datetimeFigureOut">
              <a:rPr lang="zh-CN" altLang="en-US" smtClean="0"/>
              <a:t>2023/12/6</a:t>
            </a:fld>
            <a:endParaRPr lang="zh-CN" altLang="en-US"/>
          </a:p>
        </p:txBody>
      </p:sp>
      <p:sp>
        <p:nvSpPr>
          <p:cNvPr id="5" name="页脚占位符 4">
            <a:extLst>
              <a:ext uri="{FF2B5EF4-FFF2-40B4-BE49-F238E27FC236}">
                <a16:creationId xmlns:a16="http://schemas.microsoft.com/office/drawing/2014/main" id="{F7A6AD81-4502-EAF8-AF62-2F922FD2E89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C4CD785-5CD2-D550-EA31-8C3A71D24253}"/>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1076620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1664AE5-2175-3FCD-3056-9840D2F5830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DA3F94F-EB43-73DD-83B2-4950D750E563}"/>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7B3F7B0-30B5-CDF6-83E8-365F977E7BAF}"/>
              </a:ext>
            </a:extLst>
          </p:cNvPr>
          <p:cNvSpPr>
            <a:spLocks noGrp="1"/>
          </p:cNvSpPr>
          <p:nvPr>
            <p:ph type="dt" sz="half" idx="10"/>
          </p:nvPr>
        </p:nvSpPr>
        <p:spPr/>
        <p:txBody>
          <a:bodyPr/>
          <a:lstStyle/>
          <a:p>
            <a:fld id="{1B2220C5-105D-484E-AF45-85C930F5AD70}" type="datetimeFigureOut">
              <a:rPr lang="zh-CN" altLang="en-US" smtClean="0"/>
              <a:t>2023/12/6</a:t>
            </a:fld>
            <a:endParaRPr lang="zh-CN" altLang="en-US"/>
          </a:p>
        </p:txBody>
      </p:sp>
      <p:sp>
        <p:nvSpPr>
          <p:cNvPr id="5" name="页脚占位符 4">
            <a:extLst>
              <a:ext uri="{FF2B5EF4-FFF2-40B4-BE49-F238E27FC236}">
                <a16:creationId xmlns:a16="http://schemas.microsoft.com/office/drawing/2014/main" id="{949C15C7-2396-BDC1-3662-8033F0AF67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37C4850-ECEF-DD93-F734-A7E5B5EE0CE6}"/>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3597650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66E6E89-0CB6-0A78-6FFB-06EA6B706C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8767239-88CA-CE88-E876-BE1F671733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0C8342E-89C8-2246-3EE2-106BE7B28D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2220C5-105D-484E-AF45-85C930F5AD70}" type="datetimeFigureOut">
              <a:rPr lang="zh-CN" altLang="en-US" smtClean="0"/>
              <a:t>2023/12/6</a:t>
            </a:fld>
            <a:endParaRPr lang="zh-CN" altLang="en-US"/>
          </a:p>
        </p:txBody>
      </p:sp>
      <p:sp>
        <p:nvSpPr>
          <p:cNvPr id="5" name="页脚占位符 4">
            <a:extLst>
              <a:ext uri="{FF2B5EF4-FFF2-40B4-BE49-F238E27FC236}">
                <a16:creationId xmlns:a16="http://schemas.microsoft.com/office/drawing/2014/main" id="{789532D6-F4AC-186B-C970-B6B14896D5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A418EE2-863F-CAEC-1A91-A31F3BC3CA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30525789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DB1D2D-383D-3281-1EBE-DC83F41FF097}"/>
              </a:ext>
            </a:extLst>
          </p:cNvPr>
          <p:cNvSpPr>
            <a:spLocks noGrp="1"/>
          </p:cNvSpPr>
          <p:nvPr>
            <p:ph type="ctrTitle"/>
          </p:nvPr>
        </p:nvSpPr>
        <p:spPr/>
        <p:txBody>
          <a:bodyPr>
            <a:normAutofit/>
          </a:bodyPr>
          <a:lstStyle/>
          <a:p>
            <a:r>
              <a:rPr lang="en-US" altLang="zh-CN" sz="4000" dirty="0">
                <a:latin typeface="NimbusRomNo9L-Medi"/>
              </a:rPr>
              <a:t>Test Time Adaptation for Blind Image Quality Assessment</a:t>
            </a:r>
            <a:endParaRPr lang="zh-CN" altLang="en-US" sz="4000" dirty="0">
              <a:latin typeface="NimbusRomNo9L-Medi"/>
            </a:endParaRPr>
          </a:p>
        </p:txBody>
      </p:sp>
      <p:sp>
        <p:nvSpPr>
          <p:cNvPr id="3" name="副标题 2">
            <a:extLst>
              <a:ext uri="{FF2B5EF4-FFF2-40B4-BE49-F238E27FC236}">
                <a16:creationId xmlns:a16="http://schemas.microsoft.com/office/drawing/2014/main" id="{5ADDB75D-E056-4403-19F8-E3A5818C397C}"/>
              </a:ext>
            </a:extLst>
          </p:cNvPr>
          <p:cNvSpPr>
            <a:spLocks noGrp="1"/>
          </p:cNvSpPr>
          <p:nvPr>
            <p:ph type="subTitle" idx="1"/>
          </p:nvPr>
        </p:nvSpPr>
        <p:spPr/>
        <p:txBody>
          <a:bodyPr/>
          <a:lstStyle/>
          <a:p>
            <a:r>
              <a:rPr lang="en-US" altLang="zh-CN" dirty="0"/>
              <a:t>ICCV 2023</a:t>
            </a:r>
            <a:endParaRPr lang="zh-CN" altLang="en-US" dirty="0"/>
          </a:p>
        </p:txBody>
      </p:sp>
      <p:pic>
        <p:nvPicPr>
          <p:cNvPr id="5" name="图片 4">
            <a:extLst>
              <a:ext uri="{FF2B5EF4-FFF2-40B4-BE49-F238E27FC236}">
                <a16:creationId xmlns:a16="http://schemas.microsoft.com/office/drawing/2014/main" id="{9F038293-5242-2694-0C90-BAB01B595853}"/>
              </a:ext>
            </a:extLst>
          </p:cNvPr>
          <p:cNvPicPr>
            <a:picLocks noChangeAspect="1"/>
          </p:cNvPicPr>
          <p:nvPr/>
        </p:nvPicPr>
        <p:blipFill>
          <a:blip r:embed="rId3"/>
          <a:stretch>
            <a:fillRect/>
          </a:stretch>
        </p:blipFill>
        <p:spPr>
          <a:xfrm>
            <a:off x="1813033" y="4429919"/>
            <a:ext cx="9220199" cy="1101117"/>
          </a:xfrm>
          <a:prstGeom prst="rect">
            <a:avLst/>
          </a:prstGeom>
        </p:spPr>
      </p:pic>
    </p:spTree>
    <p:extLst>
      <p:ext uri="{BB962C8B-B14F-4D97-AF65-F5344CB8AC3E}">
        <p14:creationId xmlns:p14="http://schemas.microsoft.com/office/powerpoint/2010/main" val="28427945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D5BC3D-AEB4-E1F9-9537-21FD42596FC0}"/>
              </a:ext>
            </a:extLst>
          </p:cNvPr>
          <p:cNvSpPr>
            <a:spLocks noGrp="1"/>
          </p:cNvSpPr>
          <p:nvPr>
            <p:ph type="title"/>
          </p:nvPr>
        </p:nvSpPr>
        <p:spPr/>
        <p:txBody>
          <a:bodyPr/>
          <a:lstStyle/>
          <a:p>
            <a:r>
              <a:rPr lang="en-US" altLang="zh-CN" dirty="0">
                <a:latin typeface="NimbusRomNo9L-Medi"/>
              </a:rPr>
              <a:t>Backgrounds</a:t>
            </a:r>
            <a:endParaRPr lang="zh-CN" altLang="en-US" dirty="0">
              <a:latin typeface="NimbusRomNo9L-Medi"/>
            </a:endParaRPr>
          </a:p>
        </p:txBody>
      </p:sp>
      <p:sp>
        <p:nvSpPr>
          <p:cNvPr id="3" name="内容占位符 2">
            <a:extLst>
              <a:ext uri="{FF2B5EF4-FFF2-40B4-BE49-F238E27FC236}">
                <a16:creationId xmlns:a16="http://schemas.microsoft.com/office/drawing/2014/main" id="{71703656-55F9-DCA1-65A6-617764350051}"/>
              </a:ext>
            </a:extLst>
          </p:cNvPr>
          <p:cNvSpPr>
            <a:spLocks noGrp="1"/>
          </p:cNvSpPr>
          <p:nvPr>
            <p:ph idx="1"/>
          </p:nvPr>
        </p:nvSpPr>
        <p:spPr>
          <a:xfrm>
            <a:off x="838200" y="1180827"/>
            <a:ext cx="11049001" cy="3203575"/>
          </a:xfrm>
        </p:spPr>
        <p:txBody>
          <a:bodyPr>
            <a:noAutofit/>
          </a:bodyPr>
          <a:lstStyle/>
          <a:p>
            <a:pPr marL="0" indent="0" algn="l">
              <a:buNone/>
            </a:pPr>
            <a:endParaRPr lang="en-US" altLang="zh-CN" sz="2400" dirty="0">
              <a:latin typeface="NimbusRomNo9L-ReguItal"/>
            </a:endParaRPr>
          </a:p>
          <a:p>
            <a:pPr algn="just"/>
            <a:r>
              <a:rPr lang="en-US" altLang="zh-CN" sz="2400" dirty="0">
                <a:latin typeface="NimbusRomNo9L-ReguItal"/>
              </a:rPr>
              <a:t>IQA:</a:t>
            </a:r>
          </a:p>
          <a:p>
            <a:pPr marL="0" indent="0" algn="l">
              <a:buNone/>
            </a:pPr>
            <a:r>
              <a:rPr lang="en-US" altLang="zh-CN" sz="2400" dirty="0">
                <a:latin typeface="NimbusRomNo9L-ReguItal"/>
              </a:rPr>
              <a:t>    IQA models often have poor generalization ability and find it difficult to perform well </a:t>
            </a:r>
          </a:p>
          <a:p>
            <a:pPr marL="0" indent="0" algn="l">
              <a:buNone/>
            </a:pPr>
            <a:r>
              <a:rPr lang="en-US" altLang="zh-CN" sz="2400" dirty="0">
                <a:latin typeface="NimbusRomNo9L-ReguItal"/>
              </a:rPr>
              <a:t>    under such shifts.</a:t>
            </a:r>
          </a:p>
          <a:p>
            <a:pPr marL="0" indent="0" algn="l">
              <a:buNone/>
            </a:pPr>
            <a:endParaRPr lang="en-US" altLang="zh-CN" sz="2400" dirty="0">
              <a:latin typeface="NimbusRomNo9L-ReguItal"/>
            </a:endParaRPr>
          </a:p>
          <a:p>
            <a:pPr algn="l"/>
            <a:r>
              <a:rPr lang="en-US" altLang="zh-CN" sz="2400" dirty="0">
                <a:latin typeface="NimbusRomNo9L-ReguItal"/>
              </a:rPr>
              <a:t>TTA</a:t>
            </a:r>
            <a:r>
              <a:rPr lang="zh-CN" altLang="en-US" sz="2400" dirty="0">
                <a:latin typeface="NimbusRomNo9L-ReguItal"/>
              </a:rPr>
              <a:t>：</a:t>
            </a:r>
            <a:endParaRPr lang="en-US" altLang="zh-CN" sz="2400" dirty="0">
              <a:latin typeface="NimbusRomNo9L-ReguItal"/>
            </a:endParaRPr>
          </a:p>
          <a:p>
            <a:pPr marL="0" indent="0" algn="l">
              <a:buNone/>
            </a:pPr>
            <a:r>
              <a:rPr lang="en-US" altLang="zh-CN" sz="2400" dirty="0">
                <a:latin typeface="NimbusRomNo9L-ReguItal"/>
              </a:rPr>
              <a:t>    Test time adaptation (TTA) has emerged as an important approach to address </a:t>
            </a:r>
          </a:p>
          <a:p>
            <a:pPr marL="0" indent="0" algn="l">
              <a:buNone/>
            </a:pPr>
            <a:r>
              <a:rPr lang="en-US" altLang="zh-CN" sz="2400" dirty="0">
                <a:latin typeface="NimbusRomNo9L-ReguItal"/>
              </a:rPr>
              <a:t>    distributional shifts at test time.</a:t>
            </a:r>
          </a:p>
          <a:p>
            <a:pPr marL="0" indent="0" algn="l">
              <a:buNone/>
            </a:pPr>
            <a:endParaRPr lang="en-US" altLang="zh-CN" sz="2400" dirty="0">
              <a:latin typeface="NimbusRomNo9L-ReguItal"/>
            </a:endParaRPr>
          </a:p>
          <a:p>
            <a:pPr algn="l"/>
            <a:r>
              <a:rPr lang="en-US" altLang="zh-CN" sz="2400" dirty="0">
                <a:latin typeface="NimbusRomNo9L-ReguItal"/>
              </a:rPr>
              <a:t>Main contribution:</a:t>
            </a:r>
          </a:p>
          <a:p>
            <a:pPr marL="0" indent="0" algn="l">
              <a:buNone/>
            </a:pPr>
            <a:r>
              <a:rPr lang="en-US" altLang="zh-CN" sz="2400" dirty="0">
                <a:latin typeface="NimbusRomNo9L-ReguItal"/>
              </a:rPr>
              <a:t>   The design of self-supervised auxiliary tasks to enable TTA for IQA.</a:t>
            </a:r>
          </a:p>
          <a:p>
            <a:pPr marL="0" indent="0" algn="l">
              <a:buNone/>
            </a:pPr>
            <a:endParaRPr lang="zh-CN" altLang="en-US" sz="2400" dirty="0">
              <a:latin typeface="NimbusRomNo9L-ReguItal"/>
            </a:endParaRPr>
          </a:p>
        </p:txBody>
      </p:sp>
    </p:spTree>
    <p:extLst>
      <p:ext uri="{BB962C8B-B14F-4D97-AF65-F5344CB8AC3E}">
        <p14:creationId xmlns:p14="http://schemas.microsoft.com/office/powerpoint/2010/main" val="3114418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D5BC3D-AEB4-E1F9-9537-21FD42596FC0}"/>
              </a:ext>
            </a:extLst>
          </p:cNvPr>
          <p:cNvSpPr>
            <a:spLocks noGrp="1"/>
          </p:cNvSpPr>
          <p:nvPr>
            <p:ph type="title"/>
          </p:nvPr>
        </p:nvSpPr>
        <p:spPr>
          <a:xfrm>
            <a:off x="237067" y="68792"/>
            <a:ext cx="10515600" cy="1325563"/>
          </a:xfrm>
        </p:spPr>
        <p:txBody>
          <a:bodyPr/>
          <a:lstStyle/>
          <a:p>
            <a:r>
              <a:rPr lang="en-US" altLang="zh-CN" dirty="0">
                <a:latin typeface="NimbusRomNo9L-Medi"/>
              </a:rPr>
              <a:t>Architecture for TTA</a:t>
            </a:r>
            <a:endParaRPr lang="zh-CN" altLang="en-US" dirty="0">
              <a:latin typeface="NimbusRomNo9L-Medi"/>
            </a:endParaRPr>
          </a:p>
        </p:txBody>
      </p:sp>
      <p:pic>
        <p:nvPicPr>
          <p:cNvPr id="5" name="图片 4">
            <a:extLst>
              <a:ext uri="{FF2B5EF4-FFF2-40B4-BE49-F238E27FC236}">
                <a16:creationId xmlns:a16="http://schemas.microsoft.com/office/drawing/2014/main" id="{097787FD-C5FE-6572-E69C-5BA2F6BA4978}"/>
              </a:ext>
            </a:extLst>
          </p:cNvPr>
          <p:cNvPicPr>
            <a:picLocks noChangeAspect="1"/>
          </p:cNvPicPr>
          <p:nvPr/>
        </p:nvPicPr>
        <p:blipFill>
          <a:blip r:embed="rId3"/>
          <a:stretch>
            <a:fillRect/>
          </a:stretch>
        </p:blipFill>
        <p:spPr>
          <a:xfrm>
            <a:off x="152399" y="2897605"/>
            <a:ext cx="11887201" cy="3891603"/>
          </a:xfrm>
          <a:prstGeom prst="rect">
            <a:avLst/>
          </a:prstGeom>
        </p:spPr>
      </p:pic>
      <p:sp>
        <p:nvSpPr>
          <p:cNvPr id="15" name="文本框 14">
            <a:extLst>
              <a:ext uri="{FF2B5EF4-FFF2-40B4-BE49-F238E27FC236}">
                <a16:creationId xmlns:a16="http://schemas.microsoft.com/office/drawing/2014/main" id="{80A8D0E3-70B0-EEC2-F4C6-270857E310BF}"/>
              </a:ext>
            </a:extLst>
          </p:cNvPr>
          <p:cNvSpPr txBox="1"/>
          <p:nvPr/>
        </p:nvSpPr>
        <p:spPr>
          <a:xfrm>
            <a:off x="355600" y="1290109"/>
            <a:ext cx="10238252" cy="1477328"/>
          </a:xfrm>
          <a:prstGeom prst="rect">
            <a:avLst/>
          </a:prstGeom>
          <a:noFill/>
        </p:spPr>
        <p:txBody>
          <a:bodyPr wrap="none" rtlCol="0">
            <a:spAutoFit/>
          </a:bodyPr>
          <a:lstStyle/>
          <a:p>
            <a:pPr algn="l"/>
            <a:r>
              <a:rPr lang="en-US" altLang="zh-CN" b="1" dirty="0"/>
              <a:t>Feature Extractor        :  </a:t>
            </a:r>
            <a:r>
              <a:rPr lang="en-US" altLang="zh-CN" dirty="0">
                <a:latin typeface="NimbusRomNo9L-Regu"/>
              </a:rPr>
              <a:t>O</a:t>
            </a:r>
            <a:r>
              <a:rPr lang="en-US" altLang="zh-CN" sz="1800" b="0" i="0" u="none" strike="noStrike" baseline="0" dirty="0">
                <a:latin typeface="NimbusRomNo9L-Regu"/>
              </a:rPr>
              <a:t>nly update the parameters of batch normalization in a lower dimensional space.</a:t>
            </a:r>
            <a:endParaRPr lang="en-US" altLang="zh-CN" b="1" dirty="0"/>
          </a:p>
          <a:p>
            <a:endParaRPr lang="en-US" altLang="zh-CN" b="1" dirty="0"/>
          </a:p>
          <a:p>
            <a:r>
              <a:rPr lang="en-US" altLang="zh-CN" b="1" dirty="0"/>
              <a:t>Projection Head        </a:t>
            </a:r>
            <a:r>
              <a:rPr lang="en-US" altLang="zh-CN" dirty="0">
                <a:latin typeface="NimbusRomNo9L-Regu"/>
              </a:rPr>
              <a:t>:  Low-rank mapping (256 dimensions).</a:t>
            </a:r>
          </a:p>
          <a:p>
            <a:endParaRPr lang="en-US" altLang="zh-CN" dirty="0">
              <a:latin typeface="NimbusRomNo9L-Regu"/>
            </a:endParaRPr>
          </a:p>
          <a:p>
            <a:r>
              <a:rPr lang="en-US" altLang="zh-CN" b="1" dirty="0"/>
              <a:t>Quality Regressor         :  </a:t>
            </a:r>
            <a:r>
              <a:rPr lang="en-US" altLang="zh-CN" dirty="0">
                <a:latin typeface="NimbusRomNo9L-Regu"/>
              </a:rPr>
              <a:t>Parameters are frozen</a:t>
            </a:r>
            <a:endParaRPr lang="zh-CN" altLang="en-US" dirty="0">
              <a:latin typeface="NimbusRomNo9L-Regu"/>
            </a:endParaRPr>
          </a:p>
        </p:txBody>
      </p:sp>
      <p:pic>
        <p:nvPicPr>
          <p:cNvPr id="17" name="图片 16">
            <a:extLst>
              <a:ext uri="{FF2B5EF4-FFF2-40B4-BE49-F238E27FC236}">
                <a16:creationId xmlns:a16="http://schemas.microsoft.com/office/drawing/2014/main" id="{381110AB-A043-6040-A8E4-5F7B9829DC1B}"/>
              </a:ext>
            </a:extLst>
          </p:cNvPr>
          <p:cNvPicPr>
            <a:picLocks noChangeAspect="1"/>
          </p:cNvPicPr>
          <p:nvPr/>
        </p:nvPicPr>
        <p:blipFill>
          <a:blip r:embed="rId4"/>
          <a:stretch>
            <a:fillRect/>
          </a:stretch>
        </p:blipFill>
        <p:spPr>
          <a:xfrm>
            <a:off x="2347995" y="1324487"/>
            <a:ext cx="340614" cy="322791"/>
          </a:xfrm>
          <a:prstGeom prst="rect">
            <a:avLst/>
          </a:prstGeom>
        </p:spPr>
      </p:pic>
      <p:pic>
        <p:nvPicPr>
          <p:cNvPr id="19" name="图片 18">
            <a:extLst>
              <a:ext uri="{FF2B5EF4-FFF2-40B4-BE49-F238E27FC236}">
                <a16:creationId xmlns:a16="http://schemas.microsoft.com/office/drawing/2014/main" id="{9E616236-BF25-0A95-9DBB-98567D08739A}"/>
              </a:ext>
            </a:extLst>
          </p:cNvPr>
          <p:cNvPicPr>
            <a:picLocks noChangeAspect="1"/>
          </p:cNvPicPr>
          <p:nvPr/>
        </p:nvPicPr>
        <p:blipFill>
          <a:blip r:embed="rId5"/>
          <a:stretch>
            <a:fillRect/>
          </a:stretch>
        </p:blipFill>
        <p:spPr>
          <a:xfrm>
            <a:off x="2426758" y="2431677"/>
            <a:ext cx="358160" cy="288413"/>
          </a:xfrm>
          <a:prstGeom prst="rect">
            <a:avLst/>
          </a:prstGeom>
        </p:spPr>
      </p:pic>
      <p:pic>
        <p:nvPicPr>
          <p:cNvPr id="21" name="图片 20">
            <a:extLst>
              <a:ext uri="{FF2B5EF4-FFF2-40B4-BE49-F238E27FC236}">
                <a16:creationId xmlns:a16="http://schemas.microsoft.com/office/drawing/2014/main" id="{13EF6671-A5A8-6830-09B1-800EB7D1235C}"/>
              </a:ext>
            </a:extLst>
          </p:cNvPr>
          <p:cNvPicPr>
            <a:picLocks noChangeAspect="1"/>
          </p:cNvPicPr>
          <p:nvPr/>
        </p:nvPicPr>
        <p:blipFill>
          <a:blip r:embed="rId6"/>
          <a:stretch>
            <a:fillRect/>
          </a:stretch>
        </p:blipFill>
        <p:spPr>
          <a:xfrm>
            <a:off x="2256451" y="1874634"/>
            <a:ext cx="340614" cy="304120"/>
          </a:xfrm>
          <a:prstGeom prst="rect">
            <a:avLst/>
          </a:prstGeom>
        </p:spPr>
      </p:pic>
      <p:pic>
        <p:nvPicPr>
          <p:cNvPr id="23" name="图片 22">
            <a:extLst>
              <a:ext uri="{FF2B5EF4-FFF2-40B4-BE49-F238E27FC236}">
                <a16:creationId xmlns:a16="http://schemas.microsoft.com/office/drawing/2014/main" id="{CC4D60E0-64B2-945A-E03B-7BFDCB0C1085}"/>
              </a:ext>
            </a:extLst>
          </p:cNvPr>
          <p:cNvPicPr>
            <a:picLocks noChangeAspect="1"/>
          </p:cNvPicPr>
          <p:nvPr/>
        </p:nvPicPr>
        <p:blipFill>
          <a:blip r:embed="rId7"/>
          <a:stretch>
            <a:fillRect/>
          </a:stretch>
        </p:blipFill>
        <p:spPr>
          <a:xfrm>
            <a:off x="8039604" y="2150133"/>
            <a:ext cx="4079404" cy="851499"/>
          </a:xfrm>
          <a:prstGeom prst="rect">
            <a:avLst/>
          </a:prstGeom>
        </p:spPr>
      </p:pic>
      <p:cxnSp>
        <p:nvCxnSpPr>
          <p:cNvPr id="25" name="直接箭头连接符 24">
            <a:extLst>
              <a:ext uri="{FF2B5EF4-FFF2-40B4-BE49-F238E27FC236}">
                <a16:creationId xmlns:a16="http://schemas.microsoft.com/office/drawing/2014/main" id="{CC8F15CB-F940-9379-C1E6-33B785F40850}"/>
              </a:ext>
            </a:extLst>
          </p:cNvPr>
          <p:cNvCxnSpPr/>
          <p:nvPr/>
        </p:nvCxnSpPr>
        <p:spPr>
          <a:xfrm flipV="1">
            <a:off x="6849533" y="2431677"/>
            <a:ext cx="1397000" cy="569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74680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D5BC3D-AEB4-E1F9-9537-21FD42596FC0}"/>
              </a:ext>
            </a:extLst>
          </p:cNvPr>
          <p:cNvSpPr>
            <a:spLocks noGrp="1"/>
          </p:cNvSpPr>
          <p:nvPr>
            <p:ph type="title"/>
          </p:nvPr>
        </p:nvSpPr>
        <p:spPr>
          <a:xfrm>
            <a:off x="237067" y="68792"/>
            <a:ext cx="10515600" cy="1325563"/>
          </a:xfrm>
        </p:spPr>
        <p:txBody>
          <a:bodyPr/>
          <a:lstStyle/>
          <a:p>
            <a:r>
              <a:rPr lang="en-US" altLang="zh-CN" dirty="0">
                <a:latin typeface="NimbusRomNo9L-Medi"/>
              </a:rPr>
              <a:t>Group Contrastive Loss</a:t>
            </a:r>
            <a:endParaRPr lang="zh-CN" altLang="en-US" dirty="0">
              <a:latin typeface="NimbusRomNo9L-Medi"/>
            </a:endParaRPr>
          </a:p>
        </p:txBody>
      </p:sp>
      <p:pic>
        <p:nvPicPr>
          <p:cNvPr id="11" name="图片 10">
            <a:extLst>
              <a:ext uri="{FF2B5EF4-FFF2-40B4-BE49-F238E27FC236}">
                <a16:creationId xmlns:a16="http://schemas.microsoft.com/office/drawing/2014/main" id="{DA119D55-AFEF-C19C-715A-1781614E1EAE}"/>
              </a:ext>
            </a:extLst>
          </p:cNvPr>
          <p:cNvPicPr>
            <a:picLocks noChangeAspect="1"/>
          </p:cNvPicPr>
          <p:nvPr/>
        </p:nvPicPr>
        <p:blipFill>
          <a:blip r:embed="rId3"/>
          <a:stretch>
            <a:fillRect/>
          </a:stretch>
        </p:blipFill>
        <p:spPr>
          <a:xfrm>
            <a:off x="575733" y="1161448"/>
            <a:ext cx="11192933" cy="5018494"/>
          </a:xfrm>
          <a:prstGeom prst="rect">
            <a:avLst/>
          </a:prstGeom>
        </p:spPr>
      </p:pic>
    </p:spTree>
    <p:extLst>
      <p:ext uri="{BB962C8B-B14F-4D97-AF65-F5344CB8AC3E}">
        <p14:creationId xmlns:p14="http://schemas.microsoft.com/office/powerpoint/2010/main" val="3303473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D5BC3D-AEB4-E1F9-9537-21FD42596FC0}"/>
              </a:ext>
            </a:extLst>
          </p:cNvPr>
          <p:cNvSpPr>
            <a:spLocks noGrp="1"/>
          </p:cNvSpPr>
          <p:nvPr>
            <p:ph type="title"/>
          </p:nvPr>
        </p:nvSpPr>
        <p:spPr>
          <a:xfrm>
            <a:off x="237067" y="68792"/>
            <a:ext cx="10515600" cy="1325563"/>
          </a:xfrm>
        </p:spPr>
        <p:txBody>
          <a:bodyPr/>
          <a:lstStyle/>
          <a:p>
            <a:r>
              <a:rPr lang="en-US" altLang="zh-CN" dirty="0">
                <a:latin typeface="NimbusRomNo9L-Medi"/>
              </a:rPr>
              <a:t>Group Contrastive Loss</a:t>
            </a:r>
            <a:endParaRPr lang="zh-CN" altLang="en-US" dirty="0">
              <a:latin typeface="NimbusRomNo9L-Medi"/>
            </a:endParaRPr>
          </a:p>
        </p:txBody>
      </p:sp>
      <p:pic>
        <p:nvPicPr>
          <p:cNvPr id="4" name="图片 3">
            <a:extLst>
              <a:ext uri="{FF2B5EF4-FFF2-40B4-BE49-F238E27FC236}">
                <a16:creationId xmlns:a16="http://schemas.microsoft.com/office/drawing/2014/main" id="{7FCA49CF-9502-2343-F97A-CD829EC84A42}"/>
              </a:ext>
            </a:extLst>
          </p:cNvPr>
          <p:cNvPicPr>
            <a:picLocks noChangeAspect="1"/>
          </p:cNvPicPr>
          <p:nvPr/>
        </p:nvPicPr>
        <p:blipFill>
          <a:blip r:embed="rId3"/>
          <a:stretch>
            <a:fillRect/>
          </a:stretch>
        </p:blipFill>
        <p:spPr>
          <a:xfrm>
            <a:off x="2103967" y="2734387"/>
            <a:ext cx="6642101" cy="1319535"/>
          </a:xfrm>
          <a:prstGeom prst="rect">
            <a:avLst/>
          </a:prstGeom>
        </p:spPr>
      </p:pic>
      <p:pic>
        <p:nvPicPr>
          <p:cNvPr id="6" name="图片 5">
            <a:extLst>
              <a:ext uri="{FF2B5EF4-FFF2-40B4-BE49-F238E27FC236}">
                <a16:creationId xmlns:a16="http://schemas.microsoft.com/office/drawing/2014/main" id="{8DD43BD6-D82A-FE2B-09BD-F1509C646933}"/>
              </a:ext>
            </a:extLst>
          </p:cNvPr>
          <p:cNvPicPr>
            <a:picLocks noChangeAspect="1"/>
          </p:cNvPicPr>
          <p:nvPr/>
        </p:nvPicPr>
        <p:blipFill>
          <a:blip r:embed="rId4"/>
          <a:stretch>
            <a:fillRect/>
          </a:stretch>
        </p:blipFill>
        <p:spPr>
          <a:xfrm>
            <a:off x="2197101" y="4561958"/>
            <a:ext cx="6303433" cy="1362904"/>
          </a:xfrm>
          <a:prstGeom prst="rect">
            <a:avLst/>
          </a:prstGeom>
        </p:spPr>
      </p:pic>
      <p:sp>
        <p:nvSpPr>
          <p:cNvPr id="7" name="文本框 6">
            <a:extLst>
              <a:ext uri="{FF2B5EF4-FFF2-40B4-BE49-F238E27FC236}">
                <a16:creationId xmlns:a16="http://schemas.microsoft.com/office/drawing/2014/main" id="{41AE5942-A079-E81B-8BAD-3F6E34D8B002}"/>
              </a:ext>
            </a:extLst>
          </p:cNvPr>
          <p:cNvSpPr txBox="1"/>
          <p:nvPr/>
        </p:nvSpPr>
        <p:spPr>
          <a:xfrm>
            <a:off x="905934" y="1687792"/>
            <a:ext cx="9694333" cy="830997"/>
          </a:xfrm>
          <a:prstGeom prst="rect">
            <a:avLst/>
          </a:prstGeom>
          <a:noFill/>
        </p:spPr>
        <p:txBody>
          <a:bodyPr wrap="square" rtlCol="0">
            <a:spAutoFit/>
          </a:bodyPr>
          <a:lstStyle/>
          <a:p>
            <a:pPr algn="l"/>
            <a:r>
              <a:rPr lang="en-US" altLang="zh-CN" sz="2400" dirty="0">
                <a:solidFill>
                  <a:srgbClr val="000000"/>
                </a:solidFill>
                <a:latin typeface="NimbusRomNo9L-Regu"/>
              </a:rPr>
              <a:t>U</a:t>
            </a:r>
            <a:r>
              <a:rPr lang="en-US" altLang="zh-CN" sz="2400" b="0" i="0" u="none" strike="noStrike" baseline="0" dirty="0">
                <a:solidFill>
                  <a:srgbClr val="000000"/>
                </a:solidFill>
                <a:latin typeface="NimbusRomNo9L-Regu"/>
              </a:rPr>
              <a:t>se a modified NT-</a:t>
            </a:r>
            <a:r>
              <a:rPr lang="en-US" altLang="zh-CN" sz="2400" b="0" i="0" u="none" strike="noStrike" baseline="0" dirty="0" err="1">
                <a:solidFill>
                  <a:srgbClr val="000000"/>
                </a:solidFill>
                <a:latin typeface="NimbusRomNo9L-Regu"/>
              </a:rPr>
              <a:t>Xent</a:t>
            </a:r>
            <a:r>
              <a:rPr lang="en-US" altLang="zh-CN" sz="2400" b="0" i="0" u="none" strike="noStrike" baseline="0" dirty="0">
                <a:solidFill>
                  <a:srgbClr val="000000"/>
                </a:solidFill>
                <a:latin typeface="NimbusRomNo9L-Regu"/>
              </a:rPr>
              <a:t> contrastive loss as </a:t>
            </a:r>
            <a:r>
              <a:rPr lang="en-US" altLang="zh-CN" sz="2400" dirty="0">
                <a:solidFill>
                  <a:srgbClr val="000000"/>
                </a:solidFill>
                <a:latin typeface="NimbusRomNo9L-Regu"/>
              </a:rPr>
              <a:t>the </a:t>
            </a:r>
            <a:r>
              <a:rPr lang="en-US" altLang="zh-CN" sz="2400" b="0" i="0" u="none" strike="noStrike" baseline="0" dirty="0">
                <a:solidFill>
                  <a:srgbClr val="000000"/>
                </a:solidFill>
                <a:latin typeface="NimbusRomNo9L-Regu"/>
              </a:rPr>
              <a:t>objective Function of </a:t>
            </a:r>
            <a:r>
              <a:rPr lang="en-US" altLang="zh-CN" sz="2400" b="0" i="0" u="none" strike="noStrike" baseline="0" dirty="0">
                <a:latin typeface="NimbusRomNo9L-Medi"/>
              </a:rPr>
              <a:t>Group Contrastive Loss :</a:t>
            </a:r>
            <a:endParaRPr lang="zh-CN" altLang="en-US" sz="2400" dirty="0"/>
          </a:p>
        </p:txBody>
      </p:sp>
    </p:spTree>
    <p:extLst>
      <p:ext uri="{BB962C8B-B14F-4D97-AF65-F5344CB8AC3E}">
        <p14:creationId xmlns:p14="http://schemas.microsoft.com/office/powerpoint/2010/main" val="1605371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AB1D469A-002C-E751-C59C-00120634B258}"/>
              </a:ext>
            </a:extLst>
          </p:cNvPr>
          <p:cNvPicPr>
            <a:picLocks noChangeAspect="1"/>
          </p:cNvPicPr>
          <p:nvPr/>
        </p:nvPicPr>
        <p:blipFill>
          <a:blip r:embed="rId3"/>
          <a:stretch>
            <a:fillRect/>
          </a:stretch>
        </p:blipFill>
        <p:spPr>
          <a:xfrm>
            <a:off x="922867" y="795994"/>
            <a:ext cx="10879666" cy="5993214"/>
          </a:xfrm>
          <a:prstGeom prst="rect">
            <a:avLst/>
          </a:prstGeom>
        </p:spPr>
      </p:pic>
      <p:sp>
        <p:nvSpPr>
          <p:cNvPr id="2" name="标题 1">
            <a:extLst>
              <a:ext uri="{FF2B5EF4-FFF2-40B4-BE49-F238E27FC236}">
                <a16:creationId xmlns:a16="http://schemas.microsoft.com/office/drawing/2014/main" id="{E3D5BC3D-AEB4-E1F9-9537-21FD42596FC0}"/>
              </a:ext>
            </a:extLst>
          </p:cNvPr>
          <p:cNvSpPr>
            <a:spLocks noGrp="1"/>
          </p:cNvSpPr>
          <p:nvPr>
            <p:ph type="title"/>
          </p:nvPr>
        </p:nvSpPr>
        <p:spPr>
          <a:xfrm>
            <a:off x="237067" y="68792"/>
            <a:ext cx="10515600" cy="1325563"/>
          </a:xfrm>
        </p:spPr>
        <p:txBody>
          <a:bodyPr/>
          <a:lstStyle/>
          <a:p>
            <a:r>
              <a:rPr lang="en-US" altLang="zh-CN" dirty="0">
                <a:latin typeface="NimbusRomNo9L-Medi"/>
              </a:rPr>
              <a:t>Rank Loss</a:t>
            </a:r>
            <a:endParaRPr lang="zh-CN" altLang="en-US" dirty="0">
              <a:latin typeface="NimbusRomNo9L-Medi"/>
            </a:endParaRPr>
          </a:p>
        </p:txBody>
      </p:sp>
    </p:spTree>
    <p:extLst>
      <p:ext uri="{BB962C8B-B14F-4D97-AF65-F5344CB8AC3E}">
        <p14:creationId xmlns:p14="http://schemas.microsoft.com/office/powerpoint/2010/main" val="381675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D5BC3D-AEB4-E1F9-9537-21FD42596FC0}"/>
              </a:ext>
            </a:extLst>
          </p:cNvPr>
          <p:cNvSpPr>
            <a:spLocks noGrp="1"/>
          </p:cNvSpPr>
          <p:nvPr>
            <p:ph type="title"/>
          </p:nvPr>
        </p:nvSpPr>
        <p:spPr>
          <a:xfrm>
            <a:off x="237067" y="68792"/>
            <a:ext cx="10515600" cy="1325563"/>
          </a:xfrm>
        </p:spPr>
        <p:txBody>
          <a:bodyPr/>
          <a:lstStyle/>
          <a:p>
            <a:r>
              <a:rPr lang="en-US" altLang="zh-CN" dirty="0">
                <a:latin typeface="NimbusRomNo9L-Medi"/>
              </a:rPr>
              <a:t>Rank Loss</a:t>
            </a:r>
            <a:endParaRPr lang="zh-CN" altLang="en-US" dirty="0">
              <a:latin typeface="NimbusRomNo9L-Medi"/>
            </a:endParaRPr>
          </a:p>
        </p:txBody>
      </p:sp>
      <p:sp>
        <p:nvSpPr>
          <p:cNvPr id="7" name="文本框 6">
            <a:extLst>
              <a:ext uri="{FF2B5EF4-FFF2-40B4-BE49-F238E27FC236}">
                <a16:creationId xmlns:a16="http://schemas.microsoft.com/office/drawing/2014/main" id="{41AE5942-A079-E81B-8BAD-3F6E34D8B002}"/>
              </a:ext>
            </a:extLst>
          </p:cNvPr>
          <p:cNvSpPr txBox="1"/>
          <p:nvPr/>
        </p:nvSpPr>
        <p:spPr>
          <a:xfrm>
            <a:off x="838201" y="1394355"/>
            <a:ext cx="9694333" cy="4893647"/>
          </a:xfrm>
          <a:prstGeom prst="rect">
            <a:avLst/>
          </a:prstGeom>
          <a:noFill/>
        </p:spPr>
        <p:txBody>
          <a:bodyPr wrap="square" rtlCol="0">
            <a:spAutoFit/>
          </a:bodyPr>
          <a:lstStyle/>
          <a:p>
            <a:pPr algn="l"/>
            <a:r>
              <a:rPr lang="en-US" altLang="zh-CN" sz="2400" dirty="0">
                <a:solidFill>
                  <a:srgbClr val="000000"/>
                </a:solidFill>
                <a:latin typeface="NimbusRomNo9L-Regu"/>
              </a:rPr>
              <a:t>The probability of achieving this order is estimated by passing the difference in distances through a sigmoid function as</a:t>
            </a:r>
            <a:r>
              <a:rPr lang="en-US" altLang="zh-CN" sz="2400" b="0" i="0" u="none" strike="noStrike" baseline="0" dirty="0">
                <a:solidFill>
                  <a:srgbClr val="000000"/>
                </a:solidFill>
                <a:latin typeface="NimbusRomNo9L-Regu"/>
              </a:rPr>
              <a:t> </a:t>
            </a:r>
            <a:r>
              <a:rPr lang="en-US" altLang="zh-CN" sz="2400" b="0" i="0" u="none" strike="noStrike" baseline="0" dirty="0">
                <a:latin typeface="NimbusRomNo9L-Medi"/>
              </a:rPr>
              <a:t>:</a:t>
            </a:r>
          </a:p>
          <a:p>
            <a:pPr algn="l"/>
            <a:endParaRPr lang="en-US" altLang="zh-CN" sz="2400" dirty="0">
              <a:latin typeface="NimbusRomNo9L-Medi"/>
            </a:endParaRPr>
          </a:p>
          <a:p>
            <a:pPr algn="l"/>
            <a:endParaRPr lang="en-US" altLang="zh-CN" sz="2400" dirty="0">
              <a:latin typeface="NimbusRomNo9L-Medi"/>
            </a:endParaRPr>
          </a:p>
          <a:p>
            <a:pPr algn="l"/>
            <a:endParaRPr lang="en-US" altLang="zh-CN" sz="2400" dirty="0">
              <a:latin typeface="NimbusRomNo9L-Medi"/>
            </a:endParaRPr>
          </a:p>
          <a:p>
            <a:pPr algn="l"/>
            <a:endParaRPr lang="en-US" altLang="zh-CN" sz="2400" dirty="0">
              <a:solidFill>
                <a:srgbClr val="000000"/>
              </a:solidFill>
              <a:latin typeface="NimbusRomNo9L-Regu"/>
            </a:endParaRPr>
          </a:p>
          <a:p>
            <a:pPr algn="l"/>
            <a:r>
              <a:rPr lang="en-US" altLang="zh-CN" sz="2400" dirty="0">
                <a:solidFill>
                  <a:srgbClr val="000000"/>
                </a:solidFill>
                <a:latin typeface="NimbusRomNo9L-Regu"/>
              </a:rPr>
              <a:t>Use binary cross-entropy loss between true label and the predicted probability to obtain the rank loss as</a:t>
            </a:r>
            <a:r>
              <a:rPr lang="zh-CN" altLang="en-US" sz="2400" dirty="0">
                <a:solidFill>
                  <a:srgbClr val="000000"/>
                </a:solidFill>
                <a:latin typeface="NimbusRomNo9L-Regu"/>
              </a:rPr>
              <a:t>：</a:t>
            </a:r>
            <a:endParaRPr lang="en-US" altLang="zh-CN" sz="2400" dirty="0">
              <a:solidFill>
                <a:srgbClr val="000000"/>
              </a:solidFill>
              <a:latin typeface="NimbusRomNo9L-Regu"/>
            </a:endParaRPr>
          </a:p>
          <a:p>
            <a:pPr algn="l"/>
            <a:endParaRPr lang="en-US" altLang="zh-CN" sz="2400" dirty="0">
              <a:solidFill>
                <a:srgbClr val="000000"/>
              </a:solidFill>
              <a:latin typeface="NimbusRomNo9L-Regu"/>
            </a:endParaRPr>
          </a:p>
          <a:p>
            <a:pPr algn="l"/>
            <a:endParaRPr lang="en-US" altLang="zh-CN" sz="2400" dirty="0">
              <a:solidFill>
                <a:srgbClr val="000000"/>
              </a:solidFill>
              <a:latin typeface="NimbusRomNo9L-Regu"/>
            </a:endParaRPr>
          </a:p>
          <a:p>
            <a:pPr algn="l"/>
            <a:endParaRPr lang="en-US" altLang="zh-CN" sz="2400" dirty="0">
              <a:solidFill>
                <a:srgbClr val="000000"/>
              </a:solidFill>
              <a:latin typeface="NimbusRomNo9L-Regu"/>
            </a:endParaRPr>
          </a:p>
          <a:p>
            <a:pPr algn="l"/>
            <a:endParaRPr lang="en-US" altLang="zh-CN" sz="2400" dirty="0">
              <a:solidFill>
                <a:srgbClr val="000000"/>
              </a:solidFill>
              <a:latin typeface="NimbusRomNo9L-Regu"/>
            </a:endParaRPr>
          </a:p>
          <a:p>
            <a:pPr algn="l"/>
            <a:r>
              <a:rPr lang="en-US" altLang="zh-CN" sz="2400" dirty="0">
                <a:solidFill>
                  <a:srgbClr val="000000"/>
                </a:solidFill>
                <a:latin typeface="NimbusRomNo9L-Regu"/>
              </a:rPr>
              <a:t>Overall rank loss</a:t>
            </a:r>
            <a:r>
              <a:rPr lang="zh-CN" altLang="en-US" sz="2400" dirty="0">
                <a:solidFill>
                  <a:srgbClr val="000000"/>
                </a:solidFill>
                <a:latin typeface="NimbusRomNo9L-Regu"/>
              </a:rPr>
              <a:t>：</a:t>
            </a:r>
          </a:p>
        </p:txBody>
      </p:sp>
      <p:pic>
        <p:nvPicPr>
          <p:cNvPr id="5" name="图片 4">
            <a:extLst>
              <a:ext uri="{FF2B5EF4-FFF2-40B4-BE49-F238E27FC236}">
                <a16:creationId xmlns:a16="http://schemas.microsoft.com/office/drawing/2014/main" id="{54B020C0-ADA2-1B99-1DEC-F26542ABCB7F}"/>
              </a:ext>
            </a:extLst>
          </p:cNvPr>
          <p:cNvPicPr>
            <a:picLocks noChangeAspect="1"/>
          </p:cNvPicPr>
          <p:nvPr/>
        </p:nvPicPr>
        <p:blipFill>
          <a:blip r:embed="rId3"/>
          <a:stretch>
            <a:fillRect/>
          </a:stretch>
        </p:blipFill>
        <p:spPr>
          <a:xfrm>
            <a:off x="1968500" y="2287107"/>
            <a:ext cx="6383867" cy="1261483"/>
          </a:xfrm>
          <a:prstGeom prst="rect">
            <a:avLst/>
          </a:prstGeom>
        </p:spPr>
      </p:pic>
      <p:pic>
        <p:nvPicPr>
          <p:cNvPr id="9" name="图片 8">
            <a:extLst>
              <a:ext uri="{FF2B5EF4-FFF2-40B4-BE49-F238E27FC236}">
                <a16:creationId xmlns:a16="http://schemas.microsoft.com/office/drawing/2014/main" id="{BF728A36-1AC3-39A7-9EFB-392E6DA0A2DE}"/>
              </a:ext>
            </a:extLst>
          </p:cNvPr>
          <p:cNvPicPr>
            <a:picLocks noChangeAspect="1"/>
          </p:cNvPicPr>
          <p:nvPr/>
        </p:nvPicPr>
        <p:blipFill>
          <a:blip r:embed="rId4"/>
          <a:stretch>
            <a:fillRect/>
          </a:stretch>
        </p:blipFill>
        <p:spPr>
          <a:xfrm>
            <a:off x="1909233" y="4751143"/>
            <a:ext cx="6443134" cy="634858"/>
          </a:xfrm>
          <a:prstGeom prst="rect">
            <a:avLst/>
          </a:prstGeom>
        </p:spPr>
      </p:pic>
      <p:pic>
        <p:nvPicPr>
          <p:cNvPr id="11" name="图片 10">
            <a:extLst>
              <a:ext uri="{FF2B5EF4-FFF2-40B4-BE49-F238E27FC236}">
                <a16:creationId xmlns:a16="http://schemas.microsoft.com/office/drawing/2014/main" id="{88991327-3BA9-0BC3-4564-79206C84509F}"/>
              </a:ext>
            </a:extLst>
          </p:cNvPr>
          <p:cNvPicPr>
            <a:picLocks noChangeAspect="1"/>
          </p:cNvPicPr>
          <p:nvPr/>
        </p:nvPicPr>
        <p:blipFill>
          <a:blip r:embed="rId5"/>
          <a:stretch>
            <a:fillRect/>
          </a:stretch>
        </p:blipFill>
        <p:spPr>
          <a:xfrm>
            <a:off x="3626172" y="5587615"/>
            <a:ext cx="1821530" cy="1151387"/>
          </a:xfrm>
          <a:prstGeom prst="rect">
            <a:avLst/>
          </a:prstGeom>
        </p:spPr>
      </p:pic>
    </p:spTree>
    <p:extLst>
      <p:ext uri="{BB962C8B-B14F-4D97-AF65-F5344CB8AC3E}">
        <p14:creationId xmlns:p14="http://schemas.microsoft.com/office/powerpoint/2010/main" val="3870406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D5BC3D-AEB4-E1F9-9537-21FD42596FC0}"/>
              </a:ext>
            </a:extLst>
          </p:cNvPr>
          <p:cNvSpPr>
            <a:spLocks noGrp="1"/>
          </p:cNvSpPr>
          <p:nvPr>
            <p:ph type="title"/>
          </p:nvPr>
        </p:nvSpPr>
        <p:spPr>
          <a:xfrm>
            <a:off x="237067" y="68792"/>
            <a:ext cx="10515600" cy="1325563"/>
          </a:xfrm>
        </p:spPr>
        <p:txBody>
          <a:bodyPr/>
          <a:lstStyle/>
          <a:p>
            <a:r>
              <a:rPr lang="en-US" altLang="zh-CN" dirty="0">
                <a:latin typeface="NimbusRomNo9L-Medi"/>
              </a:rPr>
              <a:t>TTA objective function </a:t>
            </a:r>
            <a:endParaRPr lang="zh-CN" altLang="en-US" dirty="0">
              <a:latin typeface="NimbusRomNo9L-Medi"/>
            </a:endParaRPr>
          </a:p>
        </p:txBody>
      </p:sp>
      <p:sp>
        <p:nvSpPr>
          <p:cNvPr id="7" name="文本框 6">
            <a:extLst>
              <a:ext uri="{FF2B5EF4-FFF2-40B4-BE49-F238E27FC236}">
                <a16:creationId xmlns:a16="http://schemas.microsoft.com/office/drawing/2014/main" id="{41AE5942-A079-E81B-8BAD-3F6E34D8B002}"/>
              </a:ext>
            </a:extLst>
          </p:cNvPr>
          <p:cNvSpPr txBox="1"/>
          <p:nvPr/>
        </p:nvSpPr>
        <p:spPr>
          <a:xfrm>
            <a:off x="897468" y="1843088"/>
            <a:ext cx="9694333" cy="1938992"/>
          </a:xfrm>
          <a:prstGeom prst="rect">
            <a:avLst/>
          </a:prstGeom>
          <a:noFill/>
        </p:spPr>
        <p:txBody>
          <a:bodyPr wrap="square" rtlCol="0">
            <a:spAutoFit/>
          </a:bodyPr>
          <a:lstStyle/>
          <a:p>
            <a:pPr algn="l"/>
            <a:r>
              <a:rPr lang="en-US" altLang="zh-CN" sz="2400" dirty="0">
                <a:latin typeface="NimbusRomNo9L-Medi"/>
              </a:rPr>
              <a:t>O</a:t>
            </a:r>
            <a:r>
              <a:rPr lang="en-US" altLang="zh-CN" sz="2400" b="0" i="0" u="none" strike="noStrike" baseline="0" dirty="0">
                <a:latin typeface="NimbusRomNo9L-Medi"/>
              </a:rPr>
              <a:t>verall self-supervised TTA objective function is a combination of both the rank and GC loss</a:t>
            </a:r>
            <a:r>
              <a:rPr lang="zh-CN" altLang="en-US" sz="2400" b="0" i="0" u="none" strike="noStrike" baseline="0" dirty="0">
                <a:latin typeface="NimbusRomNo9L-Medi"/>
              </a:rPr>
              <a:t>：</a:t>
            </a:r>
            <a:endParaRPr lang="en-US" altLang="zh-CN" sz="2400" b="0" i="0" u="none" strike="noStrike" baseline="0" dirty="0">
              <a:latin typeface="NimbusRomNo9L-Medi"/>
            </a:endParaRPr>
          </a:p>
          <a:p>
            <a:pPr algn="l"/>
            <a:endParaRPr lang="en-US" altLang="zh-CN" sz="2400" dirty="0">
              <a:latin typeface="NimbusRomNo9L-Medi"/>
            </a:endParaRPr>
          </a:p>
          <a:p>
            <a:pPr algn="l"/>
            <a:endParaRPr lang="en-US" altLang="zh-CN" sz="2400" dirty="0">
              <a:latin typeface="NimbusRomNo9L-Medi"/>
            </a:endParaRPr>
          </a:p>
          <a:p>
            <a:pPr algn="l"/>
            <a:endParaRPr lang="en-US" altLang="zh-CN" sz="2400" dirty="0">
              <a:solidFill>
                <a:srgbClr val="000000"/>
              </a:solidFill>
              <a:latin typeface="NimbusRomNo9L-Regu"/>
            </a:endParaRPr>
          </a:p>
        </p:txBody>
      </p:sp>
      <p:pic>
        <p:nvPicPr>
          <p:cNvPr id="4" name="图片 3">
            <a:extLst>
              <a:ext uri="{FF2B5EF4-FFF2-40B4-BE49-F238E27FC236}">
                <a16:creationId xmlns:a16="http://schemas.microsoft.com/office/drawing/2014/main" id="{36E00DFE-D4CB-0309-07A3-14CF438A34A0}"/>
              </a:ext>
            </a:extLst>
          </p:cNvPr>
          <p:cNvPicPr>
            <a:picLocks noChangeAspect="1"/>
          </p:cNvPicPr>
          <p:nvPr/>
        </p:nvPicPr>
        <p:blipFill>
          <a:blip r:embed="rId3"/>
          <a:stretch>
            <a:fillRect/>
          </a:stretch>
        </p:blipFill>
        <p:spPr>
          <a:xfrm>
            <a:off x="4309533" y="3618341"/>
            <a:ext cx="2794000" cy="612472"/>
          </a:xfrm>
          <a:prstGeom prst="rect">
            <a:avLst/>
          </a:prstGeom>
        </p:spPr>
      </p:pic>
    </p:spTree>
    <p:extLst>
      <p:ext uri="{BB962C8B-B14F-4D97-AF65-F5344CB8AC3E}">
        <p14:creationId xmlns:p14="http://schemas.microsoft.com/office/powerpoint/2010/main" val="216615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DC45EE-76B8-55E8-D56F-F109B3CFB380}"/>
              </a:ext>
            </a:extLst>
          </p:cNvPr>
          <p:cNvSpPr>
            <a:spLocks noGrp="1"/>
          </p:cNvSpPr>
          <p:nvPr>
            <p:ph type="title"/>
          </p:nvPr>
        </p:nvSpPr>
        <p:spPr>
          <a:xfrm>
            <a:off x="296332" y="8574"/>
            <a:ext cx="10219267" cy="1325563"/>
          </a:xfrm>
        </p:spPr>
        <p:txBody>
          <a:bodyPr/>
          <a:lstStyle/>
          <a:p>
            <a:r>
              <a:rPr lang="en-US" altLang="zh-CN" dirty="0">
                <a:latin typeface="NimbusRomNo9L-Medi"/>
              </a:rPr>
              <a:t>Experiments</a:t>
            </a:r>
            <a:endParaRPr lang="zh-CN" altLang="en-US" dirty="0">
              <a:latin typeface="NimbusRomNo9L-Medi"/>
            </a:endParaRPr>
          </a:p>
        </p:txBody>
      </p:sp>
      <p:sp>
        <p:nvSpPr>
          <p:cNvPr id="10" name="内容占位符 2">
            <a:extLst>
              <a:ext uri="{FF2B5EF4-FFF2-40B4-BE49-F238E27FC236}">
                <a16:creationId xmlns:a16="http://schemas.microsoft.com/office/drawing/2014/main" id="{F9F7F1AA-CD48-321E-E19E-0A28721C9791}"/>
              </a:ext>
            </a:extLst>
          </p:cNvPr>
          <p:cNvSpPr>
            <a:spLocks noGrp="1"/>
          </p:cNvSpPr>
          <p:nvPr>
            <p:ph idx="1"/>
          </p:nvPr>
        </p:nvSpPr>
        <p:spPr>
          <a:xfrm>
            <a:off x="557049" y="1185333"/>
            <a:ext cx="10949152" cy="5596467"/>
          </a:xfrm>
        </p:spPr>
        <p:txBody>
          <a:bodyPr>
            <a:normAutofit fontScale="92500" lnSpcReduction="10000"/>
          </a:bodyPr>
          <a:lstStyle/>
          <a:p>
            <a:r>
              <a:rPr lang="en-US" altLang="zh-CN" dirty="0">
                <a:latin typeface="NimbusRomNo9L-Regu"/>
              </a:rPr>
              <a:t>Databases</a:t>
            </a:r>
          </a:p>
          <a:p>
            <a:endParaRPr lang="en-US" altLang="zh-CN" sz="3200" dirty="0">
              <a:latin typeface="NimbusRomNo9L-Regu"/>
            </a:endParaRPr>
          </a:p>
          <a:p>
            <a:endParaRPr lang="en-US" altLang="zh-CN" sz="3200" dirty="0">
              <a:latin typeface="NimbusRomNo9L-Regu"/>
            </a:endParaRPr>
          </a:p>
          <a:p>
            <a:endParaRPr lang="en-US" altLang="zh-CN" sz="3200" dirty="0">
              <a:latin typeface="NimbusRomNo9L-Regu"/>
            </a:endParaRPr>
          </a:p>
          <a:p>
            <a:endParaRPr lang="en-US" altLang="zh-CN" sz="3200" dirty="0">
              <a:latin typeface="NimbusRomNo9L-Regu"/>
            </a:endParaRPr>
          </a:p>
          <a:p>
            <a:pPr marL="0" indent="0">
              <a:buNone/>
            </a:pPr>
            <a:r>
              <a:rPr lang="en-US" altLang="zh-CN" sz="3200" dirty="0">
                <a:latin typeface="NimbusRomNo9L-Regu"/>
              </a:rPr>
              <a:t> </a:t>
            </a:r>
          </a:p>
          <a:p>
            <a:pPr marL="0" indent="0">
              <a:buNone/>
            </a:pPr>
            <a:endParaRPr lang="en-US" altLang="zh-CN" sz="3200" dirty="0">
              <a:latin typeface="NimbusRomNo9L-Regu"/>
            </a:endParaRPr>
          </a:p>
          <a:p>
            <a:pPr marL="0" indent="0">
              <a:buNone/>
            </a:pPr>
            <a:endParaRPr lang="en-US" altLang="zh-CN" sz="3200" dirty="0">
              <a:latin typeface="NimbusRomNo9L-Regu"/>
            </a:endParaRPr>
          </a:p>
          <a:p>
            <a:r>
              <a:rPr lang="en-US" altLang="zh-CN" dirty="0">
                <a:latin typeface="NimbusRomNo9L-Medi"/>
              </a:rPr>
              <a:t>Models</a:t>
            </a:r>
            <a:r>
              <a:rPr lang="zh-CN" altLang="en-US" dirty="0">
                <a:latin typeface="NimbusRomNo9L-Medi"/>
              </a:rPr>
              <a:t>：</a:t>
            </a:r>
            <a:r>
              <a:rPr lang="en-US" altLang="zh-CN" dirty="0" err="1">
                <a:latin typeface="NimbusRomNo9L-Medi"/>
              </a:rPr>
              <a:t>TReS</a:t>
            </a:r>
            <a:r>
              <a:rPr lang="en-US" altLang="zh-CN" dirty="0">
                <a:latin typeface="NimbusRomNo9L-Medi"/>
              </a:rPr>
              <a:t> , MUSIQ , </a:t>
            </a:r>
            <a:r>
              <a:rPr lang="en-US" altLang="zh-CN" dirty="0" err="1">
                <a:latin typeface="NimbusRomNo9L-Medi"/>
              </a:rPr>
              <a:t>HyperIQA</a:t>
            </a:r>
            <a:r>
              <a:rPr lang="en-US" altLang="zh-CN" dirty="0">
                <a:latin typeface="NimbusRomNo9L-Medi"/>
              </a:rPr>
              <a:t> , and </a:t>
            </a:r>
            <a:r>
              <a:rPr lang="en-US" altLang="zh-CN" dirty="0" err="1">
                <a:latin typeface="NimbusRomNo9L-Medi"/>
              </a:rPr>
              <a:t>MetaIQA</a:t>
            </a:r>
            <a:r>
              <a:rPr lang="en-US" altLang="zh-CN" dirty="0">
                <a:latin typeface="NimbusRomNo9L-Medi"/>
              </a:rPr>
              <a:t>.</a:t>
            </a:r>
          </a:p>
          <a:p>
            <a:endParaRPr lang="en-US" altLang="zh-CN" dirty="0">
              <a:latin typeface="NimbusRomNo9L-Medi"/>
            </a:endParaRPr>
          </a:p>
          <a:p>
            <a:r>
              <a:rPr lang="en-US" altLang="zh-CN" dirty="0">
                <a:latin typeface="NimbusRomNo9L-Medi"/>
              </a:rPr>
              <a:t>Evaluation Criteria:  PLCC &amp; SROCC</a:t>
            </a:r>
          </a:p>
        </p:txBody>
      </p:sp>
      <p:graphicFrame>
        <p:nvGraphicFramePr>
          <p:cNvPr id="3" name="表格 2">
            <a:extLst>
              <a:ext uri="{FF2B5EF4-FFF2-40B4-BE49-F238E27FC236}">
                <a16:creationId xmlns:a16="http://schemas.microsoft.com/office/drawing/2014/main" id="{5FB11F03-2E88-7E0C-ACA2-710F852DCC3F}"/>
              </a:ext>
            </a:extLst>
          </p:cNvPr>
          <p:cNvGraphicFramePr>
            <a:graphicFrameLocks noGrp="1"/>
          </p:cNvGraphicFramePr>
          <p:nvPr/>
        </p:nvGraphicFramePr>
        <p:xfrm>
          <a:off x="1708514" y="1695027"/>
          <a:ext cx="8443019" cy="3129280"/>
        </p:xfrm>
        <a:graphic>
          <a:graphicData uri="http://schemas.openxmlformats.org/drawingml/2006/table">
            <a:tbl>
              <a:tblPr firstRow="1" bandRow="1">
                <a:tableStyleId>{5C22544A-7EE6-4342-B048-85BDC9FD1C3A}</a:tableStyleId>
              </a:tblPr>
              <a:tblGrid>
                <a:gridCol w="4842935">
                  <a:extLst>
                    <a:ext uri="{9D8B030D-6E8A-4147-A177-3AD203B41FA5}">
                      <a16:colId xmlns:a16="http://schemas.microsoft.com/office/drawing/2014/main" val="4063198166"/>
                    </a:ext>
                  </a:extLst>
                </a:gridCol>
                <a:gridCol w="1752600">
                  <a:extLst>
                    <a:ext uri="{9D8B030D-6E8A-4147-A177-3AD203B41FA5}">
                      <a16:colId xmlns:a16="http://schemas.microsoft.com/office/drawing/2014/main" val="771500813"/>
                    </a:ext>
                  </a:extLst>
                </a:gridCol>
                <a:gridCol w="1847484">
                  <a:extLst>
                    <a:ext uri="{9D8B030D-6E8A-4147-A177-3AD203B41FA5}">
                      <a16:colId xmlns:a16="http://schemas.microsoft.com/office/drawing/2014/main" val="482312072"/>
                    </a:ext>
                  </a:extLst>
                </a:gridCol>
              </a:tblGrid>
              <a:tr h="370840">
                <a:tc>
                  <a:txBody>
                    <a:bodyPr/>
                    <a:lstStyle/>
                    <a:p>
                      <a:pPr algn="ctr"/>
                      <a:r>
                        <a:rPr lang="en-US" altLang="zh-CN" dirty="0"/>
                        <a:t>Databases</a:t>
                      </a:r>
                      <a:endParaRPr lang="zh-CN" altLang="en-US" dirty="0"/>
                    </a:p>
                  </a:txBody>
                  <a:tcPr/>
                </a:tc>
                <a:tc>
                  <a:txBody>
                    <a:bodyPr/>
                    <a:lstStyle/>
                    <a:p>
                      <a:pPr algn="ctr"/>
                      <a:r>
                        <a:rPr lang="en-US" altLang="zh-CN" dirty="0"/>
                        <a:t>Type</a:t>
                      </a:r>
                      <a:endParaRPr lang="zh-CN" altLang="en-US" dirty="0"/>
                    </a:p>
                  </a:txBody>
                  <a:tcPr/>
                </a:tc>
                <a:tc>
                  <a:txBody>
                    <a:bodyPr/>
                    <a:lstStyle/>
                    <a:p>
                      <a:pPr algn="ctr"/>
                      <a:r>
                        <a:rPr lang="en-US" altLang="zh-CN" dirty="0"/>
                        <a:t>Quantity</a:t>
                      </a:r>
                      <a:endParaRPr lang="zh-CN" altLang="en-US" dirty="0"/>
                    </a:p>
                  </a:txBody>
                  <a:tcPr/>
                </a:tc>
                <a:extLst>
                  <a:ext uri="{0D108BD9-81ED-4DB2-BD59-A6C34878D82A}">
                    <a16:rowId xmlns:a16="http://schemas.microsoft.com/office/drawing/2014/main" val="1948117585"/>
                  </a:ext>
                </a:extLst>
              </a:tr>
              <a:tr h="370840">
                <a:tc>
                  <a:txBody>
                    <a:bodyPr/>
                    <a:lstStyle/>
                    <a:p>
                      <a:pPr algn="ctr"/>
                      <a:r>
                        <a:rPr lang="en-US" altLang="zh-CN" sz="1800" b="0" i="0" u="none" strike="noStrike" kern="1200" baseline="0" dirty="0">
                          <a:solidFill>
                            <a:schemeClr val="dk1"/>
                          </a:solidFill>
                          <a:latin typeface="+mn-lt"/>
                          <a:ea typeface="+mn-ea"/>
                          <a:cs typeface="+mn-cs"/>
                        </a:rPr>
                        <a:t>LIVEFB</a:t>
                      </a:r>
                    </a:p>
                    <a:p>
                      <a:pPr algn="ctr"/>
                      <a:r>
                        <a:rPr lang="en-US" altLang="zh-CN" sz="1800" b="0" i="0" u="none" strike="noStrike" kern="1200" baseline="0" dirty="0">
                          <a:solidFill>
                            <a:schemeClr val="dk1"/>
                          </a:solidFill>
                          <a:latin typeface="+mn-lt"/>
                          <a:ea typeface="+mn-ea"/>
                          <a:cs typeface="+mn-cs"/>
                        </a:rPr>
                        <a:t>(</a:t>
                      </a:r>
                      <a:r>
                        <a:rPr lang="en-US" altLang="zh-CN" dirty="0" err="1">
                          <a:latin typeface="NimbusRomNo9L-Medi"/>
                        </a:rPr>
                        <a:t>TReS</a:t>
                      </a:r>
                      <a:r>
                        <a:rPr lang="en-US" altLang="zh-CN" dirty="0">
                          <a:latin typeface="NimbusRomNo9L-Medi"/>
                        </a:rPr>
                        <a:t> , MUSIQ , </a:t>
                      </a:r>
                      <a:r>
                        <a:rPr lang="en-US" altLang="zh-CN" dirty="0" err="1">
                          <a:latin typeface="NimbusRomNo9L-Medi"/>
                        </a:rPr>
                        <a:t>HyperIQA</a:t>
                      </a:r>
                      <a:r>
                        <a:rPr lang="en-US" altLang="zh-CN" dirty="0">
                          <a:latin typeface="NimbusRomNo9L-Medi"/>
                        </a:rPr>
                        <a:t> </a:t>
                      </a:r>
                      <a:r>
                        <a:rPr lang="en-US" altLang="zh-CN" sz="1800" b="0" i="0" u="none" strike="noStrike" kern="1200" baseline="0" dirty="0">
                          <a:solidFill>
                            <a:schemeClr val="dk1"/>
                          </a:solidFill>
                          <a:latin typeface="+mn-lt"/>
                          <a:ea typeface="+mn-ea"/>
                          <a:cs typeface="+mn-cs"/>
                        </a:rPr>
                        <a:t>)</a:t>
                      </a:r>
                      <a:endParaRPr lang="zh-CN" altLang="en-US" dirty="0"/>
                    </a:p>
                  </a:txBody>
                  <a:tcPr/>
                </a:tc>
                <a:tc rowSpan="2">
                  <a:txBody>
                    <a:bodyPr/>
                    <a:lstStyle/>
                    <a:p>
                      <a:pPr algn="ctr"/>
                      <a:r>
                        <a:rPr lang="en-US" altLang="zh-CN" sz="1800" b="0" i="0" u="none" strike="noStrike" kern="1200" baseline="0" dirty="0">
                          <a:solidFill>
                            <a:schemeClr val="dk1"/>
                          </a:solidFill>
                          <a:latin typeface="+mn-lt"/>
                          <a:ea typeface="+mn-ea"/>
                          <a:cs typeface="+mn-cs"/>
                        </a:rPr>
                        <a:t>Pre-train</a:t>
                      </a:r>
                      <a:endParaRPr lang="zh-CN" altLang="en-US" dirty="0"/>
                    </a:p>
                  </a:txBody>
                  <a:tcPr anchor="ctr"/>
                </a:tc>
                <a:tc>
                  <a:txBody>
                    <a:bodyPr/>
                    <a:lstStyle/>
                    <a:p>
                      <a:pPr algn="ctr"/>
                      <a:r>
                        <a:rPr lang="en-US" altLang="zh-CN" dirty="0"/>
                        <a:t>1162</a:t>
                      </a:r>
                      <a:endParaRPr lang="zh-CN" altLang="en-US" dirty="0"/>
                    </a:p>
                  </a:txBody>
                  <a:tcPr/>
                </a:tc>
                <a:extLst>
                  <a:ext uri="{0D108BD9-81ED-4DB2-BD59-A6C34878D82A}">
                    <a16:rowId xmlns:a16="http://schemas.microsoft.com/office/drawing/2014/main" val="15911096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TID2013 &amp; KADID-10k</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a:t>
                      </a:r>
                      <a:r>
                        <a:rPr lang="en-US" altLang="zh-CN" dirty="0" err="1">
                          <a:latin typeface="NimbusRomNo9L-Medi"/>
                        </a:rPr>
                        <a:t>MetaIQA</a:t>
                      </a:r>
                      <a:r>
                        <a:rPr lang="en-US" altLang="zh-CN" dirty="0"/>
                        <a:t>)</a:t>
                      </a:r>
                      <a:endParaRPr lang="zh-CN" altLang="en-US" dirty="0"/>
                    </a:p>
                  </a:txBody>
                  <a:tcPr/>
                </a:tc>
                <a:tc vMerge="1">
                  <a:txBody>
                    <a:bodyPr/>
                    <a:lstStyle/>
                    <a:p>
                      <a:endParaRPr lang="zh-CN" altLang="en-US"/>
                    </a:p>
                  </a:txBody>
                  <a:tcPr/>
                </a:tc>
                <a:tc>
                  <a:txBody>
                    <a:bodyPr/>
                    <a:lstStyle/>
                    <a:p>
                      <a:pPr algn="ctr"/>
                      <a:r>
                        <a:rPr lang="en-US" altLang="zh-CN" dirty="0"/>
                        <a:t>10073</a:t>
                      </a:r>
                      <a:endParaRPr lang="zh-CN" altLang="en-US" dirty="0"/>
                    </a:p>
                  </a:txBody>
                  <a:tcPr/>
                </a:tc>
                <a:extLst>
                  <a:ext uri="{0D108BD9-81ED-4DB2-BD59-A6C34878D82A}">
                    <a16:rowId xmlns:a16="http://schemas.microsoft.com/office/drawing/2014/main" val="1856615775"/>
                  </a:ext>
                </a:extLst>
              </a:tr>
              <a:tr h="370840">
                <a:tc>
                  <a:txBody>
                    <a:bodyPr/>
                    <a:lstStyle/>
                    <a:p>
                      <a:pPr algn="ctr"/>
                      <a:r>
                        <a:rPr lang="en-US" altLang="zh-CN" sz="1800" b="0" i="0" u="none" strike="noStrike" kern="1200" baseline="0" dirty="0">
                          <a:solidFill>
                            <a:schemeClr val="dk1"/>
                          </a:solidFill>
                          <a:latin typeface="+mn-lt"/>
                          <a:ea typeface="+mn-ea"/>
                          <a:cs typeface="+mn-cs"/>
                        </a:rPr>
                        <a:t>LIVE-IQA</a:t>
                      </a:r>
                      <a:endParaRPr lang="zh-CN" altLang="en-US" dirty="0"/>
                    </a:p>
                  </a:txBody>
                  <a:tcPr/>
                </a:tc>
                <a:tc rowSpan="4">
                  <a:txBody>
                    <a:bodyPr/>
                    <a:lstStyle/>
                    <a:p>
                      <a:pPr algn="ctr"/>
                      <a:r>
                        <a:rPr lang="en-US" altLang="zh-CN" dirty="0"/>
                        <a:t>TTA-test</a:t>
                      </a:r>
                      <a:endParaRPr lang="zh-CN" altLang="en-US" dirty="0"/>
                    </a:p>
                  </a:txBody>
                  <a:tcPr anchor="ctr"/>
                </a:tc>
                <a:tc>
                  <a:txBody>
                    <a:bodyPr/>
                    <a:lstStyle/>
                    <a:p>
                      <a:pPr algn="ctr"/>
                      <a:r>
                        <a:rPr lang="en-US" altLang="zh-CN" dirty="0"/>
                        <a:t>779</a:t>
                      </a:r>
                      <a:endParaRPr lang="zh-CN" altLang="en-US" dirty="0"/>
                    </a:p>
                  </a:txBody>
                  <a:tcPr/>
                </a:tc>
                <a:extLst>
                  <a:ext uri="{0D108BD9-81ED-4DB2-BD59-A6C34878D82A}">
                    <a16:rowId xmlns:a16="http://schemas.microsoft.com/office/drawing/2014/main" val="1482879003"/>
                  </a:ext>
                </a:extLst>
              </a:tr>
              <a:tr h="370840">
                <a:tc>
                  <a:txBody>
                    <a:bodyPr/>
                    <a:lstStyle/>
                    <a:p>
                      <a:pPr algn="ctr"/>
                      <a:r>
                        <a:rPr lang="en-US" altLang="zh-CN" sz="1800" b="0" i="0" u="none" strike="noStrike" kern="1200" baseline="0" dirty="0">
                          <a:solidFill>
                            <a:schemeClr val="dk1"/>
                          </a:solidFill>
                          <a:latin typeface="+mn-lt"/>
                          <a:ea typeface="+mn-ea"/>
                          <a:cs typeface="+mn-cs"/>
                        </a:rPr>
                        <a:t>CID2013</a:t>
                      </a:r>
                      <a:endParaRPr lang="zh-CN" altLang="en-US" dirty="0"/>
                    </a:p>
                  </a:txBody>
                  <a:tcPr/>
                </a:tc>
                <a:tc vMerge="1">
                  <a:txBody>
                    <a:bodyPr/>
                    <a:lstStyle/>
                    <a:p>
                      <a:endParaRPr lang="zh-CN" altLang="en-US" dirty="0"/>
                    </a:p>
                  </a:txBody>
                  <a:tcPr/>
                </a:tc>
                <a:tc>
                  <a:txBody>
                    <a:bodyPr/>
                    <a:lstStyle/>
                    <a:p>
                      <a:pPr algn="ctr"/>
                      <a:r>
                        <a:rPr lang="en-US" altLang="zh-CN" dirty="0"/>
                        <a:t>866</a:t>
                      </a:r>
                      <a:endParaRPr lang="zh-CN" altLang="en-US" dirty="0"/>
                    </a:p>
                  </a:txBody>
                  <a:tcPr/>
                </a:tc>
                <a:extLst>
                  <a:ext uri="{0D108BD9-81ED-4DB2-BD59-A6C34878D82A}">
                    <a16:rowId xmlns:a16="http://schemas.microsoft.com/office/drawing/2014/main" val="1561383030"/>
                  </a:ext>
                </a:extLst>
              </a:tr>
              <a:tr h="273269">
                <a:tc>
                  <a:txBody>
                    <a:bodyPr/>
                    <a:lstStyle/>
                    <a:p>
                      <a:pPr algn="ctr"/>
                      <a:r>
                        <a:rPr lang="en-US" altLang="zh-CN" sz="1800" b="0" i="0" u="none" strike="noStrike" kern="1200" baseline="0" dirty="0">
                          <a:solidFill>
                            <a:schemeClr val="dk1"/>
                          </a:solidFill>
                          <a:latin typeface="+mn-lt"/>
                          <a:ea typeface="+mn-ea"/>
                          <a:cs typeface="+mn-cs"/>
                        </a:rPr>
                        <a:t>PIPAL</a:t>
                      </a:r>
                      <a:endParaRPr lang="zh-CN" altLang="en-US" dirty="0"/>
                    </a:p>
                  </a:txBody>
                  <a:tcPr/>
                </a:tc>
                <a:tc vMerge="1">
                  <a:txBody>
                    <a:bodyPr/>
                    <a:lstStyle/>
                    <a:p>
                      <a:pPr algn="ctr"/>
                      <a:endParaRPr lang="zh-CN" altLang="en-US" dirty="0"/>
                    </a:p>
                  </a:txBody>
                  <a:tcPr anchor="ctr"/>
                </a:tc>
                <a:tc>
                  <a:txBody>
                    <a:bodyPr/>
                    <a:lstStyle/>
                    <a:p>
                      <a:pPr algn="ctr"/>
                      <a:endParaRPr lang="zh-CN" altLang="en-US" dirty="0"/>
                    </a:p>
                  </a:txBody>
                  <a:tcPr/>
                </a:tc>
                <a:extLst>
                  <a:ext uri="{0D108BD9-81ED-4DB2-BD59-A6C34878D82A}">
                    <a16:rowId xmlns:a16="http://schemas.microsoft.com/office/drawing/2014/main" val="310643534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0" i="0" u="none" strike="noStrike" kern="1200" baseline="0" dirty="0">
                          <a:solidFill>
                            <a:schemeClr val="dk1"/>
                          </a:solidFill>
                          <a:latin typeface="+mn-lt"/>
                          <a:ea typeface="+mn-ea"/>
                          <a:cs typeface="+mn-cs"/>
                        </a:rPr>
                        <a:t>KonIQ-10k</a:t>
                      </a:r>
                      <a:endParaRPr lang="zh-CN" altLang="en-US" dirty="0"/>
                    </a:p>
                  </a:txBody>
                  <a:tcPr/>
                </a:tc>
                <a:tc vMerge="1">
                  <a:txBody>
                    <a:bodyPr/>
                    <a:lstStyle/>
                    <a:p>
                      <a:pPr algn="ctr"/>
                      <a:endParaRPr lang="zh-CN" altLang="en-US" dirty="0"/>
                    </a:p>
                  </a:txBody>
                  <a:tcPr anchor="ctr"/>
                </a:tc>
                <a:tc>
                  <a:txBody>
                    <a:bodyPr/>
                    <a:lstStyle/>
                    <a:p>
                      <a:pPr algn="ctr"/>
                      <a:endParaRPr lang="zh-CN" altLang="en-US" dirty="0"/>
                    </a:p>
                  </a:txBody>
                  <a:tcPr/>
                </a:tc>
                <a:extLst>
                  <a:ext uri="{0D108BD9-81ED-4DB2-BD59-A6C34878D82A}">
                    <a16:rowId xmlns:a16="http://schemas.microsoft.com/office/drawing/2014/main" val="749045137"/>
                  </a:ext>
                </a:extLst>
              </a:tr>
            </a:tbl>
          </a:graphicData>
        </a:graphic>
      </p:graphicFrame>
    </p:spTree>
    <p:extLst>
      <p:ext uri="{BB962C8B-B14F-4D97-AF65-F5344CB8AC3E}">
        <p14:creationId xmlns:p14="http://schemas.microsoft.com/office/powerpoint/2010/main" val="21254109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DC45EE-76B8-55E8-D56F-F109B3CFB380}"/>
              </a:ext>
            </a:extLst>
          </p:cNvPr>
          <p:cNvSpPr>
            <a:spLocks noGrp="1"/>
          </p:cNvSpPr>
          <p:nvPr>
            <p:ph type="title"/>
          </p:nvPr>
        </p:nvSpPr>
        <p:spPr>
          <a:xfrm>
            <a:off x="296332" y="8574"/>
            <a:ext cx="10219267" cy="1325563"/>
          </a:xfrm>
        </p:spPr>
        <p:txBody>
          <a:bodyPr/>
          <a:lstStyle/>
          <a:p>
            <a:r>
              <a:rPr lang="en-US" altLang="zh-CN" dirty="0">
                <a:latin typeface="NimbusRomNo9L-Medi"/>
              </a:rPr>
              <a:t>Experiments</a:t>
            </a:r>
            <a:endParaRPr lang="zh-CN" altLang="en-US" dirty="0">
              <a:latin typeface="NimbusRomNo9L-Medi"/>
            </a:endParaRPr>
          </a:p>
        </p:txBody>
      </p:sp>
      <p:sp>
        <p:nvSpPr>
          <p:cNvPr id="10" name="内容占位符 2">
            <a:extLst>
              <a:ext uri="{FF2B5EF4-FFF2-40B4-BE49-F238E27FC236}">
                <a16:creationId xmlns:a16="http://schemas.microsoft.com/office/drawing/2014/main" id="{F9F7F1AA-CD48-321E-E19E-0A28721C9791}"/>
              </a:ext>
            </a:extLst>
          </p:cNvPr>
          <p:cNvSpPr>
            <a:spLocks noGrp="1"/>
          </p:cNvSpPr>
          <p:nvPr>
            <p:ph idx="1"/>
          </p:nvPr>
        </p:nvSpPr>
        <p:spPr>
          <a:xfrm>
            <a:off x="557049" y="1473200"/>
            <a:ext cx="10949152" cy="5308600"/>
          </a:xfrm>
        </p:spPr>
        <p:txBody>
          <a:bodyPr>
            <a:normAutofit/>
          </a:bodyPr>
          <a:lstStyle/>
          <a:p>
            <a:r>
              <a:rPr lang="en-US" altLang="zh-CN" dirty="0">
                <a:latin typeface="NimbusRomNo9L-Regu"/>
              </a:rPr>
              <a:t>Details</a:t>
            </a:r>
          </a:p>
          <a:p>
            <a:endParaRPr lang="en-US" altLang="zh-CN" sz="3200" dirty="0">
              <a:latin typeface="NimbusRomNo9L-Regu"/>
            </a:endParaRPr>
          </a:p>
          <a:p>
            <a:endParaRPr lang="en-US" altLang="zh-CN" sz="3200" dirty="0">
              <a:latin typeface="NimbusRomNo9L-Regu"/>
            </a:endParaRPr>
          </a:p>
          <a:p>
            <a:endParaRPr lang="en-US" altLang="zh-CN" sz="3200" dirty="0">
              <a:latin typeface="NimbusRomNo9L-Regu"/>
            </a:endParaRPr>
          </a:p>
          <a:p>
            <a:endParaRPr lang="en-US" altLang="zh-CN" sz="3200" dirty="0">
              <a:latin typeface="NimbusRomNo9L-Regu"/>
            </a:endParaRPr>
          </a:p>
          <a:p>
            <a:pPr marL="0" indent="0">
              <a:buNone/>
            </a:pPr>
            <a:r>
              <a:rPr lang="en-US" altLang="zh-CN" sz="3200" dirty="0">
                <a:latin typeface="NimbusRomNo9L-Regu"/>
              </a:rPr>
              <a:t> </a:t>
            </a:r>
          </a:p>
          <a:p>
            <a:pPr marL="0" indent="0">
              <a:buNone/>
            </a:pPr>
            <a:endParaRPr lang="en-US" altLang="zh-CN" sz="3200" dirty="0">
              <a:latin typeface="NimbusRomNo9L-Regu"/>
            </a:endParaRPr>
          </a:p>
          <a:p>
            <a:pPr marL="0" indent="0">
              <a:buNone/>
            </a:pPr>
            <a:endParaRPr lang="en-US" altLang="zh-CN" sz="3200" dirty="0">
              <a:latin typeface="NimbusRomNo9L-Regu"/>
            </a:endParaRPr>
          </a:p>
        </p:txBody>
      </p:sp>
      <p:graphicFrame>
        <p:nvGraphicFramePr>
          <p:cNvPr id="3" name="表格 2">
            <a:extLst>
              <a:ext uri="{FF2B5EF4-FFF2-40B4-BE49-F238E27FC236}">
                <a16:creationId xmlns:a16="http://schemas.microsoft.com/office/drawing/2014/main" id="{5FB11F03-2E88-7E0C-ACA2-710F852DCC3F}"/>
              </a:ext>
            </a:extLst>
          </p:cNvPr>
          <p:cNvGraphicFramePr>
            <a:graphicFrameLocks noGrp="1"/>
          </p:cNvGraphicFramePr>
          <p:nvPr>
            <p:extLst>
              <p:ext uri="{D42A27DB-BD31-4B8C-83A1-F6EECF244321}">
                <p14:modId xmlns:p14="http://schemas.microsoft.com/office/powerpoint/2010/main" val="3036272323"/>
              </p:ext>
            </p:extLst>
          </p:nvPr>
        </p:nvGraphicFramePr>
        <p:xfrm>
          <a:off x="2805823" y="2429510"/>
          <a:ext cx="6947778" cy="2955290"/>
        </p:xfrm>
        <a:graphic>
          <a:graphicData uri="http://schemas.openxmlformats.org/drawingml/2006/table">
            <a:tbl>
              <a:tblPr firstRow="1" bandRow="1">
                <a:tableStyleId>{5C22544A-7EE6-4342-B048-85BDC9FD1C3A}</a:tableStyleId>
              </a:tblPr>
              <a:tblGrid>
                <a:gridCol w="3473889">
                  <a:extLst>
                    <a:ext uri="{9D8B030D-6E8A-4147-A177-3AD203B41FA5}">
                      <a16:colId xmlns:a16="http://schemas.microsoft.com/office/drawing/2014/main" val="4063198166"/>
                    </a:ext>
                  </a:extLst>
                </a:gridCol>
                <a:gridCol w="3473889">
                  <a:extLst>
                    <a:ext uri="{9D8B030D-6E8A-4147-A177-3AD203B41FA5}">
                      <a16:colId xmlns:a16="http://schemas.microsoft.com/office/drawing/2014/main" val="708042918"/>
                    </a:ext>
                  </a:extLst>
                </a:gridCol>
              </a:tblGrid>
              <a:tr h="370840">
                <a:tc>
                  <a:txBody>
                    <a:bodyPr/>
                    <a:lstStyle/>
                    <a:p>
                      <a:pPr algn="ctr"/>
                      <a:r>
                        <a:rPr lang="en-US" altLang="zh-CN" dirty="0"/>
                        <a:t>hyper-parameters</a:t>
                      </a:r>
                      <a:endParaRPr lang="zh-CN" altLang="en-US" dirty="0"/>
                    </a:p>
                  </a:txBody>
                  <a:tcPr/>
                </a:tc>
                <a:tc>
                  <a:txBody>
                    <a:bodyPr/>
                    <a:lstStyle/>
                    <a:p>
                      <a:pPr algn="ctr"/>
                      <a:r>
                        <a:rPr lang="en-US" altLang="zh-CN" dirty="0"/>
                        <a:t>values</a:t>
                      </a:r>
                      <a:endParaRPr lang="zh-CN" altLang="en-US" dirty="0"/>
                    </a:p>
                  </a:txBody>
                  <a:tcPr/>
                </a:tc>
                <a:extLst>
                  <a:ext uri="{0D108BD9-81ED-4DB2-BD59-A6C34878D82A}">
                    <a16:rowId xmlns:a16="http://schemas.microsoft.com/office/drawing/2014/main" val="1948117585"/>
                  </a:ext>
                </a:extLst>
              </a:tr>
              <a:tr h="370840">
                <a:tc>
                  <a:txBody>
                    <a:bodyPr/>
                    <a:lstStyle/>
                    <a:p>
                      <a:pPr algn="ctr"/>
                      <a:r>
                        <a:rPr lang="en-US" altLang="zh-CN" dirty="0"/>
                        <a:t>lambda</a:t>
                      </a:r>
                      <a:endParaRPr lang="zh-CN" altLang="en-US" dirty="0"/>
                    </a:p>
                  </a:txBody>
                  <a:tcPr/>
                </a:tc>
                <a:tc>
                  <a:txBody>
                    <a:bodyPr/>
                    <a:lstStyle/>
                    <a:p>
                      <a:pPr algn="ctr"/>
                      <a:r>
                        <a:rPr lang="en-US" altLang="zh-CN" dirty="0"/>
                        <a:t>1</a:t>
                      </a:r>
                      <a:endParaRPr lang="zh-CN" altLang="en-US" dirty="0"/>
                    </a:p>
                  </a:txBody>
                  <a:tcPr/>
                </a:tc>
                <a:extLst>
                  <a:ext uri="{0D108BD9-81ED-4DB2-BD59-A6C34878D82A}">
                    <a16:rowId xmlns:a16="http://schemas.microsoft.com/office/drawing/2014/main" val="159110965"/>
                  </a:ext>
                </a:extLst>
              </a:tr>
              <a:tr h="370840">
                <a:tc>
                  <a:txBody>
                    <a:bodyPr/>
                    <a:lstStyle/>
                    <a:p>
                      <a:pPr algn="ctr"/>
                      <a:r>
                        <a:rPr lang="en-US" altLang="zh-CN" dirty="0"/>
                        <a:t>tau</a:t>
                      </a:r>
                      <a:endParaRPr lang="zh-CN" altLang="en-US" dirty="0"/>
                    </a:p>
                  </a:txBody>
                  <a:tcPr/>
                </a:tc>
                <a:tc>
                  <a:txBody>
                    <a:bodyPr/>
                    <a:lstStyle/>
                    <a:p>
                      <a:pPr algn="ctr"/>
                      <a:r>
                        <a:rPr lang="en-US" altLang="zh-CN" dirty="0"/>
                        <a:t>1</a:t>
                      </a:r>
                      <a:endParaRPr lang="zh-CN" altLang="en-US" dirty="0"/>
                    </a:p>
                  </a:txBody>
                  <a:tcPr/>
                </a:tc>
                <a:extLst>
                  <a:ext uri="{0D108BD9-81ED-4DB2-BD59-A6C34878D82A}">
                    <a16:rowId xmlns:a16="http://schemas.microsoft.com/office/drawing/2014/main" val="1506037753"/>
                  </a:ext>
                </a:extLst>
              </a:tr>
              <a:tr h="369570">
                <a:tc>
                  <a:txBody>
                    <a:bodyPr/>
                    <a:lstStyle/>
                    <a:p>
                      <a:pPr algn="ctr"/>
                      <a:r>
                        <a:rPr lang="en-US" altLang="zh-CN" sz="1800" b="0" i="0" u="none" strike="noStrike" kern="1200" baseline="0" dirty="0">
                          <a:solidFill>
                            <a:schemeClr val="dk1"/>
                          </a:solidFill>
                          <a:latin typeface="+mn-lt"/>
                          <a:ea typeface="+mn-ea"/>
                          <a:cs typeface="+mn-cs"/>
                        </a:rPr>
                        <a:t>p</a:t>
                      </a:r>
                      <a:endParaRPr lang="zh-CN" altLang="en-US" dirty="0"/>
                    </a:p>
                  </a:txBody>
                  <a:tcPr/>
                </a:tc>
                <a:tc>
                  <a:txBody>
                    <a:bodyPr/>
                    <a:lstStyle/>
                    <a:p>
                      <a:pPr algn="ctr"/>
                      <a:r>
                        <a:rPr lang="en-US" altLang="zh-CN" dirty="0"/>
                        <a:t>0.25</a:t>
                      </a:r>
                      <a:endParaRPr lang="zh-CN" altLang="en-US" dirty="0"/>
                    </a:p>
                  </a:txBody>
                  <a:tcPr/>
                </a:tc>
                <a:extLst>
                  <a:ext uri="{0D108BD9-81ED-4DB2-BD59-A6C34878D82A}">
                    <a16:rowId xmlns:a16="http://schemas.microsoft.com/office/drawing/2014/main" val="1482879003"/>
                  </a:ext>
                </a:extLst>
              </a:tr>
              <a:tr h="368300">
                <a:tc>
                  <a:txBody>
                    <a:bodyPr/>
                    <a:lstStyle/>
                    <a:p>
                      <a:pPr algn="ctr"/>
                      <a:r>
                        <a:rPr lang="en-US" altLang="zh-CN" sz="1800" b="0" i="0" u="none" strike="noStrike" kern="1200" baseline="0" dirty="0">
                          <a:solidFill>
                            <a:schemeClr val="dk1"/>
                          </a:solidFill>
                          <a:latin typeface="+mn-lt"/>
                          <a:ea typeface="+mn-ea"/>
                          <a:cs typeface="+mn-cs"/>
                        </a:rPr>
                        <a:t>patch</a:t>
                      </a:r>
                      <a:endParaRPr lang="zh-CN" altLang="en-US" dirty="0"/>
                    </a:p>
                  </a:txBody>
                  <a:tcPr/>
                </a:tc>
                <a:tc>
                  <a:txBody>
                    <a:bodyPr/>
                    <a:lstStyle/>
                    <a:p>
                      <a:pPr algn="ctr"/>
                      <a:r>
                        <a:rPr lang="en-US" altLang="zh-CN" dirty="0"/>
                        <a:t>224×224</a:t>
                      </a:r>
                      <a:endParaRPr lang="zh-CN" altLang="en-US" dirty="0"/>
                    </a:p>
                  </a:txBody>
                  <a:tcPr/>
                </a:tc>
                <a:extLst>
                  <a:ext uri="{0D108BD9-81ED-4DB2-BD59-A6C34878D82A}">
                    <a16:rowId xmlns:a16="http://schemas.microsoft.com/office/drawing/2014/main" val="1561383030"/>
                  </a:ext>
                </a:extLst>
              </a:tr>
              <a:tr h="273269">
                <a:tc>
                  <a:txBody>
                    <a:bodyPr/>
                    <a:lstStyle/>
                    <a:p>
                      <a:pPr algn="ctr"/>
                      <a:r>
                        <a:rPr lang="en-US" altLang="zh-CN" sz="1800" b="0" i="0" u="none" strike="noStrike" kern="1200" baseline="0" dirty="0">
                          <a:solidFill>
                            <a:schemeClr val="dk1"/>
                          </a:solidFill>
                          <a:latin typeface="+mn-lt"/>
                          <a:ea typeface="+mn-ea"/>
                          <a:cs typeface="+mn-cs"/>
                        </a:rPr>
                        <a:t>Learning rate</a:t>
                      </a:r>
                      <a:endParaRPr lang="zh-CN" altLang="en-US" dirty="0"/>
                    </a:p>
                  </a:txBody>
                  <a:tcPr/>
                </a:tc>
                <a:tc>
                  <a:txBody>
                    <a:bodyPr/>
                    <a:lstStyle/>
                    <a:p>
                      <a:pPr algn="ctr"/>
                      <a:r>
                        <a:rPr lang="en-US" altLang="zh-CN" dirty="0"/>
                        <a:t>0.001</a:t>
                      </a:r>
                      <a:endParaRPr lang="zh-CN" altLang="en-US" dirty="0"/>
                    </a:p>
                  </a:txBody>
                  <a:tcPr/>
                </a:tc>
                <a:extLst>
                  <a:ext uri="{0D108BD9-81ED-4DB2-BD59-A6C34878D82A}">
                    <a16:rowId xmlns:a16="http://schemas.microsoft.com/office/drawing/2014/main" val="3106435346"/>
                  </a:ext>
                </a:extLst>
              </a:tr>
              <a:tr h="36957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0" i="0" u="none" strike="noStrike" kern="1200" baseline="0" dirty="0">
                          <a:solidFill>
                            <a:schemeClr val="dk1"/>
                          </a:solidFill>
                          <a:latin typeface="+mn-lt"/>
                          <a:ea typeface="+mn-ea"/>
                          <a:cs typeface="+mn-cs"/>
                        </a:rPr>
                        <a:t>epochs</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3</a:t>
                      </a:r>
                      <a:endParaRPr lang="zh-CN" altLang="en-US" dirty="0"/>
                    </a:p>
                  </a:txBody>
                  <a:tcPr/>
                </a:tc>
                <a:extLst>
                  <a:ext uri="{0D108BD9-81ED-4DB2-BD59-A6C34878D82A}">
                    <a16:rowId xmlns:a16="http://schemas.microsoft.com/office/drawing/2014/main" val="749045137"/>
                  </a:ext>
                </a:extLst>
              </a:tr>
              <a:tr h="36957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Batch size</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8</a:t>
                      </a:r>
                      <a:endParaRPr lang="zh-CN" altLang="en-US" dirty="0"/>
                    </a:p>
                  </a:txBody>
                  <a:tcPr/>
                </a:tc>
                <a:extLst>
                  <a:ext uri="{0D108BD9-81ED-4DB2-BD59-A6C34878D82A}">
                    <a16:rowId xmlns:a16="http://schemas.microsoft.com/office/drawing/2014/main" val="1445579164"/>
                  </a:ext>
                </a:extLst>
              </a:tr>
            </a:tbl>
          </a:graphicData>
        </a:graphic>
      </p:graphicFrame>
    </p:spTree>
    <p:extLst>
      <p:ext uri="{BB962C8B-B14F-4D97-AF65-F5344CB8AC3E}">
        <p14:creationId xmlns:p14="http://schemas.microsoft.com/office/powerpoint/2010/main" val="3952880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DC45EE-76B8-55E8-D56F-F109B3CFB380}"/>
              </a:ext>
            </a:extLst>
          </p:cNvPr>
          <p:cNvSpPr>
            <a:spLocks noGrp="1"/>
          </p:cNvSpPr>
          <p:nvPr>
            <p:ph type="title"/>
          </p:nvPr>
        </p:nvSpPr>
        <p:spPr>
          <a:xfrm>
            <a:off x="237269" y="23356"/>
            <a:ext cx="10515600" cy="1325563"/>
          </a:xfrm>
        </p:spPr>
        <p:txBody>
          <a:bodyPr/>
          <a:lstStyle/>
          <a:p>
            <a:r>
              <a:rPr lang="en-US" altLang="zh-CN" dirty="0">
                <a:latin typeface="NimbusRomNo9L-Medi"/>
              </a:rPr>
              <a:t>Experiments</a:t>
            </a:r>
            <a:endParaRPr lang="zh-CN" altLang="en-US" dirty="0">
              <a:latin typeface="NimbusRomNo9L-Medi"/>
            </a:endParaRPr>
          </a:p>
        </p:txBody>
      </p:sp>
      <p:sp>
        <p:nvSpPr>
          <p:cNvPr id="10" name="内容占位符 2">
            <a:extLst>
              <a:ext uri="{FF2B5EF4-FFF2-40B4-BE49-F238E27FC236}">
                <a16:creationId xmlns:a16="http://schemas.microsoft.com/office/drawing/2014/main" id="{F9F7F1AA-CD48-321E-E19E-0A28721C9791}"/>
              </a:ext>
            </a:extLst>
          </p:cNvPr>
          <p:cNvSpPr>
            <a:spLocks noGrp="1"/>
          </p:cNvSpPr>
          <p:nvPr>
            <p:ph idx="1"/>
          </p:nvPr>
        </p:nvSpPr>
        <p:spPr>
          <a:xfrm>
            <a:off x="311515" y="1348919"/>
            <a:ext cx="10949152" cy="4769139"/>
          </a:xfrm>
        </p:spPr>
        <p:txBody>
          <a:bodyPr>
            <a:normAutofit/>
          </a:bodyPr>
          <a:lstStyle/>
          <a:p>
            <a:r>
              <a:rPr lang="en-US" altLang="zh-CN" dirty="0">
                <a:latin typeface="NimbusRomNo9L-Regu"/>
              </a:rPr>
              <a:t>Performance Evaluation</a:t>
            </a:r>
          </a:p>
          <a:p>
            <a:endParaRPr lang="en-US" altLang="zh-CN" sz="3200" dirty="0">
              <a:latin typeface="NimbusRomNo9L-Regu"/>
            </a:endParaRPr>
          </a:p>
          <a:p>
            <a:endParaRPr lang="en-US" altLang="zh-CN" sz="3200" dirty="0">
              <a:latin typeface="NimbusRomNo9L-Regu"/>
            </a:endParaRPr>
          </a:p>
          <a:p>
            <a:endParaRPr lang="en-US" altLang="zh-CN" sz="3200" dirty="0">
              <a:latin typeface="NimbusRomNo9L-Regu"/>
            </a:endParaRPr>
          </a:p>
        </p:txBody>
      </p:sp>
      <p:pic>
        <p:nvPicPr>
          <p:cNvPr id="4" name="图片 3">
            <a:extLst>
              <a:ext uri="{FF2B5EF4-FFF2-40B4-BE49-F238E27FC236}">
                <a16:creationId xmlns:a16="http://schemas.microsoft.com/office/drawing/2014/main" id="{0557FB3E-7CE9-A20E-F45C-2B1C4D8BD998}"/>
              </a:ext>
            </a:extLst>
          </p:cNvPr>
          <p:cNvPicPr>
            <a:picLocks noChangeAspect="1"/>
          </p:cNvPicPr>
          <p:nvPr/>
        </p:nvPicPr>
        <p:blipFill>
          <a:blip r:embed="rId3"/>
          <a:stretch>
            <a:fillRect/>
          </a:stretch>
        </p:blipFill>
        <p:spPr>
          <a:xfrm>
            <a:off x="982133" y="2094503"/>
            <a:ext cx="10227733" cy="4555871"/>
          </a:xfrm>
          <a:prstGeom prst="rect">
            <a:avLst/>
          </a:prstGeom>
        </p:spPr>
      </p:pic>
    </p:spTree>
    <p:extLst>
      <p:ext uri="{BB962C8B-B14F-4D97-AF65-F5344CB8AC3E}">
        <p14:creationId xmlns:p14="http://schemas.microsoft.com/office/powerpoint/2010/main" val="24746972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DC45EE-76B8-55E8-D56F-F109B3CFB380}"/>
              </a:ext>
            </a:extLst>
          </p:cNvPr>
          <p:cNvSpPr>
            <a:spLocks noGrp="1"/>
          </p:cNvSpPr>
          <p:nvPr>
            <p:ph type="title"/>
          </p:nvPr>
        </p:nvSpPr>
        <p:spPr>
          <a:xfrm>
            <a:off x="237269" y="23356"/>
            <a:ext cx="10515600" cy="1325563"/>
          </a:xfrm>
        </p:spPr>
        <p:txBody>
          <a:bodyPr/>
          <a:lstStyle/>
          <a:p>
            <a:r>
              <a:rPr lang="en-US" altLang="zh-CN" dirty="0">
                <a:latin typeface="NimbusRomNo9L-Medi"/>
              </a:rPr>
              <a:t>Experiments</a:t>
            </a:r>
            <a:endParaRPr lang="zh-CN" altLang="en-US" dirty="0">
              <a:latin typeface="NimbusRomNo9L-Medi"/>
            </a:endParaRPr>
          </a:p>
        </p:txBody>
      </p:sp>
      <p:sp>
        <p:nvSpPr>
          <p:cNvPr id="10" name="内容占位符 2">
            <a:extLst>
              <a:ext uri="{FF2B5EF4-FFF2-40B4-BE49-F238E27FC236}">
                <a16:creationId xmlns:a16="http://schemas.microsoft.com/office/drawing/2014/main" id="{F9F7F1AA-CD48-321E-E19E-0A28721C9791}"/>
              </a:ext>
            </a:extLst>
          </p:cNvPr>
          <p:cNvSpPr>
            <a:spLocks noGrp="1"/>
          </p:cNvSpPr>
          <p:nvPr>
            <p:ph idx="1"/>
          </p:nvPr>
        </p:nvSpPr>
        <p:spPr>
          <a:xfrm>
            <a:off x="311515" y="1348919"/>
            <a:ext cx="10949152" cy="4769139"/>
          </a:xfrm>
        </p:spPr>
        <p:txBody>
          <a:bodyPr>
            <a:normAutofit/>
          </a:bodyPr>
          <a:lstStyle/>
          <a:p>
            <a:r>
              <a:rPr lang="en-US" altLang="zh-CN" dirty="0">
                <a:latin typeface="NimbusRomNo9L-Regu"/>
              </a:rPr>
              <a:t>Ablation Study</a:t>
            </a:r>
          </a:p>
          <a:p>
            <a:endParaRPr lang="en-US" altLang="zh-CN" sz="3200" dirty="0">
              <a:latin typeface="NimbusRomNo9L-Regu"/>
            </a:endParaRPr>
          </a:p>
          <a:p>
            <a:endParaRPr lang="en-US" altLang="zh-CN" sz="3200" dirty="0">
              <a:latin typeface="NimbusRomNo9L-Regu"/>
            </a:endParaRPr>
          </a:p>
          <a:p>
            <a:endParaRPr lang="en-US" altLang="zh-CN" sz="3200" dirty="0">
              <a:latin typeface="NimbusRomNo9L-Regu"/>
            </a:endParaRPr>
          </a:p>
        </p:txBody>
      </p:sp>
      <p:pic>
        <p:nvPicPr>
          <p:cNvPr id="5" name="图片 4">
            <a:extLst>
              <a:ext uri="{FF2B5EF4-FFF2-40B4-BE49-F238E27FC236}">
                <a16:creationId xmlns:a16="http://schemas.microsoft.com/office/drawing/2014/main" id="{98ABBD3C-EC68-DB8D-6B6D-4BD9FEE6E927}"/>
              </a:ext>
            </a:extLst>
          </p:cNvPr>
          <p:cNvPicPr>
            <a:picLocks noChangeAspect="1"/>
          </p:cNvPicPr>
          <p:nvPr/>
        </p:nvPicPr>
        <p:blipFill>
          <a:blip r:embed="rId3"/>
          <a:stretch>
            <a:fillRect/>
          </a:stretch>
        </p:blipFill>
        <p:spPr>
          <a:xfrm>
            <a:off x="804334" y="2071565"/>
            <a:ext cx="10837333" cy="4565633"/>
          </a:xfrm>
          <a:prstGeom prst="rect">
            <a:avLst/>
          </a:prstGeom>
        </p:spPr>
      </p:pic>
    </p:spTree>
    <p:extLst>
      <p:ext uri="{BB962C8B-B14F-4D97-AF65-F5344CB8AC3E}">
        <p14:creationId xmlns:p14="http://schemas.microsoft.com/office/powerpoint/2010/main" val="1859326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DC45EE-76B8-55E8-D56F-F109B3CFB380}"/>
              </a:ext>
            </a:extLst>
          </p:cNvPr>
          <p:cNvSpPr>
            <a:spLocks noGrp="1"/>
          </p:cNvSpPr>
          <p:nvPr>
            <p:ph type="title"/>
          </p:nvPr>
        </p:nvSpPr>
        <p:spPr>
          <a:xfrm>
            <a:off x="237269" y="23356"/>
            <a:ext cx="10515600" cy="1325563"/>
          </a:xfrm>
        </p:spPr>
        <p:txBody>
          <a:bodyPr/>
          <a:lstStyle/>
          <a:p>
            <a:r>
              <a:rPr lang="en-US" altLang="zh-CN" dirty="0">
                <a:latin typeface="NimbusRomNo9L-Medi"/>
              </a:rPr>
              <a:t>Experiments</a:t>
            </a:r>
            <a:endParaRPr lang="zh-CN" altLang="en-US" dirty="0">
              <a:latin typeface="NimbusRomNo9L-Medi"/>
            </a:endParaRPr>
          </a:p>
        </p:txBody>
      </p:sp>
      <p:sp>
        <p:nvSpPr>
          <p:cNvPr id="10" name="内容占位符 2">
            <a:extLst>
              <a:ext uri="{FF2B5EF4-FFF2-40B4-BE49-F238E27FC236}">
                <a16:creationId xmlns:a16="http://schemas.microsoft.com/office/drawing/2014/main" id="{F9F7F1AA-CD48-321E-E19E-0A28721C9791}"/>
              </a:ext>
            </a:extLst>
          </p:cNvPr>
          <p:cNvSpPr>
            <a:spLocks noGrp="1"/>
          </p:cNvSpPr>
          <p:nvPr>
            <p:ph idx="1"/>
          </p:nvPr>
        </p:nvSpPr>
        <p:spPr>
          <a:xfrm>
            <a:off x="311515" y="1348919"/>
            <a:ext cx="10949152" cy="4769139"/>
          </a:xfrm>
        </p:spPr>
        <p:txBody>
          <a:bodyPr>
            <a:normAutofit/>
          </a:bodyPr>
          <a:lstStyle/>
          <a:p>
            <a:r>
              <a:rPr lang="en-US" altLang="zh-CN" dirty="0">
                <a:latin typeface="NimbusRomNo9L-Regu"/>
              </a:rPr>
              <a:t>Ablation Study</a:t>
            </a:r>
          </a:p>
          <a:p>
            <a:endParaRPr lang="en-US" altLang="zh-CN" sz="3200" dirty="0">
              <a:latin typeface="NimbusRomNo9L-Regu"/>
            </a:endParaRPr>
          </a:p>
          <a:p>
            <a:endParaRPr lang="en-US" altLang="zh-CN" sz="3200" dirty="0">
              <a:latin typeface="NimbusRomNo9L-Regu"/>
            </a:endParaRPr>
          </a:p>
          <a:p>
            <a:endParaRPr lang="en-US" altLang="zh-CN" sz="3200" dirty="0">
              <a:latin typeface="NimbusRomNo9L-Regu"/>
            </a:endParaRPr>
          </a:p>
        </p:txBody>
      </p:sp>
      <p:pic>
        <p:nvPicPr>
          <p:cNvPr id="5" name="图片 4">
            <a:extLst>
              <a:ext uri="{FF2B5EF4-FFF2-40B4-BE49-F238E27FC236}">
                <a16:creationId xmlns:a16="http://schemas.microsoft.com/office/drawing/2014/main" id="{91548AAF-0455-9E8E-EC25-A2DC29F1925D}"/>
              </a:ext>
            </a:extLst>
          </p:cNvPr>
          <p:cNvPicPr>
            <a:picLocks noChangeAspect="1"/>
          </p:cNvPicPr>
          <p:nvPr/>
        </p:nvPicPr>
        <p:blipFill>
          <a:blip r:embed="rId3"/>
          <a:stretch>
            <a:fillRect/>
          </a:stretch>
        </p:blipFill>
        <p:spPr>
          <a:xfrm>
            <a:off x="4705451" y="1984594"/>
            <a:ext cx="6798734" cy="3710130"/>
          </a:xfrm>
          <a:prstGeom prst="rect">
            <a:avLst/>
          </a:prstGeom>
        </p:spPr>
      </p:pic>
      <p:sp>
        <p:nvSpPr>
          <p:cNvPr id="6" name="文本框 5">
            <a:extLst>
              <a:ext uri="{FF2B5EF4-FFF2-40B4-BE49-F238E27FC236}">
                <a16:creationId xmlns:a16="http://schemas.microsoft.com/office/drawing/2014/main" id="{1BF20B19-0A04-972E-63D5-A0EA667B5A7F}"/>
              </a:ext>
            </a:extLst>
          </p:cNvPr>
          <p:cNvSpPr txBox="1"/>
          <p:nvPr/>
        </p:nvSpPr>
        <p:spPr>
          <a:xfrm>
            <a:off x="555033" y="2131439"/>
            <a:ext cx="3492034" cy="3816429"/>
          </a:xfrm>
          <a:prstGeom prst="rect">
            <a:avLst/>
          </a:prstGeom>
          <a:noFill/>
        </p:spPr>
        <p:txBody>
          <a:bodyPr wrap="square" rtlCol="0">
            <a:spAutoFit/>
          </a:bodyPr>
          <a:lstStyle/>
          <a:p>
            <a:pPr algn="l"/>
            <a:r>
              <a:rPr lang="en-US" altLang="zh-CN" sz="2200" dirty="0">
                <a:latin typeface="NimbusRomNo9L-Regu"/>
              </a:rPr>
              <a:t>S</a:t>
            </a:r>
            <a:r>
              <a:rPr lang="en-US" altLang="zh-CN" sz="2200" b="0" i="0" u="none" strike="noStrike" baseline="0" dirty="0">
                <a:latin typeface="NimbusRomNo9L-Regu"/>
              </a:rPr>
              <a:t>cenarios where the GC loss is particularly more useful than the rank loss:</a:t>
            </a:r>
          </a:p>
          <a:p>
            <a:pPr algn="l"/>
            <a:endParaRPr lang="en-US" altLang="zh-CN" sz="2200" dirty="0">
              <a:latin typeface="NimbusRomNo9L-Regu"/>
            </a:endParaRPr>
          </a:p>
          <a:p>
            <a:pPr algn="l"/>
            <a:r>
              <a:rPr lang="en-US" altLang="zh-CN" sz="2200" dirty="0">
                <a:latin typeface="NimbusRomNo9L-Regu"/>
              </a:rPr>
              <a:t>If the test image is  extremely distorted, none of the different kinds of distortion  types can create much difference in the perceptual quality of  the two degraded versions.</a:t>
            </a:r>
            <a:endParaRPr lang="zh-CN" altLang="en-US" sz="2200" dirty="0">
              <a:latin typeface="NimbusRomNo9L-Regu"/>
            </a:endParaRPr>
          </a:p>
        </p:txBody>
      </p:sp>
    </p:spTree>
    <p:extLst>
      <p:ext uri="{BB962C8B-B14F-4D97-AF65-F5344CB8AC3E}">
        <p14:creationId xmlns:p14="http://schemas.microsoft.com/office/powerpoint/2010/main" val="28886976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DC45EE-76B8-55E8-D56F-F109B3CFB380}"/>
              </a:ext>
            </a:extLst>
          </p:cNvPr>
          <p:cNvSpPr>
            <a:spLocks noGrp="1"/>
          </p:cNvSpPr>
          <p:nvPr>
            <p:ph type="title"/>
          </p:nvPr>
        </p:nvSpPr>
        <p:spPr>
          <a:xfrm>
            <a:off x="237269" y="23356"/>
            <a:ext cx="10515600" cy="1325563"/>
          </a:xfrm>
        </p:spPr>
        <p:txBody>
          <a:bodyPr/>
          <a:lstStyle/>
          <a:p>
            <a:r>
              <a:rPr lang="en-US" altLang="zh-CN" dirty="0">
                <a:latin typeface="NimbusRomNo9L-Medi"/>
              </a:rPr>
              <a:t>Experiments</a:t>
            </a:r>
            <a:endParaRPr lang="zh-CN" altLang="en-US" dirty="0">
              <a:latin typeface="NimbusRomNo9L-Medi"/>
            </a:endParaRPr>
          </a:p>
        </p:txBody>
      </p:sp>
      <p:sp>
        <p:nvSpPr>
          <p:cNvPr id="10" name="内容占位符 2">
            <a:extLst>
              <a:ext uri="{FF2B5EF4-FFF2-40B4-BE49-F238E27FC236}">
                <a16:creationId xmlns:a16="http://schemas.microsoft.com/office/drawing/2014/main" id="{F9F7F1AA-CD48-321E-E19E-0A28721C9791}"/>
              </a:ext>
            </a:extLst>
          </p:cNvPr>
          <p:cNvSpPr>
            <a:spLocks noGrp="1"/>
          </p:cNvSpPr>
          <p:nvPr>
            <p:ph idx="1"/>
          </p:nvPr>
        </p:nvSpPr>
        <p:spPr>
          <a:xfrm>
            <a:off x="311515" y="1348919"/>
            <a:ext cx="10949152" cy="4769139"/>
          </a:xfrm>
        </p:spPr>
        <p:txBody>
          <a:bodyPr>
            <a:normAutofit/>
          </a:bodyPr>
          <a:lstStyle/>
          <a:p>
            <a:r>
              <a:rPr lang="en-US" altLang="zh-CN" dirty="0">
                <a:latin typeface="NimbusRomNo9L-Regu"/>
              </a:rPr>
              <a:t>Ablation Study</a:t>
            </a:r>
          </a:p>
          <a:p>
            <a:endParaRPr lang="en-US" altLang="zh-CN" sz="3200" dirty="0">
              <a:latin typeface="NimbusRomNo9L-Regu"/>
            </a:endParaRPr>
          </a:p>
          <a:p>
            <a:endParaRPr lang="en-US" altLang="zh-CN" sz="3200" dirty="0">
              <a:latin typeface="NimbusRomNo9L-Regu"/>
            </a:endParaRPr>
          </a:p>
          <a:p>
            <a:endParaRPr lang="en-US" altLang="zh-CN" sz="3200" dirty="0">
              <a:latin typeface="NimbusRomNo9L-Regu"/>
            </a:endParaRPr>
          </a:p>
        </p:txBody>
      </p:sp>
      <p:pic>
        <p:nvPicPr>
          <p:cNvPr id="4" name="图片 3">
            <a:extLst>
              <a:ext uri="{FF2B5EF4-FFF2-40B4-BE49-F238E27FC236}">
                <a16:creationId xmlns:a16="http://schemas.microsoft.com/office/drawing/2014/main" id="{AC93D6BB-FDAB-B2B1-1431-6CFC7BA2DB5F}"/>
              </a:ext>
            </a:extLst>
          </p:cNvPr>
          <p:cNvPicPr>
            <a:picLocks noChangeAspect="1"/>
          </p:cNvPicPr>
          <p:nvPr/>
        </p:nvPicPr>
        <p:blipFill>
          <a:blip r:embed="rId3"/>
          <a:stretch>
            <a:fillRect/>
          </a:stretch>
        </p:blipFill>
        <p:spPr>
          <a:xfrm>
            <a:off x="555033" y="2841544"/>
            <a:ext cx="11340432" cy="3801953"/>
          </a:xfrm>
          <a:prstGeom prst="rect">
            <a:avLst/>
          </a:prstGeom>
        </p:spPr>
      </p:pic>
      <p:sp>
        <p:nvSpPr>
          <p:cNvPr id="6" name="文本框 5">
            <a:extLst>
              <a:ext uri="{FF2B5EF4-FFF2-40B4-BE49-F238E27FC236}">
                <a16:creationId xmlns:a16="http://schemas.microsoft.com/office/drawing/2014/main" id="{0AC26920-AA51-0E7F-E42E-9E4723B1F1ED}"/>
              </a:ext>
            </a:extLst>
          </p:cNvPr>
          <p:cNvSpPr txBox="1"/>
          <p:nvPr/>
        </p:nvSpPr>
        <p:spPr>
          <a:xfrm>
            <a:off x="555033" y="2131439"/>
            <a:ext cx="11340432" cy="461665"/>
          </a:xfrm>
          <a:prstGeom prst="rect">
            <a:avLst/>
          </a:prstGeom>
          <a:noFill/>
        </p:spPr>
        <p:txBody>
          <a:bodyPr wrap="square" rtlCol="0">
            <a:spAutoFit/>
          </a:bodyPr>
          <a:lstStyle/>
          <a:p>
            <a:pPr algn="l"/>
            <a:r>
              <a:rPr lang="en-US" altLang="zh-CN" sz="2400" dirty="0">
                <a:latin typeface="NimbusRomNo9L-Regu"/>
              </a:rPr>
              <a:t>S</a:t>
            </a:r>
            <a:r>
              <a:rPr lang="en-US" altLang="zh-CN" sz="2400" b="0" i="0" u="none" strike="noStrike" baseline="0" dirty="0">
                <a:latin typeface="NimbusRomNo9L-Regu"/>
              </a:rPr>
              <a:t>cenarios where the rank loss is more useful than the GC loss:  images with similar quality.</a:t>
            </a:r>
            <a:endParaRPr lang="zh-CN" altLang="en-US" sz="2400" dirty="0"/>
          </a:p>
        </p:txBody>
      </p:sp>
    </p:spTree>
    <p:extLst>
      <p:ext uri="{BB962C8B-B14F-4D97-AF65-F5344CB8AC3E}">
        <p14:creationId xmlns:p14="http://schemas.microsoft.com/office/powerpoint/2010/main" val="2306465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DC45EE-76B8-55E8-D56F-F109B3CFB380}"/>
              </a:ext>
            </a:extLst>
          </p:cNvPr>
          <p:cNvSpPr>
            <a:spLocks noGrp="1"/>
          </p:cNvSpPr>
          <p:nvPr>
            <p:ph type="title"/>
          </p:nvPr>
        </p:nvSpPr>
        <p:spPr>
          <a:xfrm>
            <a:off x="237269" y="23356"/>
            <a:ext cx="10515600" cy="1325563"/>
          </a:xfrm>
        </p:spPr>
        <p:txBody>
          <a:bodyPr/>
          <a:lstStyle/>
          <a:p>
            <a:r>
              <a:rPr lang="en-US" altLang="zh-CN" dirty="0">
                <a:latin typeface="NimbusRomNo9L-Medi"/>
              </a:rPr>
              <a:t>Experiments</a:t>
            </a:r>
            <a:endParaRPr lang="zh-CN" altLang="en-US" dirty="0">
              <a:latin typeface="NimbusRomNo9L-Medi"/>
            </a:endParaRPr>
          </a:p>
        </p:txBody>
      </p:sp>
      <p:sp>
        <p:nvSpPr>
          <p:cNvPr id="10" name="内容占位符 2">
            <a:extLst>
              <a:ext uri="{FF2B5EF4-FFF2-40B4-BE49-F238E27FC236}">
                <a16:creationId xmlns:a16="http://schemas.microsoft.com/office/drawing/2014/main" id="{F9F7F1AA-CD48-321E-E19E-0A28721C9791}"/>
              </a:ext>
            </a:extLst>
          </p:cNvPr>
          <p:cNvSpPr>
            <a:spLocks noGrp="1"/>
          </p:cNvSpPr>
          <p:nvPr>
            <p:ph idx="1"/>
          </p:nvPr>
        </p:nvSpPr>
        <p:spPr>
          <a:xfrm>
            <a:off x="311515" y="1348919"/>
            <a:ext cx="10949152" cy="4769139"/>
          </a:xfrm>
        </p:spPr>
        <p:txBody>
          <a:bodyPr>
            <a:normAutofit/>
          </a:bodyPr>
          <a:lstStyle/>
          <a:p>
            <a:r>
              <a:rPr lang="en-US" altLang="zh-CN" dirty="0">
                <a:latin typeface="NimbusRomNo9L-Regu"/>
              </a:rPr>
              <a:t>Ablation Study</a:t>
            </a:r>
          </a:p>
          <a:p>
            <a:endParaRPr lang="en-US" altLang="zh-CN" sz="3200" dirty="0">
              <a:latin typeface="NimbusRomNo9L-Regu"/>
            </a:endParaRPr>
          </a:p>
          <a:p>
            <a:endParaRPr lang="en-US" altLang="zh-CN" sz="3200" dirty="0">
              <a:latin typeface="NimbusRomNo9L-Regu"/>
            </a:endParaRPr>
          </a:p>
          <a:p>
            <a:endParaRPr lang="en-US" altLang="zh-CN" sz="3200" dirty="0">
              <a:latin typeface="NimbusRomNo9L-Regu"/>
            </a:endParaRPr>
          </a:p>
        </p:txBody>
      </p:sp>
      <p:sp>
        <p:nvSpPr>
          <p:cNvPr id="6" name="文本框 5">
            <a:extLst>
              <a:ext uri="{FF2B5EF4-FFF2-40B4-BE49-F238E27FC236}">
                <a16:creationId xmlns:a16="http://schemas.microsoft.com/office/drawing/2014/main" id="{0AC26920-AA51-0E7F-E42E-9E4723B1F1ED}"/>
              </a:ext>
            </a:extLst>
          </p:cNvPr>
          <p:cNvSpPr txBox="1"/>
          <p:nvPr/>
        </p:nvSpPr>
        <p:spPr>
          <a:xfrm>
            <a:off x="555033" y="2131439"/>
            <a:ext cx="9448800" cy="461665"/>
          </a:xfrm>
          <a:prstGeom prst="rect">
            <a:avLst/>
          </a:prstGeom>
          <a:noFill/>
        </p:spPr>
        <p:txBody>
          <a:bodyPr wrap="square" rtlCol="0">
            <a:spAutoFit/>
          </a:bodyPr>
          <a:lstStyle/>
          <a:p>
            <a:pPr algn="l"/>
            <a:r>
              <a:rPr lang="en-US" altLang="zh-CN" sz="2400" dirty="0">
                <a:latin typeface="NimbusRomNo9L-Regu"/>
              </a:rPr>
              <a:t>Effect of Selecting Multiple Distortion Types in the Rank Loss:</a:t>
            </a:r>
            <a:endParaRPr lang="zh-CN" altLang="en-US" sz="2400" dirty="0"/>
          </a:p>
        </p:txBody>
      </p:sp>
      <p:pic>
        <p:nvPicPr>
          <p:cNvPr id="8" name="图片 7">
            <a:extLst>
              <a:ext uri="{FF2B5EF4-FFF2-40B4-BE49-F238E27FC236}">
                <a16:creationId xmlns:a16="http://schemas.microsoft.com/office/drawing/2014/main" id="{C469C9F8-607E-6F4E-C3C5-93072960FCD7}"/>
              </a:ext>
            </a:extLst>
          </p:cNvPr>
          <p:cNvPicPr>
            <a:picLocks noChangeAspect="1"/>
          </p:cNvPicPr>
          <p:nvPr/>
        </p:nvPicPr>
        <p:blipFill>
          <a:blip r:embed="rId3"/>
          <a:stretch>
            <a:fillRect/>
          </a:stretch>
        </p:blipFill>
        <p:spPr>
          <a:xfrm>
            <a:off x="5495069" y="3118875"/>
            <a:ext cx="6216122" cy="2634073"/>
          </a:xfrm>
          <a:prstGeom prst="rect">
            <a:avLst/>
          </a:prstGeom>
        </p:spPr>
      </p:pic>
      <p:sp>
        <p:nvSpPr>
          <p:cNvPr id="11" name="文本框 10">
            <a:extLst>
              <a:ext uri="{FF2B5EF4-FFF2-40B4-BE49-F238E27FC236}">
                <a16:creationId xmlns:a16="http://schemas.microsoft.com/office/drawing/2014/main" id="{EAA71EA6-0A30-F79D-41F4-36DAE925BEC3}"/>
              </a:ext>
            </a:extLst>
          </p:cNvPr>
          <p:cNvSpPr txBox="1"/>
          <p:nvPr/>
        </p:nvSpPr>
        <p:spPr>
          <a:xfrm>
            <a:off x="536777" y="3274877"/>
            <a:ext cx="4733030" cy="2862322"/>
          </a:xfrm>
          <a:prstGeom prst="rect">
            <a:avLst/>
          </a:prstGeom>
          <a:noFill/>
        </p:spPr>
        <p:txBody>
          <a:bodyPr wrap="square" rtlCol="0">
            <a:spAutoFit/>
          </a:bodyPr>
          <a:lstStyle/>
          <a:p>
            <a:pPr marL="285750" indent="-285750" algn="l">
              <a:buFont typeface="Arial" panose="020B0604020202020204" pitchFamily="34" charset="0"/>
              <a:buChar char="•"/>
            </a:pPr>
            <a:r>
              <a:rPr lang="en-US" altLang="zh-CN" sz="2000" b="0" i="0" u="none" strike="noStrike" baseline="0" dirty="0">
                <a:latin typeface="NimbusRomNo9L-Regu"/>
              </a:rPr>
              <a:t>Only one of the distortion types is used in the rank loss,</a:t>
            </a:r>
          </a:p>
          <a:p>
            <a:pPr marL="285750" indent="-285750" algn="l">
              <a:buFont typeface="Arial" panose="020B0604020202020204" pitchFamily="34" charset="0"/>
              <a:buChar char="•"/>
            </a:pPr>
            <a:endParaRPr lang="en-US" altLang="zh-CN" sz="2000" b="0" i="0" u="none" strike="noStrike" baseline="0" dirty="0">
              <a:latin typeface="NimbusRomNo9L-Regu"/>
            </a:endParaRPr>
          </a:p>
          <a:p>
            <a:pPr marL="285750" indent="-285750" algn="l">
              <a:buFont typeface="Arial" panose="020B0604020202020204" pitchFamily="34" charset="0"/>
              <a:buChar char="•"/>
            </a:pPr>
            <a:r>
              <a:rPr lang="en-US" altLang="zh-CN" sz="2000" b="0" i="0" u="none" strike="noStrike" baseline="0" dirty="0">
                <a:latin typeface="NimbusRomNo9L-Regu"/>
              </a:rPr>
              <a:t>all the three types are used to obtain three loss terms which are summed together to update the model</a:t>
            </a:r>
          </a:p>
          <a:p>
            <a:pPr marL="285750" indent="-285750" algn="l">
              <a:buFont typeface="Arial" panose="020B0604020202020204" pitchFamily="34" charset="0"/>
              <a:buChar char="•"/>
            </a:pPr>
            <a:endParaRPr lang="en-US" altLang="zh-CN" sz="2000" dirty="0">
              <a:latin typeface="NimbusRomNo9L-Regu"/>
            </a:endParaRPr>
          </a:p>
          <a:p>
            <a:pPr marL="285750" indent="-285750" algn="l">
              <a:buFont typeface="Arial" panose="020B0604020202020204" pitchFamily="34" charset="0"/>
              <a:buChar char="•"/>
            </a:pPr>
            <a:r>
              <a:rPr lang="en-US" altLang="zh-CN" sz="2000" b="0" i="0" u="none" strike="noStrike" baseline="0" dirty="0">
                <a:latin typeface="NimbusRomNo9L-Regu"/>
              </a:rPr>
              <a:t>only one of the distortion types (with the maximal difference) is chosen </a:t>
            </a:r>
            <a:endParaRPr lang="zh-CN" altLang="en-US" sz="2000" dirty="0"/>
          </a:p>
        </p:txBody>
      </p:sp>
    </p:spTree>
    <p:extLst>
      <p:ext uri="{BB962C8B-B14F-4D97-AF65-F5344CB8AC3E}">
        <p14:creationId xmlns:p14="http://schemas.microsoft.com/office/powerpoint/2010/main" val="2480289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DC45EE-76B8-55E8-D56F-F109B3CFB380}"/>
              </a:ext>
            </a:extLst>
          </p:cNvPr>
          <p:cNvSpPr>
            <a:spLocks noGrp="1"/>
          </p:cNvSpPr>
          <p:nvPr>
            <p:ph type="title"/>
          </p:nvPr>
        </p:nvSpPr>
        <p:spPr>
          <a:xfrm>
            <a:off x="237269" y="23356"/>
            <a:ext cx="10515600" cy="1325563"/>
          </a:xfrm>
        </p:spPr>
        <p:txBody>
          <a:bodyPr/>
          <a:lstStyle/>
          <a:p>
            <a:r>
              <a:rPr lang="en-US" altLang="zh-CN" dirty="0">
                <a:latin typeface="NimbusRomNo9L-Medi"/>
              </a:rPr>
              <a:t>Experiments</a:t>
            </a:r>
            <a:endParaRPr lang="zh-CN" altLang="en-US" dirty="0">
              <a:latin typeface="NimbusRomNo9L-Medi"/>
            </a:endParaRPr>
          </a:p>
        </p:txBody>
      </p:sp>
      <p:sp>
        <p:nvSpPr>
          <p:cNvPr id="10" name="内容占位符 2">
            <a:extLst>
              <a:ext uri="{FF2B5EF4-FFF2-40B4-BE49-F238E27FC236}">
                <a16:creationId xmlns:a16="http://schemas.microsoft.com/office/drawing/2014/main" id="{F9F7F1AA-CD48-321E-E19E-0A28721C9791}"/>
              </a:ext>
            </a:extLst>
          </p:cNvPr>
          <p:cNvSpPr>
            <a:spLocks noGrp="1"/>
          </p:cNvSpPr>
          <p:nvPr>
            <p:ph idx="1"/>
          </p:nvPr>
        </p:nvSpPr>
        <p:spPr>
          <a:xfrm>
            <a:off x="311515" y="1348919"/>
            <a:ext cx="10949152" cy="4769139"/>
          </a:xfrm>
        </p:spPr>
        <p:txBody>
          <a:bodyPr>
            <a:normAutofit/>
          </a:bodyPr>
          <a:lstStyle/>
          <a:p>
            <a:r>
              <a:rPr lang="en-US" altLang="zh-CN" dirty="0">
                <a:latin typeface="NimbusRomNo9L-Regu"/>
              </a:rPr>
              <a:t>Ablation Study</a:t>
            </a:r>
          </a:p>
          <a:p>
            <a:endParaRPr lang="en-US" altLang="zh-CN" sz="3200" dirty="0">
              <a:latin typeface="NimbusRomNo9L-Regu"/>
            </a:endParaRPr>
          </a:p>
          <a:p>
            <a:endParaRPr lang="en-US" altLang="zh-CN" sz="3200" dirty="0">
              <a:latin typeface="NimbusRomNo9L-Regu"/>
            </a:endParaRPr>
          </a:p>
          <a:p>
            <a:endParaRPr lang="en-US" altLang="zh-CN" sz="3200" dirty="0">
              <a:latin typeface="NimbusRomNo9L-Regu"/>
            </a:endParaRPr>
          </a:p>
        </p:txBody>
      </p:sp>
      <p:sp>
        <p:nvSpPr>
          <p:cNvPr id="6" name="文本框 5">
            <a:extLst>
              <a:ext uri="{FF2B5EF4-FFF2-40B4-BE49-F238E27FC236}">
                <a16:creationId xmlns:a16="http://schemas.microsoft.com/office/drawing/2014/main" id="{0AC26920-AA51-0E7F-E42E-9E4723B1F1ED}"/>
              </a:ext>
            </a:extLst>
          </p:cNvPr>
          <p:cNvSpPr txBox="1"/>
          <p:nvPr/>
        </p:nvSpPr>
        <p:spPr>
          <a:xfrm>
            <a:off x="555033" y="2131439"/>
            <a:ext cx="9448800" cy="461665"/>
          </a:xfrm>
          <a:prstGeom prst="rect">
            <a:avLst/>
          </a:prstGeom>
          <a:noFill/>
        </p:spPr>
        <p:txBody>
          <a:bodyPr wrap="square" rtlCol="0">
            <a:spAutoFit/>
          </a:bodyPr>
          <a:lstStyle/>
          <a:p>
            <a:pPr algn="l"/>
            <a:r>
              <a:rPr lang="en-US" altLang="zh-CN" sz="2400" dirty="0">
                <a:latin typeface="NimbusRomNo9L-Regu"/>
              </a:rPr>
              <a:t>Selection of Group Size by Varying p:</a:t>
            </a:r>
            <a:endParaRPr lang="zh-CN" altLang="en-US" sz="2400" dirty="0"/>
          </a:p>
        </p:txBody>
      </p:sp>
      <p:sp>
        <p:nvSpPr>
          <p:cNvPr id="11" name="文本框 10">
            <a:extLst>
              <a:ext uri="{FF2B5EF4-FFF2-40B4-BE49-F238E27FC236}">
                <a16:creationId xmlns:a16="http://schemas.microsoft.com/office/drawing/2014/main" id="{EAA71EA6-0A30-F79D-41F4-36DAE925BEC3}"/>
              </a:ext>
            </a:extLst>
          </p:cNvPr>
          <p:cNvSpPr txBox="1"/>
          <p:nvPr/>
        </p:nvSpPr>
        <p:spPr>
          <a:xfrm>
            <a:off x="536776" y="3274877"/>
            <a:ext cx="4864957" cy="1107996"/>
          </a:xfrm>
          <a:prstGeom prst="rect">
            <a:avLst/>
          </a:prstGeom>
          <a:noFill/>
        </p:spPr>
        <p:txBody>
          <a:bodyPr wrap="square" rtlCol="0">
            <a:spAutoFit/>
          </a:bodyPr>
          <a:lstStyle/>
          <a:p>
            <a:pPr algn="l"/>
            <a:r>
              <a:rPr lang="en-US" altLang="zh-CN" sz="2200" b="0" i="0" u="none" strike="noStrike" baseline="0" dirty="0">
                <a:latin typeface="NimbusRomNo9L-Regu"/>
              </a:rPr>
              <a:t>For a batch size of 8, possible choices of the group size are </a:t>
            </a:r>
            <a:r>
              <a:rPr lang="en-US" altLang="zh-CN" sz="2200" b="0" i="0" u="none" strike="noStrike" baseline="0" dirty="0">
                <a:latin typeface="CMR10"/>
              </a:rPr>
              <a:t>2</a:t>
            </a:r>
            <a:r>
              <a:rPr lang="en-US" altLang="zh-CN" sz="2200" b="0" i="0" u="none" strike="noStrike" baseline="0" dirty="0">
                <a:latin typeface="CMMI10"/>
              </a:rPr>
              <a:t>, </a:t>
            </a:r>
            <a:r>
              <a:rPr lang="en-US" altLang="zh-CN" sz="2200" b="0" i="0" u="none" strike="noStrike" baseline="0" dirty="0">
                <a:latin typeface="CMR10"/>
              </a:rPr>
              <a:t>3</a:t>
            </a:r>
            <a:r>
              <a:rPr lang="en-US" altLang="zh-CN" sz="2200" b="0" i="0" u="none" strike="noStrike" baseline="0" dirty="0">
                <a:latin typeface="CMMI10"/>
              </a:rPr>
              <a:t>, </a:t>
            </a:r>
            <a:r>
              <a:rPr lang="en-US" altLang="zh-CN" sz="2200" b="0" i="0" u="none" strike="noStrike" baseline="0" dirty="0">
                <a:latin typeface="CMR10"/>
              </a:rPr>
              <a:t>4 </a:t>
            </a:r>
            <a:r>
              <a:rPr lang="en-US" altLang="zh-CN" sz="2200" b="0" i="0" u="none" strike="noStrike" baseline="0" dirty="0">
                <a:latin typeface="NimbusRomNo9L-Regu"/>
              </a:rPr>
              <a:t>corresponding to </a:t>
            </a:r>
            <a:r>
              <a:rPr lang="en-US" altLang="zh-CN" sz="2200" b="0" i="0" u="none" strike="noStrike" baseline="0" dirty="0">
                <a:latin typeface="CMMI10"/>
              </a:rPr>
              <a:t>p </a:t>
            </a:r>
            <a:r>
              <a:rPr lang="en-US" altLang="zh-CN" sz="2200" b="0" i="0" u="none" strike="noStrike" baseline="0" dirty="0">
                <a:latin typeface="CMR10"/>
              </a:rPr>
              <a:t>= 0</a:t>
            </a:r>
            <a:r>
              <a:rPr lang="en-US" altLang="zh-CN" sz="2200" b="0" i="0" u="none" strike="noStrike" baseline="0" dirty="0">
                <a:latin typeface="CMMI10"/>
              </a:rPr>
              <a:t>.</a:t>
            </a:r>
            <a:r>
              <a:rPr lang="en-US" altLang="zh-CN" sz="2200" b="0" i="0" u="none" strike="noStrike" baseline="0" dirty="0">
                <a:latin typeface="CMR10"/>
              </a:rPr>
              <a:t>25</a:t>
            </a:r>
            <a:r>
              <a:rPr lang="en-US" altLang="zh-CN" sz="2200" b="0" i="0" u="none" strike="noStrike" baseline="0" dirty="0">
                <a:latin typeface="CMMI10"/>
              </a:rPr>
              <a:t>, </a:t>
            </a:r>
            <a:r>
              <a:rPr lang="en-US" altLang="zh-CN" sz="2200" b="0" i="0" u="none" strike="noStrike" baseline="0" dirty="0">
                <a:latin typeface="CMR10"/>
              </a:rPr>
              <a:t>0</a:t>
            </a:r>
            <a:r>
              <a:rPr lang="en-US" altLang="zh-CN" sz="2200" b="0" i="0" u="none" strike="noStrike" baseline="0" dirty="0">
                <a:latin typeface="CMMI10"/>
              </a:rPr>
              <a:t>.</a:t>
            </a:r>
            <a:r>
              <a:rPr lang="en-US" altLang="zh-CN" sz="2200" b="0" i="0" u="none" strike="noStrike" baseline="0" dirty="0">
                <a:latin typeface="CMR10"/>
              </a:rPr>
              <a:t>375</a:t>
            </a:r>
            <a:r>
              <a:rPr lang="en-US" altLang="zh-CN" sz="2200" b="0" i="0" u="none" strike="noStrike" baseline="0" dirty="0">
                <a:latin typeface="CMMI10"/>
              </a:rPr>
              <a:t>, </a:t>
            </a:r>
            <a:r>
              <a:rPr lang="en-US" altLang="zh-CN" sz="2200" b="0" i="0" u="none" strike="noStrike" baseline="0" dirty="0">
                <a:latin typeface="CMR10"/>
              </a:rPr>
              <a:t>0</a:t>
            </a:r>
            <a:r>
              <a:rPr lang="en-US" altLang="zh-CN" sz="2200" b="0" i="0" u="none" strike="noStrike" baseline="0" dirty="0">
                <a:latin typeface="CMMI10"/>
              </a:rPr>
              <a:t>.</a:t>
            </a:r>
            <a:r>
              <a:rPr lang="en-US" altLang="zh-CN" sz="2200" b="0" i="0" u="none" strike="noStrike" baseline="0" dirty="0">
                <a:latin typeface="CMR10"/>
              </a:rPr>
              <a:t>5 </a:t>
            </a:r>
            <a:r>
              <a:rPr lang="en-US" altLang="zh-CN" sz="2200" b="0" i="0" u="none" strike="noStrike" baseline="0" dirty="0">
                <a:latin typeface="NimbusRomNo9L-Regu"/>
              </a:rPr>
              <a:t>respectively.</a:t>
            </a:r>
            <a:endParaRPr lang="zh-CN" altLang="en-US" sz="2200" dirty="0"/>
          </a:p>
        </p:txBody>
      </p:sp>
      <p:pic>
        <p:nvPicPr>
          <p:cNvPr id="4" name="图片 3">
            <a:extLst>
              <a:ext uri="{FF2B5EF4-FFF2-40B4-BE49-F238E27FC236}">
                <a16:creationId xmlns:a16="http://schemas.microsoft.com/office/drawing/2014/main" id="{3B3EBD41-F872-7178-D08D-5472349239AD}"/>
              </a:ext>
            </a:extLst>
          </p:cNvPr>
          <p:cNvPicPr>
            <a:picLocks noChangeAspect="1"/>
          </p:cNvPicPr>
          <p:nvPr/>
        </p:nvPicPr>
        <p:blipFill>
          <a:blip r:embed="rId3"/>
          <a:stretch>
            <a:fillRect/>
          </a:stretch>
        </p:blipFill>
        <p:spPr>
          <a:xfrm>
            <a:off x="5401733" y="2894615"/>
            <a:ext cx="6305387" cy="2504801"/>
          </a:xfrm>
          <a:prstGeom prst="rect">
            <a:avLst/>
          </a:prstGeom>
        </p:spPr>
      </p:pic>
    </p:spTree>
    <p:extLst>
      <p:ext uri="{BB962C8B-B14F-4D97-AF65-F5344CB8AC3E}">
        <p14:creationId xmlns:p14="http://schemas.microsoft.com/office/powerpoint/2010/main" val="23875401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DC45EE-76B8-55E8-D56F-F109B3CFB380}"/>
              </a:ext>
            </a:extLst>
          </p:cNvPr>
          <p:cNvSpPr>
            <a:spLocks noGrp="1"/>
          </p:cNvSpPr>
          <p:nvPr>
            <p:ph type="title"/>
          </p:nvPr>
        </p:nvSpPr>
        <p:spPr>
          <a:xfrm>
            <a:off x="237269" y="23356"/>
            <a:ext cx="10515600" cy="1325563"/>
          </a:xfrm>
        </p:spPr>
        <p:txBody>
          <a:bodyPr/>
          <a:lstStyle/>
          <a:p>
            <a:r>
              <a:rPr lang="en-US" altLang="zh-CN" dirty="0">
                <a:latin typeface="NimbusRomNo9L-Medi"/>
              </a:rPr>
              <a:t>Experiments</a:t>
            </a:r>
            <a:endParaRPr lang="zh-CN" altLang="en-US" dirty="0">
              <a:latin typeface="NimbusRomNo9L-Medi"/>
            </a:endParaRPr>
          </a:p>
        </p:txBody>
      </p:sp>
      <p:sp>
        <p:nvSpPr>
          <p:cNvPr id="10" name="内容占位符 2">
            <a:extLst>
              <a:ext uri="{FF2B5EF4-FFF2-40B4-BE49-F238E27FC236}">
                <a16:creationId xmlns:a16="http://schemas.microsoft.com/office/drawing/2014/main" id="{F9F7F1AA-CD48-321E-E19E-0A28721C9791}"/>
              </a:ext>
            </a:extLst>
          </p:cNvPr>
          <p:cNvSpPr>
            <a:spLocks noGrp="1"/>
          </p:cNvSpPr>
          <p:nvPr>
            <p:ph idx="1"/>
          </p:nvPr>
        </p:nvSpPr>
        <p:spPr>
          <a:xfrm>
            <a:off x="311515" y="1348919"/>
            <a:ext cx="10949152" cy="4769139"/>
          </a:xfrm>
        </p:spPr>
        <p:txBody>
          <a:bodyPr>
            <a:normAutofit/>
          </a:bodyPr>
          <a:lstStyle/>
          <a:p>
            <a:r>
              <a:rPr lang="en-US" altLang="zh-CN" dirty="0">
                <a:latin typeface="NimbusRomNo9L-Regu"/>
              </a:rPr>
              <a:t>Ablation Study</a:t>
            </a:r>
          </a:p>
          <a:p>
            <a:endParaRPr lang="en-US" altLang="zh-CN" sz="3200" dirty="0">
              <a:latin typeface="NimbusRomNo9L-Regu"/>
            </a:endParaRPr>
          </a:p>
          <a:p>
            <a:endParaRPr lang="en-US" altLang="zh-CN" sz="3200" dirty="0">
              <a:latin typeface="NimbusRomNo9L-Regu"/>
            </a:endParaRPr>
          </a:p>
          <a:p>
            <a:endParaRPr lang="en-US" altLang="zh-CN" sz="3200" dirty="0">
              <a:latin typeface="NimbusRomNo9L-Regu"/>
            </a:endParaRPr>
          </a:p>
        </p:txBody>
      </p:sp>
      <p:sp>
        <p:nvSpPr>
          <p:cNvPr id="6" name="文本框 5">
            <a:extLst>
              <a:ext uri="{FF2B5EF4-FFF2-40B4-BE49-F238E27FC236}">
                <a16:creationId xmlns:a16="http://schemas.microsoft.com/office/drawing/2014/main" id="{0AC26920-AA51-0E7F-E42E-9E4723B1F1ED}"/>
              </a:ext>
            </a:extLst>
          </p:cNvPr>
          <p:cNvSpPr txBox="1"/>
          <p:nvPr/>
        </p:nvSpPr>
        <p:spPr>
          <a:xfrm>
            <a:off x="555033" y="2131439"/>
            <a:ext cx="9448800" cy="461665"/>
          </a:xfrm>
          <a:prstGeom prst="rect">
            <a:avLst/>
          </a:prstGeom>
          <a:noFill/>
        </p:spPr>
        <p:txBody>
          <a:bodyPr wrap="square" rtlCol="0">
            <a:spAutoFit/>
          </a:bodyPr>
          <a:lstStyle/>
          <a:p>
            <a:pPr algn="l"/>
            <a:r>
              <a:rPr lang="en-US" altLang="zh-CN" sz="2400" dirty="0">
                <a:latin typeface="NimbusRomNo9L-Regu"/>
              </a:rPr>
              <a:t>Selection of Number of Groups for GC Loss:</a:t>
            </a:r>
            <a:endParaRPr lang="zh-CN" altLang="en-US" sz="2400" dirty="0"/>
          </a:p>
        </p:txBody>
      </p:sp>
      <p:sp>
        <p:nvSpPr>
          <p:cNvPr id="11" name="文本框 10">
            <a:extLst>
              <a:ext uri="{FF2B5EF4-FFF2-40B4-BE49-F238E27FC236}">
                <a16:creationId xmlns:a16="http://schemas.microsoft.com/office/drawing/2014/main" id="{EAA71EA6-0A30-F79D-41F4-36DAE925BEC3}"/>
              </a:ext>
            </a:extLst>
          </p:cNvPr>
          <p:cNvSpPr txBox="1"/>
          <p:nvPr/>
        </p:nvSpPr>
        <p:spPr>
          <a:xfrm>
            <a:off x="536777" y="3274877"/>
            <a:ext cx="4310920" cy="1446550"/>
          </a:xfrm>
          <a:prstGeom prst="rect">
            <a:avLst/>
          </a:prstGeom>
          <a:noFill/>
        </p:spPr>
        <p:txBody>
          <a:bodyPr wrap="square" rtlCol="0">
            <a:spAutoFit/>
          </a:bodyPr>
          <a:lstStyle/>
          <a:p>
            <a:pPr algn="l"/>
            <a:r>
              <a:rPr lang="en-US" altLang="zh-CN" sz="2200" b="0" i="0" u="none" strike="noStrike" baseline="0" dirty="0">
                <a:latin typeface="NimbusRomNo9L-Regu"/>
              </a:rPr>
              <a:t>cluster the images in a batch into multiple groups and apply the GC loss between every pair of groups and sum the loss terms</a:t>
            </a:r>
            <a:endParaRPr lang="zh-CN" altLang="en-US" sz="2200" dirty="0"/>
          </a:p>
        </p:txBody>
      </p:sp>
      <p:pic>
        <p:nvPicPr>
          <p:cNvPr id="5" name="图片 4">
            <a:extLst>
              <a:ext uri="{FF2B5EF4-FFF2-40B4-BE49-F238E27FC236}">
                <a16:creationId xmlns:a16="http://schemas.microsoft.com/office/drawing/2014/main" id="{94864C3F-74DF-3516-F9C0-C37CA52F4F69}"/>
              </a:ext>
            </a:extLst>
          </p:cNvPr>
          <p:cNvPicPr>
            <a:picLocks noChangeAspect="1"/>
          </p:cNvPicPr>
          <p:nvPr/>
        </p:nvPicPr>
        <p:blipFill>
          <a:blip r:embed="rId3"/>
          <a:stretch>
            <a:fillRect/>
          </a:stretch>
        </p:blipFill>
        <p:spPr>
          <a:xfrm>
            <a:off x="5072957" y="3153577"/>
            <a:ext cx="6412971" cy="2458592"/>
          </a:xfrm>
          <a:prstGeom prst="rect">
            <a:avLst/>
          </a:prstGeom>
        </p:spPr>
      </p:pic>
    </p:spTree>
    <p:extLst>
      <p:ext uri="{BB962C8B-B14F-4D97-AF65-F5344CB8AC3E}">
        <p14:creationId xmlns:p14="http://schemas.microsoft.com/office/powerpoint/2010/main" val="38207863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DC45EE-76B8-55E8-D56F-F109B3CFB380}"/>
              </a:ext>
            </a:extLst>
          </p:cNvPr>
          <p:cNvSpPr>
            <a:spLocks noGrp="1"/>
          </p:cNvSpPr>
          <p:nvPr>
            <p:ph type="title"/>
          </p:nvPr>
        </p:nvSpPr>
        <p:spPr>
          <a:xfrm>
            <a:off x="237269" y="23356"/>
            <a:ext cx="10515600" cy="1325563"/>
          </a:xfrm>
        </p:spPr>
        <p:txBody>
          <a:bodyPr/>
          <a:lstStyle/>
          <a:p>
            <a:r>
              <a:rPr lang="en-US" altLang="zh-CN" dirty="0">
                <a:latin typeface="NimbusRomNo9L-Medi"/>
              </a:rPr>
              <a:t>Experiments</a:t>
            </a:r>
            <a:endParaRPr lang="zh-CN" altLang="en-US" dirty="0">
              <a:latin typeface="NimbusRomNo9L-Medi"/>
            </a:endParaRPr>
          </a:p>
        </p:txBody>
      </p:sp>
      <p:sp>
        <p:nvSpPr>
          <p:cNvPr id="10" name="内容占位符 2">
            <a:extLst>
              <a:ext uri="{FF2B5EF4-FFF2-40B4-BE49-F238E27FC236}">
                <a16:creationId xmlns:a16="http://schemas.microsoft.com/office/drawing/2014/main" id="{F9F7F1AA-CD48-321E-E19E-0A28721C9791}"/>
              </a:ext>
            </a:extLst>
          </p:cNvPr>
          <p:cNvSpPr>
            <a:spLocks noGrp="1"/>
          </p:cNvSpPr>
          <p:nvPr>
            <p:ph idx="1"/>
          </p:nvPr>
        </p:nvSpPr>
        <p:spPr>
          <a:xfrm>
            <a:off x="311515" y="1348919"/>
            <a:ext cx="10949152" cy="4769139"/>
          </a:xfrm>
        </p:spPr>
        <p:txBody>
          <a:bodyPr>
            <a:normAutofit/>
          </a:bodyPr>
          <a:lstStyle/>
          <a:p>
            <a:r>
              <a:rPr lang="en-US" altLang="zh-CN" dirty="0">
                <a:latin typeface="NimbusRomNo9L-Regu"/>
              </a:rPr>
              <a:t>Ablation Study</a:t>
            </a:r>
          </a:p>
          <a:p>
            <a:endParaRPr lang="en-US" altLang="zh-CN" sz="3200" dirty="0">
              <a:latin typeface="NimbusRomNo9L-Regu"/>
            </a:endParaRPr>
          </a:p>
          <a:p>
            <a:endParaRPr lang="en-US" altLang="zh-CN" sz="3200" dirty="0">
              <a:latin typeface="NimbusRomNo9L-Regu"/>
            </a:endParaRPr>
          </a:p>
          <a:p>
            <a:endParaRPr lang="en-US" altLang="zh-CN" sz="3200" dirty="0">
              <a:latin typeface="NimbusRomNo9L-Regu"/>
            </a:endParaRPr>
          </a:p>
        </p:txBody>
      </p:sp>
      <p:sp>
        <p:nvSpPr>
          <p:cNvPr id="6" name="文本框 5">
            <a:extLst>
              <a:ext uri="{FF2B5EF4-FFF2-40B4-BE49-F238E27FC236}">
                <a16:creationId xmlns:a16="http://schemas.microsoft.com/office/drawing/2014/main" id="{0AC26920-AA51-0E7F-E42E-9E4723B1F1ED}"/>
              </a:ext>
            </a:extLst>
          </p:cNvPr>
          <p:cNvSpPr txBox="1"/>
          <p:nvPr/>
        </p:nvSpPr>
        <p:spPr>
          <a:xfrm>
            <a:off x="555033" y="2131439"/>
            <a:ext cx="9448800" cy="461665"/>
          </a:xfrm>
          <a:prstGeom prst="rect">
            <a:avLst/>
          </a:prstGeom>
          <a:noFill/>
        </p:spPr>
        <p:txBody>
          <a:bodyPr wrap="square" rtlCol="0">
            <a:spAutoFit/>
          </a:bodyPr>
          <a:lstStyle/>
          <a:p>
            <a:pPr algn="l"/>
            <a:r>
              <a:rPr lang="en-US" altLang="zh-CN" sz="2400" dirty="0">
                <a:latin typeface="NimbusRomNo9L-Regu"/>
              </a:rPr>
              <a:t>Choice of Number of Iterations for Learning Auxiliary Task:</a:t>
            </a:r>
            <a:endParaRPr lang="zh-CN" altLang="en-US" sz="2400" dirty="0"/>
          </a:p>
        </p:txBody>
      </p:sp>
      <p:sp>
        <p:nvSpPr>
          <p:cNvPr id="11" name="文本框 10">
            <a:extLst>
              <a:ext uri="{FF2B5EF4-FFF2-40B4-BE49-F238E27FC236}">
                <a16:creationId xmlns:a16="http://schemas.microsoft.com/office/drawing/2014/main" id="{EAA71EA6-0A30-F79D-41F4-36DAE925BEC3}"/>
              </a:ext>
            </a:extLst>
          </p:cNvPr>
          <p:cNvSpPr txBox="1"/>
          <p:nvPr/>
        </p:nvSpPr>
        <p:spPr>
          <a:xfrm>
            <a:off x="536776" y="3274877"/>
            <a:ext cx="4695623" cy="1785104"/>
          </a:xfrm>
          <a:prstGeom prst="rect">
            <a:avLst/>
          </a:prstGeom>
          <a:noFill/>
        </p:spPr>
        <p:txBody>
          <a:bodyPr wrap="square" rtlCol="0">
            <a:spAutoFit/>
          </a:bodyPr>
          <a:lstStyle/>
          <a:p>
            <a:pPr algn="l"/>
            <a:r>
              <a:rPr lang="en-US" altLang="zh-CN" sz="2200" b="0" i="0" u="none" strike="noStrike" baseline="0" dirty="0">
                <a:latin typeface="NimbusRomNo9L-Regu"/>
              </a:rPr>
              <a:t>Figure 6 shows that the performance on CID2013 dataset is fairly robust until 4 iterations. Beyond that, the model overfits the auxiliary task and leads to poor performance at test time.</a:t>
            </a:r>
            <a:endParaRPr lang="zh-CN" altLang="en-US" sz="2200" dirty="0"/>
          </a:p>
        </p:txBody>
      </p:sp>
      <p:pic>
        <p:nvPicPr>
          <p:cNvPr id="4" name="图片 3">
            <a:extLst>
              <a:ext uri="{FF2B5EF4-FFF2-40B4-BE49-F238E27FC236}">
                <a16:creationId xmlns:a16="http://schemas.microsoft.com/office/drawing/2014/main" id="{F7587370-5BCF-0016-0AA0-7FEBE5DD6D18}"/>
              </a:ext>
            </a:extLst>
          </p:cNvPr>
          <p:cNvPicPr>
            <a:picLocks noChangeAspect="1"/>
          </p:cNvPicPr>
          <p:nvPr/>
        </p:nvPicPr>
        <p:blipFill>
          <a:blip r:embed="rId3"/>
          <a:stretch>
            <a:fillRect/>
          </a:stretch>
        </p:blipFill>
        <p:spPr>
          <a:xfrm>
            <a:off x="5789796" y="2859616"/>
            <a:ext cx="5760189" cy="3752850"/>
          </a:xfrm>
          <a:prstGeom prst="rect">
            <a:avLst/>
          </a:prstGeom>
        </p:spPr>
      </p:pic>
    </p:spTree>
    <p:extLst>
      <p:ext uri="{BB962C8B-B14F-4D97-AF65-F5344CB8AC3E}">
        <p14:creationId xmlns:p14="http://schemas.microsoft.com/office/powerpoint/2010/main" val="2577660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CDF74D-E511-BEC6-5C84-FA6CB8A0B4EE}"/>
              </a:ext>
            </a:extLst>
          </p:cNvPr>
          <p:cNvSpPr>
            <a:spLocks noGrp="1"/>
          </p:cNvSpPr>
          <p:nvPr>
            <p:ph type="title"/>
          </p:nvPr>
        </p:nvSpPr>
        <p:spPr/>
        <p:txBody>
          <a:bodyPr/>
          <a:lstStyle/>
          <a:p>
            <a:r>
              <a:rPr lang="en-US" altLang="zh-CN" dirty="0">
                <a:latin typeface="NimbusRomNo9L-Medi"/>
              </a:rPr>
              <a:t>Conclusion</a:t>
            </a:r>
            <a:endParaRPr lang="zh-CN" altLang="en-US" dirty="0">
              <a:latin typeface="NimbusRomNo9L-Medi"/>
            </a:endParaRPr>
          </a:p>
        </p:txBody>
      </p:sp>
      <p:sp>
        <p:nvSpPr>
          <p:cNvPr id="3" name="内容占位符 2">
            <a:extLst>
              <a:ext uri="{FF2B5EF4-FFF2-40B4-BE49-F238E27FC236}">
                <a16:creationId xmlns:a16="http://schemas.microsoft.com/office/drawing/2014/main" id="{A448C652-B053-2C68-DDB1-B9BE9889916D}"/>
              </a:ext>
            </a:extLst>
          </p:cNvPr>
          <p:cNvSpPr>
            <a:spLocks noGrp="1"/>
          </p:cNvSpPr>
          <p:nvPr>
            <p:ph idx="1"/>
          </p:nvPr>
        </p:nvSpPr>
        <p:spPr>
          <a:xfrm>
            <a:off x="838199" y="1825625"/>
            <a:ext cx="10702159" cy="3533359"/>
          </a:xfrm>
        </p:spPr>
        <p:txBody>
          <a:bodyPr>
            <a:normAutofit/>
          </a:bodyPr>
          <a:lstStyle/>
          <a:p>
            <a:pPr algn="just"/>
            <a:r>
              <a:rPr lang="en-US" altLang="zh-CN" sz="2200" dirty="0">
                <a:latin typeface="NimbusRomNo9L-Regu"/>
              </a:rPr>
              <a:t>Test time adaptation has become very popular due to its simplicity and the lack of need for end-to-end training. This work is perhaps one of the first attempts to design the method of TTA in the context of blind IQA.</a:t>
            </a:r>
          </a:p>
          <a:p>
            <a:pPr marL="0" indent="0" algn="just">
              <a:buNone/>
            </a:pPr>
            <a:endParaRPr lang="en-US" altLang="zh-CN" sz="2200" dirty="0">
              <a:latin typeface="NimbusRomNo9L-Regu"/>
            </a:endParaRPr>
          </a:p>
          <a:p>
            <a:pPr algn="just"/>
            <a:r>
              <a:rPr lang="en-US" altLang="zh-CN" sz="2200" dirty="0">
                <a:latin typeface="NimbusRomNo9L-Regu"/>
              </a:rPr>
              <a:t>This paper formulates novel self-supervised auxiliary tasks using the rank and group contrastive losses, which can learn quality-aware information from the test data.</a:t>
            </a:r>
          </a:p>
          <a:p>
            <a:pPr algn="just"/>
            <a:endParaRPr lang="en-US" altLang="zh-CN" sz="2200" dirty="0">
              <a:latin typeface="NimbusRomNo9L-Regu"/>
            </a:endParaRPr>
          </a:p>
          <a:p>
            <a:pPr algn="just"/>
            <a:r>
              <a:rPr lang="en-US" altLang="zh-CN" sz="2200" dirty="0">
                <a:latin typeface="NimbusRomNo9L-Regu"/>
              </a:rPr>
              <a:t>The proposed TTA-IQA  method can outperform existing state-of-the-art methods  because of the adaptation at test time.</a:t>
            </a:r>
          </a:p>
          <a:p>
            <a:pPr algn="just"/>
            <a:endParaRPr lang="en-US" altLang="zh-CN" sz="2000" dirty="0">
              <a:latin typeface="NimbusRomNo9L-Regu"/>
            </a:endParaRPr>
          </a:p>
        </p:txBody>
      </p:sp>
    </p:spTree>
    <p:extLst>
      <p:ext uri="{BB962C8B-B14F-4D97-AF65-F5344CB8AC3E}">
        <p14:creationId xmlns:p14="http://schemas.microsoft.com/office/powerpoint/2010/main" val="6448397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EA2DCA-4676-9D64-A5E3-D11992AD602E}"/>
              </a:ext>
            </a:extLst>
          </p:cNvPr>
          <p:cNvSpPr>
            <a:spLocks noGrp="1"/>
          </p:cNvSpPr>
          <p:nvPr>
            <p:ph type="title"/>
          </p:nvPr>
        </p:nvSpPr>
        <p:spPr/>
        <p:txBody>
          <a:bodyPr/>
          <a:lstStyle/>
          <a:p>
            <a:r>
              <a:rPr lang="en-US" altLang="zh-CN" dirty="0">
                <a:latin typeface="NimbusRomNo9L-Medi"/>
              </a:rPr>
              <a:t>Writing</a:t>
            </a:r>
            <a:endParaRPr lang="zh-CN" altLang="en-US" dirty="0">
              <a:latin typeface="NimbusRomNo9L-Medi"/>
            </a:endParaRPr>
          </a:p>
        </p:txBody>
      </p:sp>
      <p:sp>
        <p:nvSpPr>
          <p:cNvPr id="3" name="内容占位符 2">
            <a:extLst>
              <a:ext uri="{FF2B5EF4-FFF2-40B4-BE49-F238E27FC236}">
                <a16:creationId xmlns:a16="http://schemas.microsoft.com/office/drawing/2014/main" id="{FCD8FE1E-CE56-C49F-2058-6071EF5CE26D}"/>
              </a:ext>
            </a:extLst>
          </p:cNvPr>
          <p:cNvSpPr>
            <a:spLocks noGrp="1"/>
          </p:cNvSpPr>
          <p:nvPr>
            <p:ph idx="1"/>
          </p:nvPr>
        </p:nvSpPr>
        <p:spPr/>
        <p:txBody>
          <a:bodyPr>
            <a:normAutofit/>
          </a:bodyPr>
          <a:lstStyle/>
          <a:p>
            <a:pPr>
              <a:lnSpc>
                <a:spcPct val="150000"/>
              </a:lnSpc>
              <a:spcBef>
                <a:spcPct val="0"/>
              </a:spcBef>
            </a:pPr>
            <a:r>
              <a:rPr lang="en-US" altLang="zh-CN" dirty="0">
                <a:latin typeface="NimbusRomNo9L-Medi"/>
                <a:ea typeface="+mj-ea"/>
                <a:cs typeface="+mj-cs"/>
              </a:rPr>
              <a:t>Abstract</a:t>
            </a:r>
          </a:p>
          <a:p>
            <a:pPr>
              <a:lnSpc>
                <a:spcPct val="150000"/>
              </a:lnSpc>
              <a:spcBef>
                <a:spcPct val="0"/>
              </a:spcBef>
            </a:pPr>
            <a:r>
              <a:rPr lang="en-US" altLang="zh-CN" dirty="0">
                <a:latin typeface="NimbusRomNo9L-Medi"/>
                <a:ea typeface="+mj-ea"/>
                <a:cs typeface="+mj-cs"/>
              </a:rPr>
              <a:t>Introduction</a:t>
            </a:r>
            <a:endParaRPr lang="zh-CN" altLang="en-US" dirty="0">
              <a:latin typeface="NimbusRomNo9L-Medi"/>
              <a:ea typeface="+mj-ea"/>
              <a:cs typeface="+mj-cs"/>
            </a:endParaRPr>
          </a:p>
        </p:txBody>
      </p:sp>
    </p:spTree>
    <p:extLst>
      <p:ext uri="{BB962C8B-B14F-4D97-AF65-F5344CB8AC3E}">
        <p14:creationId xmlns:p14="http://schemas.microsoft.com/office/powerpoint/2010/main" val="3389521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文本框 32">
            <a:extLst>
              <a:ext uri="{FF2B5EF4-FFF2-40B4-BE49-F238E27FC236}">
                <a16:creationId xmlns:a16="http://schemas.microsoft.com/office/drawing/2014/main" id="{8BE753CF-91C1-FD8A-C21B-A026F9D2946B}"/>
              </a:ext>
            </a:extLst>
          </p:cNvPr>
          <p:cNvSpPr txBox="1"/>
          <p:nvPr/>
        </p:nvSpPr>
        <p:spPr>
          <a:xfrm>
            <a:off x="7932234" y="864041"/>
            <a:ext cx="3984257"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dirty="0"/>
              <a:t>研究背景</a:t>
            </a:r>
            <a:r>
              <a:rPr lang="zh-CN" altLang="en-US" dirty="0">
                <a:solidFill>
                  <a:srgbClr val="2A2B2E"/>
                </a:solidFill>
                <a:latin typeface="PingFang SC"/>
              </a:rPr>
              <a:t>研和现状：</a:t>
            </a:r>
            <a:r>
              <a:rPr lang="en-US" altLang="zh-CN" dirty="0">
                <a:solidFill>
                  <a:srgbClr val="2A2B2E"/>
                </a:solidFill>
                <a:latin typeface="PingFang SC"/>
              </a:rPr>
              <a:t>BIQA</a:t>
            </a:r>
            <a:r>
              <a:rPr lang="zh-CN" altLang="en-US" dirty="0">
                <a:solidFill>
                  <a:srgbClr val="2A2B2E"/>
                </a:solidFill>
                <a:latin typeface="PingFang SC"/>
              </a:rPr>
              <a:t>任务中，训练和测试场景之间的分布变化往往导致在推理时的模型性能不佳。</a:t>
            </a:r>
            <a:endParaRPr lang="en-US" altLang="zh-CN" b="0" i="0" dirty="0">
              <a:solidFill>
                <a:srgbClr val="2A2B2E"/>
              </a:solidFill>
              <a:effectLst/>
              <a:latin typeface="PingFang SC"/>
            </a:endParaRPr>
          </a:p>
        </p:txBody>
      </p:sp>
      <p:sp>
        <p:nvSpPr>
          <p:cNvPr id="7" name="文本框 6">
            <a:extLst>
              <a:ext uri="{FF2B5EF4-FFF2-40B4-BE49-F238E27FC236}">
                <a16:creationId xmlns:a16="http://schemas.microsoft.com/office/drawing/2014/main" id="{5E40C5EA-F7CD-2A69-F420-FB6AC2833438}"/>
              </a:ext>
            </a:extLst>
          </p:cNvPr>
          <p:cNvSpPr txBox="1"/>
          <p:nvPr/>
        </p:nvSpPr>
        <p:spPr>
          <a:xfrm>
            <a:off x="207702" y="184660"/>
            <a:ext cx="6963566" cy="5940088"/>
          </a:xfrm>
          <a:prstGeom prst="rect">
            <a:avLst/>
          </a:prstGeom>
          <a:noFill/>
        </p:spPr>
        <p:txBody>
          <a:bodyPr wrap="square">
            <a:spAutoFit/>
          </a:bodyPr>
          <a:lstStyle/>
          <a:p>
            <a:pPr algn="just"/>
            <a:r>
              <a:rPr lang="en-US" altLang="zh-CN" sz="2000" b="1" i="1" u="none" strike="noStrike" baseline="0" dirty="0">
                <a:latin typeface="Times New Roman" panose="02020603050405020304" pitchFamily="18" charset="0"/>
                <a:cs typeface="Times New Roman" panose="02020603050405020304" pitchFamily="18" charset="0"/>
              </a:rPr>
              <a:t>ABSTRACT</a:t>
            </a:r>
          </a:p>
          <a:p>
            <a:pPr algn="just"/>
            <a:endParaRPr lang="en-US" altLang="zh-CN" sz="2000" dirty="0">
              <a:solidFill>
                <a:schemeClr val="bg1">
                  <a:lumMod val="65000"/>
                </a:schemeClr>
              </a:solidFill>
              <a:latin typeface="Times New Roman" panose="02020603050405020304" pitchFamily="18" charset="0"/>
              <a:cs typeface="Times New Roman" panose="02020603050405020304" pitchFamily="18" charset="0"/>
            </a:endParaRPr>
          </a:p>
          <a:p>
            <a:pPr algn="just"/>
            <a:endParaRPr lang="en-US" altLang="zh-CN" sz="2000" dirty="0">
              <a:solidFill>
                <a:schemeClr val="bg1">
                  <a:lumMod val="65000"/>
                </a:schemeClr>
              </a:solidFill>
              <a:latin typeface="Times New Roman" panose="02020603050405020304" pitchFamily="18" charset="0"/>
              <a:cs typeface="Times New Roman" panose="02020603050405020304" pitchFamily="18" charset="0"/>
            </a:endParaRPr>
          </a:p>
          <a:p>
            <a:pPr algn="just"/>
            <a:r>
              <a:rPr lang="en-US" altLang="zh-CN" sz="2000" dirty="0">
                <a:latin typeface="Times New Roman" panose="02020603050405020304" pitchFamily="18" charset="0"/>
                <a:cs typeface="Times New Roman" panose="02020603050405020304" pitchFamily="18" charset="0"/>
              </a:rPr>
              <a:t>While the design of blind image quality assessment (IQA) algorithms has improved significantly, the distribution shift between the training and testing scenarios often leads to a poor performance of these methods at inference time. </a:t>
            </a:r>
            <a:r>
              <a:rPr lang="en-US" altLang="zh-CN" sz="2000" dirty="0">
                <a:solidFill>
                  <a:schemeClr val="bg1">
                    <a:lumMod val="65000"/>
                  </a:schemeClr>
                </a:solidFill>
                <a:latin typeface="Times New Roman" panose="02020603050405020304" pitchFamily="18" charset="0"/>
                <a:cs typeface="Times New Roman" panose="02020603050405020304" pitchFamily="18" charset="0"/>
              </a:rPr>
              <a:t>This motivates the study of test time adaptation (TTA) techniques to improve their performance at inference time. Existing auxiliary tasks and loss functions used for TTA may not be relevant for quality-aware adaptation of the pre-trained model. In this work, we introduce two novel quality-relevant auxiliary tasks at the batch and sample levels to enable TTA for blind IQA. In particular, we introduce a group contrastive loss at the batch level and a relative rank loss at the sample level to make the model quality aware and adapt to the target data. Our experiments reveal that even using a small batch of images from the test distribution helps achieve significant improvement in performance by updating the batch normalization statistics of the source model.</a:t>
            </a:r>
          </a:p>
        </p:txBody>
      </p:sp>
    </p:spTree>
    <p:extLst>
      <p:ext uri="{BB962C8B-B14F-4D97-AF65-F5344CB8AC3E}">
        <p14:creationId xmlns:p14="http://schemas.microsoft.com/office/powerpoint/2010/main" val="34212165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文本框 32">
            <a:extLst>
              <a:ext uri="{FF2B5EF4-FFF2-40B4-BE49-F238E27FC236}">
                <a16:creationId xmlns:a16="http://schemas.microsoft.com/office/drawing/2014/main" id="{8BE753CF-91C1-FD8A-C21B-A026F9D2946B}"/>
              </a:ext>
            </a:extLst>
          </p:cNvPr>
          <p:cNvSpPr txBox="1"/>
          <p:nvPr/>
        </p:nvSpPr>
        <p:spPr>
          <a:xfrm>
            <a:off x="7542767" y="2231374"/>
            <a:ext cx="3984257" cy="12003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dirty="0">
                <a:solidFill>
                  <a:srgbClr val="2A2B2E"/>
                </a:solidFill>
                <a:latin typeface="PingFang SC"/>
              </a:rPr>
              <a:t>研究动机：测试时间适应</a:t>
            </a:r>
            <a:r>
              <a:rPr lang="en-US" altLang="zh-CN" dirty="0">
                <a:solidFill>
                  <a:srgbClr val="2A2B2E"/>
                </a:solidFill>
                <a:latin typeface="PingFang SC"/>
              </a:rPr>
              <a:t>(TTA)</a:t>
            </a:r>
            <a:r>
              <a:rPr lang="zh-CN" altLang="en-US" dirty="0">
                <a:solidFill>
                  <a:srgbClr val="2A2B2E"/>
                </a:solidFill>
                <a:latin typeface="PingFang SC"/>
              </a:rPr>
              <a:t>技术可以提高模型在推理时的性能。然而，现有的用于</a:t>
            </a:r>
            <a:r>
              <a:rPr lang="en-US" altLang="zh-CN" dirty="0">
                <a:solidFill>
                  <a:srgbClr val="2A2B2E"/>
                </a:solidFill>
                <a:latin typeface="PingFang SC"/>
              </a:rPr>
              <a:t>TTA</a:t>
            </a:r>
            <a:r>
              <a:rPr lang="zh-CN" altLang="en-US" dirty="0">
                <a:solidFill>
                  <a:srgbClr val="2A2B2E"/>
                </a:solidFill>
                <a:latin typeface="PingFang SC"/>
              </a:rPr>
              <a:t>辅助任务和损失函数不适用于</a:t>
            </a:r>
            <a:r>
              <a:rPr lang="en-US" altLang="zh-CN" dirty="0">
                <a:solidFill>
                  <a:srgbClr val="2A2B2E"/>
                </a:solidFill>
                <a:latin typeface="PingFang SC"/>
              </a:rPr>
              <a:t>IQA</a:t>
            </a:r>
            <a:r>
              <a:rPr lang="zh-CN" altLang="en-US" dirty="0">
                <a:solidFill>
                  <a:srgbClr val="2A2B2E"/>
                </a:solidFill>
                <a:latin typeface="PingFang SC"/>
              </a:rPr>
              <a:t>问题的域适应。</a:t>
            </a:r>
            <a:endParaRPr lang="en-US" altLang="zh-CN" b="0" i="0" dirty="0">
              <a:solidFill>
                <a:srgbClr val="2A2B2E"/>
              </a:solidFill>
              <a:effectLst/>
              <a:latin typeface="PingFang SC"/>
            </a:endParaRPr>
          </a:p>
        </p:txBody>
      </p:sp>
      <p:sp>
        <p:nvSpPr>
          <p:cNvPr id="7" name="文本框 6">
            <a:extLst>
              <a:ext uri="{FF2B5EF4-FFF2-40B4-BE49-F238E27FC236}">
                <a16:creationId xmlns:a16="http://schemas.microsoft.com/office/drawing/2014/main" id="{5E40C5EA-F7CD-2A69-F420-FB6AC2833438}"/>
              </a:ext>
            </a:extLst>
          </p:cNvPr>
          <p:cNvSpPr txBox="1"/>
          <p:nvPr/>
        </p:nvSpPr>
        <p:spPr>
          <a:xfrm>
            <a:off x="207702" y="184660"/>
            <a:ext cx="6963566" cy="5940088"/>
          </a:xfrm>
          <a:prstGeom prst="rect">
            <a:avLst/>
          </a:prstGeom>
          <a:noFill/>
        </p:spPr>
        <p:txBody>
          <a:bodyPr wrap="square">
            <a:spAutoFit/>
          </a:bodyPr>
          <a:lstStyle/>
          <a:p>
            <a:pPr algn="just"/>
            <a:r>
              <a:rPr lang="en-US" altLang="zh-CN" sz="2000" b="1" i="1" u="none" strike="noStrike" baseline="0" dirty="0">
                <a:latin typeface="Times New Roman" panose="02020603050405020304" pitchFamily="18" charset="0"/>
                <a:cs typeface="Times New Roman" panose="02020603050405020304" pitchFamily="18" charset="0"/>
              </a:rPr>
              <a:t>ABSTRACT</a:t>
            </a:r>
          </a:p>
          <a:p>
            <a:pPr algn="just"/>
            <a:endParaRPr lang="en-US" altLang="zh-CN" sz="2000" dirty="0">
              <a:solidFill>
                <a:schemeClr val="bg1">
                  <a:lumMod val="65000"/>
                </a:schemeClr>
              </a:solidFill>
              <a:latin typeface="Times New Roman" panose="02020603050405020304" pitchFamily="18" charset="0"/>
              <a:cs typeface="Times New Roman" panose="02020603050405020304" pitchFamily="18" charset="0"/>
            </a:endParaRPr>
          </a:p>
          <a:p>
            <a:pPr algn="just"/>
            <a:endParaRPr lang="en-US" altLang="zh-CN" sz="2000" dirty="0">
              <a:solidFill>
                <a:schemeClr val="bg1">
                  <a:lumMod val="65000"/>
                </a:schemeClr>
              </a:solidFill>
              <a:latin typeface="Times New Roman" panose="02020603050405020304" pitchFamily="18" charset="0"/>
              <a:cs typeface="Times New Roman" panose="02020603050405020304" pitchFamily="18" charset="0"/>
            </a:endParaRPr>
          </a:p>
          <a:p>
            <a:pPr algn="just"/>
            <a:r>
              <a:rPr lang="en-US" altLang="zh-CN" sz="2000" dirty="0">
                <a:solidFill>
                  <a:schemeClr val="bg1">
                    <a:lumMod val="65000"/>
                  </a:schemeClr>
                </a:solidFill>
                <a:latin typeface="Times New Roman" panose="02020603050405020304" pitchFamily="18" charset="0"/>
                <a:cs typeface="Times New Roman" panose="02020603050405020304" pitchFamily="18" charset="0"/>
              </a:rPr>
              <a:t>While the design of blind image quality assessment (IQA) algorithms has improved significantly, the distribution shift between the training and testing scenarios often leads to a poor performance of these methods at inference time</a:t>
            </a:r>
            <a:r>
              <a:rPr lang="en-US" altLang="zh-CN" sz="2000" dirty="0">
                <a:latin typeface="Times New Roman" panose="02020603050405020304" pitchFamily="18" charset="0"/>
                <a:cs typeface="Times New Roman" panose="02020603050405020304" pitchFamily="18" charset="0"/>
              </a:rPr>
              <a:t>. This motivates the study of test time adaptation (TTA) techniques to improve their performance at inference time. Existing auxiliary tasks and loss functions used for TTA may not be relevant for quality-aware adaptation of the pre-trained model. </a:t>
            </a:r>
            <a:r>
              <a:rPr lang="en-US" altLang="zh-CN" sz="2000" dirty="0">
                <a:solidFill>
                  <a:schemeClr val="bg1">
                    <a:lumMod val="65000"/>
                  </a:schemeClr>
                </a:solidFill>
                <a:latin typeface="Times New Roman" panose="02020603050405020304" pitchFamily="18" charset="0"/>
                <a:cs typeface="Times New Roman" panose="02020603050405020304" pitchFamily="18" charset="0"/>
              </a:rPr>
              <a:t>In this work, we introduce two novel quality-relevant auxiliary tasks at the batch and sample levels to enable TTA for blind IQA. In particular, we introduce a group contrastive loss at the batch level and a relative rank loss at the sample level to make the model quality aware and adapt to the target data. Our experiments reveal that even using a small batch of images from the test distribution helps achieve significant improvement in performance by updating the batch normalization statistics of the source model.</a:t>
            </a:r>
          </a:p>
        </p:txBody>
      </p:sp>
    </p:spTree>
    <p:extLst>
      <p:ext uri="{BB962C8B-B14F-4D97-AF65-F5344CB8AC3E}">
        <p14:creationId xmlns:p14="http://schemas.microsoft.com/office/powerpoint/2010/main" val="9443061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E3FFDD0-09CC-35FA-39F8-34FAFC252FC7}"/>
              </a:ext>
            </a:extLst>
          </p:cNvPr>
          <p:cNvSpPr txBox="1"/>
          <p:nvPr/>
        </p:nvSpPr>
        <p:spPr>
          <a:xfrm>
            <a:off x="8000041" y="3258790"/>
            <a:ext cx="3984257"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l"/>
            <a:r>
              <a:rPr lang="zh-CN" altLang="en-US" b="0" i="0" dirty="0">
                <a:solidFill>
                  <a:srgbClr val="2A2B2E"/>
                </a:solidFill>
                <a:effectLst/>
                <a:latin typeface="PingFang SC"/>
              </a:rPr>
              <a:t>全文主题：在批量水平和样本水平上分别引入了两个新的与质量相关的辅助任务，以实现</a:t>
            </a:r>
            <a:r>
              <a:rPr lang="en-US" altLang="zh-CN" b="0" i="0" dirty="0">
                <a:solidFill>
                  <a:srgbClr val="2A2B2E"/>
                </a:solidFill>
                <a:effectLst/>
                <a:latin typeface="PingFang SC"/>
              </a:rPr>
              <a:t>BIQA</a:t>
            </a:r>
            <a:r>
              <a:rPr lang="zh-CN" altLang="en-US" b="0" i="0" dirty="0">
                <a:solidFill>
                  <a:srgbClr val="2A2B2E"/>
                </a:solidFill>
                <a:effectLst/>
                <a:latin typeface="PingFang SC"/>
              </a:rPr>
              <a:t>的</a:t>
            </a:r>
            <a:r>
              <a:rPr lang="en-US" altLang="zh-CN" b="0" i="0" dirty="0">
                <a:solidFill>
                  <a:srgbClr val="2A2B2E"/>
                </a:solidFill>
                <a:effectLst/>
                <a:latin typeface="PingFang SC"/>
              </a:rPr>
              <a:t>TTA</a:t>
            </a:r>
            <a:r>
              <a:rPr lang="zh-CN" altLang="en-US" b="0" i="0" dirty="0">
                <a:solidFill>
                  <a:srgbClr val="2A2B2E"/>
                </a:solidFill>
                <a:effectLst/>
                <a:latin typeface="PingFang SC"/>
              </a:rPr>
              <a:t>。</a:t>
            </a:r>
          </a:p>
        </p:txBody>
      </p:sp>
      <p:sp>
        <p:nvSpPr>
          <p:cNvPr id="3" name="文本框 2">
            <a:extLst>
              <a:ext uri="{FF2B5EF4-FFF2-40B4-BE49-F238E27FC236}">
                <a16:creationId xmlns:a16="http://schemas.microsoft.com/office/drawing/2014/main" id="{2F57602A-ABF2-E883-C0A8-CDCEC53A2380}"/>
              </a:ext>
            </a:extLst>
          </p:cNvPr>
          <p:cNvSpPr txBox="1"/>
          <p:nvPr/>
        </p:nvSpPr>
        <p:spPr>
          <a:xfrm>
            <a:off x="207702" y="184660"/>
            <a:ext cx="6963566" cy="5940088"/>
          </a:xfrm>
          <a:prstGeom prst="rect">
            <a:avLst/>
          </a:prstGeom>
          <a:noFill/>
        </p:spPr>
        <p:txBody>
          <a:bodyPr wrap="square">
            <a:spAutoFit/>
          </a:bodyPr>
          <a:lstStyle/>
          <a:p>
            <a:pPr algn="just"/>
            <a:r>
              <a:rPr lang="en-US" altLang="zh-CN" sz="2000" b="1" i="1" u="none" strike="noStrike" baseline="0" dirty="0">
                <a:latin typeface="Times New Roman" panose="02020603050405020304" pitchFamily="18" charset="0"/>
                <a:cs typeface="Times New Roman" panose="02020603050405020304" pitchFamily="18" charset="0"/>
              </a:rPr>
              <a:t>ABSTRACT</a:t>
            </a:r>
          </a:p>
          <a:p>
            <a:pPr algn="just"/>
            <a:endParaRPr lang="en-US" altLang="zh-CN" sz="2000" dirty="0">
              <a:solidFill>
                <a:schemeClr val="bg1">
                  <a:lumMod val="65000"/>
                </a:schemeClr>
              </a:solidFill>
              <a:latin typeface="Times New Roman" panose="02020603050405020304" pitchFamily="18" charset="0"/>
              <a:cs typeface="Times New Roman" panose="02020603050405020304" pitchFamily="18" charset="0"/>
            </a:endParaRPr>
          </a:p>
          <a:p>
            <a:pPr algn="just"/>
            <a:endParaRPr lang="en-US" altLang="zh-CN" sz="2000" dirty="0">
              <a:solidFill>
                <a:schemeClr val="bg1">
                  <a:lumMod val="65000"/>
                </a:schemeClr>
              </a:solidFill>
              <a:latin typeface="Times New Roman" panose="02020603050405020304" pitchFamily="18" charset="0"/>
              <a:cs typeface="Times New Roman" panose="02020603050405020304" pitchFamily="18" charset="0"/>
            </a:endParaRPr>
          </a:p>
          <a:p>
            <a:pPr algn="just"/>
            <a:r>
              <a:rPr lang="en-US" altLang="zh-CN" sz="2000" dirty="0">
                <a:solidFill>
                  <a:schemeClr val="bg1">
                    <a:lumMod val="65000"/>
                  </a:schemeClr>
                </a:solidFill>
                <a:latin typeface="Times New Roman" panose="02020603050405020304" pitchFamily="18" charset="0"/>
                <a:cs typeface="Times New Roman" panose="02020603050405020304" pitchFamily="18" charset="0"/>
              </a:rPr>
              <a:t>While the design of blind image quality assessment (IQA) algorithms has improved significantly, the distribution shift between the training and testing scenarios often leads to a poor performance of these methods at inference time. This motivates the study of test time adaptation (TTA) techniques to improve their performance at inference time. Existing auxiliary tasks and loss functions used for TTA may not be relevant for quality-aware adaptation of the pre-trained model. </a:t>
            </a:r>
            <a:r>
              <a:rPr lang="en-US" altLang="zh-CN" sz="2000" dirty="0">
                <a:latin typeface="Times New Roman" panose="02020603050405020304" pitchFamily="18" charset="0"/>
                <a:cs typeface="Times New Roman" panose="02020603050405020304" pitchFamily="18" charset="0"/>
              </a:rPr>
              <a:t>In this work, we introduce two novel quality-relevant auxiliary tasks at the batch and sample levels to enable TTA for blind IQA</a:t>
            </a:r>
            <a:r>
              <a:rPr lang="en-US" altLang="zh-CN" sz="2000" dirty="0">
                <a:solidFill>
                  <a:schemeClr val="bg1">
                    <a:lumMod val="65000"/>
                  </a:schemeClr>
                </a:solidFill>
                <a:latin typeface="Times New Roman" panose="02020603050405020304" pitchFamily="18" charset="0"/>
                <a:cs typeface="Times New Roman" panose="02020603050405020304" pitchFamily="18" charset="0"/>
              </a:rPr>
              <a:t>. In particular, we introduce a group contrastive loss at the batch level and a relative rank loss at the sample level to make the model quality aware and adapt to the target data. Our experiments reveal that even using a small batch of images from the test distribution helps achieve significant improvement in performance by updating the batch normalization statistics of the source model.</a:t>
            </a:r>
          </a:p>
        </p:txBody>
      </p:sp>
    </p:spTree>
    <p:extLst>
      <p:ext uri="{BB962C8B-B14F-4D97-AF65-F5344CB8AC3E}">
        <p14:creationId xmlns:p14="http://schemas.microsoft.com/office/powerpoint/2010/main" val="12009236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B3FEFE4-E7AF-7681-48B2-4A16D49C750D}"/>
              </a:ext>
            </a:extLst>
          </p:cNvPr>
          <p:cNvSpPr txBox="1"/>
          <p:nvPr/>
        </p:nvSpPr>
        <p:spPr>
          <a:xfrm>
            <a:off x="7757061" y="3785626"/>
            <a:ext cx="3984257" cy="14773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dirty="0"/>
              <a:t>所提方法的</a:t>
            </a:r>
            <a:r>
              <a:rPr lang="en-US" altLang="zh-CN" dirty="0"/>
              <a:t>2</a:t>
            </a:r>
            <a:r>
              <a:rPr lang="zh-CN" altLang="en-US" dirty="0"/>
              <a:t>个部分：</a:t>
            </a:r>
            <a:endParaRPr lang="en-US" altLang="zh-CN" dirty="0"/>
          </a:p>
          <a:p>
            <a:pPr marL="285750" indent="-285750">
              <a:buFont typeface="Arial" panose="020B0604020202020204" pitchFamily="34" charset="0"/>
              <a:buChar char="•"/>
            </a:pPr>
            <a:r>
              <a:rPr lang="zh-CN" altLang="en-US" dirty="0"/>
              <a:t>批水平：引入了群体对比损失。</a:t>
            </a:r>
            <a:endParaRPr lang="en-US" altLang="zh-CN" dirty="0"/>
          </a:p>
          <a:p>
            <a:pPr marL="285750" indent="-285750">
              <a:buFont typeface="Arial" panose="020B0604020202020204" pitchFamily="34" charset="0"/>
              <a:buChar char="•"/>
            </a:pPr>
            <a:r>
              <a:rPr lang="zh-CN" altLang="en-US" dirty="0"/>
              <a:t>样本水平：引入了相对秩损失。</a:t>
            </a:r>
            <a:endParaRPr lang="en-US" altLang="zh-CN" dirty="0"/>
          </a:p>
          <a:p>
            <a:r>
              <a:rPr lang="zh-CN" altLang="en-US" dirty="0"/>
              <a:t>从而使模型具有质量意识并适应目标数据。</a:t>
            </a:r>
            <a:endParaRPr lang="en-US" altLang="zh-CN" dirty="0"/>
          </a:p>
        </p:txBody>
      </p:sp>
      <p:sp>
        <p:nvSpPr>
          <p:cNvPr id="2" name="文本框 1">
            <a:extLst>
              <a:ext uri="{FF2B5EF4-FFF2-40B4-BE49-F238E27FC236}">
                <a16:creationId xmlns:a16="http://schemas.microsoft.com/office/drawing/2014/main" id="{F00EA1BB-8200-2F49-8A02-ED71EE114B85}"/>
              </a:ext>
            </a:extLst>
          </p:cNvPr>
          <p:cNvSpPr txBox="1"/>
          <p:nvPr/>
        </p:nvSpPr>
        <p:spPr>
          <a:xfrm>
            <a:off x="207702" y="184660"/>
            <a:ext cx="6963566" cy="5940088"/>
          </a:xfrm>
          <a:prstGeom prst="rect">
            <a:avLst/>
          </a:prstGeom>
          <a:noFill/>
        </p:spPr>
        <p:txBody>
          <a:bodyPr wrap="square">
            <a:spAutoFit/>
          </a:bodyPr>
          <a:lstStyle/>
          <a:p>
            <a:pPr algn="just"/>
            <a:r>
              <a:rPr lang="en-US" altLang="zh-CN" sz="2000" b="1" i="1" u="none" strike="noStrike" baseline="0" dirty="0">
                <a:latin typeface="Times New Roman" panose="02020603050405020304" pitchFamily="18" charset="0"/>
                <a:cs typeface="Times New Roman" panose="02020603050405020304" pitchFamily="18" charset="0"/>
              </a:rPr>
              <a:t>ABSTRACT</a:t>
            </a:r>
          </a:p>
          <a:p>
            <a:pPr algn="just"/>
            <a:endParaRPr lang="en-US" altLang="zh-CN" sz="2000" dirty="0">
              <a:solidFill>
                <a:schemeClr val="bg1">
                  <a:lumMod val="65000"/>
                </a:schemeClr>
              </a:solidFill>
              <a:latin typeface="Times New Roman" panose="02020603050405020304" pitchFamily="18" charset="0"/>
              <a:cs typeface="Times New Roman" panose="02020603050405020304" pitchFamily="18" charset="0"/>
            </a:endParaRPr>
          </a:p>
          <a:p>
            <a:pPr algn="just"/>
            <a:endParaRPr lang="en-US" altLang="zh-CN" sz="2000" dirty="0">
              <a:solidFill>
                <a:schemeClr val="bg1">
                  <a:lumMod val="65000"/>
                </a:schemeClr>
              </a:solidFill>
              <a:latin typeface="Times New Roman" panose="02020603050405020304" pitchFamily="18" charset="0"/>
              <a:cs typeface="Times New Roman" panose="02020603050405020304" pitchFamily="18" charset="0"/>
            </a:endParaRPr>
          </a:p>
          <a:p>
            <a:pPr algn="just"/>
            <a:r>
              <a:rPr lang="en-US" altLang="zh-CN" sz="2000" dirty="0">
                <a:solidFill>
                  <a:schemeClr val="bg1">
                    <a:lumMod val="65000"/>
                  </a:schemeClr>
                </a:solidFill>
                <a:latin typeface="Times New Roman" panose="02020603050405020304" pitchFamily="18" charset="0"/>
                <a:cs typeface="Times New Roman" panose="02020603050405020304" pitchFamily="18" charset="0"/>
              </a:rPr>
              <a:t>While the design of blind image quality assessment (IQA) algorithms has improved significantly, the distribution shift between the training and testing scenarios often leads to a poor performance of these methods at inference time. This motivates the study of test time adaptation (TTA) techniques to improve their performance at inference time. Existing auxiliary tasks and loss functions used for TTA may not be relevant for quality-aware adaptation of the pre-trained model. In this work, we introduce two novel quality-relevant auxiliary tasks at the batch and sample levels to enable TTA for blind IQA. </a:t>
            </a:r>
            <a:r>
              <a:rPr lang="en-US" altLang="zh-CN" sz="2000" dirty="0">
                <a:latin typeface="Times New Roman" panose="02020603050405020304" pitchFamily="18" charset="0"/>
                <a:cs typeface="Times New Roman" panose="02020603050405020304" pitchFamily="18" charset="0"/>
              </a:rPr>
              <a:t>In particular, we introduce a group contrastive loss at the batch level and a relative rank loss at the sample level to make the model quality aware and adapt to the target data.</a:t>
            </a:r>
            <a:r>
              <a:rPr lang="en-US" altLang="zh-CN" sz="2000" dirty="0">
                <a:solidFill>
                  <a:schemeClr val="bg1">
                    <a:lumMod val="65000"/>
                  </a:schemeClr>
                </a:solidFill>
                <a:latin typeface="Times New Roman" panose="02020603050405020304" pitchFamily="18" charset="0"/>
                <a:cs typeface="Times New Roman" panose="02020603050405020304" pitchFamily="18" charset="0"/>
              </a:rPr>
              <a:t> Our experiments reveal that even using a small batch of images from the test distribution helps achieve significant improvement in performance by updating the batch normalization statistics of the source model.</a:t>
            </a:r>
          </a:p>
        </p:txBody>
      </p:sp>
    </p:spTree>
    <p:extLst>
      <p:ext uri="{BB962C8B-B14F-4D97-AF65-F5344CB8AC3E}">
        <p14:creationId xmlns:p14="http://schemas.microsoft.com/office/powerpoint/2010/main" val="38447553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7931303E-9F09-757F-1B3E-2A7AE28F205F}"/>
              </a:ext>
            </a:extLst>
          </p:cNvPr>
          <p:cNvGrpSpPr/>
          <p:nvPr/>
        </p:nvGrpSpPr>
        <p:grpSpPr>
          <a:xfrm>
            <a:off x="8306655" y="5375932"/>
            <a:ext cx="2023158" cy="442141"/>
            <a:chOff x="9846328" y="4023617"/>
            <a:chExt cx="2018240" cy="442141"/>
          </a:xfrm>
        </p:grpSpPr>
        <p:sp>
          <p:nvSpPr>
            <p:cNvPr id="4" name="矩形 3">
              <a:extLst>
                <a:ext uri="{FF2B5EF4-FFF2-40B4-BE49-F238E27FC236}">
                  <a16:creationId xmlns:a16="http://schemas.microsoft.com/office/drawing/2014/main" id="{2AEF56F6-9288-8458-7EC8-A1D39298B472}"/>
                </a:ext>
              </a:extLst>
            </p:cNvPr>
            <p:cNvSpPr/>
            <p:nvPr/>
          </p:nvSpPr>
          <p:spPr>
            <a:xfrm>
              <a:off x="9846328" y="4023617"/>
              <a:ext cx="1407168" cy="44214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A0E04844-CB6C-E12F-3DA3-52A9426A6DE2}"/>
                </a:ext>
              </a:extLst>
            </p:cNvPr>
            <p:cNvSpPr txBox="1"/>
            <p:nvPr/>
          </p:nvSpPr>
          <p:spPr>
            <a:xfrm>
              <a:off x="9990140" y="4060022"/>
              <a:ext cx="1874428" cy="369332"/>
            </a:xfrm>
            <a:prstGeom prst="rect">
              <a:avLst/>
            </a:prstGeom>
            <a:noFill/>
          </p:spPr>
          <p:txBody>
            <a:bodyPr wrap="square">
              <a:spAutoFit/>
            </a:bodyPr>
            <a:lstStyle/>
            <a:p>
              <a:r>
                <a:rPr lang="zh-CN" altLang="en-US" dirty="0"/>
                <a:t>实验效果</a:t>
              </a:r>
            </a:p>
          </p:txBody>
        </p:sp>
      </p:grpSp>
      <p:sp>
        <p:nvSpPr>
          <p:cNvPr id="3" name="文本框 2">
            <a:extLst>
              <a:ext uri="{FF2B5EF4-FFF2-40B4-BE49-F238E27FC236}">
                <a16:creationId xmlns:a16="http://schemas.microsoft.com/office/drawing/2014/main" id="{151A4F00-DDA4-77E4-6874-D6FBE2A527EF}"/>
              </a:ext>
            </a:extLst>
          </p:cNvPr>
          <p:cNvSpPr txBox="1"/>
          <p:nvPr/>
        </p:nvSpPr>
        <p:spPr>
          <a:xfrm>
            <a:off x="207702" y="184660"/>
            <a:ext cx="6963566" cy="5940088"/>
          </a:xfrm>
          <a:prstGeom prst="rect">
            <a:avLst/>
          </a:prstGeom>
          <a:noFill/>
        </p:spPr>
        <p:txBody>
          <a:bodyPr wrap="square">
            <a:spAutoFit/>
          </a:bodyPr>
          <a:lstStyle/>
          <a:p>
            <a:pPr algn="just"/>
            <a:r>
              <a:rPr lang="en-US" altLang="zh-CN" sz="2000" b="1" i="1" u="none" strike="noStrike" baseline="0" dirty="0">
                <a:latin typeface="Times New Roman" panose="02020603050405020304" pitchFamily="18" charset="0"/>
                <a:cs typeface="Times New Roman" panose="02020603050405020304" pitchFamily="18" charset="0"/>
              </a:rPr>
              <a:t>ABSTRACT</a:t>
            </a:r>
          </a:p>
          <a:p>
            <a:pPr algn="just"/>
            <a:endParaRPr lang="en-US" altLang="zh-CN" sz="2000" dirty="0">
              <a:solidFill>
                <a:schemeClr val="bg1">
                  <a:lumMod val="65000"/>
                </a:schemeClr>
              </a:solidFill>
              <a:latin typeface="Times New Roman" panose="02020603050405020304" pitchFamily="18" charset="0"/>
              <a:cs typeface="Times New Roman" panose="02020603050405020304" pitchFamily="18" charset="0"/>
            </a:endParaRPr>
          </a:p>
          <a:p>
            <a:pPr algn="just"/>
            <a:endParaRPr lang="en-US" altLang="zh-CN" sz="2000" dirty="0">
              <a:solidFill>
                <a:schemeClr val="bg1">
                  <a:lumMod val="65000"/>
                </a:schemeClr>
              </a:solidFill>
              <a:latin typeface="Times New Roman" panose="02020603050405020304" pitchFamily="18" charset="0"/>
              <a:cs typeface="Times New Roman" panose="02020603050405020304" pitchFamily="18" charset="0"/>
            </a:endParaRPr>
          </a:p>
          <a:p>
            <a:pPr algn="just"/>
            <a:r>
              <a:rPr lang="en-US" altLang="zh-CN" sz="2000" dirty="0">
                <a:solidFill>
                  <a:schemeClr val="bg1">
                    <a:lumMod val="65000"/>
                  </a:schemeClr>
                </a:solidFill>
                <a:latin typeface="Times New Roman" panose="02020603050405020304" pitchFamily="18" charset="0"/>
                <a:cs typeface="Times New Roman" panose="02020603050405020304" pitchFamily="18" charset="0"/>
              </a:rPr>
              <a:t>While the design of blind image quality assessment (IQA) algorithms has improved significantly, the distribution shift between the training and testing scenarios often leads to a poor performance of these methods at inference time. This motivates the study of test time adaptation (TTA) techniques to improve their performance at inference time. Existing auxiliary tasks and loss functions used for TTA may not be relevant for quality-aware adaptation of the pre-trained model. In this work, we introduce two novel quality-relevant auxiliary tasks at the batch and sample levels to enable TTA for blind IQA. In particular, we introduce a group contrastive loss at the batch level and a relative rank loss at the sample level to make the model quality aware and adapt to the target data. </a:t>
            </a:r>
            <a:r>
              <a:rPr lang="en-US" altLang="zh-CN" sz="2000" dirty="0">
                <a:latin typeface="Times New Roman" panose="02020603050405020304" pitchFamily="18" charset="0"/>
                <a:cs typeface="Times New Roman" panose="02020603050405020304" pitchFamily="18" charset="0"/>
              </a:rPr>
              <a:t>Our experiments reveal that even using a small batch of images from the test distribution helps achieve significant improvement in performance by updating the batch normalization statistics of the source model</a:t>
            </a:r>
            <a:r>
              <a:rPr lang="en-US" altLang="zh-CN" sz="2000" dirty="0">
                <a:solidFill>
                  <a:schemeClr val="bg1">
                    <a:lumMod val="65000"/>
                  </a:schemeClr>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393817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ED8530-F4A8-24C6-DED8-5B1ADCFBBE4D}"/>
              </a:ext>
            </a:extLst>
          </p:cNvPr>
          <p:cNvSpPr>
            <a:spLocks noGrp="1"/>
          </p:cNvSpPr>
          <p:nvPr>
            <p:ph type="title"/>
          </p:nvPr>
        </p:nvSpPr>
        <p:spPr/>
        <p:txBody>
          <a:bodyPr>
            <a:normAutofit/>
          </a:bodyPr>
          <a:lstStyle/>
          <a:p>
            <a:r>
              <a:rPr lang="en-US" altLang="zh-CN" dirty="0">
                <a:latin typeface="NimbusRomNo9L-Medi"/>
              </a:rPr>
              <a:t>Introduction – 1/5</a:t>
            </a:r>
            <a:endParaRPr lang="zh-CN" altLang="en-US" dirty="0">
              <a:latin typeface="NimbusRomNo9L-Medi"/>
            </a:endParaRPr>
          </a:p>
        </p:txBody>
      </p:sp>
      <p:sp>
        <p:nvSpPr>
          <p:cNvPr id="3" name="内容占位符 2">
            <a:extLst>
              <a:ext uri="{FF2B5EF4-FFF2-40B4-BE49-F238E27FC236}">
                <a16:creationId xmlns:a16="http://schemas.microsoft.com/office/drawing/2014/main" id="{C9949808-4689-6442-C32B-9265FC787434}"/>
              </a:ext>
            </a:extLst>
          </p:cNvPr>
          <p:cNvSpPr>
            <a:spLocks noGrp="1"/>
          </p:cNvSpPr>
          <p:nvPr>
            <p:ph idx="1"/>
          </p:nvPr>
        </p:nvSpPr>
        <p:spPr>
          <a:xfrm>
            <a:off x="838200" y="1627436"/>
            <a:ext cx="10515600" cy="4351338"/>
          </a:xfrm>
        </p:spPr>
        <p:txBody>
          <a:bodyPr/>
          <a:lstStyle/>
          <a:p>
            <a:r>
              <a:rPr lang="zh-CN" altLang="en-US" dirty="0"/>
              <a:t>研究背景（</a:t>
            </a:r>
            <a:r>
              <a:rPr lang="en-US" altLang="zh-CN" dirty="0"/>
              <a:t>IQA</a:t>
            </a:r>
            <a:r>
              <a:rPr lang="zh-CN" altLang="en-US" dirty="0"/>
              <a:t>的问题）</a:t>
            </a:r>
            <a:r>
              <a:rPr lang="zh-CN" altLang="en-US" dirty="0">
                <a:solidFill>
                  <a:srgbClr val="101214"/>
                </a:solidFill>
                <a:latin typeface="PingFang SC"/>
              </a:rPr>
              <a:t>：</a:t>
            </a:r>
            <a:endParaRPr lang="zh-CN" altLang="en-US" dirty="0"/>
          </a:p>
        </p:txBody>
      </p:sp>
      <p:sp>
        <p:nvSpPr>
          <p:cNvPr id="20" name="文本框 19">
            <a:extLst>
              <a:ext uri="{FF2B5EF4-FFF2-40B4-BE49-F238E27FC236}">
                <a16:creationId xmlns:a16="http://schemas.microsoft.com/office/drawing/2014/main" id="{04B1203C-04B2-4147-FDB4-510A592785DE}"/>
              </a:ext>
            </a:extLst>
          </p:cNvPr>
          <p:cNvSpPr txBox="1"/>
          <p:nvPr/>
        </p:nvSpPr>
        <p:spPr>
          <a:xfrm>
            <a:off x="737156" y="2267555"/>
            <a:ext cx="4041711" cy="646331"/>
          </a:xfrm>
          <a:prstGeom prst="rect">
            <a:avLst/>
          </a:prstGeom>
          <a:noFill/>
        </p:spPr>
        <p:txBody>
          <a:bodyPr wrap="square">
            <a:spAutoFit/>
          </a:bodyPr>
          <a:lstStyle/>
          <a:p>
            <a:r>
              <a:rPr lang="zh-CN" altLang="en-US" b="0" i="0" dirty="0">
                <a:solidFill>
                  <a:srgbClr val="101214"/>
                </a:solidFill>
                <a:effectLst/>
                <a:latin typeface="PingFang SC"/>
              </a:rPr>
              <a:t>在各个应用中，图像质量评估</a:t>
            </a:r>
            <a:r>
              <a:rPr lang="en-US" altLang="zh-CN" b="0" i="0" dirty="0">
                <a:solidFill>
                  <a:srgbClr val="101214"/>
                </a:solidFill>
                <a:effectLst/>
                <a:latin typeface="PingFang SC"/>
              </a:rPr>
              <a:t>(IQA)</a:t>
            </a:r>
            <a:r>
              <a:rPr lang="zh-CN" altLang="en-US" b="0" i="0" dirty="0">
                <a:solidFill>
                  <a:srgbClr val="101214"/>
                </a:solidFill>
                <a:effectLst/>
                <a:latin typeface="PingFang SC"/>
              </a:rPr>
              <a:t>问题非常重要。</a:t>
            </a:r>
            <a:endParaRPr lang="zh-CN" altLang="en-US" dirty="0"/>
          </a:p>
        </p:txBody>
      </p:sp>
      <p:sp>
        <p:nvSpPr>
          <p:cNvPr id="21" name="文本框 20">
            <a:extLst>
              <a:ext uri="{FF2B5EF4-FFF2-40B4-BE49-F238E27FC236}">
                <a16:creationId xmlns:a16="http://schemas.microsoft.com/office/drawing/2014/main" id="{AF1E53AA-8AF3-FD70-C32F-32BBC1751D80}"/>
              </a:ext>
            </a:extLst>
          </p:cNvPr>
          <p:cNvSpPr txBox="1"/>
          <p:nvPr/>
        </p:nvSpPr>
        <p:spPr>
          <a:xfrm>
            <a:off x="770705" y="5330887"/>
            <a:ext cx="4311694" cy="646331"/>
          </a:xfrm>
          <a:prstGeom prst="rect">
            <a:avLst/>
          </a:prstGeom>
          <a:noFill/>
        </p:spPr>
        <p:txBody>
          <a:bodyPr wrap="square">
            <a:spAutoFit/>
          </a:bodyPr>
          <a:lstStyle/>
          <a:p>
            <a:r>
              <a:rPr lang="en-US" altLang="zh-CN" dirty="0"/>
              <a:t>IQA</a:t>
            </a:r>
            <a:r>
              <a:rPr lang="zh-CN" altLang="en-US" dirty="0"/>
              <a:t>模型通常泛化能力较差，很难在这种变化下表现良好。</a:t>
            </a:r>
          </a:p>
        </p:txBody>
      </p:sp>
      <p:sp>
        <p:nvSpPr>
          <p:cNvPr id="35" name="文本框 34">
            <a:extLst>
              <a:ext uri="{FF2B5EF4-FFF2-40B4-BE49-F238E27FC236}">
                <a16:creationId xmlns:a16="http://schemas.microsoft.com/office/drawing/2014/main" id="{282DE8C2-3C12-2DC0-88C9-F02F480EA320}"/>
              </a:ext>
            </a:extLst>
          </p:cNvPr>
          <p:cNvSpPr txBox="1"/>
          <p:nvPr/>
        </p:nvSpPr>
        <p:spPr>
          <a:xfrm>
            <a:off x="737156" y="3742224"/>
            <a:ext cx="4311693" cy="923330"/>
          </a:xfrm>
          <a:prstGeom prst="rect">
            <a:avLst/>
          </a:prstGeom>
          <a:noFill/>
        </p:spPr>
        <p:txBody>
          <a:bodyPr wrap="square">
            <a:spAutoFit/>
          </a:bodyPr>
          <a:lstStyle/>
          <a:p>
            <a:r>
              <a:rPr lang="zh-CN" altLang="en-US" dirty="0"/>
              <a:t>特地指出</a:t>
            </a:r>
            <a:r>
              <a:rPr lang="en-US" altLang="zh-CN" dirty="0"/>
              <a:t>NR-IQA</a:t>
            </a:r>
            <a:r>
              <a:rPr lang="zh-CN" altLang="en-US" dirty="0"/>
              <a:t>模型的意义：无需参考图像，本文所讨论的内容也是针对</a:t>
            </a:r>
            <a:r>
              <a:rPr lang="en-US" altLang="zh-CN" dirty="0"/>
              <a:t>NR-IQA</a:t>
            </a:r>
            <a:r>
              <a:rPr lang="zh-CN" altLang="en-US" dirty="0"/>
              <a:t>的。</a:t>
            </a:r>
          </a:p>
        </p:txBody>
      </p:sp>
      <p:cxnSp>
        <p:nvCxnSpPr>
          <p:cNvPr id="14" name="直接连接符 13">
            <a:extLst>
              <a:ext uri="{FF2B5EF4-FFF2-40B4-BE49-F238E27FC236}">
                <a16:creationId xmlns:a16="http://schemas.microsoft.com/office/drawing/2014/main" id="{2C6B2197-7435-5D03-3A8B-C8D72A113EE4}"/>
              </a:ext>
            </a:extLst>
          </p:cNvPr>
          <p:cNvCxnSpPr>
            <a:cxnSpLocks/>
            <a:stCxn id="20" idx="3"/>
          </p:cNvCxnSpPr>
          <p:nvPr/>
        </p:nvCxnSpPr>
        <p:spPr>
          <a:xfrm flipV="1">
            <a:off x="4778867" y="1955745"/>
            <a:ext cx="1629816" cy="6349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3483F4B2-5055-F75A-F93C-0ACF53986F92}"/>
              </a:ext>
            </a:extLst>
          </p:cNvPr>
          <p:cNvCxnSpPr>
            <a:cxnSpLocks/>
          </p:cNvCxnSpPr>
          <p:nvPr/>
        </p:nvCxnSpPr>
        <p:spPr>
          <a:xfrm flipV="1">
            <a:off x="5014902" y="2729220"/>
            <a:ext cx="1393781" cy="129887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2C6B2197-7435-5D03-3A8B-C8D72A113EE4}"/>
              </a:ext>
            </a:extLst>
          </p:cNvPr>
          <p:cNvCxnSpPr>
            <a:cxnSpLocks/>
          </p:cNvCxnSpPr>
          <p:nvPr/>
        </p:nvCxnSpPr>
        <p:spPr>
          <a:xfrm>
            <a:off x="5014903" y="5416420"/>
            <a:ext cx="1393780" cy="174839"/>
          </a:xfrm>
          <a:prstGeom prst="line">
            <a:avLst/>
          </a:prstGeom>
        </p:spPr>
        <p:style>
          <a:lnRef idx="1">
            <a:schemeClr val="accent1"/>
          </a:lnRef>
          <a:fillRef idx="0">
            <a:schemeClr val="accent1"/>
          </a:fillRef>
          <a:effectRef idx="0">
            <a:schemeClr val="accent1"/>
          </a:effectRef>
          <a:fontRef idx="minor">
            <a:schemeClr val="tx1"/>
          </a:fontRef>
        </p:style>
      </p:cxnSp>
      <p:pic>
        <p:nvPicPr>
          <p:cNvPr id="6" name="图片 5">
            <a:extLst>
              <a:ext uri="{FF2B5EF4-FFF2-40B4-BE49-F238E27FC236}">
                <a16:creationId xmlns:a16="http://schemas.microsoft.com/office/drawing/2014/main" id="{3F5A2B14-02B1-67A9-A623-57CF9752AEE4}"/>
              </a:ext>
            </a:extLst>
          </p:cNvPr>
          <p:cNvPicPr>
            <a:picLocks noChangeAspect="1"/>
          </p:cNvPicPr>
          <p:nvPr/>
        </p:nvPicPr>
        <p:blipFill>
          <a:blip r:embed="rId3"/>
          <a:stretch>
            <a:fillRect/>
          </a:stretch>
        </p:blipFill>
        <p:spPr>
          <a:xfrm>
            <a:off x="5772824" y="1728125"/>
            <a:ext cx="6216835" cy="4028199"/>
          </a:xfrm>
          <a:prstGeom prst="rect">
            <a:avLst/>
          </a:prstGeom>
        </p:spPr>
      </p:pic>
    </p:spTree>
    <p:extLst>
      <p:ext uri="{BB962C8B-B14F-4D97-AF65-F5344CB8AC3E}">
        <p14:creationId xmlns:p14="http://schemas.microsoft.com/office/powerpoint/2010/main" val="8226479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ED8530-F4A8-24C6-DED8-5B1ADCFBBE4D}"/>
              </a:ext>
            </a:extLst>
          </p:cNvPr>
          <p:cNvSpPr>
            <a:spLocks noGrp="1"/>
          </p:cNvSpPr>
          <p:nvPr>
            <p:ph type="title"/>
          </p:nvPr>
        </p:nvSpPr>
        <p:spPr/>
        <p:txBody>
          <a:bodyPr>
            <a:normAutofit/>
          </a:bodyPr>
          <a:lstStyle/>
          <a:p>
            <a:r>
              <a:rPr lang="en-US" altLang="zh-CN" dirty="0">
                <a:latin typeface="NimbusRomNo9L-Medi"/>
              </a:rPr>
              <a:t>Introduction – 2/5</a:t>
            </a:r>
            <a:endParaRPr lang="zh-CN" altLang="en-US" dirty="0">
              <a:latin typeface="NimbusRomNo9L-Medi"/>
            </a:endParaRPr>
          </a:p>
        </p:txBody>
      </p:sp>
      <p:sp>
        <p:nvSpPr>
          <p:cNvPr id="3" name="内容占位符 2">
            <a:extLst>
              <a:ext uri="{FF2B5EF4-FFF2-40B4-BE49-F238E27FC236}">
                <a16:creationId xmlns:a16="http://schemas.microsoft.com/office/drawing/2014/main" id="{C9949808-4689-6442-C32B-9265FC787434}"/>
              </a:ext>
            </a:extLst>
          </p:cNvPr>
          <p:cNvSpPr>
            <a:spLocks noGrp="1"/>
          </p:cNvSpPr>
          <p:nvPr>
            <p:ph idx="1"/>
          </p:nvPr>
        </p:nvSpPr>
        <p:spPr>
          <a:xfrm>
            <a:off x="838200" y="1627436"/>
            <a:ext cx="10515600" cy="4351338"/>
          </a:xfrm>
        </p:spPr>
        <p:txBody>
          <a:bodyPr/>
          <a:lstStyle/>
          <a:p>
            <a:r>
              <a:rPr lang="zh-CN" altLang="en-US" dirty="0"/>
              <a:t>研究动机（</a:t>
            </a:r>
            <a:r>
              <a:rPr lang="en-US" altLang="zh-CN" dirty="0"/>
              <a:t>TTA+IQA</a:t>
            </a:r>
            <a:r>
              <a:rPr lang="zh-CN" altLang="en-US" dirty="0"/>
              <a:t>）</a:t>
            </a:r>
            <a:r>
              <a:rPr lang="zh-CN" altLang="en-US" dirty="0">
                <a:solidFill>
                  <a:srgbClr val="101214"/>
                </a:solidFill>
                <a:latin typeface="PingFang SC"/>
              </a:rPr>
              <a:t>：</a:t>
            </a:r>
            <a:endParaRPr lang="zh-CN" altLang="en-US" dirty="0"/>
          </a:p>
        </p:txBody>
      </p:sp>
      <p:sp>
        <p:nvSpPr>
          <p:cNvPr id="20" name="文本框 19">
            <a:extLst>
              <a:ext uri="{FF2B5EF4-FFF2-40B4-BE49-F238E27FC236}">
                <a16:creationId xmlns:a16="http://schemas.microsoft.com/office/drawing/2014/main" id="{04B1203C-04B2-4147-FDB4-510A592785DE}"/>
              </a:ext>
            </a:extLst>
          </p:cNvPr>
          <p:cNvSpPr txBox="1"/>
          <p:nvPr/>
        </p:nvSpPr>
        <p:spPr>
          <a:xfrm>
            <a:off x="737156" y="2267555"/>
            <a:ext cx="4041711" cy="1200329"/>
          </a:xfrm>
          <a:prstGeom prst="rect">
            <a:avLst/>
          </a:prstGeom>
          <a:noFill/>
        </p:spPr>
        <p:txBody>
          <a:bodyPr wrap="square">
            <a:spAutoFit/>
          </a:bodyPr>
          <a:lstStyle/>
          <a:p>
            <a:r>
              <a:rPr lang="en-US" altLang="zh-CN" b="0" i="0" dirty="0">
                <a:solidFill>
                  <a:srgbClr val="101214"/>
                </a:solidFill>
                <a:effectLst/>
                <a:latin typeface="PingFang SC"/>
              </a:rPr>
              <a:t>TTA</a:t>
            </a:r>
            <a:r>
              <a:rPr lang="zh-CN" altLang="en-US" b="0" i="0" dirty="0">
                <a:solidFill>
                  <a:srgbClr val="101214"/>
                </a:solidFill>
                <a:effectLst/>
                <a:latin typeface="PingFang SC"/>
              </a:rPr>
              <a:t>：通过使用合适的损失来修改模型的几个全局参数，而不需要地面真值，可以显着提高模型在测试数据上的性能。</a:t>
            </a:r>
            <a:endParaRPr lang="zh-CN" altLang="en-US" dirty="0"/>
          </a:p>
        </p:txBody>
      </p:sp>
      <p:sp>
        <p:nvSpPr>
          <p:cNvPr id="21" name="文本框 20">
            <a:extLst>
              <a:ext uri="{FF2B5EF4-FFF2-40B4-BE49-F238E27FC236}">
                <a16:creationId xmlns:a16="http://schemas.microsoft.com/office/drawing/2014/main" id="{AF1E53AA-8AF3-FD70-C32F-32BBC1751D80}"/>
              </a:ext>
            </a:extLst>
          </p:cNvPr>
          <p:cNvSpPr txBox="1"/>
          <p:nvPr/>
        </p:nvSpPr>
        <p:spPr>
          <a:xfrm>
            <a:off x="703209" y="4498418"/>
            <a:ext cx="4311694" cy="923330"/>
          </a:xfrm>
          <a:prstGeom prst="rect">
            <a:avLst/>
          </a:prstGeom>
          <a:noFill/>
        </p:spPr>
        <p:txBody>
          <a:bodyPr wrap="square">
            <a:spAutoFit/>
          </a:bodyPr>
          <a:lstStyle/>
          <a:p>
            <a:r>
              <a:rPr lang="zh-CN" altLang="en-US" dirty="0"/>
              <a:t>虽然这些方法在图像分类文献中得到了广泛的研究，但几乎没有关于</a:t>
            </a:r>
            <a:r>
              <a:rPr lang="en-US" altLang="zh-CN" dirty="0"/>
              <a:t>IQA</a:t>
            </a:r>
            <a:r>
              <a:rPr lang="zh-CN" altLang="en-US" dirty="0"/>
              <a:t>的</a:t>
            </a:r>
            <a:r>
              <a:rPr lang="en-US" altLang="zh-CN" dirty="0"/>
              <a:t>TTA</a:t>
            </a:r>
            <a:r>
              <a:rPr lang="zh-CN" altLang="en-US" dirty="0"/>
              <a:t>的文献。</a:t>
            </a:r>
          </a:p>
        </p:txBody>
      </p:sp>
      <p:cxnSp>
        <p:nvCxnSpPr>
          <p:cNvPr id="14" name="直接连接符 13">
            <a:extLst>
              <a:ext uri="{FF2B5EF4-FFF2-40B4-BE49-F238E27FC236}">
                <a16:creationId xmlns:a16="http://schemas.microsoft.com/office/drawing/2014/main" id="{2C6B2197-7435-5D03-3A8B-C8D72A113EE4}"/>
              </a:ext>
            </a:extLst>
          </p:cNvPr>
          <p:cNvCxnSpPr>
            <a:cxnSpLocks/>
            <a:stCxn id="20" idx="3"/>
          </p:cNvCxnSpPr>
          <p:nvPr/>
        </p:nvCxnSpPr>
        <p:spPr>
          <a:xfrm flipV="1">
            <a:off x="4778867" y="1955745"/>
            <a:ext cx="1629816" cy="9119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2C6B2197-7435-5D03-3A8B-C8D72A113EE4}"/>
              </a:ext>
            </a:extLst>
          </p:cNvPr>
          <p:cNvCxnSpPr>
            <a:cxnSpLocks/>
          </p:cNvCxnSpPr>
          <p:nvPr/>
        </p:nvCxnSpPr>
        <p:spPr>
          <a:xfrm flipV="1">
            <a:off x="4887096" y="4402667"/>
            <a:ext cx="1208904" cy="348827"/>
          </a:xfrm>
          <a:prstGeom prst="line">
            <a:avLst/>
          </a:prstGeom>
        </p:spPr>
        <p:style>
          <a:lnRef idx="1">
            <a:schemeClr val="accent1"/>
          </a:lnRef>
          <a:fillRef idx="0">
            <a:schemeClr val="accent1"/>
          </a:fillRef>
          <a:effectRef idx="0">
            <a:schemeClr val="accent1"/>
          </a:effectRef>
          <a:fontRef idx="minor">
            <a:schemeClr val="tx1"/>
          </a:fontRef>
        </p:style>
      </p:cxnSp>
      <p:pic>
        <p:nvPicPr>
          <p:cNvPr id="7" name="图片 6">
            <a:extLst>
              <a:ext uri="{FF2B5EF4-FFF2-40B4-BE49-F238E27FC236}">
                <a16:creationId xmlns:a16="http://schemas.microsoft.com/office/drawing/2014/main" id="{65161C82-3160-3958-81A5-1826E7AE9390}"/>
              </a:ext>
            </a:extLst>
          </p:cNvPr>
          <p:cNvPicPr>
            <a:picLocks noChangeAspect="1"/>
          </p:cNvPicPr>
          <p:nvPr/>
        </p:nvPicPr>
        <p:blipFill>
          <a:blip r:embed="rId3"/>
          <a:stretch>
            <a:fillRect/>
          </a:stretch>
        </p:blipFill>
        <p:spPr>
          <a:xfrm>
            <a:off x="5626083" y="1175335"/>
            <a:ext cx="6553200" cy="1295764"/>
          </a:xfrm>
          <a:prstGeom prst="rect">
            <a:avLst/>
          </a:prstGeom>
        </p:spPr>
      </p:pic>
      <p:pic>
        <p:nvPicPr>
          <p:cNvPr id="10" name="图片 9">
            <a:extLst>
              <a:ext uri="{FF2B5EF4-FFF2-40B4-BE49-F238E27FC236}">
                <a16:creationId xmlns:a16="http://schemas.microsoft.com/office/drawing/2014/main" id="{0DAE0150-7D01-DF7B-5E44-5D20D80212F9}"/>
              </a:ext>
            </a:extLst>
          </p:cNvPr>
          <p:cNvPicPr>
            <a:picLocks noChangeAspect="1"/>
          </p:cNvPicPr>
          <p:nvPr/>
        </p:nvPicPr>
        <p:blipFill>
          <a:blip r:embed="rId4"/>
          <a:stretch>
            <a:fillRect/>
          </a:stretch>
        </p:blipFill>
        <p:spPr>
          <a:xfrm>
            <a:off x="5626083" y="2452207"/>
            <a:ext cx="6493933" cy="2299287"/>
          </a:xfrm>
          <a:prstGeom prst="rect">
            <a:avLst/>
          </a:prstGeom>
        </p:spPr>
      </p:pic>
    </p:spTree>
    <p:extLst>
      <p:ext uri="{BB962C8B-B14F-4D97-AF65-F5344CB8AC3E}">
        <p14:creationId xmlns:p14="http://schemas.microsoft.com/office/powerpoint/2010/main" val="28374723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ED8530-F4A8-24C6-DED8-5B1ADCFBBE4D}"/>
              </a:ext>
            </a:extLst>
          </p:cNvPr>
          <p:cNvSpPr>
            <a:spLocks noGrp="1"/>
          </p:cNvSpPr>
          <p:nvPr>
            <p:ph type="title"/>
          </p:nvPr>
        </p:nvSpPr>
        <p:spPr/>
        <p:txBody>
          <a:bodyPr>
            <a:normAutofit/>
          </a:bodyPr>
          <a:lstStyle/>
          <a:p>
            <a:r>
              <a:rPr lang="en-US" altLang="zh-CN" dirty="0">
                <a:latin typeface="NimbusRomNo9L-Medi"/>
              </a:rPr>
              <a:t>Introduction – 3/5</a:t>
            </a:r>
            <a:endParaRPr lang="zh-CN" altLang="en-US" dirty="0">
              <a:latin typeface="NimbusRomNo9L-Medi"/>
            </a:endParaRPr>
          </a:p>
        </p:txBody>
      </p:sp>
      <p:sp>
        <p:nvSpPr>
          <p:cNvPr id="3" name="内容占位符 2">
            <a:extLst>
              <a:ext uri="{FF2B5EF4-FFF2-40B4-BE49-F238E27FC236}">
                <a16:creationId xmlns:a16="http://schemas.microsoft.com/office/drawing/2014/main" id="{C9949808-4689-6442-C32B-9265FC787434}"/>
              </a:ext>
            </a:extLst>
          </p:cNvPr>
          <p:cNvSpPr>
            <a:spLocks noGrp="1"/>
          </p:cNvSpPr>
          <p:nvPr>
            <p:ph idx="1"/>
          </p:nvPr>
        </p:nvSpPr>
        <p:spPr>
          <a:xfrm>
            <a:off x="838200" y="1627436"/>
            <a:ext cx="10515600" cy="4351338"/>
          </a:xfrm>
        </p:spPr>
        <p:txBody>
          <a:bodyPr/>
          <a:lstStyle/>
          <a:p>
            <a:r>
              <a:rPr lang="en-US" altLang="zh-CN" dirty="0">
                <a:solidFill>
                  <a:srgbClr val="101214"/>
                </a:solidFill>
                <a:latin typeface="PingFang SC"/>
              </a:rPr>
              <a:t>TTA+IQA</a:t>
            </a:r>
            <a:r>
              <a:rPr lang="zh-CN" altLang="en-US" dirty="0">
                <a:solidFill>
                  <a:srgbClr val="101214"/>
                </a:solidFill>
                <a:latin typeface="PingFang SC"/>
              </a:rPr>
              <a:t>的挑战：</a:t>
            </a:r>
            <a:endParaRPr lang="zh-CN" altLang="en-US" dirty="0"/>
          </a:p>
        </p:txBody>
      </p:sp>
      <p:sp>
        <p:nvSpPr>
          <p:cNvPr id="20" name="文本框 19">
            <a:extLst>
              <a:ext uri="{FF2B5EF4-FFF2-40B4-BE49-F238E27FC236}">
                <a16:creationId xmlns:a16="http://schemas.microsoft.com/office/drawing/2014/main" id="{04B1203C-04B2-4147-FDB4-510A592785DE}"/>
              </a:ext>
            </a:extLst>
          </p:cNvPr>
          <p:cNvSpPr txBox="1"/>
          <p:nvPr/>
        </p:nvSpPr>
        <p:spPr>
          <a:xfrm>
            <a:off x="737156" y="2267555"/>
            <a:ext cx="4041711" cy="646331"/>
          </a:xfrm>
          <a:prstGeom prst="rect">
            <a:avLst/>
          </a:prstGeom>
          <a:noFill/>
        </p:spPr>
        <p:txBody>
          <a:bodyPr wrap="square">
            <a:spAutoFit/>
          </a:bodyPr>
          <a:lstStyle/>
          <a:p>
            <a:r>
              <a:rPr lang="zh-CN" altLang="en-US" dirty="0"/>
              <a:t>挑战</a:t>
            </a:r>
            <a:r>
              <a:rPr lang="en-US" altLang="zh-CN" dirty="0"/>
              <a:t>1</a:t>
            </a:r>
            <a:r>
              <a:rPr lang="zh-CN" altLang="en-US" dirty="0"/>
              <a:t>：用于</a:t>
            </a:r>
            <a:r>
              <a:rPr lang="en-US" altLang="zh-CN" dirty="0"/>
              <a:t>TTA</a:t>
            </a:r>
            <a:r>
              <a:rPr lang="zh-CN" altLang="en-US" dirty="0"/>
              <a:t>的典型损失，如熵最小化，不适用于</a:t>
            </a:r>
            <a:r>
              <a:rPr lang="en-US" altLang="zh-CN" dirty="0"/>
              <a:t>IQA</a:t>
            </a:r>
            <a:r>
              <a:rPr lang="zh-CN" altLang="en-US" dirty="0"/>
              <a:t>。</a:t>
            </a:r>
            <a:endParaRPr lang="en-US" altLang="zh-CN" dirty="0"/>
          </a:p>
        </p:txBody>
      </p:sp>
      <p:sp>
        <p:nvSpPr>
          <p:cNvPr id="21" name="文本框 20">
            <a:extLst>
              <a:ext uri="{FF2B5EF4-FFF2-40B4-BE49-F238E27FC236}">
                <a16:creationId xmlns:a16="http://schemas.microsoft.com/office/drawing/2014/main" id="{AF1E53AA-8AF3-FD70-C32F-32BBC1751D80}"/>
              </a:ext>
            </a:extLst>
          </p:cNvPr>
          <p:cNvSpPr txBox="1"/>
          <p:nvPr/>
        </p:nvSpPr>
        <p:spPr>
          <a:xfrm>
            <a:off x="703209" y="3973211"/>
            <a:ext cx="4311694" cy="923330"/>
          </a:xfrm>
          <a:prstGeom prst="rect">
            <a:avLst/>
          </a:prstGeom>
          <a:noFill/>
        </p:spPr>
        <p:txBody>
          <a:bodyPr wrap="square">
            <a:spAutoFit/>
          </a:bodyPr>
          <a:lstStyle/>
          <a:p>
            <a:r>
              <a:rPr lang="zh-CN" altLang="en-US" dirty="0"/>
              <a:t>挑战</a:t>
            </a:r>
            <a:r>
              <a:rPr lang="en-US" altLang="zh-CN" dirty="0"/>
              <a:t>2</a:t>
            </a:r>
            <a:r>
              <a:rPr lang="zh-CN" altLang="en-US" dirty="0"/>
              <a:t>：其他自监督任务</a:t>
            </a:r>
            <a:r>
              <a:rPr lang="en-US" altLang="zh-CN" dirty="0"/>
              <a:t>(</a:t>
            </a:r>
            <a:r>
              <a:rPr lang="zh-CN" altLang="en-US" dirty="0"/>
              <a:t>如旋转预测、上下文预、着色、噪声预测、特征聚类</a:t>
            </a:r>
            <a:r>
              <a:rPr lang="en-US" altLang="zh-CN" dirty="0"/>
              <a:t>)</a:t>
            </a:r>
            <a:r>
              <a:rPr lang="zh-CN" altLang="en-US" dirty="0"/>
              <a:t>与适应</a:t>
            </a:r>
            <a:r>
              <a:rPr lang="en-US" altLang="zh-CN" dirty="0"/>
              <a:t>IQA</a:t>
            </a:r>
            <a:r>
              <a:rPr lang="zh-CN" altLang="en-US" dirty="0"/>
              <a:t>模型的相关性尚不清楚。</a:t>
            </a:r>
            <a:endParaRPr lang="en-US" altLang="zh-CN" dirty="0"/>
          </a:p>
        </p:txBody>
      </p:sp>
      <p:cxnSp>
        <p:nvCxnSpPr>
          <p:cNvPr id="14" name="直接连接符 13">
            <a:extLst>
              <a:ext uri="{FF2B5EF4-FFF2-40B4-BE49-F238E27FC236}">
                <a16:creationId xmlns:a16="http://schemas.microsoft.com/office/drawing/2014/main" id="{2C6B2197-7435-5D03-3A8B-C8D72A113EE4}"/>
              </a:ext>
            </a:extLst>
          </p:cNvPr>
          <p:cNvCxnSpPr>
            <a:cxnSpLocks/>
          </p:cNvCxnSpPr>
          <p:nvPr/>
        </p:nvCxnSpPr>
        <p:spPr>
          <a:xfrm flipV="1">
            <a:off x="4673600" y="1955745"/>
            <a:ext cx="1735083" cy="4904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2C6B2197-7435-5D03-3A8B-C8D72A113EE4}"/>
              </a:ext>
            </a:extLst>
          </p:cNvPr>
          <p:cNvCxnSpPr>
            <a:cxnSpLocks/>
            <a:stCxn id="21" idx="3"/>
          </p:cNvCxnSpPr>
          <p:nvPr/>
        </p:nvCxnSpPr>
        <p:spPr>
          <a:xfrm flipV="1">
            <a:off x="5014903" y="3620323"/>
            <a:ext cx="1300195" cy="814553"/>
          </a:xfrm>
          <a:prstGeom prst="line">
            <a:avLst/>
          </a:prstGeom>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F2100B18-F247-E476-521F-46EC4A5BFEC2}"/>
              </a:ext>
            </a:extLst>
          </p:cNvPr>
          <p:cNvPicPr>
            <a:picLocks noChangeAspect="1"/>
          </p:cNvPicPr>
          <p:nvPr/>
        </p:nvPicPr>
        <p:blipFill>
          <a:blip r:embed="rId3"/>
          <a:stretch>
            <a:fillRect/>
          </a:stretch>
        </p:blipFill>
        <p:spPr>
          <a:xfrm>
            <a:off x="5721055" y="1789280"/>
            <a:ext cx="6366286" cy="4027650"/>
          </a:xfrm>
          <a:prstGeom prst="rect">
            <a:avLst/>
          </a:prstGeom>
        </p:spPr>
      </p:pic>
    </p:spTree>
    <p:extLst>
      <p:ext uri="{BB962C8B-B14F-4D97-AF65-F5344CB8AC3E}">
        <p14:creationId xmlns:p14="http://schemas.microsoft.com/office/powerpoint/2010/main" val="22544506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F48D72-6CEC-CAD3-54BE-48BB1D3DAD01}"/>
              </a:ext>
            </a:extLst>
          </p:cNvPr>
          <p:cNvSpPr>
            <a:spLocks noGrp="1"/>
          </p:cNvSpPr>
          <p:nvPr>
            <p:ph type="title"/>
          </p:nvPr>
        </p:nvSpPr>
        <p:spPr/>
        <p:txBody>
          <a:bodyPr/>
          <a:lstStyle/>
          <a:p>
            <a:r>
              <a:rPr lang="en-US" altLang="zh-CN" dirty="0">
                <a:latin typeface="NimbusRomNo9L-Medi"/>
              </a:rPr>
              <a:t>Introduction – 4/5</a:t>
            </a:r>
            <a:endParaRPr lang="zh-CN" altLang="en-US" dirty="0">
              <a:latin typeface="NimbusRomNo9L-Medi"/>
            </a:endParaRPr>
          </a:p>
        </p:txBody>
      </p:sp>
      <p:sp>
        <p:nvSpPr>
          <p:cNvPr id="3" name="内容占位符 2">
            <a:extLst>
              <a:ext uri="{FF2B5EF4-FFF2-40B4-BE49-F238E27FC236}">
                <a16:creationId xmlns:a16="http://schemas.microsoft.com/office/drawing/2014/main" id="{ADB8F7C5-EDC5-C6B4-316E-41734D212C55}"/>
              </a:ext>
            </a:extLst>
          </p:cNvPr>
          <p:cNvSpPr>
            <a:spLocks noGrp="1"/>
          </p:cNvSpPr>
          <p:nvPr>
            <p:ph idx="1"/>
          </p:nvPr>
        </p:nvSpPr>
        <p:spPr>
          <a:xfrm>
            <a:off x="838200" y="1416292"/>
            <a:ext cx="10515600" cy="4351338"/>
          </a:xfrm>
        </p:spPr>
        <p:txBody>
          <a:bodyPr/>
          <a:lstStyle/>
          <a:p>
            <a:r>
              <a:rPr lang="zh-CN" altLang="en-US" dirty="0"/>
              <a:t>本文提出的方法</a:t>
            </a:r>
          </a:p>
        </p:txBody>
      </p:sp>
      <p:sp>
        <p:nvSpPr>
          <p:cNvPr id="11" name="文本框 10">
            <a:extLst>
              <a:ext uri="{FF2B5EF4-FFF2-40B4-BE49-F238E27FC236}">
                <a16:creationId xmlns:a16="http://schemas.microsoft.com/office/drawing/2014/main" id="{10F76E69-9B04-EC55-9B64-C6DC4B61F2E6}"/>
              </a:ext>
            </a:extLst>
          </p:cNvPr>
          <p:cNvSpPr txBox="1"/>
          <p:nvPr/>
        </p:nvSpPr>
        <p:spPr>
          <a:xfrm>
            <a:off x="490654" y="2322365"/>
            <a:ext cx="4403079" cy="923330"/>
          </a:xfrm>
          <a:prstGeom prst="rect">
            <a:avLst/>
          </a:prstGeom>
          <a:noFill/>
        </p:spPr>
        <p:txBody>
          <a:bodyPr wrap="square">
            <a:spAutoFit/>
          </a:bodyPr>
          <a:lstStyle/>
          <a:p>
            <a:r>
              <a:rPr lang="zh-CN" altLang="en-US" dirty="0"/>
              <a:t>引入的第一个自适应任务是基于一批低质量和高质量图像的对比组，以解释源模型可能容易出现的单个样本上的任何错误。</a:t>
            </a:r>
          </a:p>
        </p:txBody>
      </p:sp>
      <p:sp>
        <p:nvSpPr>
          <p:cNvPr id="12" name="文本框 11">
            <a:extLst>
              <a:ext uri="{FF2B5EF4-FFF2-40B4-BE49-F238E27FC236}">
                <a16:creationId xmlns:a16="http://schemas.microsoft.com/office/drawing/2014/main" id="{03C4967F-998C-1FCE-14C4-5C2FC5E7DF0D}"/>
              </a:ext>
            </a:extLst>
          </p:cNvPr>
          <p:cNvSpPr txBox="1"/>
          <p:nvPr/>
        </p:nvSpPr>
        <p:spPr>
          <a:xfrm>
            <a:off x="494533" y="3663934"/>
            <a:ext cx="4399200" cy="1200329"/>
          </a:xfrm>
          <a:prstGeom prst="rect">
            <a:avLst/>
          </a:prstGeom>
          <a:noFill/>
        </p:spPr>
        <p:txBody>
          <a:bodyPr wrap="square">
            <a:spAutoFit/>
          </a:bodyPr>
          <a:lstStyle/>
          <a:p>
            <a:r>
              <a:rPr lang="zh-CN" altLang="en-US" dirty="0"/>
              <a:t>引入的第二个辅助任务是基于不同类型的扭曲增强的图像特定任务。其目标是使模型能够对每个测试样本的进一步失真版本的图像质量进行排序。</a:t>
            </a:r>
            <a:endParaRPr lang="en-US" altLang="zh-CN" dirty="0"/>
          </a:p>
        </p:txBody>
      </p:sp>
      <p:sp>
        <p:nvSpPr>
          <p:cNvPr id="13" name="文本框 12">
            <a:extLst>
              <a:ext uri="{FF2B5EF4-FFF2-40B4-BE49-F238E27FC236}">
                <a16:creationId xmlns:a16="http://schemas.microsoft.com/office/drawing/2014/main" id="{D2F7FB7E-E7F5-94BD-DADE-94E3A37B1B4B}"/>
              </a:ext>
            </a:extLst>
          </p:cNvPr>
          <p:cNvSpPr txBox="1"/>
          <p:nvPr/>
        </p:nvSpPr>
        <p:spPr>
          <a:xfrm>
            <a:off x="556128" y="5611966"/>
            <a:ext cx="4294452" cy="923330"/>
          </a:xfrm>
          <a:prstGeom prst="rect">
            <a:avLst/>
          </a:prstGeom>
          <a:noFill/>
        </p:spPr>
        <p:txBody>
          <a:bodyPr wrap="square">
            <a:spAutoFit/>
          </a:bodyPr>
          <a:lstStyle/>
          <a:p>
            <a:r>
              <a:rPr lang="zh-CN" altLang="en-US" dirty="0"/>
              <a:t>结论：当一批样本质量不同时，</a:t>
            </a:r>
            <a:r>
              <a:rPr lang="en-US" altLang="zh-CN" dirty="0"/>
              <a:t>GC</a:t>
            </a:r>
            <a:r>
              <a:rPr lang="zh-CN" altLang="en-US" dirty="0"/>
              <a:t>学习更有效，而当图像质量都不是很差</a:t>
            </a:r>
            <a:r>
              <a:rPr lang="en-US" altLang="zh-CN" dirty="0"/>
              <a:t>(</a:t>
            </a:r>
            <a:r>
              <a:rPr lang="zh-CN" altLang="en-US" dirty="0"/>
              <a:t>质量分数接近</a:t>
            </a:r>
            <a:r>
              <a:rPr lang="en-US" altLang="zh-CN" dirty="0"/>
              <a:t>)</a:t>
            </a:r>
            <a:r>
              <a:rPr lang="zh-CN" altLang="en-US" dirty="0"/>
              <a:t>时，基于秩序的学习更有效。</a:t>
            </a:r>
          </a:p>
        </p:txBody>
      </p:sp>
      <p:cxnSp>
        <p:nvCxnSpPr>
          <p:cNvPr id="15" name="直接连接符 14">
            <a:extLst>
              <a:ext uri="{FF2B5EF4-FFF2-40B4-BE49-F238E27FC236}">
                <a16:creationId xmlns:a16="http://schemas.microsoft.com/office/drawing/2014/main" id="{30D07713-4BE1-309C-8392-54D46893A33F}"/>
              </a:ext>
            </a:extLst>
          </p:cNvPr>
          <p:cNvCxnSpPr>
            <a:cxnSpLocks/>
          </p:cNvCxnSpPr>
          <p:nvPr/>
        </p:nvCxnSpPr>
        <p:spPr>
          <a:xfrm flipV="1">
            <a:off x="3852333" y="599703"/>
            <a:ext cx="2243667" cy="107806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4DB1BF74-D486-9EF5-D18F-B0D720089A39}"/>
              </a:ext>
            </a:extLst>
          </p:cNvPr>
          <p:cNvCxnSpPr>
            <a:cxnSpLocks/>
          </p:cNvCxnSpPr>
          <p:nvPr/>
        </p:nvCxnSpPr>
        <p:spPr>
          <a:xfrm>
            <a:off x="4893733" y="2667000"/>
            <a:ext cx="1115963" cy="1620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BE9907CF-1CD7-3A04-F595-D0BD6A47E3D5}"/>
              </a:ext>
            </a:extLst>
          </p:cNvPr>
          <p:cNvCxnSpPr>
            <a:cxnSpLocks/>
          </p:cNvCxnSpPr>
          <p:nvPr/>
        </p:nvCxnSpPr>
        <p:spPr>
          <a:xfrm flipV="1">
            <a:off x="4850580" y="3855832"/>
            <a:ext cx="1003183" cy="323166"/>
          </a:xfrm>
          <a:prstGeom prst="line">
            <a:avLst/>
          </a:prstGeom>
        </p:spPr>
        <p:style>
          <a:lnRef idx="1">
            <a:schemeClr val="accent1"/>
          </a:lnRef>
          <a:fillRef idx="0">
            <a:schemeClr val="accent1"/>
          </a:fillRef>
          <a:effectRef idx="0">
            <a:schemeClr val="accent1"/>
          </a:effectRef>
          <a:fontRef idx="minor">
            <a:schemeClr val="tx1"/>
          </a:fontRef>
        </p:style>
      </p:cxnSp>
      <p:pic>
        <p:nvPicPr>
          <p:cNvPr id="6" name="图片 5">
            <a:extLst>
              <a:ext uri="{FF2B5EF4-FFF2-40B4-BE49-F238E27FC236}">
                <a16:creationId xmlns:a16="http://schemas.microsoft.com/office/drawing/2014/main" id="{E414C850-360D-378F-E87A-1068B1462857}"/>
              </a:ext>
            </a:extLst>
          </p:cNvPr>
          <p:cNvPicPr>
            <a:picLocks noChangeAspect="1"/>
          </p:cNvPicPr>
          <p:nvPr/>
        </p:nvPicPr>
        <p:blipFill>
          <a:blip r:embed="rId3"/>
          <a:stretch>
            <a:fillRect/>
          </a:stretch>
        </p:blipFill>
        <p:spPr>
          <a:xfrm>
            <a:off x="5928168" y="0"/>
            <a:ext cx="5938032" cy="6258297"/>
          </a:xfrm>
          <a:prstGeom prst="rect">
            <a:avLst/>
          </a:prstGeom>
        </p:spPr>
      </p:pic>
      <p:pic>
        <p:nvPicPr>
          <p:cNvPr id="9" name="图片 8">
            <a:extLst>
              <a:ext uri="{FF2B5EF4-FFF2-40B4-BE49-F238E27FC236}">
                <a16:creationId xmlns:a16="http://schemas.microsoft.com/office/drawing/2014/main" id="{8D56F1C4-3EC4-245F-6E52-9C69EF58640E}"/>
              </a:ext>
            </a:extLst>
          </p:cNvPr>
          <p:cNvPicPr>
            <a:picLocks noChangeAspect="1"/>
          </p:cNvPicPr>
          <p:nvPr/>
        </p:nvPicPr>
        <p:blipFill>
          <a:blip r:embed="rId4"/>
          <a:stretch>
            <a:fillRect/>
          </a:stretch>
        </p:blipFill>
        <p:spPr>
          <a:xfrm>
            <a:off x="5993641" y="6145732"/>
            <a:ext cx="5872559" cy="611389"/>
          </a:xfrm>
          <a:prstGeom prst="rect">
            <a:avLst/>
          </a:prstGeom>
        </p:spPr>
      </p:pic>
      <p:cxnSp>
        <p:nvCxnSpPr>
          <p:cNvPr id="20" name="直接连接符 19">
            <a:extLst>
              <a:ext uri="{FF2B5EF4-FFF2-40B4-BE49-F238E27FC236}">
                <a16:creationId xmlns:a16="http://schemas.microsoft.com/office/drawing/2014/main" id="{3E41081D-B74E-3467-24E7-C38E966AA844}"/>
              </a:ext>
            </a:extLst>
          </p:cNvPr>
          <p:cNvCxnSpPr>
            <a:cxnSpLocks/>
          </p:cNvCxnSpPr>
          <p:nvPr/>
        </p:nvCxnSpPr>
        <p:spPr>
          <a:xfrm flipV="1">
            <a:off x="4850580" y="1688087"/>
            <a:ext cx="1202267" cy="868374"/>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60EB9C84-5B54-AE0D-BB24-E54AADA07749}"/>
              </a:ext>
            </a:extLst>
          </p:cNvPr>
          <p:cNvCxnSpPr>
            <a:cxnSpLocks/>
          </p:cNvCxnSpPr>
          <p:nvPr/>
        </p:nvCxnSpPr>
        <p:spPr>
          <a:xfrm flipV="1">
            <a:off x="4850580" y="5689797"/>
            <a:ext cx="1003183" cy="32316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70937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A33032-4FAE-94A7-D5FC-889C50724738}"/>
              </a:ext>
            </a:extLst>
          </p:cNvPr>
          <p:cNvSpPr>
            <a:spLocks noGrp="1"/>
          </p:cNvSpPr>
          <p:nvPr>
            <p:ph type="title"/>
          </p:nvPr>
        </p:nvSpPr>
        <p:spPr/>
        <p:txBody>
          <a:bodyPr/>
          <a:lstStyle/>
          <a:p>
            <a:r>
              <a:rPr lang="en-US" altLang="zh-CN" dirty="0">
                <a:latin typeface="NimbusRomNo9L-Medi"/>
              </a:rPr>
              <a:t>Introduction – 5/5</a:t>
            </a:r>
            <a:endParaRPr lang="zh-CN" altLang="en-US" dirty="0">
              <a:latin typeface="NimbusRomNo9L-Medi"/>
            </a:endParaRPr>
          </a:p>
        </p:txBody>
      </p:sp>
      <p:sp>
        <p:nvSpPr>
          <p:cNvPr id="3" name="内容占位符 2">
            <a:extLst>
              <a:ext uri="{FF2B5EF4-FFF2-40B4-BE49-F238E27FC236}">
                <a16:creationId xmlns:a16="http://schemas.microsoft.com/office/drawing/2014/main" id="{A5EC7B42-DA18-EA2B-456B-A35386103F4B}"/>
              </a:ext>
            </a:extLst>
          </p:cNvPr>
          <p:cNvSpPr>
            <a:spLocks noGrp="1"/>
          </p:cNvSpPr>
          <p:nvPr>
            <p:ph idx="1"/>
          </p:nvPr>
        </p:nvSpPr>
        <p:spPr>
          <a:xfrm>
            <a:off x="838200" y="1398242"/>
            <a:ext cx="10515600" cy="4351338"/>
          </a:xfrm>
        </p:spPr>
        <p:txBody>
          <a:bodyPr/>
          <a:lstStyle/>
          <a:p>
            <a:r>
              <a:rPr lang="zh-CN" altLang="en-US" dirty="0"/>
              <a:t>贡献总结</a:t>
            </a:r>
            <a:endParaRPr lang="en-US" altLang="zh-CN" dirty="0"/>
          </a:p>
          <a:p>
            <a:endParaRPr lang="en-US" altLang="zh-CN" dirty="0"/>
          </a:p>
        </p:txBody>
      </p:sp>
      <p:sp>
        <p:nvSpPr>
          <p:cNvPr id="10" name="文本框 9">
            <a:extLst>
              <a:ext uri="{FF2B5EF4-FFF2-40B4-BE49-F238E27FC236}">
                <a16:creationId xmlns:a16="http://schemas.microsoft.com/office/drawing/2014/main" id="{0703A24A-3E29-9646-9B71-59700919889B}"/>
              </a:ext>
            </a:extLst>
          </p:cNvPr>
          <p:cNvSpPr txBox="1"/>
          <p:nvPr/>
        </p:nvSpPr>
        <p:spPr>
          <a:xfrm>
            <a:off x="675873" y="2288973"/>
            <a:ext cx="4903660" cy="3139321"/>
          </a:xfrm>
          <a:prstGeom prst="rect">
            <a:avLst/>
          </a:prstGeom>
          <a:noFill/>
        </p:spPr>
        <p:txBody>
          <a:bodyPr wrap="square">
            <a:spAutoFit/>
          </a:bodyPr>
          <a:lstStyle/>
          <a:p>
            <a:r>
              <a:rPr lang="zh-CN" altLang="en-US" dirty="0">
                <a:solidFill>
                  <a:srgbClr val="101214"/>
                </a:solidFill>
                <a:latin typeface="PingFang SC"/>
              </a:rPr>
              <a:t>（</a:t>
            </a:r>
            <a:r>
              <a:rPr lang="en-US" altLang="zh-CN" dirty="0">
                <a:solidFill>
                  <a:srgbClr val="101214"/>
                </a:solidFill>
                <a:latin typeface="PingFang SC"/>
              </a:rPr>
              <a:t>1</a:t>
            </a:r>
            <a:r>
              <a:rPr lang="zh-CN" altLang="en-US" dirty="0">
                <a:solidFill>
                  <a:srgbClr val="101214"/>
                </a:solidFill>
                <a:latin typeface="PingFang SC"/>
              </a:rPr>
              <a:t>）提出了在</a:t>
            </a:r>
            <a:r>
              <a:rPr lang="en-US" altLang="zh-CN" dirty="0">
                <a:solidFill>
                  <a:srgbClr val="101214"/>
                </a:solidFill>
                <a:latin typeface="PingFang SC"/>
              </a:rPr>
              <a:t>BIQA</a:t>
            </a:r>
            <a:r>
              <a:rPr lang="zh-CN" altLang="en-US" dirty="0">
                <a:solidFill>
                  <a:srgbClr val="101214"/>
                </a:solidFill>
                <a:latin typeface="PingFang SC"/>
              </a:rPr>
              <a:t>背景下的无源的</a:t>
            </a:r>
            <a:r>
              <a:rPr lang="en-US" altLang="zh-CN" dirty="0">
                <a:solidFill>
                  <a:srgbClr val="101214"/>
                </a:solidFill>
                <a:latin typeface="PingFang SC"/>
              </a:rPr>
              <a:t>TTA</a:t>
            </a:r>
            <a:r>
              <a:rPr lang="zh-CN" altLang="en-US" dirty="0">
                <a:solidFill>
                  <a:srgbClr val="101214"/>
                </a:solidFill>
                <a:latin typeface="PingFang SC"/>
              </a:rPr>
              <a:t>技术，以减轻训练和测试数据之间的分布变化的影响。</a:t>
            </a:r>
            <a:endParaRPr lang="en-US" altLang="zh-CN" dirty="0">
              <a:solidFill>
                <a:srgbClr val="101214"/>
              </a:solidFill>
              <a:latin typeface="PingFang SC"/>
            </a:endParaRPr>
          </a:p>
          <a:p>
            <a:endParaRPr lang="en-US" altLang="zh-CN" dirty="0">
              <a:solidFill>
                <a:srgbClr val="101214"/>
              </a:solidFill>
              <a:latin typeface="PingFang SC"/>
            </a:endParaRPr>
          </a:p>
          <a:p>
            <a:r>
              <a:rPr lang="zh-CN" altLang="en-US" dirty="0">
                <a:solidFill>
                  <a:srgbClr val="101214"/>
                </a:solidFill>
                <a:latin typeface="PingFang SC"/>
              </a:rPr>
              <a:t>（</a:t>
            </a:r>
            <a:r>
              <a:rPr lang="en-US" altLang="zh-CN" dirty="0">
                <a:solidFill>
                  <a:srgbClr val="101214"/>
                </a:solidFill>
                <a:latin typeface="PingFang SC"/>
              </a:rPr>
              <a:t>2</a:t>
            </a:r>
            <a:r>
              <a:rPr lang="zh-CN" altLang="en-US" dirty="0">
                <a:solidFill>
                  <a:srgbClr val="101214"/>
                </a:solidFill>
                <a:latin typeface="PingFang SC"/>
              </a:rPr>
              <a:t>）制定了两个新的质量意识自监督辅助任务，以适应测试数据的分布。</a:t>
            </a:r>
            <a:r>
              <a:rPr lang="en-US" altLang="zh-CN" dirty="0" err="1">
                <a:solidFill>
                  <a:srgbClr val="101214"/>
                </a:solidFill>
                <a:latin typeface="PingFang SC"/>
              </a:rPr>
              <a:t>i</a:t>
            </a:r>
            <a:r>
              <a:rPr lang="en-US" altLang="zh-CN" dirty="0">
                <a:solidFill>
                  <a:srgbClr val="101214"/>
                </a:solidFill>
                <a:latin typeface="PingFang SC"/>
              </a:rPr>
              <a:t>) </a:t>
            </a:r>
            <a:r>
              <a:rPr lang="zh-CN" altLang="en-US" dirty="0">
                <a:solidFill>
                  <a:srgbClr val="101214"/>
                </a:solidFill>
                <a:latin typeface="PingFang SC"/>
              </a:rPr>
              <a:t>群体对比学习有助于捕获一批图像中多个图像之间的质量判别信息</a:t>
            </a:r>
            <a:r>
              <a:rPr lang="en-US" altLang="zh-CN" dirty="0">
                <a:solidFill>
                  <a:srgbClr val="101214"/>
                </a:solidFill>
                <a:latin typeface="PingFang SC"/>
              </a:rPr>
              <a:t>; ii) </a:t>
            </a:r>
            <a:r>
              <a:rPr lang="zh-CN" altLang="en-US" dirty="0">
                <a:solidFill>
                  <a:srgbClr val="101214"/>
                </a:solidFill>
                <a:latin typeface="PingFang SC"/>
              </a:rPr>
              <a:t>排序有助于保持同一图像的两个不同失真版本之间的质量顺序。</a:t>
            </a:r>
            <a:endParaRPr lang="en-US" altLang="zh-CN" b="0" i="0" dirty="0">
              <a:solidFill>
                <a:srgbClr val="101214"/>
              </a:solidFill>
              <a:effectLst/>
              <a:latin typeface="PingFang SC"/>
            </a:endParaRPr>
          </a:p>
          <a:p>
            <a:endParaRPr lang="en-US" altLang="zh-CN" dirty="0">
              <a:solidFill>
                <a:srgbClr val="101214"/>
              </a:solidFill>
              <a:latin typeface="PingFang SC"/>
            </a:endParaRPr>
          </a:p>
          <a:p>
            <a:r>
              <a:rPr lang="zh-CN" altLang="en-US" dirty="0">
                <a:solidFill>
                  <a:srgbClr val="101214"/>
                </a:solidFill>
                <a:latin typeface="PingFang SC"/>
              </a:rPr>
              <a:t>（</a:t>
            </a:r>
            <a:r>
              <a:rPr lang="en-US" altLang="zh-CN" dirty="0">
                <a:solidFill>
                  <a:srgbClr val="101214"/>
                </a:solidFill>
                <a:latin typeface="PingFang SC"/>
              </a:rPr>
              <a:t>3</a:t>
            </a:r>
            <a:r>
              <a:rPr lang="zh-CN" altLang="en-US" dirty="0">
                <a:solidFill>
                  <a:srgbClr val="101214"/>
                </a:solidFill>
                <a:latin typeface="PingFang SC"/>
              </a:rPr>
              <a:t>）</a:t>
            </a:r>
            <a:r>
              <a:rPr lang="zh-CN" altLang="en-US" b="0" i="0" dirty="0">
                <a:solidFill>
                  <a:srgbClr val="101214"/>
                </a:solidFill>
                <a:effectLst/>
                <a:latin typeface="PingFang SC"/>
              </a:rPr>
              <a:t>实验结果表明，</a:t>
            </a:r>
            <a:r>
              <a:rPr lang="zh-CN" altLang="en-US" dirty="0">
                <a:solidFill>
                  <a:srgbClr val="101214"/>
                </a:solidFill>
                <a:latin typeface="PingFang SC"/>
              </a:rPr>
              <a:t>该</a:t>
            </a:r>
            <a:r>
              <a:rPr lang="en-US" altLang="zh-CN" b="0" i="0" dirty="0">
                <a:solidFill>
                  <a:srgbClr val="101214"/>
                </a:solidFill>
                <a:effectLst/>
                <a:latin typeface="PingFang SC"/>
              </a:rPr>
              <a:t>TTA</a:t>
            </a:r>
            <a:r>
              <a:rPr lang="zh-CN" altLang="en-US" b="0" i="0" dirty="0">
                <a:solidFill>
                  <a:srgbClr val="101214"/>
                </a:solidFill>
                <a:effectLst/>
                <a:latin typeface="PingFang SC"/>
              </a:rPr>
              <a:t>方法可以显著提高四种不同的质量感知源模型的性能。</a:t>
            </a:r>
            <a:endParaRPr lang="zh-CN" altLang="en-US" dirty="0"/>
          </a:p>
        </p:txBody>
      </p:sp>
      <p:pic>
        <p:nvPicPr>
          <p:cNvPr id="6" name="图片 5">
            <a:extLst>
              <a:ext uri="{FF2B5EF4-FFF2-40B4-BE49-F238E27FC236}">
                <a16:creationId xmlns:a16="http://schemas.microsoft.com/office/drawing/2014/main" id="{C3E87B64-612E-D328-4F3C-313CD877FB4B}"/>
              </a:ext>
            </a:extLst>
          </p:cNvPr>
          <p:cNvPicPr>
            <a:picLocks noChangeAspect="1"/>
          </p:cNvPicPr>
          <p:nvPr/>
        </p:nvPicPr>
        <p:blipFill>
          <a:blip r:embed="rId3"/>
          <a:stretch>
            <a:fillRect/>
          </a:stretch>
        </p:blipFill>
        <p:spPr>
          <a:xfrm>
            <a:off x="5789268" y="0"/>
            <a:ext cx="5964398" cy="6858000"/>
          </a:xfrm>
          <a:prstGeom prst="rect">
            <a:avLst/>
          </a:prstGeom>
        </p:spPr>
      </p:pic>
    </p:spTree>
    <p:extLst>
      <p:ext uri="{BB962C8B-B14F-4D97-AF65-F5344CB8AC3E}">
        <p14:creationId xmlns:p14="http://schemas.microsoft.com/office/powerpoint/2010/main" val="6364420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9CB1ED7-F089-59DE-8B74-3C176AEE482D}"/>
              </a:ext>
            </a:extLst>
          </p:cNvPr>
          <p:cNvSpPr>
            <a:spLocks noGrp="1"/>
          </p:cNvSpPr>
          <p:nvPr>
            <p:ph idx="1"/>
          </p:nvPr>
        </p:nvSpPr>
        <p:spPr/>
        <p:txBody>
          <a:bodyPr>
            <a:normAutofit/>
          </a:bodyPr>
          <a:lstStyle/>
          <a:p>
            <a:pPr marL="0" indent="0">
              <a:buNone/>
            </a:pPr>
            <a:r>
              <a:rPr lang="en-US" altLang="zh-CN" sz="4400" dirty="0"/>
              <a:t>THANKS</a:t>
            </a:r>
            <a:endParaRPr lang="zh-CN" altLang="en-US" sz="4400" dirty="0"/>
          </a:p>
        </p:txBody>
      </p:sp>
    </p:spTree>
    <p:extLst>
      <p:ext uri="{BB962C8B-B14F-4D97-AF65-F5344CB8AC3E}">
        <p14:creationId xmlns:p14="http://schemas.microsoft.com/office/powerpoint/2010/main" val="74445956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14194</TotalTime>
  <Words>3671</Words>
  <Application>Microsoft Office PowerPoint</Application>
  <PresentationFormat>宽屏</PresentationFormat>
  <Paragraphs>286</Paragraphs>
  <Slides>31</Slides>
  <Notes>25</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31</vt:i4>
      </vt:variant>
    </vt:vector>
  </HeadingPairs>
  <TitlesOfParts>
    <vt:vector size="43" baseType="lpstr">
      <vt:lpstr>-apple-system</vt:lpstr>
      <vt:lpstr>CMMI10</vt:lpstr>
      <vt:lpstr>CMR10</vt:lpstr>
      <vt:lpstr>NimbusRomNo9L-Medi</vt:lpstr>
      <vt:lpstr>NimbusRomNo9L-Regu</vt:lpstr>
      <vt:lpstr>NimbusRomNo9L-ReguItal</vt:lpstr>
      <vt:lpstr>PingFang SC</vt:lpstr>
      <vt:lpstr>等线</vt:lpstr>
      <vt:lpstr>等线 Light</vt:lpstr>
      <vt:lpstr>Arial</vt:lpstr>
      <vt:lpstr>Times New Roman</vt:lpstr>
      <vt:lpstr>Office 主题​​</vt:lpstr>
      <vt:lpstr>Test Time Adaptation for Blind Image Quality Assessment</vt:lpstr>
      <vt:lpstr>Backgrounds</vt:lpstr>
      <vt:lpstr>Architecture for TTA</vt:lpstr>
      <vt:lpstr>Group Contrastive Loss</vt:lpstr>
      <vt:lpstr>Group Contrastive Loss</vt:lpstr>
      <vt:lpstr>Rank Loss</vt:lpstr>
      <vt:lpstr>Rank Loss</vt:lpstr>
      <vt:lpstr>TTA objective function </vt:lpstr>
      <vt:lpstr>Experiments</vt:lpstr>
      <vt:lpstr>Experiments</vt:lpstr>
      <vt:lpstr>Experiments</vt:lpstr>
      <vt:lpstr>Experiments</vt:lpstr>
      <vt:lpstr>Experiments</vt:lpstr>
      <vt:lpstr>Experiments</vt:lpstr>
      <vt:lpstr>Experiments</vt:lpstr>
      <vt:lpstr>Experiments</vt:lpstr>
      <vt:lpstr>Experiments</vt:lpstr>
      <vt:lpstr>Experiments</vt:lpstr>
      <vt:lpstr>Conclusion</vt:lpstr>
      <vt:lpstr>Writing</vt:lpstr>
      <vt:lpstr>PowerPoint 演示文稿</vt:lpstr>
      <vt:lpstr>PowerPoint 演示文稿</vt:lpstr>
      <vt:lpstr>PowerPoint 演示文稿</vt:lpstr>
      <vt:lpstr>PowerPoint 演示文稿</vt:lpstr>
      <vt:lpstr>PowerPoint 演示文稿</vt:lpstr>
      <vt:lpstr>Introduction – 1/5</vt:lpstr>
      <vt:lpstr>Introduction – 2/5</vt:lpstr>
      <vt:lpstr>Introduction – 3/5</vt:lpstr>
      <vt:lpstr>Introduction – 4/5</vt:lpstr>
      <vt:lpstr>Introduction – 5/5</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琦玥 李</dc:creator>
  <cp:lastModifiedBy>岩 钟</cp:lastModifiedBy>
  <cp:revision>32</cp:revision>
  <dcterms:created xsi:type="dcterms:W3CDTF">2023-01-02T07:25:47Z</dcterms:created>
  <dcterms:modified xsi:type="dcterms:W3CDTF">2023-12-07T17:29:43Z</dcterms:modified>
</cp:coreProperties>
</file>