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707" r:id="rId2"/>
  </p:sldMasterIdLst>
  <p:notesMasterIdLst>
    <p:notesMasterId r:id="rId30"/>
  </p:notesMasterIdLst>
  <p:sldIdLst>
    <p:sldId id="635" r:id="rId3"/>
    <p:sldId id="5607" r:id="rId4"/>
    <p:sldId id="5617" r:id="rId5"/>
    <p:sldId id="5621" r:id="rId6"/>
    <p:sldId id="5609" r:id="rId7"/>
    <p:sldId id="5622" r:id="rId8"/>
    <p:sldId id="5626" r:id="rId9"/>
    <p:sldId id="5625" r:id="rId10"/>
    <p:sldId id="5627" r:id="rId11"/>
    <p:sldId id="5603" r:id="rId12"/>
    <p:sldId id="5602" r:id="rId13"/>
    <p:sldId id="5604" r:id="rId14"/>
    <p:sldId id="5640" r:id="rId15"/>
    <p:sldId id="5641" r:id="rId16"/>
    <p:sldId id="5642" r:id="rId17"/>
    <p:sldId id="5605" r:id="rId18"/>
    <p:sldId id="5628" r:id="rId19"/>
    <p:sldId id="5629" r:id="rId20"/>
    <p:sldId id="5631" r:id="rId21"/>
    <p:sldId id="5632" r:id="rId22"/>
    <p:sldId id="5633" r:id="rId23"/>
    <p:sldId id="5634" r:id="rId24"/>
    <p:sldId id="5635" r:id="rId25"/>
    <p:sldId id="5636" r:id="rId26"/>
    <p:sldId id="5637" r:id="rId27"/>
    <p:sldId id="5638" r:id="rId28"/>
    <p:sldId id="5639"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素材" id="{548E6020-DE2C-4A43-8C4A-E92BE1952416}">
          <p14:sldIdLst>
            <p14:sldId id="635"/>
            <p14:sldId id="5607"/>
            <p14:sldId id="5617"/>
            <p14:sldId id="5621"/>
            <p14:sldId id="5609"/>
            <p14:sldId id="5622"/>
            <p14:sldId id="5626"/>
            <p14:sldId id="5625"/>
            <p14:sldId id="5627"/>
            <p14:sldId id="5603"/>
            <p14:sldId id="5602"/>
            <p14:sldId id="5604"/>
            <p14:sldId id="5640"/>
            <p14:sldId id="5641"/>
            <p14:sldId id="5642"/>
            <p14:sldId id="5605"/>
            <p14:sldId id="5628"/>
            <p14:sldId id="5629"/>
            <p14:sldId id="5631"/>
            <p14:sldId id="5632"/>
            <p14:sldId id="5633"/>
            <p14:sldId id="5634"/>
            <p14:sldId id="5635"/>
            <p14:sldId id="5636"/>
            <p14:sldId id="5637"/>
            <p14:sldId id="5638"/>
            <p14:sldId id="563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extLst>
      <p:ext uri="{19B8F6BF-5375-455C-9EA6-DF929625EA0E}">
        <p15:presenceInfo xmlns:p15="http://schemas.microsoft.com/office/powerpoint/2012/main" userId="42218d51efea374b" providerId="Windows Live"/>
      </p:ext>
    </p:extLst>
  </p:cmAuthor>
  <p:cmAuthor id="2" name="Fish Zheng" initials="FZ" lastIdx="1" clrIdx="1">
    <p:extLst>
      <p:ext uri="{19B8F6BF-5375-455C-9EA6-DF929625EA0E}">
        <p15:presenceInfo xmlns:p15="http://schemas.microsoft.com/office/powerpoint/2012/main" userId="784d355a392b2c5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A0001"/>
    <a:srgbClr val="DE541D"/>
    <a:srgbClr val="BFBFBF"/>
    <a:srgbClr val="CEAB6E"/>
    <a:srgbClr val="A6A6A6"/>
    <a:srgbClr val="B1B1B1"/>
    <a:srgbClr val="063771"/>
    <a:srgbClr val="222A35"/>
    <a:srgbClr val="A2334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82" autoAdjust="0"/>
    <p:restoredTop sz="92049" autoAdjust="0"/>
  </p:normalViewPr>
  <p:slideViewPr>
    <p:cSldViewPr snapToGrid="0">
      <p:cViewPr varScale="1">
        <p:scale>
          <a:sx n="107" d="100"/>
          <a:sy n="107" d="100"/>
        </p:scale>
        <p:origin x="1280" y="160"/>
      </p:cViewPr>
      <p:guideLst/>
    </p:cSldViewPr>
  </p:slideViewPr>
  <p:outlineViewPr>
    <p:cViewPr>
      <p:scale>
        <a:sx n="20" d="100"/>
        <a:sy n="20" d="100"/>
      </p:scale>
      <p:origin x="0" y="0"/>
    </p:cViewPr>
  </p:outlineViewPr>
  <p:notesTextViewPr>
    <p:cViewPr>
      <p:scale>
        <a:sx n="75" d="100"/>
        <a:sy n="75" d="100"/>
      </p:scale>
      <p:origin x="0" y="0"/>
    </p:cViewPr>
  </p:notesTextViewPr>
  <p:sorterViewPr>
    <p:cViewPr>
      <p:scale>
        <a:sx n="66" d="100"/>
        <a:sy n="66" d="100"/>
      </p:scale>
      <p:origin x="0" y="-41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t>2024/1/5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t>‹#›</a:t>
            </a:fld>
            <a:endParaRPr lang="zh-CN" altLang="en-US"/>
          </a:p>
        </p:txBody>
      </p:sp>
    </p:spTree>
    <p:extLst>
      <p:ext uri="{BB962C8B-B14F-4D97-AF65-F5344CB8AC3E}">
        <p14:creationId xmlns:p14="http://schemas.microsoft.com/office/powerpoint/2010/main" val="2271869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a:t>
            </a:fld>
            <a:endParaRPr lang="zh-CN" altLang="en-US"/>
          </a:p>
        </p:txBody>
      </p:sp>
    </p:spTree>
    <p:extLst>
      <p:ext uri="{BB962C8B-B14F-4D97-AF65-F5344CB8AC3E}">
        <p14:creationId xmlns:p14="http://schemas.microsoft.com/office/powerpoint/2010/main" val="1161254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3</a:t>
            </a:fld>
            <a:endParaRPr lang="zh-CN" altLang="en-US"/>
          </a:p>
        </p:txBody>
      </p:sp>
    </p:spTree>
    <p:extLst>
      <p:ext uri="{BB962C8B-B14F-4D97-AF65-F5344CB8AC3E}">
        <p14:creationId xmlns:p14="http://schemas.microsoft.com/office/powerpoint/2010/main" val="12922372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717342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565530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3866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1846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1490678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39824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8054751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76478700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250273013"/>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343342305"/>
      </p:ext>
    </p:extLst>
  </p:cSld>
  <p:clrMapOvr>
    <a:masterClrMapping/>
  </p:clrMapOvr>
  <p:extLst>
    <p:ext uri="{DCECCB84-F9BA-43D5-87BE-67443E8EF086}">
      <p15:sldGuideLst xmlns:p15="http://schemas.microsoft.com/office/powerpoint/2012/main">
        <p15:guide id="2" orient="horz" userDrawn="1">
          <p15:clr>
            <a:srgbClr val="FBAE40"/>
          </p15:clr>
        </p15:guide>
        <p15:guide id="4"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65695044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700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2039128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9741471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7741092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27107317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6837769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17635334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105695779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89643890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10787271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255657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7612308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2883891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6098989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17261125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03003005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92591533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421409504"/>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530403812"/>
      </p:ext>
    </p:extLst>
  </p:cSld>
  <p:clrMapOvr>
    <a:masterClrMapping/>
  </p:clrMapOvr>
  <p:extLst>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113111911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0107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5667462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426787138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6162930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16074788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31045435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421295458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375766017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14475092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152792"/>
      </p:ext>
    </p:extLst>
  </p:cSld>
  <p:clrMap bg1="lt1" tx1="dk1" bg2="lt2" tx2="dk2" accent1="accent1" accent2="accent2" accent3="accent3" accent4="accent4" accent5="accent5" accent6="accent6" hlink="hlink" folHlink="folHlink"/>
  <p:sldLayoutIdLst>
    <p:sldLayoutId id="2147483694" r:id="rId1"/>
    <p:sldLayoutId id="2147483684" r:id="rId2"/>
    <p:sldLayoutId id="2147483685" r:id="rId3"/>
    <p:sldLayoutId id="2147483686" r:id="rId4"/>
    <p:sldLayoutId id="2147483680" r:id="rId5"/>
    <p:sldLayoutId id="2147483681" r:id="rId6"/>
    <p:sldLayoutId id="2147483691" r:id="rId7"/>
    <p:sldLayoutId id="2147483689" r:id="rId8"/>
    <p:sldLayoutId id="2147483688" r:id="rId9"/>
    <p:sldLayoutId id="2147483657" r:id="rId10"/>
    <p:sldLayoutId id="2147483690" r:id="rId11"/>
    <p:sldLayoutId id="2147483692" r:id="rId12"/>
    <p:sldLayoutId id="2147483704" r:id="rId13"/>
    <p:sldLayoutId id="2147483695" r:id="rId14"/>
    <p:sldLayoutId id="2147483700" r:id="rId15"/>
    <p:sldLayoutId id="2147483701" r:id="rId16"/>
    <p:sldLayoutId id="2147483703" r:id="rId17"/>
    <p:sldLayoutId id="2147483702" r:id="rId18"/>
    <p:sldLayoutId id="2147483705" r:id="rId19"/>
    <p:sldLayoutId id="2147483706"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348523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925910E-46F9-4666-9744-B5C1B666AF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1847" y="0"/>
            <a:ext cx="9144000" cy="6858000"/>
          </a:xfrm>
          <a:prstGeom prst="rect">
            <a:avLst/>
          </a:prstGeom>
        </p:spPr>
      </p:pic>
      <p:sp>
        <p:nvSpPr>
          <p:cNvPr id="4" name="矩形 3">
            <a:extLst>
              <a:ext uri="{FF2B5EF4-FFF2-40B4-BE49-F238E27FC236}">
                <a16:creationId xmlns:a16="http://schemas.microsoft.com/office/drawing/2014/main" id="{D0ECADE0-136B-4331-AFDB-39AF67408217}"/>
              </a:ext>
            </a:extLst>
          </p:cNvPr>
          <p:cNvSpPr/>
          <p:nvPr/>
        </p:nvSpPr>
        <p:spPr>
          <a:xfrm>
            <a:off x="13847" y="0"/>
            <a:ext cx="12192000" cy="6858000"/>
          </a:xfrm>
          <a:prstGeom prst="rect">
            <a:avLst/>
          </a:prstGeom>
          <a:gradFill flip="none" rotWithShape="1">
            <a:gsLst>
              <a:gs pos="31000">
                <a:schemeClr val="bg1"/>
              </a:gs>
              <a:gs pos="100000">
                <a:schemeClr val="bg1">
                  <a:alpha val="50000"/>
                </a:schemeClr>
              </a:gs>
            </a:gsLst>
            <a:lin ang="0" scaled="1"/>
            <a:tileRect/>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 name="文本框 11">
            <a:extLst>
              <a:ext uri="{FF2B5EF4-FFF2-40B4-BE49-F238E27FC236}">
                <a16:creationId xmlns:a16="http://schemas.microsoft.com/office/drawing/2014/main" id="{714446B3-E2BE-4CA1-AD4C-F2519F4376A8}"/>
              </a:ext>
            </a:extLst>
          </p:cNvPr>
          <p:cNvSpPr txBox="1"/>
          <p:nvPr/>
        </p:nvSpPr>
        <p:spPr>
          <a:xfrm>
            <a:off x="368298" y="2987496"/>
            <a:ext cx="9982048" cy="1200329"/>
          </a:xfrm>
          <a:prstGeom prst="rect">
            <a:avLst/>
          </a:prstGeom>
          <a:noFill/>
        </p:spPr>
        <p:txBody>
          <a:bodyPr wrap="square" rtlCol="0">
            <a:spAutoFit/>
          </a:bodyPr>
          <a:lstStyle/>
          <a:p>
            <a:pPr>
              <a:defRPr/>
            </a:pPr>
            <a:r>
              <a:rPr lang="en-US" altLang="zh-CN" sz="3600" spc="200" dirty="0" err="1">
                <a:solidFill>
                  <a:schemeClr val="accent1"/>
                </a:solidFill>
                <a:latin typeface="Arial" panose="020B0604020202020204" pitchFamily="34" charset="0"/>
                <a:ea typeface="Microsoft YaHei" panose="020B0503020204020204" pitchFamily="34" charset="-122"/>
                <a:cs typeface="+mn-ea"/>
              </a:rPr>
              <a:t>MedLSAM</a:t>
            </a:r>
            <a:r>
              <a:rPr lang="en-US" altLang="zh-CN" sz="3600" spc="200" dirty="0">
                <a:solidFill>
                  <a:schemeClr val="accent1"/>
                </a:solidFill>
                <a:latin typeface="Arial" panose="020B0604020202020204" pitchFamily="34" charset="0"/>
                <a:ea typeface="Microsoft YaHei" panose="020B0503020204020204" pitchFamily="34" charset="-122"/>
                <a:cs typeface="+mn-ea"/>
              </a:rPr>
              <a:t>: Localize and Segment Anything Model for 3D Medical Images</a:t>
            </a:r>
            <a:endParaRPr lang="en" altLang="zh-CN" sz="3600" spc="200" dirty="0">
              <a:solidFill>
                <a:schemeClr val="accent1"/>
              </a:solidFill>
              <a:latin typeface="Arial" panose="020B0604020202020204" pitchFamily="34" charset="0"/>
              <a:ea typeface="Microsoft YaHei" panose="020B0503020204020204" pitchFamily="34" charset="-122"/>
              <a:cs typeface="+mn-ea"/>
            </a:endParaRPr>
          </a:p>
        </p:txBody>
      </p:sp>
      <p:grpSp>
        <p:nvGrpSpPr>
          <p:cNvPr id="10" name="组合 9">
            <a:extLst>
              <a:ext uri="{FF2B5EF4-FFF2-40B4-BE49-F238E27FC236}">
                <a16:creationId xmlns:a16="http://schemas.microsoft.com/office/drawing/2014/main" id="{624A3512-72B3-4251-A3C8-3A280ACA83FF}"/>
              </a:ext>
            </a:extLst>
          </p:cNvPr>
          <p:cNvGrpSpPr/>
          <p:nvPr/>
        </p:nvGrpSpPr>
        <p:grpSpPr>
          <a:xfrm>
            <a:off x="1613595" y="2590887"/>
            <a:ext cx="2136277" cy="157242"/>
            <a:chOff x="4616246" y="3878362"/>
            <a:chExt cx="5571416" cy="410087"/>
          </a:xfrm>
          <a:solidFill>
            <a:schemeClr val="tx1">
              <a:alpha val="80000"/>
            </a:schemeClr>
          </a:solidFill>
        </p:grpSpPr>
        <p:sp>
          <p:nvSpPr>
            <p:cNvPr id="52" name="Freeform 17">
              <a:extLst>
                <a:ext uri="{FF2B5EF4-FFF2-40B4-BE49-F238E27FC236}">
                  <a16:creationId xmlns:a16="http://schemas.microsoft.com/office/drawing/2014/main" id="{DAE52073-4524-4A8B-A464-E035A3C83E34}"/>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3" name="Freeform 18">
              <a:extLst>
                <a:ext uri="{FF2B5EF4-FFF2-40B4-BE49-F238E27FC236}">
                  <a16:creationId xmlns:a16="http://schemas.microsoft.com/office/drawing/2014/main" id="{29B30B23-4451-4DEB-8333-41AA2086EFE8}"/>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4" name="Freeform 19">
              <a:extLst>
                <a:ext uri="{FF2B5EF4-FFF2-40B4-BE49-F238E27FC236}">
                  <a16:creationId xmlns:a16="http://schemas.microsoft.com/office/drawing/2014/main" id="{EE9CF431-F2BD-4C74-BF84-206831EF1B3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5" name="Freeform 20">
              <a:extLst>
                <a:ext uri="{FF2B5EF4-FFF2-40B4-BE49-F238E27FC236}">
                  <a16:creationId xmlns:a16="http://schemas.microsoft.com/office/drawing/2014/main" id="{B038737B-D725-476E-AB8D-46A20D69D3BC}"/>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6" name="Freeform 21">
              <a:extLst>
                <a:ext uri="{FF2B5EF4-FFF2-40B4-BE49-F238E27FC236}">
                  <a16:creationId xmlns:a16="http://schemas.microsoft.com/office/drawing/2014/main" id="{59D43693-0CB2-4CEE-A28F-463412B0BA1F}"/>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7" name="Freeform 22">
              <a:extLst>
                <a:ext uri="{FF2B5EF4-FFF2-40B4-BE49-F238E27FC236}">
                  <a16:creationId xmlns:a16="http://schemas.microsoft.com/office/drawing/2014/main" id="{12EBA933-6319-48AB-AF5B-A0AF5A0A0B09}"/>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8" name="Freeform 23">
              <a:extLst>
                <a:ext uri="{FF2B5EF4-FFF2-40B4-BE49-F238E27FC236}">
                  <a16:creationId xmlns:a16="http://schemas.microsoft.com/office/drawing/2014/main" id="{A787C284-7A79-4135-AF6F-C9D2C1B9F56B}"/>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9" name="Freeform 25">
              <a:extLst>
                <a:ext uri="{FF2B5EF4-FFF2-40B4-BE49-F238E27FC236}">
                  <a16:creationId xmlns:a16="http://schemas.microsoft.com/office/drawing/2014/main" id="{247D306D-FCC1-44BB-B0BD-CC291A8356B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0" name="Freeform 27">
              <a:extLst>
                <a:ext uri="{FF2B5EF4-FFF2-40B4-BE49-F238E27FC236}">
                  <a16:creationId xmlns:a16="http://schemas.microsoft.com/office/drawing/2014/main" id="{78DDE031-2B60-433F-AC8A-A23352BEB113}"/>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1" name="Freeform 29">
              <a:extLst>
                <a:ext uri="{FF2B5EF4-FFF2-40B4-BE49-F238E27FC236}">
                  <a16:creationId xmlns:a16="http://schemas.microsoft.com/office/drawing/2014/main" id="{840C2A14-CF9F-4A71-9528-B88913053A6C}"/>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2" name="Freeform 30">
              <a:extLst>
                <a:ext uri="{FF2B5EF4-FFF2-40B4-BE49-F238E27FC236}">
                  <a16:creationId xmlns:a16="http://schemas.microsoft.com/office/drawing/2014/main" id="{F74615A6-67FE-4049-9E95-6865472B2FA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3" name="Freeform 31">
              <a:extLst>
                <a:ext uri="{FF2B5EF4-FFF2-40B4-BE49-F238E27FC236}">
                  <a16:creationId xmlns:a16="http://schemas.microsoft.com/office/drawing/2014/main" id="{2496D022-5723-41CD-A8F4-F3B85467A5A8}"/>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4" name="Freeform 32">
              <a:extLst>
                <a:ext uri="{FF2B5EF4-FFF2-40B4-BE49-F238E27FC236}">
                  <a16:creationId xmlns:a16="http://schemas.microsoft.com/office/drawing/2014/main" id="{6ED1CA87-E8C4-4AC0-87D6-274BE102A8E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5" name="Freeform 33">
              <a:extLst>
                <a:ext uri="{FF2B5EF4-FFF2-40B4-BE49-F238E27FC236}">
                  <a16:creationId xmlns:a16="http://schemas.microsoft.com/office/drawing/2014/main" id="{8AF2007B-F804-4B7C-8C23-2DCB5C77B90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6" name="Freeform 34">
              <a:extLst>
                <a:ext uri="{FF2B5EF4-FFF2-40B4-BE49-F238E27FC236}">
                  <a16:creationId xmlns:a16="http://schemas.microsoft.com/office/drawing/2014/main" id="{CC6844D1-946D-4BD6-8E4D-EB03ED59D079}"/>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7" name="Freeform 35">
              <a:extLst>
                <a:ext uri="{FF2B5EF4-FFF2-40B4-BE49-F238E27FC236}">
                  <a16:creationId xmlns:a16="http://schemas.microsoft.com/office/drawing/2014/main" id="{730043B8-DE20-4525-AE0C-A8E50F80B48B}"/>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nvGrpSpPr>
          <p:cNvPr id="15" name="组合 14">
            <a:extLst>
              <a:ext uri="{FF2B5EF4-FFF2-40B4-BE49-F238E27FC236}">
                <a16:creationId xmlns:a16="http://schemas.microsoft.com/office/drawing/2014/main" id="{A19D5EA6-14B0-4D45-B23D-1085BD84EE19}"/>
              </a:ext>
            </a:extLst>
          </p:cNvPr>
          <p:cNvGrpSpPr/>
          <p:nvPr/>
        </p:nvGrpSpPr>
        <p:grpSpPr>
          <a:xfrm>
            <a:off x="1609909" y="1889441"/>
            <a:ext cx="2144877" cy="612998"/>
            <a:chOff x="4606634" y="2048989"/>
            <a:chExt cx="5593843" cy="1598699"/>
          </a:xfrm>
          <a:solidFill>
            <a:schemeClr val="accent1">
              <a:alpha val="80000"/>
            </a:schemeClr>
          </a:solidFill>
        </p:grpSpPr>
        <p:sp>
          <p:nvSpPr>
            <p:cNvPr id="40" name="Freeform 9">
              <a:extLst>
                <a:ext uri="{FF2B5EF4-FFF2-40B4-BE49-F238E27FC236}">
                  <a16:creationId xmlns:a16="http://schemas.microsoft.com/office/drawing/2014/main" id="{875B2159-A8E3-413A-8622-E86708C373A7}"/>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1" name="Freeform 10">
              <a:extLst>
                <a:ext uri="{FF2B5EF4-FFF2-40B4-BE49-F238E27FC236}">
                  <a16:creationId xmlns:a16="http://schemas.microsoft.com/office/drawing/2014/main" id="{3CE23A0A-0FB8-407F-8833-2E5FFD3293ED}"/>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2" name="Freeform 11">
              <a:extLst>
                <a:ext uri="{FF2B5EF4-FFF2-40B4-BE49-F238E27FC236}">
                  <a16:creationId xmlns:a16="http://schemas.microsoft.com/office/drawing/2014/main" id="{E125307E-4C2A-420A-9964-CAEE852C302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3" name="Freeform 12">
              <a:extLst>
                <a:ext uri="{FF2B5EF4-FFF2-40B4-BE49-F238E27FC236}">
                  <a16:creationId xmlns:a16="http://schemas.microsoft.com/office/drawing/2014/main" id="{42AA24C9-7F3A-4AEE-9DA4-31C9F38A54F7}"/>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4" name="Freeform 13">
              <a:extLst>
                <a:ext uri="{FF2B5EF4-FFF2-40B4-BE49-F238E27FC236}">
                  <a16:creationId xmlns:a16="http://schemas.microsoft.com/office/drawing/2014/main" id="{9CB8174D-1173-4E2A-BE59-232D174ECD54}"/>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5" name="Freeform 14">
              <a:extLst>
                <a:ext uri="{FF2B5EF4-FFF2-40B4-BE49-F238E27FC236}">
                  <a16:creationId xmlns:a16="http://schemas.microsoft.com/office/drawing/2014/main" id="{4720CA78-8018-480D-B3C6-AA429C00B178}"/>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6" name="Freeform 15">
              <a:extLst>
                <a:ext uri="{FF2B5EF4-FFF2-40B4-BE49-F238E27FC236}">
                  <a16:creationId xmlns:a16="http://schemas.microsoft.com/office/drawing/2014/main" id="{7E8C1630-854C-41AB-BF47-FCBD67F65F11}"/>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7" name="Freeform 16">
              <a:extLst>
                <a:ext uri="{FF2B5EF4-FFF2-40B4-BE49-F238E27FC236}">
                  <a16:creationId xmlns:a16="http://schemas.microsoft.com/office/drawing/2014/main" id="{BB46278C-87D7-48B9-8CFE-B99963AF3708}"/>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8" name="Freeform 24">
              <a:extLst>
                <a:ext uri="{FF2B5EF4-FFF2-40B4-BE49-F238E27FC236}">
                  <a16:creationId xmlns:a16="http://schemas.microsoft.com/office/drawing/2014/main" id="{1465E496-AA95-4FA0-816E-85C3C43B811A}"/>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9" name="Freeform 26">
              <a:extLst>
                <a:ext uri="{FF2B5EF4-FFF2-40B4-BE49-F238E27FC236}">
                  <a16:creationId xmlns:a16="http://schemas.microsoft.com/office/drawing/2014/main" id="{E527BFC8-9702-482C-AFED-BAAAB9337A19}"/>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0" name="Freeform 28">
              <a:extLst>
                <a:ext uri="{FF2B5EF4-FFF2-40B4-BE49-F238E27FC236}">
                  <a16:creationId xmlns:a16="http://schemas.microsoft.com/office/drawing/2014/main" id="{1AF4B7CE-EDBD-44F8-BB6E-A49749BDFDD4}"/>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1" name="Freeform 36">
              <a:extLst>
                <a:ext uri="{FF2B5EF4-FFF2-40B4-BE49-F238E27FC236}">
                  <a16:creationId xmlns:a16="http://schemas.microsoft.com/office/drawing/2014/main" id="{9A2A1D48-D356-4118-89AC-7D391184795C}"/>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nvGrpSpPr>
          <p:cNvPr id="16" name="组合 15">
            <a:extLst>
              <a:ext uri="{FF2B5EF4-FFF2-40B4-BE49-F238E27FC236}">
                <a16:creationId xmlns:a16="http://schemas.microsoft.com/office/drawing/2014/main" id="{699C80E8-62C0-48BD-B434-DCD74F77C058}"/>
              </a:ext>
            </a:extLst>
          </p:cNvPr>
          <p:cNvGrpSpPr/>
          <p:nvPr/>
        </p:nvGrpSpPr>
        <p:grpSpPr>
          <a:xfrm>
            <a:off x="497548" y="1821768"/>
            <a:ext cx="960649" cy="958410"/>
            <a:chOff x="2105799" y="20055838"/>
            <a:chExt cx="6748090" cy="6732363"/>
          </a:xfrm>
          <a:solidFill>
            <a:schemeClr val="accent1">
              <a:alpha val="80000"/>
            </a:schemeClr>
          </a:solidFill>
        </p:grpSpPr>
        <p:sp>
          <p:nvSpPr>
            <p:cNvPr id="17" name="Freeform 8">
              <a:extLst>
                <a:ext uri="{FF2B5EF4-FFF2-40B4-BE49-F238E27FC236}">
                  <a16:creationId xmlns:a16="http://schemas.microsoft.com/office/drawing/2014/main" id="{8A0B2331-B894-4E61-8B62-88868F9F593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8" name="Freeform 42">
              <a:extLst>
                <a:ext uri="{FF2B5EF4-FFF2-40B4-BE49-F238E27FC236}">
                  <a16:creationId xmlns:a16="http://schemas.microsoft.com/office/drawing/2014/main" id="{31691092-2A59-4223-8433-076BD21CF24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9" name="Freeform 43">
              <a:extLst>
                <a:ext uri="{FF2B5EF4-FFF2-40B4-BE49-F238E27FC236}">
                  <a16:creationId xmlns:a16="http://schemas.microsoft.com/office/drawing/2014/main" id="{99A87205-5C20-4A7A-85D3-0D7AD4BD12F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0" name="Freeform 44">
              <a:extLst>
                <a:ext uri="{FF2B5EF4-FFF2-40B4-BE49-F238E27FC236}">
                  <a16:creationId xmlns:a16="http://schemas.microsoft.com/office/drawing/2014/main" id="{7DD988B2-0D51-4890-B241-010F31583449}"/>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1" name="Freeform 45">
              <a:extLst>
                <a:ext uri="{FF2B5EF4-FFF2-40B4-BE49-F238E27FC236}">
                  <a16:creationId xmlns:a16="http://schemas.microsoft.com/office/drawing/2014/main" id="{B1FB4247-BBB2-4097-8AE7-2831D11A81AB}"/>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2" name="Freeform 46">
              <a:extLst>
                <a:ext uri="{FF2B5EF4-FFF2-40B4-BE49-F238E27FC236}">
                  <a16:creationId xmlns:a16="http://schemas.microsoft.com/office/drawing/2014/main" id="{1AE097AA-CC9B-40C7-ADF2-F43DDE5761C7}"/>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3" name="Freeform 47">
              <a:extLst>
                <a:ext uri="{FF2B5EF4-FFF2-40B4-BE49-F238E27FC236}">
                  <a16:creationId xmlns:a16="http://schemas.microsoft.com/office/drawing/2014/main" id="{1159C2D6-5EA4-4F84-B2F1-241CE2D3DE2E}"/>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4" name="Freeform 48">
              <a:extLst>
                <a:ext uri="{FF2B5EF4-FFF2-40B4-BE49-F238E27FC236}">
                  <a16:creationId xmlns:a16="http://schemas.microsoft.com/office/drawing/2014/main" id="{604D2764-FB55-4E92-A499-BBAB56EE56FD}"/>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5" name="Freeform 49">
              <a:extLst>
                <a:ext uri="{FF2B5EF4-FFF2-40B4-BE49-F238E27FC236}">
                  <a16:creationId xmlns:a16="http://schemas.microsoft.com/office/drawing/2014/main" id="{479CD6CF-3B3D-4D8A-B69F-BC590B04A8CD}"/>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6" name="Freeform 50">
              <a:extLst>
                <a:ext uri="{FF2B5EF4-FFF2-40B4-BE49-F238E27FC236}">
                  <a16:creationId xmlns:a16="http://schemas.microsoft.com/office/drawing/2014/main" id="{8209BE02-17C3-483F-B590-3E6DF5BDB547}"/>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7" name="Freeform 51">
              <a:extLst>
                <a:ext uri="{FF2B5EF4-FFF2-40B4-BE49-F238E27FC236}">
                  <a16:creationId xmlns:a16="http://schemas.microsoft.com/office/drawing/2014/main" id="{CD717262-BBF6-482A-9C87-40BB54ED11F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8" name="Freeform 52">
              <a:extLst>
                <a:ext uri="{FF2B5EF4-FFF2-40B4-BE49-F238E27FC236}">
                  <a16:creationId xmlns:a16="http://schemas.microsoft.com/office/drawing/2014/main" id="{BDE41B04-E950-48FB-A7A5-17FDEA1A1451}"/>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29" name="Freeform 53">
              <a:extLst>
                <a:ext uri="{FF2B5EF4-FFF2-40B4-BE49-F238E27FC236}">
                  <a16:creationId xmlns:a16="http://schemas.microsoft.com/office/drawing/2014/main" id="{FE0A7D75-4788-4AE0-BC4E-4BC6D7723572}"/>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0" name="Freeform 54">
              <a:extLst>
                <a:ext uri="{FF2B5EF4-FFF2-40B4-BE49-F238E27FC236}">
                  <a16:creationId xmlns:a16="http://schemas.microsoft.com/office/drawing/2014/main" id="{7915283C-8D47-40E1-8506-D851C93071D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1" name="Freeform 55">
              <a:extLst>
                <a:ext uri="{FF2B5EF4-FFF2-40B4-BE49-F238E27FC236}">
                  <a16:creationId xmlns:a16="http://schemas.microsoft.com/office/drawing/2014/main" id="{98994CA6-3857-4616-B74C-C0783C838A43}"/>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2" name="Freeform 56">
              <a:extLst>
                <a:ext uri="{FF2B5EF4-FFF2-40B4-BE49-F238E27FC236}">
                  <a16:creationId xmlns:a16="http://schemas.microsoft.com/office/drawing/2014/main" id="{CE514B7E-77D9-4120-8AD8-B736E658D105}"/>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3" name="Freeform 57">
              <a:extLst>
                <a:ext uri="{FF2B5EF4-FFF2-40B4-BE49-F238E27FC236}">
                  <a16:creationId xmlns:a16="http://schemas.microsoft.com/office/drawing/2014/main" id="{4263E67D-C070-4D9F-A2B8-8C51FABB435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4" name="Freeform 58">
              <a:extLst>
                <a:ext uri="{FF2B5EF4-FFF2-40B4-BE49-F238E27FC236}">
                  <a16:creationId xmlns:a16="http://schemas.microsoft.com/office/drawing/2014/main" id="{C9D49BD9-B4CA-4875-95CC-63D5C659C0E9}"/>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5" name="Freeform 59">
              <a:extLst>
                <a:ext uri="{FF2B5EF4-FFF2-40B4-BE49-F238E27FC236}">
                  <a16:creationId xmlns:a16="http://schemas.microsoft.com/office/drawing/2014/main" id="{252C6FCC-397A-4014-81AB-830F7CECC9E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6" name="Freeform 60">
              <a:extLst>
                <a:ext uri="{FF2B5EF4-FFF2-40B4-BE49-F238E27FC236}">
                  <a16:creationId xmlns:a16="http://schemas.microsoft.com/office/drawing/2014/main" id="{BFCECE11-D055-4B8D-A4B3-33FDDF84688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7" name="Freeform 61">
              <a:extLst>
                <a:ext uri="{FF2B5EF4-FFF2-40B4-BE49-F238E27FC236}">
                  <a16:creationId xmlns:a16="http://schemas.microsoft.com/office/drawing/2014/main" id="{4162D747-ED4A-4BB0-A6DA-53D3E94BC8C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8" name="Freeform 62">
              <a:extLst>
                <a:ext uri="{FF2B5EF4-FFF2-40B4-BE49-F238E27FC236}">
                  <a16:creationId xmlns:a16="http://schemas.microsoft.com/office/drawing/2014/main" id="{76974D8B-D8B3-4C59-BD63-90049E186DCB}"/>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9" name="Freeform 71">
              <a:extLst>
                <a:ext uri="{FF2B5EF4-FFF2-40B4-BE49-F238E27FC236}">
                  <a16:creationId xmlns:a16="http://schemas.microsoft.com/office/drawing/2014/main" id="{6C1C7949-68AF-4F82-AC9C-AFA92764922D}"/>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sp>
        <p:nvSpPr>
          <p:cNvPr id="69" name="文本框 68">
            <a:extLst>
              <a:ext uri="{FF2B5EF4-FFF2-40B4-BE49-F238E27FC236}">
                <a16:creationId xmlns:a16="http://schemas.microsoft.com/office/drawing/2014/main" id="{586B96AE-728D-4D30-864F-2F482DDB40E3}"/>
              </a:ext>
            </a:extLst>
          </p:cNvPr>
          <p:cNvSpPr txBox="1"/>
          <p:nvPr/>
        </p:nvSpPr>
        <p:spPr>
          <a:xfrm>
            <a:off x="360269" y="4841176"/>
            <a:ext cx="24647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solidFill>
                  <a:prstClr val="white">
                    <a:lumMod val="50000"/>
                  </a:prstClr>
                </a:solidFill>
                <a:latin typeface="Arial" panose="020B0604020202020204" pitchFamily="34" charset="0"/>
                <a:ea typeface="Microsoft YaHei" panose="020B0503020204020204" pitchFamily="34" charset="-122"/>
                <a:cs typeface="+mn-ea"/>
                <a:sym typeface="Arial" panose="020B0604020202020204" pitchFamily="34" charset="0"/>
              </a:rPr>
              <a:t>Ruohua</a:t>
            </a:r>
            <a:r>
              <a:rPr lang="en-US" altLang="zh-CN" dirty="0">
                <a:solidFill>
                  <a:prstClr val="white">
                    <a:lumMod val="50000"/>
                  </a:prstClr>
                </a:solidFill>
                <a:latin typeface="Arial" panose="020B0604020202020204" pitchFamily="34" charset="0"/>
                <a:ea typeface="Microsoft YaHei" panose="020B0503020204020204" pitchFamily="34" charset="-122"/>
                <a:cs typeface="+mn-ea"/>
                <a:sym typeface="Arial" panose="020B0604020202020204" pitchFamily="34" charset="0"/>
              </a:rPr>
              <a:t> Shi</a:t>
            </a:r>
            <a:endParaRPr kumimoji="0" lang="zh-CN" altLang="en-US" sz="18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8" name="文本框 67">
            <a:extLst>
              <a:ext uri="{FF2B5EF4-FFF2-40B4-BE49-F238E27FC236}">
                <a16:creationId xmlns:a16="http://schemas.microsoft.com/office/drawing/2014/main" id="{D6008F7E-9E78-40B1-8C5C-B5A985887777}"/>
              </a:ext>
            </a:extLst>
          </p:cNvPr>
          <p:cNvSpPr txBox="1"/>
          <p:nvPr/>
        </p:nvSpPr>
        <p:spPr>
          <a:xfrm>
            <a:off x="2839590" y="4841176"/>
            <a:ext cx="24647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B2D30A-0142-9F42-A315-0C1939B47AEE}" type="datetime1">
              <a:rPr kumimoji="0" lang="zh-CN" altLang="en-US" sz="18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2024/1/5</a:t>
            </a:fld>
            <a:endParaRPr kumimoji="0" lang="zh-CN" altLang="en-US" sz="18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1960587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EB6269A-6A69-5876-B8C8-93FD4E7684E4}"/>
              </a:ext>
            </a:extLst>
          </p:cNvPr>
          <p:cNvSpPr>
            <a:spLocks noGrp="1"/>
          </p:cNvSpPr>
          <p:nvPr>
            <p:ph type="sldNum" sz="quarter" idx="4"/>
          </p:nvPr>
        </p:nvSpPr>
        <p:spPr/>
        <p:txBody>
          <a:bodyPr/>
          <a:lstStyle/>
          <a:p>
            <a:r>
              <a:rPr lang="en-US" altLang="zh-CN"/>
              <a:t>&lt; </a:t>
            </a:r>
            <a:fld id="{A548B57D-AE10-4CF7-A9DF-59FEFA91B28E}" type="slidenum">
              <a:rPr lang="zh-CN" altLang="en-US" smtClean="0"/>
              <a:pPr/>
              <a:t>2</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69231CB9-1958-B8BD-6E1A-C5D5A2683B27}"/>
              </a:ext>
            </a:extLst>
          </p:cNvPr>
          <p:cNvSpPr>
            <a:spLocks noGrp="1"/>
          </p:cNvSpPr>
          <p:nvPr>
            <p:ph type="title"/>
          </p:nvPr>
        </p:nvSpPr>
        <p:spPr/>
        <p:txBody>
          <a:bodyPr/>
          <a:lstStyle/>
          <a:p>
            <a:endParaRPr kumimoji="1" lang="zh-CN" altLang="en-US" dirty="0"/>
          </a:p>
        </p:txBody>
      </p:sp>
      <p:pic>
        <p:nvPicPr>
          <p:cNvPr id="5" name="图片 4">
            <a:extLst>
              <a:ext uri="{FF2B5EF4-FFF2-40B4-BE49-F238E27FC236}">
                <a16:creationId xmlns:a16="http://schemas.microsoft.com/office/drawing/2014/main" id="{84EDE64A-D09C-1D4D-4791-665DEABBE92B}"/>
              </a:ext>
            </a:extLst>
          </p:cNvPr>
          <p:cNvPicPr>
            <a:picLocks noChangeAspect="1"/>
          </p:cNvPicPr>
          <p:nvPr/>
        </p:nvPicPr>
        <p:blipFill>
          <a:blip r:embed="rId2"/>
          <a:stretch>
            <a:fillRect/>
          </a:stretch>
        </p:blipFill>
        <p:spPr>
          <a:xfrm>
            <a:off x="1441367" y="861087"/>
            <a:ext cx="9309265" cy="4874190"/>
          </a:xfrm>
          <a:prstGeom prst="rect">
            <a:avLst/>
          </a:prstGeom>
        </p:spPr>
      </p:pic>
      <p:sp>
        <p:nvSpPr>
          <p:cNvPr id="6" name="圆角矩形 5">
            <a:extLst>
              <a:ext uri="{FF2B5EF4-FFF2-40B4-BE49-F238E27FC236}">
                <a16:creationId xmlns:a16="http://schemas.microsoft.com/office/drawing/2014/main" id="{4EFB67C7-9B36-6DA7-99BC-0BF3C25C051B}"/>
              </a:ext>
            </a:extLst>
          </p:cNvPr>
          <p:cNvSpPr/>
          <p:nvPr/>
        </p:nvSpPr>
        <p:spPr>
          <a:xfrm>
            <a:off x="4465122" y="1141041"/>
            <a:ext cx="1531917" cy="509755"/>
          </a:xfrm>
          <a:custGeom>
            <a:avLst/>
            <a:gdLst>
              <a:gd name="connsiteX0" fmla="*/ 0 w 1531917"/>
              <a:gd name="connsiteY0" fmla="*/ 84961 h 509755"/>
              <a:gd name="connsiteX1" fmla="*/ 84961 w 1531917"/>
              <a:gd name="connsiteY1" fmla="*/ 0 h 509755"/>
              <a:gd name="connsiteX2" fmla="*/ 793198 w 1531917"/>
              <a:gd name="connsiteY2" fmla="*/ 0 h 509755"/>
              <a:gd name="connsiteX3" fmla="*/ 1446956 w 1531917"/>
              <a:gd name="connsiteY3" fmla="*/ 0 h 509755"/>
              <a:gd name="connsiteX4" fmla="*/ 1531917 w 1531917"/>
              <a:gd name="connsiteY4" fmla="*/ 84961 h 509755"/>
              <a:gd name="connsiteX5" fmla="*/ 1531917 w 1531917"/>
              <a:gd name="connsiteY5" fmla="*/ 424794 h 509755"/>
              <a:gd name="connsiteX6" fmla="*/ 1446956 w 1531917"/>
              <a:gd name="connsiteY6" fmla="*/ 509755 h 509755"/>
              <a:gd name="connsiteX7" fmla="*/ 765959 w 1531917"/>
              <a:gd name="connsiteY7" fmla="*/ 509755 h 509755"/>
              <a:gd name="connsiteX8" fmla="*/ 84961 w 1531917"/>
              <a:gd name="connsiteY8" fmla="*/ 509755 h 509755"/>
              <a:gd name="connsiteX9" fmla="*/ 0 w 1531917"/>
              <a:gd name="connsiteY9" fmla="*/ 424794 h 509755"/>
              <a:gd name="connsiteX10" fmla="*/ 0 w 1531917"/>
              <a:gd name="connsiteY10" fmla="*/ 84961 h 50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1917" h="509755" extrusionOk="0">
                <a:moveTo>
                  <a:pt x="0" y="84961"/>
                </a:moveTo>
                <a:cubicBezTo>
                  <a:pt x="-3273" y="36019"/>
                  <a:pt x="35313" y="1023"/>
                  <a:pt x="84961" y="0"/>
                </a:cubicBezTo>
                <a:cubicBezTo>
                  <a:pt x="316059" y="21833"/>
                  <a:pt x="523217" y="31063"/>
                  <a:pt x="793198" y="0"/>
                </a:cubicBezTo>
                <a:cubicBezTo>
                  <a:pt x="1063179" y="-31063"/>
                  <a:pt x="1294022" y="22756"/>
                  <a:pt x="1446956" y="0"/>
                </a:cubicBezTo>
                <a:cubicBezTo>
                  <a:pt x="1483891" y="-5465"/>
                  <a:pt x="1539091" y="41466"/>
                  <a:pt x="1531917" y="84961"/>
                </a:cubicBezTo>
                <a:cubicBezTo>
                  <a:pt x="1531823" y="189514"/>
                  <a:pt x="1540394" y="289975"/>
                  <a:pt x="1531917" y="424794"/>
                </a:cubicBezTo>
                <a:cubicBezTo>
                  <a:pt x="1536476" y="464298"/>
                  <a:pt x="1488529" y="514456"/>
                  <a:pt x="1446956" y="509755"/>
                </a:cubicBezTo>
                <a:cubicBezTo>
                  <a:pt x="1164757" y="480165"/>
                  <a:pt x="913347" y="513077"/>
                  <a:pt x="765959" y="509755"/>
                </a:cubicBezTo>
                <a:cubicBezTo>
                  <a:pt x="618571" y="506433"/>
                  <a:pt x="289067" y="504815"/>
                  <a:pt x="84961" y="509755"/>
                </a:cubicBezTo>
                <a:cubicBezTo>
                  <a:pt x="32702" y="509450"/>
                  <a:pt x="2411" y="465105"/>
                  <a:pt x="0" y="424794"/>
                </a:cubicBezTo>
                <a:cubicBezTo>
                  <a:pt x="8269" y="308222"/>
                  <a:pt x="-15765" y="215885"/>
                  <a:pt x="0" y="84961"/>
                </a:cubicBezTo>
                <a:close/>
              </a:path>
            </a:pathLst>
          </a:custGeom>
          <a:noFill/>
          <a:ln w="28575">
            <a:solidFill>
              <a:srgbClr val="9A0001"/>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a:extLst>
              <a:ext uri="{FF2B5EF4-FFF2-40B4-BE49-F238E27FC236}">
                <a16:creationId xmlns:a16="http://schemas.microsoft.com/office/drawing/2014/main" id="{4EF18F83-29FC-D9BB-1775-F8ACE822EA00}"/>
              </a:ext>
            </a:extLst>
          </p:cNvPr>
          <p:cNvSpPr/>
          <p:nvPr/>
        </p:nvSpPr>
        <p:spPr>
          <a:xfrm>
            <a:off x="5387439" y="1663429"/>
            <a:ext cx="3732809" cy="509755"/>
          </a:xfrm>
          <a:custGeom>
            <a:avLst/>
            <a:gdLst>
              <a:gd name="connsiteX0" fmla="*/ 0 w 3732809"/>
              <a:gd name="connsiteY0" fmla="*/ 84961 h 509755"/>
              <a:gd name="connsiteX1" fmla="*/ 84961 w 3732809"/>
              <a:gd name="connsiteY1" fmla="*/ 0 h 509755"/>
              <a:gd name="connsiteX2" fmla="*/ 750033 w 3732809"/>
              <a:gd name="connsiteY2" fmla="*/ 0 h 509755"/>
              <a:gd name="connsiteX3" fmla="*/ 1308219 w 3732809"/>
              <a:gd name="connsiteY3" fmla="*/ 0 h 509755"/>
              <a:gd name="connsiteX4" fmla="*/ 1830776 w 3732809"/>
              <a:gd name="connsiteY4" fmla="*/ 0 h 509755"/>
              <a:gd name="connsiteX5" fmla="*/ 2460219 w 3732809"/>
              <a:gd name="connsiteY5" fmla="*/ 0 h 509755"/>
              <a:gd name="connsiteX6" fmla="*/ 3018405 w 3732809"/>
              <a:gd name="connsiteY6" fmla="*/ 0 h 509755"/>
              <a:gd name="connsiteX7" fmla="*/ 3647848 w 3732809"/>
              <a:gd name="connsiteY7" fmla="*/ 0 h 509755"/>
              <a:gd name="connsiteX8" fmla="*/ 3732809 w 3732809"/>
              <a:gd name="connsiteY8" fmla="*/ 84961 h 509755"/>
              <a:gd name="connsiteX9" fmla="*/ 3732809 w 3732809"/>
              <a:gd name="connsiteY9" fmla="*/ 424794 h 509755"/>
              <a:gd name="connsiteX10" fmla="*/ 3647848 w 3732809"/>
              <a:gd name="connsiteY10" fmla="*/ 509755 h 509755"/>
              <a:gd name="connsiteX11" fmla="*/ 3018405 w 3732809"/>
              <a:gd name="connsiteY11" fmla="*/ 509755 h 509755"/>
              <a:gd name="connsiteX12" fmla="*/ 2353332 w 3732809"/>
              <a:gd name="connsiteY12" fmla="*/ 509755 h 509755"/>
              <a:gd name="connsiteX13" fmla="*/ 1688260 w 3732809"/>
              <a:gd name="connsiteY13" fmla="*/ 509755 h 509755"/>
              <a:gd name="connsiteX14" fmla="*/ 1165703 w 3732809"/>
              <a:gd name="connsiteY14" fmla="*/ 509755 h 509755"/>
              <a:gd name="connsiteX15" fmla="*/ 84961 w 3732809"/>
              <a:gd name="connsiteY15" fmla="*/ 509755 h 509755"/>
              <a:gd name="connsiteX16" fmla="*/ 0 w 3732809"/>
              <a:gd name="connsiteY16" fmla="*/ 424794 h 509755"/>
              <a:gd name="connsiteX17" fmla="*/ 0 w 3732809"/>
              <a:gd name="connsiteY17" fmla="*/ 84961 h 50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2809" h="509755" extrusionOk="0">
                <a:moveTo>
                  <a:pt x="0" y="84961"/>
                </a:moveTo>
                <a:cubicBezTo>
                  <a:pt x="-3273" y="36019"/>
                  <a:pt x="35313" y="1023"/>
                  <a:pt x="84961" y="0"/>
                </a:cubicBezTo>
                <a:cubicBezTo>
                  <a:pt x="259368" y="-28232"/>
                  <a:pt x="435877" y="7855"/>
                  <a:pt x="750033" y="0"/>
                </a:cubicBezTo>
                <a:cubicBezTo>
                  <a:pt x="1064189" y="-7855"/>
                  <a:pt x="1137841" y="44"/>
                  <a:pt x="1308219" y="0"/>
                </a:cubicBezTo>
                <a:cubicBezTo>
                  <a:pt x="1478597" y="-44"/>
                  <a:pt x="1599080" y="-3570"/>
                  <a:pt x="1830776" y="0"/>
                </a:cubicBezTo>
                <a:cubicBezTo>
                  <a:pt x="2062472" y="3570"/>
                  <a:pt x="2267538" y="-26600"/>
                  <a:pt x="2460219" y="0"/>
                </a:cubicBezTo>
                <a:cubicBezTo>
                  <a:pt x="2652900" y="26600"/>
                  <a:pt x="2814725" y="16177"/>
                  <a:pt x="3018405" y="0"/>
                </a:cubicBezTo>
                <a:cubicBezTo>
                  <a:pt x="3222085" y="-16177"/>
                  <a:pt x="3391217" y="4041"/>
                  <a:pt x="3647848" y="0"/>
                </a:cubicBezTo>
                <a:cubicBezTo>
                  <a:pt x="3694573" y="-1887"/>
                  <a:pt x="3727452" y="45482"/>
                  <a:pt x="3732809" y="84961"/>
                </a:cubicBezTo>
                <a:cubicBezTo>
                  <a:pt x="3723692" y="185959"/>
                  <a:pt x="3727647" y="287641"/>
                  <a:pt x="3732809" y="424794"/>
                </a:cubicBezTo>
                <a:cubicBezTo>
                  <a:pt x="3727473" y="471412"/>
                  <a:pt x="3697182" y="503143"/>
                  <a:pt x="3647848" y="509755"/>
                </a:cubicBezTo>
                <a:cubicBezTo>
                  <a:pt x="3384679" y="533054"/>
                  <a:pt x="3166434" y="499895"/>
                  <a:pt x="3018405" y="509755"/>
                </a:cubicBezTo>
                <a:cubicBezTo>
                  <a:pt x="2870376" y="519615"/>
                  <a:pt x="2556648" y="508981"/>
                  <a:pt x="2353332" y="509755"/>
                </a:cubicBezTo>
                <a:cubicBezTo>
                  <a:pt x="2150016" y="510529"/>
                  <a:pt x="1914079" y="502150"/>
                  <a:pt x="1688260" y="509755"/>
                </a:cubicBezTo>
                <a:cubicBezTo>
                  <a:pt x="1462441" y="517360"/>
                  <a:pt x="1350068" y="520673"/>
                  <a:pt x="1165703" y="509755"/>
                </a:cubicBezTo>
                <a:cubicBezTo>
                  <a:pt x="981338" y="498837"/>
                  <a:pt x="528249" y="503157"/>
                  <a:pt x="84961" y="509755"/>
                </a:cubicBezTo>
                <a:cubicBezTo>
                  <a:pt x="35560" y="504704"/>
                  <a:pt x="861" y="460067"/>
                  <a:pt x="0" y="424794"/>
                </a:cubicBezTo>
                <a:cubicBezTo>
                  <a:pt x="5795" y="331495"/>
                  <a:pt x="4905" y="251761"/>
                  <a:pt x="0" y="84961"/>
                </a:cubicBezTo>
                <a:close/>
              </a:path>
            </a:pathLst>
          </a:custGeom>
          <a:noFill/>
          <a:ln w="28575">
            <a:solidFill>
              <a:srgbClr val="9A0001"/>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951677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906A74F-96A9-FBC5-ACB4-4B8B7383C25B}"/>
              </a:ext>
            </a:extLst>
          </p:cNvPr>
          <p:cNvSpPr>
            <a:spLocks noGrp="1"/>
          </p:cNvSpPr>
          <p:nvPr>
            <p:ph type="sldNum" sz="quarter" idx="4"/>
          </p:nvPr>
        </p:nvSpPr>
        <p:spPr/>
        <p:txBody>
          <a:bodyPr/>
          <a:lstStyle/>
          <a:p>
            <a:r>
              <a:rPr lang="en-US" altLang="zh-CN"/>
              <a:t>&lt; </a:t>
            </a:r>
            <a:fld id="{A548B57D-AE10-4CF7-A9DF-59FEFA91B28E}" type="slidenum">
              <a:rPr lang="zh-CN" altLang="en-US" smtClean="0"/>
              <a:pPr/>
              <a:t>3</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9A117FF4-3864-A5B7-07C6-E57EA627B0D0}"/>
              </a:ext>
            </a:extLst>
          </p:cNvPr>
          <p:cNvSpPr>
            <a:spLocks noGrp="1"/>
          </p:cNvSpPr>
          <p:nvPr>
            <p:ph type="title"/>
          </p:nvPr>
        </p:nvSpPr>
        <p:spPr/>
        <p:txBody>
          <a:bodyPr/>
          <a:lstStyle/>
          <a:p>
            <a:r>
              <a:rPr kumimoji="1" lang="en-US" altLang="zh-CN" dirty="0"/>
              <a:t>3D</a:t>
            </a:r>
            <a:r>
              <a:rPr kumimoji="1" lang="zh-CN" altLang="en-US" dirty="0"/>
              <a:t> </a:t>
            </a:r>
            <a:r>
              <a:rPr kumimoji="1" lang="en-US" altLang="zh-CN" dirty="0"/>
              <a:t>Medical</a:t>
            </a:r>
            <a:r>
              <a:rPr kumimoji="1" lang="zh-CN" altLang="en-US" dirty="0"/>
              <a:t> </a:t>
            </a:r>
            <a:r>
              <a:rPr kumimoji="1" lang="en-US" altLang="zh-CN" dirty="0"/>
              <a:t>Image</a:t>
            </a:r>
            <a:r>
              <a:rPr kumimoji="1" lang="zh-CN" altLang="en-US" dirty="0"/>
              <a:t> </a:t>
            </a:r>
            <a:r>
              <a:rPr kumimoji="1" lang="en-US" altLang="zh-CN" dirty="0"/>
              <a:t>Datasets</a:t>
            </a:r>
            <a:endParaRPr kumimoji="1" lang="zh-CN" altLang="en-US" dirty="0"/>
          </a:p>
        </p:txBody>
      </p:sp>
      <p:pic>
        <p:nvPicPr>
          <p:cNvPr id="19" name="图片 18">
            <a:extLst>
              <a:ext uri="{FF2B5EF4-FFF2-40B4-BE49-F238E27FC236}">
                <a16:creationId xmlns:a16="http://schemas.microsoft.com/office/drawing/2014/main" id="{8504754E-ABA7-4D06-5E19-8F6E52CD1279}"/>
              </a:ext>
            </a:extLst>
          </p:cNvPr>
          <p:cNvPicPr>
            <a:picLocks noChangeAspect="1"/>
          </p:cNvPicPr>
          <p:nvPr/>
        </p:nvPicPr>
        <p:blipFill>
          <a:blip r:embed="rId3">
            <a:alphaModFix/>
          </a:blip>
          <a:stretch>
            <a:fillRect/>
          </a:stretch>
        </p:blipFill>
        <p:spPr>
          <a:xfrm>
            <a:off x="34398" y="1108508"/>
            <a:ext cx="3667752" cy="1649710"/>
          </a:xfrm>
          <a:prstGeom prst="rect">
            <a:avLst/>
          </a:prstGeom>
        </p:spPr>
      </p:pic>
      <p:sp>
        <p:nvSpPr>
          <p:cNvPr id="20" name="椭圆 19">
            <a:extLst>
              <a:ext uri="{FF2B5EF4-FFF2-40B4-BE49-F238E27FC236}">
                <a16:creationId xmlns:a16="http://schemas.microsoft.com/office/drawing/2014/main" id="{2B9EF298-5218-0C0E-85E1-9BB4D8D2393A}"/>
              </a:ext>
            </a:extLst>
          </p:cNvPr>
          <p:cNvSpPr/>
          <p:nvPr/>
        </p:nvSpPr>
        <p:spPr>
          <a:xfrm>
            <a:off x="4868883" y="2349000"/>
            <a:ext cx="2160000" cy="21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3D</a:t>
            </a:r>
            <a:r>
              <a:rPr kumimoji="1" lang="zh-CN" altLang="en-US" sz="2400" dirty="0"/>
              <a:t> </a:t>
            </a:r>
            <a:r>
              <a:rPr kumimoji="1" lang="en-US" altLang="zh-CN" sz="2400" dirty="0"/>
              <a:t>Medical</a:t>
            </a:r>
            <a:r>
              <a:rPr kumimoji="1" lang="zh-CN" altLang="en-US" sz="2400" dirty="0"/>
              <a:t> </a:t>
            </a:r>
            <a:r>
              <a:rPr kumimoji="1" lang="en-US" altLang="zh-CN" sz="2400" dirty="0"/>
              <a:t>Images</a:t>
            </a:r>
            <a:endParaRPr kumimoji="1" lang="zh-CN" altLang="en-US" sz="2400" dirty="0"/>
          </a:p>
        </p:txBody>
      </p:sp>
      <p:sp>
        <p:nvSpPr>
          <p:cNvPr id="21" name="椭圆 20">
            <a:extLst>
              <a:ext uri="{FF2B5EF4-FFF2-40B4-BE49-F238E27FC236}">
                <a16:creationId xmlns:a16="http://schemas.microsoft.com/office/drawing/2014/main" id="{1E1CAC71-0DA0-6A5B-D649-D1C4917E909C}"/>
              </a:ext>
            </a:extLst>
          </p:cNvPr>
          <p:cNvSpPr/>
          <p:nvPr/>
        </p:nvSpPr>
        <p:spPr>
          <a:xfrm>
            <a:off x="3748996" y="1933363"/>
            <a:ext cx="1073041" cy="83127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X-CT</a:t>
            </a:r>
            <a:endParaRPr kumimoji="1" lang="zh-CN" altLang="en-US" dirty="0"/>
          </a:p>
        </p:txBody>
      </p:sp>
      <p:cxnSp>
        <p:nvCxnSpPr>
          <p:cNvPr id="23" name="直线箭头连接符 22">
            <a:extLst>
              <a:ext uri="{FF2B5EF4-FFF2-40B4-BE49-F238E27FC236}">
                <a16:creationId xmlns:a16="http://schemas.microsoft.com/office/drawing/2014/main" id="{A573EBB3-3F5B-ADA2-75AB-EFC172FD5819}"/>
              </a:ext>
            </a:extLst>
          </p:cNvPr>
          <p:cNvCxnSpPr>
            <a:cxnSpLocks/>
            <a:endCxn id="21" idx="5"/>
          </p:cNvCxnSpPr>
          <p:nvPr/>
        </p:nvCxnSpPr>
        <p:spPr>
          <a:xfrm flipH="1" flipV="1">
            <a:off x="4664894" y="2642899"/>
            <a:ext cx="306444" cy="242805"/>
          </a:xfrm>
          <a:prstGeom prst="straightConnector1">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 name="椭圆 3">
            <a:extLst>
              <a:ext uri="{FF2B5EF4-FFF2-40B4-BE49-F238E27FC236}">
                <a16:creationId xmlns:a16="http://schemas.microsoft.com/office/drawing/2014/main" id="{8EF35603-0116-7F99-D614-EBFD314E768B}"/>
              </a:ext>
            </a:extLst>
          </p:cNvPr>
          <p:cNvSpPr/>
          <p:nvPr/>
        </p:nvSpPr>
        <p:spPr>
          <a:xfrm>
            <a:off x="3492557" y="3615369"/>
            <a:ext cx="1073041" cy="83127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MRI</a:t>
            </a:r>
            <a:endParaRPr kumimoji="1" lang="zh-CN" altLang="en-US" dirty="0"/>
          </a:p>
        </p:txBody>
      </p:sp>
      <p:cxnSp>
        <p:nvCxnSpPr>
          <p:cNvPr id="5" name="直线箭头连接符 4">
            <a:extLst>
              <a:ext uri="{FF2B5EF4-FFF2-40B4-BE49-F238E27FC236}">
                <a16:creationId xmlns:a16="http://schemas.microsoft.com/office/drawing/2014/main" id="{12A67B5E-927F-6233-ACA0-8B28BC9E264F}"/>
              </a:ext>
            </a:extLst>
          </p:cNvPr>
          <p:cNvCxnSpPr>
            <a:cxnSpLocks/>
            <a:endCxn id="4" idx="6"/>
          </p:cNvCxnSpPr>
          <p:nvPr/>
        </p:nvCxnSpPr>
        <p:spPr>
          <a:xfrm flipH="1">
            <a:off x="4565598" y="3885706"/>
            <a:ext cx="405740" cy="145300"/>
          </a:xfrm>
          <a:prstGeom prst="straightConnector1">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0" name="图片 9">
            <a:extLst>
              <a:ext uri="{FF2B5EF4-FFF2-40B4-BE49-F238E27FC236}">
                <a16:creationId xmlns:a16="http://schemas.microsoft.com/office/drawing/2014/main" id="{7DA2E91E-3BAC-677B-9B63-88D424F70692}"/>
              </a:ext>
            </a:extLst>
          </p:cNvPr>
          <p:cNvPicPr>
            <a:picLocks noChangeAspect="1"/>
          </p:cNvPicPr>
          <p:nvPr/>
        </p:nvPicPr>
        <p:blipFill>
          <a:blip r:embed="rId4">
            <a:clrChange>
              <a:clrFrom>
                <a:srgbClr val="FFFFFF"/>
              </a:clrFrom>
              <a:clrTo>
                <a:srgbClr val="FFFFFF">
                  <a:alpha val="0"/>
                </a:srgbClr>
              </a:clrTo>
            </a:clrChange>
            <a:alphaModFix/>
          </a:blip>
          <a:stretch>
            <a:fillRect/>
          </a:stretch>
        </p:blipFill>
        <p:spPr>
          <a:xfrm>
            <a:off x="0" y="4483892"/>
            <a:ext cx="3986233" cy="1817363"/>
          </a:xfrm>
          <a:prstGeom prst="rect">
            <a:avLst/>
          </a:prstGeom>
        </p:spPr>
      </p:pic>
      <p:sp>
        <p:nvSpPr>
          <p:cNvPr id="7" name="椭圆 6">
            <a:extLst>
              <a:ext uri="{FF2B5EF4-FFF2-40B4-BE49-F238E27FC236}">
                <a16:creationId xmlns:a16="http://schemas.microsoft.com/office/drawing/2014/main" id="{F5BD1E0B-1320-4510-3194-9D149BD5BBC0}"/>
              </a:ext>
            </a:extLst>
          </p:cNvPr>
          <p:cNvSpPr/>
          <p:nvPr/>
        </p:nvSpPr>
        <p:spPr>
          <a:xfrm>
            <a:off x="6432752" y="1537856"/>
            <a:ext cx="1073041" cy="83127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NMI</a:t>
            </a:r>
            <a:endParaRPr kumimoji="1" lang="zh-CN" altLang="en-US" dirty="0"/>
          </a:p>
        </p:txBody>
      </p:sp>
      <p:cxnSp>
        <p:nvCxnSpPr>
          <p:cNvPr id="8" name="直线箭头连接符 7">
            <a:extLst>
              <a:ext uri="{FF2B5EF4-FFF2-40B4-BE49-F238E27FC236}">
                <a16:creationId xmlns:a16="http://schemas.microsoft.com/office/drawing/2014/main" id="{0286B8B4-25DB-0905-8B48-0772AF979BA5}"/>
              </a:ext>
            </a:extLst>
          </p:cNvPr>
          <p:cNvCxnSpPr>
            <a:cxnSpLocks/>
            <a:stCxn id="7" idx="3"/>
          </p:cNvCxnSpPr>
          <p:nvPr/>
        </p:nvCxnSpPr>
        <p:spPr>
          <a:xfrm flipH="1">
            <a:off x="6432752" y="2247392"/>
            <a:ext cx="157143" cy="258302"/>
          </a:xfrm>
          <a:prstGeom prst="straightConnector1">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7" name="图片 16">
            <a:extLst>
              <a:ext uri="{FF2B5EF4-FFF2-40B4-BE49-F238E27FC236}">
                <a16:creationId xmlns:a16="http://schemas.microsoft.com/office/drawing/2014/main" id="{F067EF65-A752-99FB-91E7-A696A4B95D29}"/>
              </a:ext>
            </a:extLst>
          </p:cNvPr>
          <p:cNvPicPr>
            <a:picLocks noChangeAspect="1"/>
          </p:cNvPicPr>
          <p:nvPr/>
        </p:nvPicPr>
        <p:blipFill>
          <a:blip r:embed="rId5">
            <a:alphaModFix/>
          </a:blip>
          <a:stretch>
            <a:fillRect/>
          </a:stretch>
        </p:blipFill>
        <p:spPr>
          <a:xfrm>
            <a:off x="7689500" y="1108508"/>
            <a:ext cx="4476843" cy="1492281"/>
          </a:xfrm>
          <a:prstGeom prst="rect">
            <a:avLst/>
          </a:prstGeom>
        </p:spPr>
      </p:pic>
      <p:sp>
        <p:nvSpPr>
          <p:cNvPr id="9" name="椭圆 8">
            <a:extLst>
              <a:ext uri="{FF2B5EF4-FFF2-40B4-BE49-F238E27FC236}">
                <a16:creationId xmlns:a16="http://schemas.microsoft.com/office/drawing/2014/main" id="{B245147A-5C58-99E7-EB83-6D233098A0DD}"/>
              </a:ext>
            </a:extLst>
          </p:cNvPr>
          <p:cNvSpPr/>
          <p:nvPr/>
        </p:nvSpPr>
        <p:spPr>
          <a:xfrm>
            <a:off x="7380257" y="3128498"/>
            <a:ext cx="1073041" cy="83127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UI</a:t>
            </a:r>
            <a:endParaRPr kumimoji="1" lang="zh-CN" altLang="en-US" dirty="0"/>
          </a:p>
        </p:txBody>
      </p:sp>
      <p:cxnSp>
        <p:nvCxnSpPr>
          <p:cNvPr id="11" name="直线箭头连接符 10">
            <a:extLst>
              <a:ext uri="{FF2B5EF4-FFF2-40B4-BE49-F238E27FC236}">
                <a16:creationId xmlns:a16="http://schemas.microsoft.com/office/drawing/2014/main" id="{EF1E92C5-B0C4-9EF0-0542-407949A75970}"/>
              </a:ext>
            </a:extLst>
          </p:cNvPr>
          <p:cNvCxnSpPr>
            <a:cxnSpLocks/>
            <a:stCxn id="9" idx="2"/>
            <a:endCxn id="20" idx="6"/>
          </p:cNvCxnSpPr>
          <p:nvPr/>
        </p:nvCxnSpPr>
        <p:spPr>
          <a:xfrm flipH="1" flipV="1">
            <a:off x="7028883" y="3429000"/>
            <a:ext cx="351374" cy="115135"/>
          </a:xfrm>
          <a:prstGeom prst="straightConnector1">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6" name="图片 15">
            <a:extLst>
              <a:ext uri="{FF2B5EF4-FFF2-40B4-BE49-F238E27FC236}">
                <a16:creationId xmlns:a16="http://schemas.microsoft.com/office/drawing/2014/main" id="{2A6D0BFB-2DC9-49C1-B724-EFA985E3D9BD}"/>
              </a:ext>
            </a:extLst>
          </p:cNvPr>
          <p:cNvPicPr>
            <a:picLocks noChangeAspect="1"/>
          </p:cNvPicPr>
          <p:nvPr/>
        </p:nvPicPr>
        <p:blipFill>
          <a:blip r:embed="rId6">
            <a:alphaModFix/>
          </a:blip>
          <a:stretch>
            <a:fillRect/>
          </a:stretch>
        </p:blipFill>
        <p:spPr>
          <a:xfrm>
            <a:off x="8804672" y="2972678"/>
            <a:ext cx="2896590" cy="1971355"/>
          </a:xfrm>
          <a:prstGeom prst="rect">
            <a:avLst/>
          </a:prstGeom>
        </p:spPr>
      </p:pic>
      <p:sp>
        <p:nvSpPr>
          <p:cNvPr id="24" name="椭圆 23">
            <a:extLst>
              <a:ext uri="{FF2B5EF4-FFF2-40B4-BE49-F238E27FC236}">
                <a16:creationId xmlns:a16="http://schemas.microsoft.com/office/drawing/2014/main" id="{64170D41-D5BB-2F2A-4BE4-D4990589951A}"/>
              </a:ext>
            </a:extLst>
          </p:cNvPr>
          <p:cNvSpPr/>
          <p:nvPr/>
        </p:nvSpPr>
        <p:spPr>
          <a:xfrm>
            <a:off x="6285187" y="4547504"/>
            <a:ext cx="1073041" cy="83127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PET</a:t>
            </a:r>
            <a:endParaRPr kumimoji="1" lang="zh-CN" altLang="en-US" dirty="0"/>
          </a:p>
        </p:txBody>
      </p:sp>
      <p:cxnSp>
        <p:nvCxnSpPr>
          <p:cNvPr id="25" name="直线箭头连接符 24">
            <a:extLst>
              <a:ext uri="{FF2B5EF4-FFF2-40B4-BE49-F238E27FC236}">
                <a16:creationId xmlns:a16="http://schemas.microsoft.com/office/drawing/2014/main" id="{FBDDD692-EED0-FEBD-BE0A-F7B862578BCA}"/>
              </a:ext>
            </a:extLst>
          </p:cNvPr>
          <p:cNvCxnSpPr>
            <a:cxnSpLocks/>
            <a:stCxn id="24" idx="1"/>
          </p:cNvCxnSpPr>
          <p:nvPr/>
        </p:nvCxnSpPr>
        <p:spPr>
          <a:xfrm flipH="1" flipV="1">
            <a:off x="6266895" y="4446133"/>
            <a:ext cx="175435" cy="223108"/>
          </a:xfrm>
          <a:prstGeom prst="straightConnector1">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32" name="图片 31">
            <a:extLst>
              <a:ext uri="{FF2B5EF4-FFF2-40B4-BE49-F238E27FC236}">
                <a16:creationId xmlns:a16="http://schemas.microsoft.com/office/drawing/2014/main" id="{77FE8388-4F77-CBA3-7F08-E377F8266D84}"/>
              </a:ext>
            </a:extLst>
          </p:cNvPr>
          <p:cNvPicPr>
            <a:picLocks noChangeAspect="1"/>
          </p:cNvPicPr>
          <p:nvPr/>
        </p:nvPicPr>
        <p:blipFill>
          <a:blip r:embed="rId7">
            <a:alphaModFix/>
          </a:blip>
          <a:stretch>
            <a:fillRect/>
          </a:stretch>
        </p:blipFill>
        <p:spPr>
          <a:xfrm>
            <a:off x="7501567" y="5167296"/>
            <a:ext cx="3352387" cy="1642282"/>
          </a:xfrm>
          <a:prstGeom prst="rect">
            <a:avLst/>
          </a:prstGeom>
        </p:spPr>
      </p:pic>
    </p:spTree>
    <p:extLst>
      <p:ext uri="{BB962C8B-B14F-4D97-AF65-F5344CB8AC3E}">
        <p14:creationId xmlns:p14="http://schemas.microsoft.com/office/powerpoint/2010/main" val="1823623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0E58BFD-7792-77B1-EA56-1A80C18BCE66}"/>
              </a:ext>
            </a:extLst>
          </p:cNvPr>
          <p:cNvSpPr>
            <a:spLocks noGrp="1"/>
          </p:cNvSpPr>
          <p:nvPr>
            <p:ph type="sldNum" sz="quarter" idx="4"/>
          </p:nvPr>
        </p:nvSpPr>
        <p:spPr/>
        <p:txBody>
          <a:bodyPr/>
          <a:lstStyle/>
          <a:p>
            <a:r>
              <a:rPr lang="en-US" altLang="zh-CN"/>
              <a:t>&lt; </a:t>
            </a:r>
            <a:fld id="{A548B57D-AE10-4CF7-A9DF-59FEFA91B28E}" type="slidenum">
              <a:rPr lang="zh-CN" altLang="en-US" smtClean="0"/>
              <a:pPr/>
              <a:t>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836A5A4E-9A7D-C4DB-0CC1-CA2E23B27910}"/>
              </a:ext>
            </a:extLst>
          </p:cNvPr>
          <p:cNvSpPr>
            <a:spLocks noGrp="1"/>
          </p:cNvSpPr>
          <p:nvPr>
            <p:ph type="title"/>
          </p:nvPr>
        </p:nvSpPr>
        <p:spPr/>
        <p:txBody>
          <a:bodyPr>
            <a:normAutofit/>
          </a:bodyPr>
          <a:lstStyle/>
          <a:p>
            <a:r>
              <a:rPr kumimoji="1" lang="en" altLang="zh-CN" dirty="0" err="1"/>
              <a:t>MedLSAM</a:t>
            </a:r>
            <a:r>
              <a:rPr kumimoji="1" lang="en" altLang="zh-CN" dirty="0"/>
              <a:t> </a:t>
            </a:r>
            <a:endParaRPr kumimoji="1" lang="zh-CN" altLang="en-US" dirty="0"/>
          </a:p>
        </p:txBody>
      </p:sp>
      <p:sp>
        <p:nvSpPr>
          <p:cNvPr id="5" name="圆角矩形 4">
            <a:extLst>
              <a:ext uri="{FF2B5EF4-FFF2-40B4-BE49-F238E27FC236}">
                <a16:creationId xmlns:a16="http://schemas.microsoft.com/office/drawing/2014/main" id="{F652418F-90A4-8D08-29EE-FF46E0D04464}"/>
              </a:ext>
            </a:extLst>
          </p:cNvPr>
          <p:cNvSpPr/>
          <p:nvPr/>
        </p:nvSpPr>
        <p:spPr>
          <a:xfrm>
            <a:off x="1210778" y="1858618"/>
            <a:ext cx="1404730" cy="31407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t>SAM</a:t>
            </a:r>
          </a:p>
          <a:p>
            <a:pPr algn="ctr"/>
            <a:r>
              <a:rPr kumimoji="1" lang="en-US" altLang="zh-CN" sz="2400" b="1" dirty="0"/>
              <a:t>Model</a:t>
            </a:r>
            <a:endParaRPr kumimoji="1" lang="zh-CN" altLang="en-US" sz="2400" b="1" dirty="0"/>
          </a:p>
        </p:txBody>
      </p:sp>
      <p:cxnSp>
        <p:nvCxnSpPr>
          <p:cNvPr id="8" name="直线箭头连接符 7">
            <a:extLst>
              <a:ext uri="{FF2B5EF4-FFF2-40B4-BE49-F238E27FC236}">
                <a16:creationId xmlns:a16="http://schemas.microsoft.com/office/drawing/2014/main" id="{44331DCB-2666-F1BD-982E-67D18AB0C53E}"/>
              </a:ext>
            </a:extLst>
          </p:cNvPr>
          <p:cNvCxnSpPr>
            <a:cxnSpLocks/>
            <a:stCxn id="5" idx="3"/>
            <a:endCxn id="10" idx="1"/>
          </p:cNvCxnSpPr>
          <p:nvPr/>
        </p:nvCxnSpPr>
        <p:spPr>
          <a:xfrm flipV="1">
            <a:off x="2615508" y="3429000"/>
            <a:ext cx="6686792"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 name="圆角矩形 9">
            <a:extLst>
              <a:ext uri="{FF2B5EF4-FFF2-40B4-BE49-F238E27FC236}">
                <a16:creationId xmlns:a16="http://schemas.microsoft.com/office/drawing/2014/main" id="{3AE28442-9A3E-4422-C709-53113ABDA393}"/>
              </a:ext>
            </a:extLst>
          </p:cNvPr>
          <p:cNvSpPr/>
          <p:nvPr/>
        </p:nvSpPr>
        <p:spPr>
          <a:xfrm>
            <a:off x="9302300" y="1858617"/>
            <a:ext cx="1567622" cy="31407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t>Medical</a:t>
            </a:r>
          </a:p>
          <a:p>
            <a:pPr algn="ctr"/>
            <a:r>
              <a:rPr kumimoji="1" lang="en-US" altLang="zh-CN" sz="2400" b="1" dirty="0"/>
              <a:t>Model</a:t>
            </a:r>
            <a:endParaRPr kumimoji="1" lang="zh-CN" altLang="en-US" sz="2400" b="1" dirty="0"/>
          </a:p>
        </p:txBody>
      </p:sp>
      <p:sp>
        <p:nvSpPr>
          <p:cNvPr id="11" name="文本框 10">
            <a:extLst>
              <a:ext uri="{FF2B5EF4-FFF2-40B4-BE49-F238E27FC236}">
                <a16:creationId xmlns:a16="http://schemas.microsoft.com/office/drawing/2014/main" id="{647D0267-ECE2-9338-064D-2114C40E5572}"/>
              </a:ext>
            </a:extLst>
          </p:cNvPr>
          <p:cNvSpPr txBox="1"/>
          <p:nvPr/>
        </p:nvSpPr>
        <p:spPr>
          <a:xfrm>
            <a:off x="5308901" y="1920860"/>
            <a:ext cx="1468672" cy="400110"/>
          </a:xfrm>
          <a:prstGeom prst="rect">
            <a:avLst/>
          </a:prstGeom>
          <a:noFill/>
        </p:spPr>
        <p:txBody>
          <a:bodyPr wrap="none" rtlCol="0">
            <a:spAutoFit/>
          </a:bodyPr>
          <a:lstStyle/>
          <a:p>
            <a:pPr algn="ct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Fine-tuning</a:t>
            </a:r>
            <a:endPar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文本框 13">
            <a:extLst>
              <a:ext uri="{FF2B5EF4-FFF2-40B4-BE49-F238E27FC236}">
                <a16:creationId xmlns:a16="http://schemas.microsoft.com/office/drawing/2014/main" id="{9C1FCDE2-93B9-63C3-D8D1-54619DE6F65E}"/>
              </a:ext>
            </a:extLst>
          </p:cNvPr>
          <p:cNvSpPr txBox="1"/>
          <p:nvPr/>
        </p:nvSpPr>
        <p:spPr>
          <a:xfrm>
            <a:off x="5308901" y="2519247"/>
            <a:ext cx="1410964" cy="400110"/>
          </a:xfrm>
          <a:prstGeom prst="rect">
            <a:avLst/>
          </a:prstGeom>
          <a:noFill/>
        </p:spPr>
        <p:txBody>
          <a:bodyPr wrap="none" rtlCol="0">
            <a:spAutoFit/>
          </a:bodyPr>
          <a:lstStyle/>
          <a:p>
            <a:pPr algn="ct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Annotation</a:t>
            </a:r>
            <a:endPar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文本占位符 3">
            <a:extLst>
              <a:ext uri="{FF2B5EF4-FFF2-40B4-BE49-F238E27FC236}">
                <a16:creationId xmlns:a16="http://schemas.microsoft.com/office/drawing/2014/main" id="{09F20EB3-D80F-B400-A3AC-C0C94FD33D6E}"/>
              </a:ext>
            </a:extLst>
          </p:cNvPr>
          <p:cNvSpPr txBox="1">
            <a:spLocks/>
          </p:cNvSpPr>
          <p:nvPr/>
        </p:nvSpPr>
        <p:spPr>
          <a:xfrm>
            <a:off x="3278601" y="3535082"/>
            <a:ext cx="5630602" cy="1319923"/>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000" b="1" kern="1200" dirty="0" smtClean="0">
                <a:solidFill>
                  <a:schemeClr val="tx1">
                    <a:lumMod val="75000"/>
                    <a:lumOff val="25000"/>
                  </a:schemeClr>
                </a:solidFill>
                <a:latin typeface="+mn-ea"/>
                <a:ea typeface="+mn-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 altLang="zh-CN" sz="2400" dirty="0">
                <a:latin typeface="SFRM1000"/>
              </a:rPr>
              <a:t>Goal</a:t>
            </a:r>
            <a:r>
              <a:rPr lang="zh-CN" altLang="en-US" sz="2400" dirty="0">
                <a:latin typeface="SFRM1000"/>
              </a:rPr>
              <a:t>：</a:t>
            </a:r>
            <a:endParaRPr lang="en" altLang="zh-CN" sz="2400" dirty="0">
              <a:latin typeface="SFRM1000"/>
            </a:endParaRPr>
          </a:p>
          <a:p>
            <a:pPr marL="0" indent="0" algn="ctr">
              <a:buNone/>
            </a:pPr>
            <a:r>
              <a:rPr lang="en" altLang="zh-CN" sz="2400" dirty="0">
                <a:latin typeface="SFRM1000"/>
              </a:rPr>
              <a:t>Reduce the annotation workload</a:t>
            </a:r>
          </a:p>
          <a:p>
            <a:pPr marL="0" indent="0" algn="ctr">
              <a:buNone/>
            </a:pPr>
            <a:r>
              <a:rPr lang="en-US" altLang="zh-CN" sz="2400" dirty="0">
                <a:latin typeface="SFRM1000"/>
              </a:rPr>
              <a:t>2D-3D</a:t>
            </a:r>
            <a:r>
              <a:rPr lang="en" altLang="zh-CN" sz="2400" dirty="0">
                <a:latin typeface="SFRM1000"/>
              </a:rPr>
              <a:t> </a:t>
            </a:r>
            <a:endParaRPr lang="en" altLang="zh-CN" sz="2800" dirty="0"/>
          </a:p>
        </p:txBody>
      </p:sp>
    </p:spTree>
    <p:extLst>
      <p:ext uri="{BB962C8B-B14F-4D97-AF65-F5344CB8AC3E}">
        <p14:creationId xmlns:p14="http://schemas.microsoft.com/office/powerpoint/2010/main" val="378847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354D0CB-D426-E138-E49F-64873D4C0119}"/>
              </a:ext>
            </a:extLst>
          </p:cNvPr>
          <p:cNvSpPr>
            <a:spLocks noGrp="1"/>
          </p:cNvSpPr>
          <p:nvPr>
            <p:ph type="sldNum" sz="quarter" idx="4"/>
          </p:nvPr>
        </p:nvSpPr>
        <p:spPr/>
        <p:txBody>
          <a:bodyPr/>
          <a:lstStyle/>
          <a:p>
            <a:r>
              <a:rPr lang="en-US" altLang="zh-CN"/>
              <a:t>&lt; </a:t>
            </a:r>
            <a:fld id="{A548B57D-AE10-4CF7-A9DF-59FEFA91B28E}" type="slidenum">
              <a:rPr lang="zh-CN" altLang="en-US" smtClean="0"/>
              <a:pPr/>
              <a:t>5</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C3C3DA5-3641-D87F-C6CB-75AB23FB69BB}"/>
              </a:ext>
            </a:extLst>
          </p:cNvPr>
          <p:cNvSpPr>
            <a:spLocks noGrp="1"/>
          </p:cNvSpPr>
          <p:nvPr>
            <p:ph type="title"/>
          </p:nvPr>
        </p:nvSpPr>
        <p:spPr/>
        <p:txBody>
          <a:bodyPr/>
          <a:lstStyle/>
          <a:p>
            <a:r>
              <a:rPr kumimoji="1" lang="en" altLang="zh-CN" dirty="0"/>
              <a:t>Pipeline </a:t>
            </a:r>
            <a:endParaRPr kumimoji="1" lang="zh-CN" altLang="en-US" dirty="0"/>
          </a:p>
        </p:txBody>
      </p:sp>
      <p:pic>
        <p:nvPicPr>
          <p:cNvPr id="6" name="图片 5">
            <a:extLst>
              <a:ext uri="{FF2B5EF4-FFF2-40B4-BE49-F238E27FC236}">
                <a16:creationId xmlns:a16="http://schemas.microsoft.com/office/drawing/2014/main" id="{49F50683-2D91-2433-B648-549E4C4CDD64}"/>
              </a:ext>
            </a:extLst>
          </p:cNvPr>
          <p:cNvPicPr>
            <a:picLocks noChangeAspect="1"/>
          </p:cNvPicPr>
          <p:nvPr/>
        </p:nvPicPr>
        <p:blipFill>
          <a:blip r:embed="rId2"/>
          <a:stretch>
            <a:fillRect/>
          </a:stretch>
        </p:blipFill>
        <p:spPr>
          <a:xfrm>
            <a:off x="532834" y="1157743"/>
            <a:ext cx="11120368" cy="3951399"/>
          </a:xfrm>
          <a:prstGeom prst="rect">
            <a:avLst/>
          </a:prstGeom>
        </p:spPr>
      </p:pic>
      <p:sp>
        <p:nvSpPr>
          <p:cNvPr id="10" name="文本框 9">
            <a:extLst>
              <a:ext uri="{FF2B5EF4-FFF2-40B4-BE49-F238E27FC236}">
                <a16:creationId xmlns:a16="http://schemas.microsoft.com/office/drawing/2014/main" id="{058313AF-01F8-C1F1-BBEC-29FBA809ECDB}"/>
              </a:ext>
            </a:extLst>
          </p:cNvPr>
          <p:cNvSpPr txBox="1"/>
          <p:nvPr/>
        </p:nvSpPr>
        <p:spPr>
          <a:xfrm>
            <a:off x="2353200" y="5434125"/>
            <a:ext cx="3742799" cy="400110"/>
          </a:xfrm>
          <a:prstGeom prst="rect">
            <a:avLst/>
          </a:prstGeom>
          <a:noFill/>
        </p:spPr>
        <p:txBody>
          <a:bodyPr wrap="square">
            <a:spAutoFit/>
          </a:bodyPr>
          <a:lstStyle/>
          <a:p>
            <a:r>
              <a:rPr lang="zh-CN" altLang="en-US" sz="2000" dirty="0">
                <a:solidFill>
                  <a:schemeClr val="accent1"/>
                </a:solidFill>
              </a:rPr>
              <a:t>few-shot localization framework</a:t>
            </a:r>
          </a:p>
        </p:txBody>
      </p:sp>
      <p:sp>
        <p:nvSpPr>
          <p:cNvPr id="12" name="文本框 11">
            <a:extLst>
              <a:ext uri="{FF2B5EF4-FFF2-40B4-BE49-F238E27FC236}">
                <a16:creationId xmlns:a16="http://schemas.microsoft.com/office/drawing/2014/main" id="{0BCA804F-B776-CD09-D725-4F9ADCFB62A7}"/>
              </a:ext>
            </a:extLst>
          </p:cNvPr>
          <p:cNvSpPr txBox="1"/>
          <p:nvPr/>
        </p:nvSpPr>
        <p:spPr>
          <a:xfrm>
            <a:off x="7688138" y="5434125"/>
            <a:ext cx="1811626" cy="400110"/>
          </a:xfrm>
          <a:prstGeom prst="rect">
            <a:avLst/>
          </a:prstGeom>
          <a:noFill/>
        </p:spPr>
        <p:txBody>
          <a:bodyPr wrap="square">
            <a:spAutoFit/>
          </a:bodyPr>
          <a:lstStyle/>
          <a:p>
            <a:r>
              <a:rPr lang="en" altLang="zh-CN" sz="2000" dirty="0">
                <a:solidFill>
                  <a:schemeClr val="accent1"/>
                </a:solidFill>
                <a:effectLst/>
                <a:latin typeface="SFRM1000"/>
              </a:rPr>
              <a:t>SAM</a:t>
            </a:r>
            <a:r>
              <a:rPr lang="en-US" altLang="zh-CN" sz="2000" dirty="0">
                <a:solidFill>
                  <a:schemeClr val="accent1"/>
                </a:solidFill>
                <a:effectLst/>
                <a:latin typeface="SFRM1000"/>
              </a:rPr>
              <a:t>/</a:t>
            </a:r>
            <a:r>
              <a:rPr lang="en" altLang="zh-CN" sz="2000" dirty="0" err="1">
                <a:solidFill>
                  <a:schemeClr val="accent1"/>
                </a:solidFill>
                <a:effectLst/>
                <a:latin typeface="SFRM1000"/>
              </a:rPr>
              <a:t>MedSAM</a:t>
            </a:r>
            <a:r>
              <a:rPr lang="en" altLang="zh-CN" sz="2000" dirty="0">
                <a:solidFill>
                  <a:schemeClr val="accent1"/>
                </a:solidFill>
                <a:effectLst/>
                <a:latin typeface="SFRM1000"/>
              </a:rPr>
              <a:t> </a:t>
            </a:r>
            <a:endParaRPr lang="en" altLang="zh-CN" sz="2000" dirty="0">
              <a:solidFill>
                <a:schemeClr val="accent1"/>
              </a:solidFill>
            </a:endParaRPr>
          </a:p>
        </p:txBody>
      </p:sp>
    </p:spTree>
    <p:extLst>
      <p:ext uri="{BB962C8B-B14F-4D97-AF65-F5344CB8AC3E}">
        <p14:creationId xmlns:p14="http://schemas.microsoft.com/office/powerpoint/2010/main" val="1175222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84C54B0-A668-80A2-E22D-EA31FBB53C3E}"/>
              </a:ext>
            </a:extLst>
          </p:cNvPr>
          <p:cNvSpPr>
            <a:spLocks noGrp="1"/>
          </p:cNvSpPr>
          <p:nvPr>
            <p:ph type="sldNum" sz="quarter" idx="4"/>
          </p:nvPr>
        </p:nvSpPr>
        <p:spPr/>
        <p:txBody>
          <a:bodyPr/>
          <a:lstStyle/>
          <a:p>
            <a:r>
              <a:rPr lang="en-US" altLang="zh-CN"/>
              <a:t>&lt; </a:t>
            </a:r>
            <a:fld id="{A548B57D-AE10-4CF7-A9DF-59FEFA91B28E}" type="slidenum">
              <a:rPr lang="zh-CN" altLang="en-US" smtClean="0"/>
              <a:pPr/>
              <a:t>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ACDBF302-A7DB-6E1B-C536-C45AD4E90B23}"/>
              </a:ext>
            </a:extLst>
          </p:cNvPr>
          <p:cNvSpPr>
            <a:spLocks noGrp="1"/>
          </p:cNvSpPr>
          <p:nvPr>
            <p:ph type="title"/>
          </p:nvPr>
        </p:nvSpPr>
        <p:spPr/>
        <p:txBody>
          <a:bodyPr/>
          <a:lstStyle/>
          <a:p>
            <a:r>
              <a:rPr kumimoji="1" lang="en-US" altLang="zh-CN" dirty="0" err="1"/>
              <a:t>MedLAM</a:t>
            </a:r>
            <a:endParaRPr kumimoji="1" lang="zh-CN" altLang="en-US" dirty="0"/>
          </a:p>
        </p:txBody>
      </p:sp>
      <p:pic>
        <p:nvPicPr>
          <p:cNvPr id="4" name="图片 3">
            <a:extLst>
              <a:ext uri="{FF2B5EF4-FFF2-40B4-BE49-F238E27FC236}">
                <a16:creationId xmlns:a16="http://schemas.microsoft.com/office/drawing/2014/main" id="{F0988A06-E24B-C67D-2A74-6E74DB27C035}"/>
              </a:ext>
            </a:extLst>
          </p:cNvPr>
          <p:cNvPicPr>
            <a:picLocks noChangeAspect="1"/>
          </p:cNvPicPr>
          <p:nvPr/>
        </p:nvPicPr>
        <p:blipFill>
          <a:blip r:embed="rId2"/>
          <a:stretch>
            <a:fillRect/>
          </a:stretch>
        </p:blipFill>
        <p:spPr>
          <a:xfrm>
            <a:off x="2114797" y="243569"/>
            <a:ext cx="7772400" cy="6376618"/>
          </a:xfrm>
          <a:prstGeom prst="rect">
            <a:avLst/>
          </a:prstGeom>
        </p:spPr>
      </p:pic>
    </p:spTree>
    <p:extLst>
      <p:ext uri="{BB962C8B-B14F-4D97-AF65-F5344CB8AC3E}">
        <p14:creationId xmlns:p14="http://schemas.microsoft.com/office/powerpoint/2010/main" val="3353665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9AFF9ED-18A2-C625-259F-C2A128834AED}"/>
              </a:ext>
            </a:extLst>
          </p:cNvPr>
          <p:cNvSpPr>
            <a:spLocks noGrp="1"/>
          </p:cNvSpPr>
          <p:nvPr>
            <p:ph type="sldNum" sz="quarter" idx="4"/>
          </p:nvPr>
        </p:nvSpPr>
        <p:spPr/>
        <p:txBody>
          <a:bodyPr/>
          <a:lstStyle/>
          <a:p>
            <a:r>
              <a:rPr lang="en-US" altLang="zh-CN"/>
              <a:t>&lt; </a:t>
            </a:r>
            <a:fld id="{A548B57D-AE10-4CF7-A9DF-59FEFA91B28E}" type="slidenum">
              <a:rPr lang="zh-CN" altLang="en-US" smtClean="0"/>
              <a:pPr/>
              <a:t>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EA06DAA-709A-008D-398B-B44C10E3C108}"/>
              </a:ext>
            </a:extLst>
          </p:cNvPr>
          <p:cNvSpPr>
            <a:spLocks noGrp="1"/>
          </p:cNvSpPr>
          <p:nvPr>
            <p:ph type="title"/>
          </p:nvPr>
        </p:nvSpPr>
        <p:spPr/>
        <p:txBody>
          <a:bodyPr>
            <a:normAutofit/>
          </a:bodyPr>
          <a:lstStyle/>
          <a:p>
            <a:r>
              <a:rPr kumimoji="1" lang="en" altLang="zh-CN" dirty="0"/>
              <a:t>Unified Anatomical Mapping (UAM) </a:t>
            </a:r>
            <a:endParaRPr kumimoji="1" lang="zh-CN" altLang="en-US" dirty="0"/>
          </a:p>
        </p:txBody>
      </p:sp>
      <p:sp>
        <p:nvSpPr>
          <p:cNvPr id="4" name="文本占位符 3">
            <a:extLst>
              <a:ext uri="{FF2B5EF4-FFF2-40B4-BE49-F238E27FC236}">
                <a16:creationId xmlns:a16="http://schemas.microsoft.com/office/drawing/2014/main" id="{C8B409CB-392C-75E9-3DC1-31AC4E24CD4B}"/>
              </a:ext>
            </a:extLst>
          </p:cNvPr>
          <p:cNvSpPr>
            <a:spLocks noGrp="1"/>
          </p:cNvSpPr>
          <p:nvPr>
            <p:ph type="body" sz="quarter" idx="10"/>
          </p:nvPr>
        </p:nvSpPr>
        <p:spPr/>
        <p:txBody>
          <a:bodyPr/>
          <a:lstStyle/>
          <a:p>
            <a:r>
              <a:rPr lang="en" altLang="zh-CN" sz="1800" dirty="0">
                <a:effectLst/>
                <a:latin typeface="SFRM1000"/>
              </a:rPr>
              <a:t>predict the 3D offset between the query patch </a:t>
            </a:r>
            <a:r>
              <a:rPr lang="en" altLang="zh-CN" sz="1800" dirty="0" err="1">
                <a:effectLst/>
                <a:latin typeface="CMMIB10"/>
              </a:rPr>
              <a:t>x</a:t>
            </a:r>
            <a:r>
              <a:rPr lang="en" altLang="zh-CN" sz="1800" baseline="-25000" dirty="0" err="1">
                <a:effectLst/>
                <a:latin typeface="CMMIB7"/>
              </a:rPr>
              <a:t>q</a:t>
            </a:r>
            <a:r>
              <a:rPr lang="en" altLang="zh-CN" sz="1800" dirty="0">
                <a:effectLst/>
                <a:latin typeface="CMMIB7"/>
              </a:rPr>
              <a:t> </a:t>
            </a:r>
            <a:r>
              <a:rPr lang="en" altLang="zh-CN" sz="1800" dirty="0">
                <a:effectLst/>
                <a:latin typeface="SFRM1000"/>
              </a:rPr>
              <a:t>and the support patch </a:t>
            </a:r>
            <a:r>
              <a:rPr lang="en" altLang="zh-CN" sz="1800" dirty="0" err="1">
                <a:effectLst/>
                <a:latin typeface="CMMIB10"/>
              </a:rPr>
              <a:t>x</a:t>
            </a:r>
            <a:r>
              <a:rPr lang="en" altLang="zh-CN" sz="1800" baseline="-25000" dirty="0" err="1">
                <a:effectLst/>
                <a:latin typeface="CMMIB7"/>
              </a:rPr>
              <a:t>s</a:t>
            </a:r>
            <a:r>
              <a:rPr lang="en" altLang="zh-CN" sz="1800" dirty="0">
                <a:effectLst/>
                <a:latin typeface="CMMIB7"/>
              </a:rPr>
              <a:t> </a:t>
            </a:r>
            <a:endParaRPr lang="en" altLang="zh-CN" dirty="0"/>
          </a:p>
        </p:txBody>
      </p:sp>
      <p:grpSp>
        <p:nvGrpSpPr>
          <p:cNvPr id="8" name="组合 7">
            <a:extLst>
              <a:ext uri="{FF2B5EF4-FFF2-40B4-BE49-F238E27FC236}">
                <a16:creationId xmlns:a16="http://schemas.microsoft.com/office/drawing/2014/main" id="{8E9905C1-6601-3F69-FE58-D80DD056E649}"/>
              </a:ext>
            </a:extLst>
          </p:cNvPr>
          <p:cNvGrpSpPr/>
          <p:nvPr/>
        </p:nvGrpSpPr>
        <p:grpSpPr>
          <a:xfrm>
            <a:off x="160310" y="1676516"/>
            <a:ext cx="5633379" cy="3111657"/>
            <a:chOff x="4655127" y="2694335"/>
            <a:chExt cx="4192507" cy="2467795"/>
          </a:xfrm>
        </p:grpSpPr>
        <p:pic>
          <p:nvPicPr>
            <p:cNvPr id="5" name="图片 4">
              <a:extLst>
                <a:ext uri="{FF2B5EF4-FFF2-40B4-BE49-F238E27FC236}">
                  <a16:creationId xmlns:a16="http://schemas.microsoft.com/office/drawing/2014/main" id="{CD1EC055-1B25-73D5-40AB-A177004E822B}"/>
                </a:ext>
              </a:extLst>
            </p:cNvPr>
            <p:cNvPicPr>
              <a:picLocks noChangeAspect="1"/>
            </p:cNvPicPr>
            <p:nvPr/>
          </p:nvPicPr>
          <p:blipFill rotWithShape="1">
            <a:blip r:embed="rId2"/>
            <a:srcRect l="37438" t="33124" b="26626"/>
            <a:stretch/>
          </p:blipFill>
          <p:spPr>
            <a:xfrm>
              <a:off x="4655127" y="2766951"/>
              <a:ext cx="4192507" cy="2315688"/>
            </a:xfrm>
            <a:prstGeom prst="rect">
              <a:avLst/>
            </a:prstGeom>
          </p:spPr>
        </p:pic>
        <p:sp>
          <p:nvSpPr>
            <p:cNvPr id="6" name="矩形 5">
              <a:extLst>
                <a:ext uri="{FF2B5EF4-FFF2-40B4-BE49-F238E27FC236}">
                  <a16:creationId xmlns:a16="http://schemas.microsoft.com/office/drawing/2014/main" id="{4983BE09-72A5-DB33-27F0-CEF34557CCA0}"/>
                </a:ext>
              </a:extLst>
            </p:cNvPr>
            <p:cNvSpPr/>
            <p:nvPr/>
          </p:nvSpPr>
          <p:spPr>
            <a:xfrm>
              <a:off x="6325996" y="2694335"/>
              <a:ext cx="2421984" cy="707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C795C893-E827-58C0-E08F-5349D2ED080C}"/>
                </a:ext>
              </a:extLst>
            </p:cNvPr>
            <p:cNvSpPr/>
            <p:nvPr/>
          </p:nvSpPr>
          <p:spPr>
            <a:xfrm>
              <a:off x="6315187" y="4128172"/>
              <a:ext cx="2421984" cy="10339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2" name="图片 31">
            <a:extLst>
              <a:ext uri="{FF2B5EF4-FFF2-40B4-BE49-F238E27FC236}">
                <a16:creationId xmlns:a16="http://schemas.microsoft.com/office/drawing/2014/main" id="{FA90223C-0DEF-0F32-392A-B9639A0B7B05}"/>
              </a:ext>
            </a:extLst>
          </p:cNvPr>
          <p:cNvPicPr>
            <a:picLocks noChangeAspect="1"/>
          </p:cNvPicPr>
          <p:nvPr/>
        </p:nvPicPr>
        <p:blipFill>
          <a:blip r:embed="rId3"/>
          <a:stretch>
            <a:fillRect/>
          </a:stretch>
        </p:blipFill>
        <p:spPr>
          <a:xfrm>
            <a:off x="8870388" y="4788173"/>
            <a:ext cx="3151668" cy="1475334"/>
          </a:xfrm>
          <a:prstGeom prst="rect">
            <a:avLst/>
          </a:prstGeom>
        </p:spPr>
      </p:pic>
      <p:pic>
        <p:nvPicPr>
          <p:cNvPr id="36" name="图片 35">
            <a:extLst>
              <a:ext uri="{FF2B5EF4-FFF2-40B4-BE49-F238E27FC236}">
                <a16:creationId xmlns:a16="http://schemas.microsoft.com/office/drawing/2014/main" id="{13689E91-77AD-4146-4FF1-5648EC6E5E90}"/>
              </a:ext>
            </a:extLst>
          </p:cNvPr>
          <p:cNvPicPr>
            <a:picLocks noChangeAspect="1"/>
          </p:cNvPicPr>
          <p:nvPr/>
        </p:nvPicPr>
        <p:blipFill>
          <a:blip r:embed="rId4"/>
          <a:stretch>
            <a:fillRect/>
          </a:stretch>
        </p:blipFill>
        <p:spPr>
          <a:xfrm>
            <a:off x="5616022" y="1540960"/>
            <a:ext cx="6466830" cy="3247213"/>
          </a:xfrm>
          <a:prstGeom prst="rect">
            <a:avLst/>
          </a:prstGeom>
        </p:spPr>
      </p:pic>
      <p:pic>
        <p:nvPicPr>
          <p:cNvPr id="37" name="图片 36">
            <a:extLst>
              <a:ext uri="{FF2B5EF4-FFF2-40B4-BE49-F238E27FC236}">
                <a16:creationId xmlns:a16="http://schemas.microsoft.com/office/drawing/2014/main" id="{6B93C0F6-959C-900C-1554-85AD294FB657}"/>
              </a:ext>
            </a:extLst>
          </p:cNvPr>
          <p:cNvPicPr>
            <a:picLocks noChangeAspect="1"/>
          </p:cNvPicPr>
          <p:nvPr/>
        </p:nvPicPr>
        <p:blipFill>
          <a:blip r:embed="rId5"/>
          <a:stretch>
            <a:fillRect/>
          </a:stretch>
        </p:blipFill>
        <p:spPr>
          <a:xfrm>
            <a:off x="6570634" y="5221040"/>
            <a:ext cx="2238957" cy="481928"/>
          </a:xfrm>
          <a:prstGeom prst="rect">
            <a:avLst/>
          </a:prstGeom>
        </p:spPr>
      </p:pic>
    </p:spTree>
    <p:extLst>
      <p:ext uri="{BB962C8B-B14F-4D97-AF65-F5344CB8AC3E}">
        <p14:creationId xmlns:p14="http://schemas.microsoft.com/office/powerpoint/2010/main" val="1389051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F7E5F30-600C-915B-0901-BEFFA97E32CD}"/>
              </a:ext>
            </a:extLst>
          </p:cNvPr>
          <p:cNvSpPr>
            <a:spLocks noGrp="1"/>
          </p:cNvSpPr>
          <p:nvPr>
            <p:ph type="sldNum" sz="quarter" idx="4"/>
          </p:nvPr>
        </p:nvSpPr>
        <p:spPr/>
        <p:txBody>
          <a:bodyPr/>
          <a:lstStyle/>
          <a:p>
            <a:r>
              <a:rPr lang="en-US" altLang="zh-CN"/>
              <a:t>&lt; </a:t>
            </a:r>
            <a:fld id="{A548B57D-AE10-4CF7-A9DF-59FEFA91B28E}" type="slidenum">
              <a:rPr lang="zh-CN" altLang="en-US" smtClean="0"/>
              <a:pPr/>
              <a:t>8</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3E4C2033-E8D7-AEA5-FBA1-F8D5FA459E78}"/>
              </a:ext>
            </a:extLst>
          </p:cNvPr>
          <p:cNvSpPr>
            <a:spLocks noGrp="1"/>
          </p:cNvSpPr>
          <p:nvPr>
            <p:ph type="title"/>
          </p:nvPr>
        </p:nvSpPr>
        <p:spPr/>
        <p:txBody>
          <a:bodyPr/>
          <a:lstStyle/>
          <a:p>
            <a:r>
              <a:rPr kumimoji="1" lang="en-US" altLang="zh-CN" dirty="0"/>
              <a:t>Multi Scale Similarity (MSS) </a:t>
            </a:r>
            <a:endParaRPr kumimoji="1" lang="zh-CN" altLang="en-US" dirty="0"/>
          </a:p>
        </p:txBody>
      </p:sp>
      <p:pic>
        <p:nvPicPr>
          <p:cNvPr id="4" name="图片 3">
            <a:extLst>
              <a:ext uri="{FF2B5EF4-FFF2-40B4-BE49-F238E27FC236}">
                <a16:creationId xmlns:a16="http://schemas.microsoft.com/office/drawing/2014/main" id="{D9F211FD-A999-A3C8-608A-9471F8302795}"/>
              </a:ext>
            </a:extLst>
          </p:cNvPr>
          <p:cNvPicPr>
            <a:picLocks noChangeAspect="1"/>
          </p:cNvPicPr>
          <p:nvPr/>
        </p:nvPicPr>
        <p:blipFill>
          <a:blip r:embed="rId2"/>
          <a:stretch>
            <a:fillRect/>
          </a:stretch>
        </p:blipFill>
        <p:spPr>
          <a:xfrm>
            <a:off x="2209800" y="1326874"/>
            <a:ext cx="7772400" cy="4204252"/>
          </a:xfrm>
          <a:prstGeom prst="rect">
            <a:avLst/>
          </a:prstGeom>
        </p:spPr>
      </p:pic>
    </p:spTree>
    <p:extLst>
      <p:ext uri="{BB962C8B-B14F-4D97-AF65-F5344CB8AC3E}">
        <p14:creationId xmlns:p14="http://schemas.microsoft.com/office/powerpoint/2010/main" val="278303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F459F39-CFDC-0E24-8B77-579D498352B8}"/>
              </a:ext>
            </a:extLst>
          </p:cNvPr>
          <p:cNvSpPr>
            <a:spLocks noGrp="1"/>
          </p:cNvSpPr>
          <p:nvPr>
            <p:ph type="sldNum" sz="quarter" idx="4"/>
          </p:nvPr>
        </p:nvSpPr>
        <p:spPr/>
        <p:txBody>
          <a:bodyPr/>
          <a:lstStyle/>
          <a:p>
            <a:r>
              <a:rPr lang="en-US" altLang="zh-CN"/>
              <a:t>&lt; </a:t>
            </a:r>
            <a:fld id="{A548B57D-AE10-4CF7-A9DF-59FEFA91B28E}" type="slidenum">
              <a:rPr lang="zh-CN" altLang="en-US" smtClean="0"/>
              <a:pPr/>
              <a:t>9</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698F8B10-245B-B52E-074C-46F28EEF7FEA}"/>
              </a:ext>
            </a:extLst>
          </p:cNvPr>
          <p:cNvSpPr>
            <a:spLocks noGrp="1"/>
          </p:cNvSpPr>
          <p:nvPr>
            <p:ph type="title"/>
          </p:nvPr>
        </p:nvSpPr>
        <p:spPr/>
        <p:txBody>
          <a:bodyPr/>
          <a:lstStyle/>
          <a:p>
            <a:r>
              <a:rPr kumimoji="1" lang="en" altLang="zh-CN" dirty="0"/>
              <a:t>Inference of </a:t>
            </a:r>
            <a:r>
              <a:rPr kumimoji="1" lang="en" altLang="zh-CN" dirty="0" err="1"/>
              <a:t>MedLSAM</a:t>
            </a:r>
            <a:endParaRPr kumimoji="1" lang="zh-CN" altLang="en-US" dirty="0"/>
          </a:p>
        </p:txBody>
      </p:sp>
      <p:pic>
        <p:nvPicPr>
          <p:cNvPr id="5" name="图片 4">
            <a:extLst>
              <a:ext uri="{FF2B5EF4-FFF2-40B4-BE49-F238E27FC236}">
                <a16:creationId xmlns:a16="http://schemas.microsoft.com/office/drawing/2014/main" id="{08C23871-63FF-A0F5-2A76-3EA5DD1699C0}"/>
              </a:ext>
            </a:extLst>
          </p:cNvPr>
          <p:cNvPicPr>
            <a:picLocks noChangeAspect="1"/>
          </p:cNvPicPr>
          <p:nvPr/>
        </p:nvPicPr>
        <p:blipFill>
          <a:blip r:embed="rId2"/>
          <a:stretch>
            <a:fillRect/>
          </a:stretch>
        </p:blipFill>
        <p:spPr>
          <a:xfrm>
            <a:off x="392873" y="1122316"/>
            <a:ext cx="6519849" cy="5010803"/>
          </a:xfrm>
          <a:prstGeom prst="rect">
            <a:avLst/>
          </a:prstGeom>
        </p:spPr>
      </p:pic>
      <p:pic>
        <p:nvPicPr>
          <p:cNvPr id="6" name="图片 5">
            <a:extLst>
              <a:ext uri="{FF2B5EF4-FFF2-40B4-BE49-F238E27FC236}">
                <a16:creationId xmlns:a16="http://schemas.microsoft.com/office/drawing/2014/main" id="{641B9A7C-7D0D-D5D8-50D7-39DA04645801}"/>
              </a:ext>
            </a:extLst>
          </p:cNvPr>
          <p:cNvPicPr>
            <a:picLocks noChangeAspect="1"/>
          </p:cNvPicPr>
          <p:nvPr/>
        </p:nvPicPr>
        <p:blipFill>
          <a:blip r:embed="rId3"/>
          <a:stretch>
            <a:fillRect/>
          </a:stretch>
        </p:blipFill>
        <p:spPr>
          <a:xfrm>
            <a:off x="6985164" y="1595690"/>
            <a:ext cx="5029200" cy="4081871"/>
          </a:xfrm>
          <a:prstGeom prst="rect">
            <a:avLst/>
          </a:prstGeom>
        </p:spPr>
      </p:pic>
    </p:spTree>
    <p:extLst>
      <p:ext uri="{BB962C8B-B14F-4D97-AF65-F5344CB8AC3E}">
        <p14:creationId xmlns:p14="http://schemas.microsoft.com/office/powerpoint/2010/main" val="1016399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70AF7CC-0F05-FCA8-B115-FBD5D7E6A0E0}"/>
              </a:ext>
            </a:extLst>
          </p:cNvPr>
          <p:cNvSpPr>
            <a:spLocks noGrp="1"/>
          </p:cNvSpPr>
          <p:nvPr>
            <p:ph type="sldNum" sz="quarter" idx="4"/>
          </p:nvPr>
        </p:nvSpPr>
        <p:spPr/>
        <p:txBody>
          <a:bodyPr/>
          <a:lstStyle/>
          <a:p>
            <a:r>
              <a:rPr lang="en-US" altLang="zh-CN"/>
              <a:t>&lt; </a:t>
            </a:r>
            <a:fld id="{A548B57D-AE10-4CF7-A9DF-59FEFA91B28E}" type="slidenum">
              <a:rPr lang="zh-CN" altLang="en-US" smtClean="0"/>
              <a:pPr/>
              <a:t>10</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AEDFBAA-82A5-B1E6-2FD7-54FFBDCF558D}"/>
              </a:ext>
            </a:extLst>
          </p:cNvPr>
          <p:cNvSpPr>
            <a:spLocks noGrp="1"/>
          </p:cNvSpPr>
          <p:nvPr>
            <p:ph type="title"/>
          </p:nvPr>
        </p:nvSpPr>
        <p:spPr/>
        <p:txBody>
          <a:bodyPr/>
          <a:lstStyle/>
          <a:p>
            <a:r>
              <a:rPr kumimoji="1" lang="en-US" altLang="zh-CN" dirty="0"/>
              <a:t>Datasets</a:t>
            </a:r>
            <a:endParaRPr kumimoji="1" lang="zh-CN" altLang="en-US" dirty="0"/>
          </a:p>
        </p:txBody>
      </p:sp>
      <p:pic>
        <p:nvPicPr>
          <p:cNvPr id="5" name="图片 4">
            <a:extLst>
              <a:ext uri="{FF2B5EF4-FFF2-40B4-BE49-F238E27FC236}">
                <a16:creationId xmlns:a16="http://schemas.microsoft.com/office/drawing/2014/main" id="{1BEC2C8A-42BE-9C7F-902D-04E84CD58F0E}"/>
              </a:ext>
            </a:extLst>
          </p:cNvPr>
          <p:cNvPicPr>
            <a:picLocks noChangeAspect="1"/>
          </p:cNvPicPr>
          <p:nvPr/>
        </p:nvPicPr>
        <p:blipFill>
          <a:blip r:embed="rId2"/>
          <a:stretch>
            <a:fillRect/>
          </a:stretch>
        </p:blipFill>
        <p:spPr>
          <a:xfrm>
            <a:off x="73421" y="949287"/>
            <a:ext cx="7772400" cy="5450094"/>
          </a:xfrm>
          <a:prstGeom prst="rect">
            <a:avLst/>
          </a:prstGeom>
        </p:spPr>
      </p:pic>
      <p:sp>
        <p:nvSpPr>
          <p:cNvPr id="7" name="文本框 6">
            <a:extLst>
              <a:ext uri="{FF2B5EF4-FFF2-40B4-BE49-F238E27FC236}">
                <a16:creationId xmlns:a16="http://schemas.microsoft.com/office/drawing/2014/main" id="{8371ED20-7F0E-3B1B-32F3-6DAD24DBC1A5}"/>
              </a:ext>
            </a:extLst>
          </p:cNvPr>
          <p:cNvSpPr txBox="1"/>
          <p:nvPr/>
        </p:nvSpPr>
        <p:spPr>
          <a:xfrm>
            <a:off x="6593788" y="2152858"/>
            <a:ext cx="1770606" cy="369332"/>
          </a:xfrm>
          <a:prstGeom prst="rect">
            <a:avLst/>
          </a:prstGeom>
          <a:noFill/>
        </p:spPr>
        <p:txBody>
          <a:bodyPr wrap="square">
            <a:spAutoFit/>
          </a:bodyPr>
          <a:lstStyle/>
          <a:p>
            <a:r>
              <a:rPr lang="zh-CN" altLang="en-US" dirty="0"/>
              <a:t>头颈</a:t>
            </a:r>
          </a:p>
        </p:txBody>
      </p:sp>
      <p:sp>
        <p:nvSpPr>
          <p:cNvPr id="9" name="文本框 8">
            <a:extLst>
              <a:ext uri="{FF2B5EF4-FFF2-40B4-BE49-F238E27FC236}">
                <a16:creationId xmlns:a16="http://schemas.microsoft.com/office/drawing/2014/main" id="{C93FB786-8079-2AA3-BBF2-CBC160A49057}"/>
              </a:ext>
            </a:extLst>
          </p:cNvPr>
          <p:cNvSpPr txBox="1"/>
          <p:nvPr/>
        </p:nvSpPr>
        <p:spPr>
          <a:xfrm>
            <a:off x="6593788" y="2830904"/>
            <a:ext cx="2073737" cy="369332"/>
          </a:xfrm>
          <a:prstGeom prst="rect">
            <a:avLst/>
          </a:prstGeom>
          <a:noFill/>
        </p:spPr>
        <p:txBody>
          <a:bodyPr wrap="square">
            <a:spAutoFit/>
          </a:bodyPr>
          <a:lstStyle/>
          <a:p>
            <a:r>
              <a:rPr lang="zh-CN" altLang="en-US" dirty="0"/>
              <a:t>头颈</a:t>
            </a:r>
            <a:r>
              <a:rPr lang="en-US" altLang="zh-CN" dirty="0"/>
              <a:t>/</a:t>
            </a:r>
            <a:r>
              <a:rPr lang="zh-CN" altLang="en-US" dirty="0"/>
              <a:t>胸/腹</a:t>
            </a:r>
          </a:p>
        </p:txBody>
      </p:sp>
      <p:sp>
        <p:nvSpPr>
          <p:cNvPr id="11" name="文本框 10">
            <a:extLst>
              <a:ext uri="{FF2B5EF4-FFF2-40B4-BE49-F238E27FC236}">
                <a16:creationId xmlns:a16="http://schemas.microsoft.com/office/drawing/2014/main" id="{DF4DE004-DA31-A3BD-F1F6-3FDD6157CD36}"/>
              </a:ext>
            </a:extLst>
          </p:cNvPr>
          <p:cNvSpPr txBox="1"/>
          <p:nvPr/>
        </p:nvSpPr>
        <p:spPr>
          <a:xfrm>
            <a:off x="6699785" y="3805608"/>
            <a:ext cx="775951" cy="369332"/>
          </a:xfrm>
          <a:prstGeom prst="rect">
            <a:avLst/>
          </a:prstGeom>
          <a:noFill/>
        </p:spPr>
        <p:txBody>
          <a:bodyPr wrap="square">
            <a:spAutoFit/>
          </a:bodyPr>
          <a:lstStyle/>
          <a:p>
            <a:r>
              <a:rPr lang="zh-CN" altLang="en-US" dirty="0"/>
              <a:t>胸</a:t>
            </a:r>
          </a:p>
        </p:txBody>
      </p:sp>
      <p:sp>
        <p:nvSpPr>
          <p:cNvPr id="12" name="文本框 11">
            <a:extLst>
              <a:ext uri="{FF2B5EF4-FFF2-40B4-BE49-F238E27FC236}">
                <a16:creationId xmlns:a16="http://schemas.microsoft.com/office/drawing/2014/main" id="{7D3464C9-0A61-A03C-DDB0-B06F9CD2B7F9}"/>
              </a:ext>
            </a:extLst>
          </p:cNvPr>
          <p:cNvSpPr txBox="1"/>
          <p:nvPr/>
        </p:nvSpPr>
        <p:spPr>
          <a:xfrm>
            <a:off x="6699785" y="5406843"/>
            <a:ext cx="775951" cy="369332"/>
          </a:xfrm>
          <a:prstGeom prst="rect">
            <a:avLst/>
          </a:prstGeom>
          <a:noFill/>
        </p:spPr>
        <p:txBody>
          <a:bodyPr wrap="square">
            <a:spAutoFit/>
          </a:bodyPr>
          <a:lstStyle/>
          <a:p>
            <a:r>
              <a:rPr lang="zh-CN" altLang="en-US" dirty="0"/>
              <a:t>腹</a:t>
            </a:r>
          </a:p>
        </p:txBody>
      </p:sp>
      <p:sp>
        <p:nvSpPr>
          <p:cNvPr id="14" name="文本框 13">
            <a:extLst>
              <a:ext uri="{FF2B5EF4-FFF2-40B4-BE49-F238E27FC236}">
                <a16:creationId xmlns:a16="http://schemas.microsoft.com/office/drawing/2014/main" id="{A6CBE809-C7C3-5B3A-3F58-DD71B18FAA6E}"/>
              </a:ext>
            </a:extLst>
          </p:cNvPr>
          <p:cNvSpPr txBox="1"/>
          <p:nvPr/>
        </p:nvSpPr>
        <p:spPr>
          <a:xfrm>
            <a:off x="6593788" y="4642562"/>
            <a:ext cx="1213834" cy="369332"/>
          </a:xfrm>
          <a:prstGeom prst="rect">
            <a:avLst/>
          </a:prstGeom>
          <a:noFill/>
        </p:spPr>
        <p:txBody>
          <a:bodyPr wrap="square">
            <a:spAutoFit/>
          </a:bodyPr>
          <a:lstStyle/>
          <a:p>
            <a:r>
              <a:rPr lang="zh-CN" altLang="en-US" dirty="0"/>
              <a:t>胸/腹</a:t>
            </a:r>
          </a:p>
        </p:txBody>
      </p:sp>
      <p:sp>
        <p:nvSpPr>
          <p:cNvPr id="15" name="文本框 14">
            <a:extLst>
              <a:ext uri="{FF2B5EF4-FFF2-40B4-BE49-F238E27FC236}">
                <a16:creationId xmlns:a16="http://schemas.microsoft.com/office/drawing/2014/main" id="{F33C8B59-5091-5DFC-5216-4A75B607BE28}"/>
              </a:ext>
            </a:extLst>
          </p:cNvPr>
          <p:cNvSpPr txBox="1"/>
          <p:nvPr/>
        </p:nvSpPr>
        <p:spPr>
          <a:xfrm>
            <a:off x="8757634" y="1081825"/>
            <a:ext cx="2640169" cy="2246769"/>
          </a:xfrm>
          <a:prstGeom prst="rect">
            <a:avLst/>
          </a:prstGeom>
          <a:noFill/>
        </p:spPr>
        <p:txBody>
          <a:bodyPr wrap="square" rtlCol="0">
            <a:spAutoFit/>
          </a:bodyPr>
          <a:lstStyle/>
          <a:p>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Test:</a:t>
            </a:r>
          </a:p>
          <a:p>
            <a:r>
              <a:rPr kumimoji="1" lang="en"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 StructSeg19 Task1</a:t>
            </a:r>
          </a:p>
          <a:p>
            <a:pPr marL="342900" indent="-342900">
              <a:buFont typeface="Arial" panose="020B0604020202020204" pitchFamily="34" charset="0"/>
              <a:buChar char="•"/>
            </a:pPr>
            <a:r>
              <a:rPr kumimoji="1" lang="en"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22 </a:t>
            </a:r>
            <a:r>
              <a:rPr kumimoji="1" lang="en" altLang="zh-CN" sz="2000" dirty="0" err="1">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HaN</a:t>
            </a:r>
            <a:r>
              <a:rPr kumimoji="1" lang="en"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organs with 50 scans</a:t>
            </a:r>
          </a:p>
          <a:p>
            <a:r>
              <a:rPr kumimoji="1" lang="en"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 WORD</a:t>
            </a:r>
          </a:p>
          <a:p>
            <a:pPr marL="342900" indent="-342900">
              <a:buFont typeface="Arial" panose="020B0604020202020204" pitchFamily="34" charset="0"/>
              <a:buChar char="•"/>
            </a:pPr>
            <a:r>
              <a:rPr kumimoji="1" lang="en"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16 abdomen organs with 120 scans</a:t>
            </a:r>
            <a:endParaRPr kumimoji="1"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30739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738EC98-34D5-09A7-FF5F-F1EF2F4E08A5}"/>
              </a:ext>
            </a:extLst>
          </p:cNvPr>
          <p:cNvSpPr>
            <a:spLocks noGrp="1"/>
          </p:cNvSpPr>
          <p:nvPr>
            <p:ph type="sldNum" sz="quarter" idx="4"/>
          </p:nvPr>
        </p:nvSpPr>
        <p:spPr/>
        <p:txBody>
          <a:bodyPr/>
          <a:lstStyle/>
          <a:p>
            <a:r>
              <a:rPr lang="en-US" altLang="zh-CN"/>
              <a:t>&lt; </a:t>
            </a:r>
            <a:fld id="{A548B57D-AE10-4CF7-A9DF-59FEFA91B28E}" type="slidenum">
              <a:rPr lang="zh-CN" altLang="en-US" smtClean="0"/>
              <a:pPr/>
              <a:t>11</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27C17616-6BF3-E3E0-4D0C-0CA5A5B5086D}"/>
              </a:ext>
            </a:extLst>
          </p:cNvPr>
          <p:cNvSpPr>
            <a:spLocks noGrp="1"/>
          </p:cNvSpPr>
          <p:nvPr>
            <p:ph type="title"/>
          </p:nvPr>
        </p:nvSpPr>
        <p:spPr/>
        <p:txBody>
          <a:bodyPr/>
          <a:lstStyle/>
          <a:p>
            <a:r>
              <a:rPr kumimoji="1" lang="en-US" altLang="zh-CN" dirty="0"/>
              <a:t>Results</a:t>
            </a:r>
            <a:endParaRPr kumimoji="1" lang="zh-CN" altLang="en-US" dirty="0"/>
          </a:p>
        </p:txBody>
      </p:sp>
      <p:pic>
        <p:nvPicPr>
          <p:cNvPr id="9" name="图片 8">
            <a:extLst>
              <a:ext uri="{FF2B5EF4-FFF2-40B4-BE49-F238E27FC236}">
                <a16:creationId xmlns:a16="http://schemas.microsoft.com/office/drawing/2014/main" id="{8352232A-4191-D9F2-1B62-C89420534268}"/>
              </a:ext>
            </a:extLst>
          </p:cNvPr>
          <p:cNvPicPr>
            <a:picLocks noChangeAspect="1"/>
          </p:cNvPicPr>
          <p:nvPr/>
        </p:nvPicPr>
        <p:blipFill>
          <a:blip r:embed="rId2"/>
          <a:stretch>
            <a:fillRect/>
          </a:stretch>
        </p:blipFill>
        <p:spPr>
          <a:xfrm>
            <a:off x="1973132" y="662860"/>
            <a:ext cx="8375724" cy="5961716"/>
          </a:xfrm>
          <a:prstGeom prst="rect">
            <a:avLst/>
          </a:prstGeom>
        </p:spPr>
      </p:pic>
    </p:spTree>
    <p:extLst>
      <p:ext uri="{BB962C8B-B14F-4D97-AF65-F5344CB8AC3E}">
        <p14:creationId xmlns:p14="http://schemas.microsoft.com/office/powerpoint/2010/main" val="3402233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D7E920D-16FC-2AD0-8A90-DAB24883C0D8}"/>
              </a:ext>
            </a:extLst>
          </p:cNvPr>
          <p:cNvSpPr>
            <a:spLocks noGrp="1"/>
          </p:cNvSpPr>
          <p:nvPr>
            <p:ph type="sldNum" sz="quarter" idx="4"/>
          </p:nvPr>
        </p:nvSpPr>
        <p:spPr/>
        <p:txBody>
          <a:bodyPr/>
          <a:lstStyle/>
          <a:p>
            <a:r>
              <a:rPr lang="en-US" altLang="zh-CN"/>
              <a:t>&lt; </a:t>
            </a:r>
            <a:fld id="{A548B57D-AE10-4CF7-A9DF-59FEFA91B28E}" type="slidenum">
              <a:rPr lang="zh-CN" altLang="en-US" smtClean="0"/>
              <a:pPr/>
              <a:t>12</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2235EEF-40AF-D249-90F1-F780AAE09232}"/>
              </a:ext>
            </a:extLst>
          </p:cNvPr>
          <p:cNvSpPr>
            <a:spLocks noGrp="1"/>
          </p:cNvSpPr>
          <p:nvPr>
            <p:ph type="title"/>
          </p:nvPr>
        </p:nvSpPr>
        <p:spPr/>
        <p:txBody>
          <a:bodyPr/>
          <a:lstStyle/>
          <a:p>
            <a:r>
              <a:rPr kumimoji="1" lang="en-US" altLang="zh-CN" dirty="0"/>
              <a:t>Results</a:t>
            </a:r>
            <a:endParaRPr kumimoji="1" lang="zh-CN" altLang="en-US" dirty="0"/>
          </a:p>
        </p:txBody>
      </p:sp>
      <p:pic>
        <p:nvPicPr>
          <p:cNvPr id="10" name="图片 9">
            <a:extLst>
              <a:ext uri="{FF2B5EF4-FFF2-40B4-BE49-F238E27FC236}">
                <a16:creationId xmlns:a16="http://schemas.microsoft.com/office/drawing/2014/main" id="{9D80C501-0498-5B44-819E-9FA5BB0B48EE}"/>
              </a:ext>
            </a:extLst>
          </p:cNvPr>
          <p:cNvPicPr>
            <a:picLocks noChangeAspect="1"/>
          </p:cNvPicPr>
          <p:nvPr/>
        </p:nvPicPr>
        <p:blipFill>
          <a:blip r:embed="rId2"/>
          <a:stretch>
            <a:fillRect/>
          </a:stretch>
        </p:blipFill>
        <p:spPr>
          <a:xfrm>
            <a:off x="1556690" y="1035353"/>
            <a:ext cx="9078620" cy="5184734"/>
          </a:xfrm>
          <a:prstGeom prst="rect">
            <a:avLst/>
          </a:prstGeom>
        </p:spPr>
      </p:pic>
    </p:spTree>
    <p:extLst>
      <p:ext uri="{BB962C8B-B14F-4D97-AF65-F5344CB8AC3E}">
        <p14:creationId xmlns:p14="http://schemas.microsoft.com/office/powerpoint/2010/main" val="116275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80E8BC8-1CBE-7168-798E-E1131D25A13A}"/>
              </a:ext>
            </a:extLst>
          </p:cNvPr>
          <p:cNvSpPr>
            <a:spLocks noGrp="1"/>
          </p:cNvSpPr>
          <p:nvPr>
            <p:ph type="sldNum" sz="quarter" idx="4"/>
          </p:nvPr>
        </p:nvSpPr>
        <p:spPr/>
        <p:txBody>
          <a:bodyPr/>
          <a:lstStyle/>
          <a:p>
            <a:r>
              <a:rPr lang="en-US" altLang="zh-CN"/>
              <a:t>&lt; </a:t>
            </a:r>
            <a:fld id="{A548B57D-AE10-4CF7-A9DF-59FEFA91B28E}" type="slidenum">
              <a:rPr lang="zh-CN" altLang="en-US" smtClean="0"/>
              <a:pPr/>
              <a:t>13</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579001A8-A49D-71D6-D993-239B533771A3}"/>
              </a:ext>
            </a:extLst>
          </p:cNvPr>
          <p:cNvSpPr>
            <a:spLocks noGrp="1"/>
          </p:cNvSpPr>
          <p:nvPr>
            <p:ph type="title"/>
          </p:nvPr>
        </p:nvSpPr>
        <p:spPr/>
        <p:txBody>
          <a:bodyPr/>
          <a:lstStyle/>
          <a:p>
            <a:r>
              <a:rPr kumimoji="1" lang="en-US" altLang="zh-CN" dirty="0"/>
              <a:t>Results</a:t>
            </a:r>
            <a:endParaRPr kumimoji="1" lang="zh-CN" altLang="en-US" dirty="0"/>
          </a:p>
        </p:txBody>
      </p:sp>
      <p:pic>
        <p:nvPicPr>
          <p:cNvPr id="5" name="图片 4">
            <a:extLst>
              <a:ext uri="{FF2B5EF4-FFF2-40B4-BE49-F238E27FC236}">
                <a16:creationId xmlns:a16="http://schemas.microsoft.com/office/drawing/2014/main" id="{D10810E3-A263-E250-1E86-5EC0C44BB11E}"/>
              </a:ext>
            </a:extLst>
          </p:cNvPr>
          <p:cNvPicPr>
            <a:picLocks noChangeAspect="1"/>
          </p:cNvPicPr>
          <p:nvPr/>
        </p:nvPicPr>
        <p:blipFill>
          <a:blip r:embed="rId2"/>
          <a:stretch>
            <a:fillRect/>
          </a:stretch>
        </p:blipFill>
        <p:spPr>
          <a:xfrm>
            <a:off x="475427" y="1161491"/>
            <a:ext cx="11273564" cy="5232862"/>
          </a:xfrm>
          <a:prstGeom prst="rect">
            <a:avLst/>
          </a:prstGeom>
        </p:spPr>
      </p:pic>
    </p:spTree>
    <p:extLst>
      <p:ext uri="{BB962C8B-B14F-4D97-AF65-F5344CB8AC3E}">
        <p14:creationId xmlns:p14="http://schemas.microsoft.com/office/powerpoint/2010/main" val="4176984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D7E99ED-06E7-12EE-48E4-6903C01561AC}"/>
              </a:ext>
            </a:extLst>
          </p:cNvPr>
          <p:cNvSpPr>
            <a:spLocks noGrp="1"/>
          </p:cNvSpPr>
          <p:nvPr>
            <p:ph type="sldNum" sz="quarter" idx="4"/>
          </p:nvPr>
        </p:nvSpPr>
        <p:spPr/>
        <p:txBody>
          <a:bodyPr/>
          <a:lstStyle/>
          <a:p>
            <a:r>
              <a:rPr lang="en-US" altLang="zh-CN"/>
              <a:t>&lt; </a:t>
            </a:r>
            <a:fld id="{A548B57D-AE10-4CF7-A9DF-59FEFA91B28E}" type="slidenum">
              <a:rPr lang="zh-CN" altLang="en-US" smtClean="0"/>
              <a:pPr/>
              <a:t>14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E8194A4F-8AE1-173C-F3F6-90901022AA01}"/>
              </a:ext>
            </a:extLst>
          </p:cNvPr>
          <p:cNvSpPr>
            <a:spLocks noGrp="1"/>
          </p:cNvSpPr>
          <p:nvPr>
            <p:ph type="title"/>
          </p:nvPr>
        </p:nvSpPr>
        <p:spPr/>
        <p:txBody>
          <a:bodyPr/>
          <a:lstStyle/>
          <a:p>
            <a:r>
              <a:rPr kumimoji="1" lang="en-US" altLang="zh-CN" dirty="0"/>
              <a:t>Results</a:t>
            </a:r>
            <a:endParaRPr kumimoji="1" lang="zh-CN" altLang="en-US" dirty="0"/>
          </a:p>
        </p:txBody>
      </p:sp>
      <p:pic>
        <p:nvPicPr>
          <p:cNvPr id="5" name="图片 4">
            <a:extLst>
              <a:ext uri="{FF2B5EF4-FFF2-40B4-BE49-F238E27FC236}">
                <a16:creationId xmlns:a16="http://schemas.microsoft.com/office/drawing/2014/main" id="{204AFCDB-193A-11C8-C022-8609DB750358}"/>
              </a:ext>
            </a:extLst>
          </p:cNvPr>
          <p:cNvPicPr>
            <a:picLocks noChangeAspect="1"/>
          </p:cNvPicPr>
          <p:nvPr/>
        </p:nvPicPr>
        <p:blipFill>
          <a:blip r:embed="rId2"/>
          <a:stretch>
            <a:fillRect/>
          </a:stretch>
        </p:blipFill>
        <p:spPr>
          <a:xfrm>
            <a:off x="1591293" y="604426"/>
            <a:ext cx="9473335" cy="6253574"/>
          </a:xfrm>
          <a:prstGeom prst="rect">
            <a:avLst/>
          </a:prstGeom>
        </p:spPr>
      </p:pic>
    </p:spTree>
    <p:extLst>
      <p:ext uri="{BB962C8B-B14F-4D97-AF65-F5344CB8AC3E}">
        <p14:creationId xmlns:p14="http://schemas.microsoft.com/office/powerpoint/2010/main" val="2431581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D7E99ED-06E7-12EE-48E4-6903C01561AC}"/>
              </a:ext>
            </a:extLst>
          </p:cNvPr>
          <p:cNvSpPr>
            <a:spLocks noGrp="1"/>
          </p:cNvSpPr>
          <p:nvPr>
            <p:ph type="sldNum" sz="quarter" idx="4"/>
          </p:nvPr>
        </p:nvSpPr>
        <p:spPr/>
        <p:txBody>
          <a:bodyPr/>
          <a:lstStyle/>
          <a:p>
            <a:r>
              <a:rPr lang="en-US" altLang="zh-CN"/>
              <a:t>&lt; </a:t>
            </a:r>
            <a:fld id="{A548B57D-AE10-4CF7-A9DF-59FEFA91B28E}" type="slidenum">
              <a:rPr lang="zh-CN" altLang="en-US" smtClean="0"/>
              <a:pPr/>
              <a:t>15</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E8194A4F-8AE1-173C-F3F6-90901022AA01}"/>
              </a:ext>
            </a:extLst>
          </p:cNvPr>
          <p:cNvSpPr>
            <a:spLocks noGrp="1"/>
          </p:cNvSpPr>
          <p:nvPr>
            <p:ph type="title"/>
          </p:nvPr>
        </p:nvSpPr>
        <p:spPr/>
        <p:txBody>
          <a:bodyPr/>
          <a:lstStyle/>
          <a:p>
            <a:r>
              <a:rPr kumimoji="1" lang="en-US" altLang="zh-CN" dirty="0"/>
              <a:t>Results</a:t>
            </a:r>
            <a:endParaRPr kumimoji="1" lang="zh-CN" altLang="en-US" dirty="0"/>
          </a:p>
        </p:txBody>
      </p:sp>
      <p:pic>
        <p:nvPicPr>
          <p:cNvPr id="4" name="图片 3">
            <a:extLst>
              <a:ext uri="{FF2B5EF4-FFF2-40B4-BE49-F238E27FC236}">
                <a16:creationId xmlns:a16="http://schemas.microsoft.com/office/drawing/2014/main" id="{F2D9A4B6-7006-5968-6195-B7D3FF1C1B7B}"/>
              </a:ext>
            </a:extLst>
          </p:cNvPr>
          <p:cNvPicPr>
            <a:picLocks noChangeAspect="1"/>
          </p:cNvPicPr>
          <p:nvPr/>
        </p:nvPicPr>
        <p:blipFill>
          <a:blip r:embed="rId2"/>
          <a:stretch>
            <a:fillRect/>
          </a:stretch>
        </p:blipFill>
        <p:spPr>
          <a:xfrm>
            <a:off x="577610" y="826762"/>
            <a:ext cx="11036779" cy="5601917"/>
          </a:xfrm>
          <a:prstGeom prst="rect">
            <a:avLst/>
          </a:prstGeom>
        </p:spPr>
      </p:pic>
    </p:spTree>
    <p:extLst>
      <p:ext uri="{BB962C8B-B14F-4D97-AF65-F5344CB8AC3E}">
        <p14:creationId xmlns:p14="http://schemas.microsoft.com/office/powerpoint/2010/main" val="196818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356722-3DFF-B6CD-B923-2FF96DDA2B2F}"/>
              </a:ext>
            </a:extLst>
          </p:cNvPr>
          <p:cNvSpPr>
            <a:spLocks noGrp="1"/>
          </p:cNvSpPr>
          <p:nvPr>
            <p:ph type="sldNum" sz="quarter" idx="4"/>
          </p:nvPr>
        </p:nvSpPr>
        <p:spPr/>
        <p:txBody>
          <a:bodyPr/>
          <a:lstStyle/>
          <a:p>
            <a:r>
              <a:rPr lang="en-US" altLang="zh-CN"/>
              <a:t>&lt; </a:t>
            </a:r>
            <a:fld id="{A548B57D-AE10-4CF7-A9DF-59FEFA91B28E}" type="slidenum">
              <a:rPr lang="zh-CN" altLang="en-US" smtClean="0"/>
              <a:pPr/>
              <a:t>16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9A7D11D9-2DFE-4C9D-A1EF-F9B85F3392F3}"/>
              </a:ext>
            </a:extLst>
          </p:cNvPr>
          <p:cNvSpPr>
            <a:spLocks noGrp="1"/>
          </p:cNvSpPr>
          <p:nvPr>
            <p:ph type="title"/>
          </p:nvPr>
        </p:nvSpPr>
        <p:spPr/>
        <p:txBody>
          <a:bodyPr/>
          <a:lstStyle/>
          <a:p>
            <a:endParaRPr kumimoji="1" lang="zh-CN" altLang="en-US"/>
          </a:p>
        </p:txBody>
      </p:sp>
      <p:sp>
        <p:nvSpPr>
          <p:cNvPr id="4" name="文本占位符 3">
            <a:extLst>
              <a:ext uri="{FF2B5EF4-FFF2-40B4-BE49-F238E27FC236}">
                <a16:creationId xmlns:a16="http://schemas.microsoft.com/office/drawing/2014/main" id="{BB0A4575-9F60-DFD9-8EFA-4AEA53E547FA}"/>
              </a:ext>
            </a:extLst>
          </p:cNvPr>
          <p:cNvSpPr>
            <a:spLocks noGrp="1"/>
          </p:cNvSpPr>
          <p:nvPr>
            <p:ph type="body" sz="quarter" idx="10"/>
          </p:nvPr>
        </p:nvSpPr>
        <p:spPr/>
        <p:txBody>
          <a:bodyPr/>
          <a:lstStyle/>
          <a:p>
            <a:endParaRPr kumimoji="1" lang="zh-CN" altLang="en-US"/>
          </a:p>
        </p:txBody>
      </p:sp>
      <p:pic>
        <p:nvPicPr>
          <p:cNvPr id="6" name="图片 5">
            <a:extLst>
              <a:ext uri="{FF2B5EF4-FFF2-40B4-BE49-F238E27FC236}">
                <a16:creationId xmlns:a16="http://schemas.microsoft.com/office/drawing/2014/main" id="{F919E30E-762C-4837-EF98-CB435BD023A1}"/>
              </a:ext>
            </a:extLst>
          </p:cNvPr>
          <p:cNvPicPr>
            <a:picLocks noChangeAspect="1"/>
          </p:cNvPicPr>
          <p:nvPr/>
        </p:nvPicPr>
        <p:blipFill>
          <a:blip r:embed="rId2"/>
          <a:stretch>
            <a:fillRect/>
          </a:stretch>
        </p:blipFill>
        <p:spPr>
          <a:xfrm>
            <a:off x="623216" y="147048"/>
            <a:ext cx="10413977" cy="6563903"/>
          </a:xfrm>
          <a:prstGeom prst="rect">
            <a:avLst/>
          </a:prstGeom>
        </p:spPr>
      </p:pic>
    </p:spTree>
    <p:extLst>
      <p:ext uri="{BB962C8B-B14F-4D97-AF65-F5344CB8AC3E}">
        <p14:creationId xmlns:p14="http://schemas.microsoft.com/office/powerpoint/2010/main" val="959490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4473B92-F666-333C-C501-76628C141410}"/>
              </a:ext>
            </a:extLst>
          </p:cNvPr>
          <p:cNvSpPr>
            <a:spLocks noGrp="1"/>
          </p:cNvSpPr>
          <p:nvPr>
            <p:ph type="sldNum" sz="quarter" idx="4"/>
          </p:nvPr>
        </p:nvSpPr>
        <p:spPr/>
        <p:txBody>
          <a:bodyPr/>
          <a:lstStyle/>
          <a:p>
            <a:r>
              <a:rPr lang="en-US" altLang="zh-CN"/>
              <a:t>&lt; </a:t>
            </a:r>
            <a:fld id="{A548B57D-AE10-4CF7-A9DF-59FEFA91B28E}" type="slidenum">
              <a:rPr lang="zh-CN" altLang="en-US" smtClean="0"/>
              <a:pPr/>
              <a:t>17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A303B914-4C48-6574-CDA7-6D51AEB8B9A8}"/>
              </a:ext>
            </a:extLst>
          </p:cNvPr>
          <p:cNvSpPr>
            <a:spLocks noGrp="1"/>
          </p:cNvSpPr>
          <p:nvPr>
            <p:ph type="title"/>
          </p:nvPr>
        </p:nvSpPr>
        <p:spPr/>
        <p:txBody>
          <a:bodyPr/>
          <a:lstStyle/>
          <a:p>
            <a:r>
              <a:rPr kumimoji="1" lang="en-US" altLang="zh-CN" dirty="0"/>
              <a:t>Discussion</a:t>
            </a:r>
            <a:endParaRPr kumimoji="1" lang="zh-CN" altLang="en-US" dirty="0"/>
          </a:p>
        </p:txBody>
      </p:sp>
      <p:sp>
        <p:nvSpPr>
          <p:cNvPr id="4" name="文本占位符 3">
            <a:extLst>
              <a:ext uri="{FF2B5EF4-FFF2-40B4-BE49-F238E27FC236}">
                <a16:creationId xmlns:a16="http://schemas.microsoft.com/office/drawing/2014/main" id="{FFBB06E0-E050-A47E-0080-33D3FBC42237}"/>
              </a:ext>
            </a:extLst>
          </p:cNvPr>
          <p:cNvSpPr>
            <a:spLocks noGrp="1"/>
          </p:cNvSpPr>
          <p:nvPr>
            <p:ph type="body" sz="quarter" idx="10"/>
          </p:nvPr>
        </p:nvSpPr>
        <p:spPr>
          <a:xfrm>
            <a:off x="442913" y="944610"/>
            <a:ext cx="9056687" cy="2778304"/>
          </a:xfrm>
        </p:spPr>
        <p:txBody>
          <a:bodyPr/>
          <a:lstStyle/>
          <a:p>
            <a:r>
              <a:rPr kumimoji="1" lang="en-US" altLang="zh-CN" dirty="0"/>
              <a:t>+ A solution for alleviating the annotation workload</a:t>
            </a:r>
          </a:p>
          <a:p>
            <a:r>
              <a:rPr kumimoji="1" lang="en-US" altLang="zh-CN" dirty="0"/>
              <a:t>- Typically</a:t>
            </a:r>
            <a:r>
              <a:rPr kumimoji="1" lang="zh-CN" altLang="en-US" dirty="0"/>
              <a:t> </a:t>
            </a:r>
            <a:r>
              <a:rPr kumimoji="1" lang="en-US" altLang="zh-CN" dirty="0"/>
              <a:t>for CT images</a:t>
            </a:r>
            <a:r>
              <a:rPr kumimoji="1" lang="zh-CN" altLang="en-US" dirty="0"/>
              <a:t> </a:t>
            </a:r>
            <a:r>
              <a:rPr kumimoji="1" lang="en-US" altLang="zh-CN" dirty="0"/>
              <a:t>with fixed locations</a:t>
            </a:r>
          </a:p>
          <a:p>
            <a:r>
              <a:rPr kumimoji="1" lang="en-US" altLang="zh-CN" dirty="0"/>
              <a:t>- 2D slice, not real 3D</a:t>
            </a:r>
          </a:p>
          <a:p>
            <a:endParaRPr kumimoji="1" lang="zh-CN" altLang="en-US" dirty="0"/>
          </a:p>
        </p:txBody>
      </p:sp>
    </p:spTree>
    <p:extLst>
      <p:ext uri="{BB962C8B-B14F-4D97-AF65-F5344CB8AC3E}">
        <p14:creationId xmlns:p14="http://schemas.microsoft.com/office/powerpoint/2010/main" val="1287193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18</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ormAutofit fontScale="85000" lnSpcReduction="10000"/>
          </a:bodyPr>
          <a:lstStyle/>
          <a:p>
            <a:pPr>
              <a:lnSpc>
                <a:spcPct val="120000"/>
              </a:lnSpc>
            </a:pPr>
            <a:r>
              <a:rPr lang="en" altLang="zh-CN" dirty="0">
                <a:effectLst/>
                <a:latin typeface="Arial" panose="020B0604020202020204" pitchFamily="34" charset="0"/>
                <a:cs typeface="Arial" panose="020B0604020202020204" pitchFamily="34" charset="0"/>
              </a:rPr>
              <a:t>Abstract. </a:t>
            </a:r>
          </a:p>
          <a:p>
            <a:pPr algn="just">
              <a:lnSpc>
                <a:spcPct val="120000"/>
              </a:lnSpc>
            </a:pPr>
            <a:r>
              <a:rPr lang="en" altLang="zh-CN" sz="1900" b="0" dirty="0">
                <a:latin typeface="Arial" panose="020B0604020202020204" pitchFamily="34" charset="0"/>
                <a:cs typeface="Arial" panose="020B0604020202020204" pitchFamily="34" charset="0"/>
              </a:rPr>
              <a:t>The Segment Anything Model (SAM) has recently emerged as a groundbreaking model in the field of image segmentation. Nevertheless, both the original SAM and its medical adaptations necessitate </a:t>
            </a:r>
            <a:r>
              <a:rPr lang="en" altLang="zh-CN" sz="1900" b="0" dirty="0">
                <a:highlight>
                  <a:srgbClr val="FFFF00"/>
                </a:highlight>
                <a:latin typeface="Arial" panose="020B0604020202020204" pitchFamily="34" charset="0"/>
                <a:cs typeface="Arial" panose="020B0604020202020204" pitchFamily="34" charset="0"/>
              </a:rPr>
              <a:t>slice-by-slice annotations</a:t>
            </a:r>
            <a:r>
              <a:rPr lang="en" altLang="zh-CN" sz="1900" b="0" dirty="0">
                <a:latin typeface="Arial" panose="020B0604020202020204" pitchFamily="34" charset="0"/>
                <a:cs typeface="Arial" panose="020B0604020202020204" pitchFamily="34" charset="0"/>
              </a:rPr>
              <a:t>, which directly </a:t>
            </a:r>
            <a:r>
              <a:rPr lang="en" altLang="zh-CN" sz="1900" b="0" dirty="0">
                <a:highlight>
                  <a:srgbClr val="FFFF00"/>
                </a:highlight>
                <a:latin typeface="Arial" panose="020B0604020202020204" pitchFamily="34" charset="0"/>
                <a:cs typeface="Arial" panose="020B0604020202020204" pitchFamily="34" charset="0"/>
              </a:rPr>
              <a:t>increase the annotation workload </a:t>
            </a:r>
            <a:r>
              <a:rPr lang="en" altLang="zh-CN" sz="1900" b="0" dirty="0">
                <a:latin typeface="Arial" panose="020B0604020202020204" pitchFamily="34" charset="0"/>
                <a:cs typeface="Arial" panose="020B0604020202020204" pitchFamily="34" charset="0"/>
              </a:rPr>
              <a:t>with the size of the dataset. We propose </a:t>
            </a:r>
            <a:r>
              <a:rPr lang="en" altLang="zh-CN" sz="1900" b="0" dirty="0" err="1">
                <a:latin typeface="Arial" panose="020B0604020202020204" pitchFamily="34" charset="0"/>
                <a:cs typeface="Arial" panose="020B0604020202020204" pitchFamily="34" charset="0"/>
              </a:rPr>
              <a:t>MedLSAM</a:t>
            </a:r>
            <a:r>
              <a:rPr lang="en" altLang="zh-CN" sz="1900" b="0" dirty="0">
                <a:latin typeface="Arial" panose="020B0604020202020204" pitchFamily="34" charset="0"/>
                <a:cs typeface="Arial" panose="020B0604020202020204" pitchFamily="34" charset="0"/>
              </a:rPr>
              <a:t> to address this issue, ensuring a constant annotation workload irrespective of dataset size and thereby </a:t>
            </a:r>
            <a:r>
              <a:rPr lang="en" altLang="zh-CN" sz="1900" b="0" dirty="0">
                <a:highlight>
                  <a:srgbClr val="FFFF00"/>
                </a:highlight>
                <a:latin typeface="Arial" panose="020B0604020202020204" pitchFamily="34" charset="0"/>
                <a:cs typeface="Arial" panose="020B0604020202020204" pitchFamily="34" charset="0"/>
              </a:rPr>
              <a:t>simplifying the annotation process</a:t>
            </a:r>
            <a:r>
              <a:rPr lang="en" altLang="zh-CN" sz="1900" b="0" dirty="0">
                <a:latin typeface="Arial" panose="020B0604020202020204" pitchFamily="34" charset="0"/>
                <a:cs typeface="Arial" panose="020B0604020202020204" pitchFamily="34" charset="0"/>
              </a:rPr>
              <a:t>.</a:t>
            </a:r>
            <a:r>
              <a:rPr lang="en" altLang="zh-CN" sz="1900" b="0" dirty="0">
                <a:solidFill>
                  <a:srgbClr val="FF0000"/>
                </a:solidFill>
                <a:latin typeface="Arial" panose="020B0604020202020204" pitchFamily="34" charset="0"/>
                <a:cs typeface="Arial" panose="020B0604020202020204" pitchFamily="34" charset="0"/>
              </a:rPr>
              <a:t> </a:t>
            </a:r>
            <a:r>
              <a:rPr lang="en-US" altLang="zh-CN" sz="1900" b="0" dirty="0">
                <a:solidFill>
                  <a:srgbClr val="FF0000"/>
                </a:solidFill>
                <a:latin typeface="Arial" panose="020B0604020202020204" pitchFamily="34" charset="0"/>
                <a:cs typeface="Arial" panose="020B0604020202020204" pitchFamily="34" charset="0"/>
              </a:rPr>
              <a:t>//</a:t>
            </a:r>
            <a:r>
              <a:rPr lang="zh-CN" altLang="en-US" sz="1900" b="0" dirty="0">
                <a:solidFill>
                  <a:srgbClr val="FF0000"/>
                </a:solidFill>
                <a:latin typeface="Arial" panose="020B0604020202020204" pitchFamily="34" charset="0"/>
                <a:cs typeface="Arial" panose="020B0604020202020204" pitchFamily="34" charset="0"/>
              </a:rPr>
              <a:t> </a:t>
            </a:r>
            <a:r>
              <a:rPr lang="en" altLang="zh-CN" sz="1900" b="0" dirty="0">
                <a:latin typeface="Arial" panose="020B0604020202020204" pitchFamily="34" charset="0"/>
                <a:cs typeface="Arial" panose="020B0604020202020204" pitchFamily="34" charset="0"/>
              </a:rPr>
              <a:t>Our model introduces a 3D localization foundation model capable of localizing any target anatomical part within the body. To achieve this, we develop a Localize Anything Model for 3D Medical Images (</a:t>
            </a:r>
            <a:r>
              <a:rPr lang="en" altLang="zh-CN" sz="1900" b="0" dirty="0" err="1">
                <a:latin typeface="Arial" panose="020B0604020202020204" pitchFamily="34" charset="0"/>
                <a:cs typeface="Arial" panose="020B0604020202020204" pitchFamily="34" charset="0"/>
              </a:rPr>
              <a:t>MedLAM</a:t>
            </a:r>
            <a:r>
              <a:rPr lang="en" altLang="zh-CN" sz="1900" b="0" dirty="0">
                <a:latin typeface="Arial" panose="020B0604020202020204" pitchFamily="34" charset="0"/>
                <a:cs typeface="Arial" panose="020B0604020202020204" pitchFamily="34" charset="0"/>
              </a:rPr>
              <a:t>), utilizing two self-supervision tasks: unified anatomical mapping (UAM) and multi-scale similarity (MSS) across a comprehensive dataset of 14,012 CT scans. We then establish a methodology for accurate segmentation by integrating </a:t>
            </a:r>
            <a:r>
              <a:rPr lang="en" altLang="zh-CN" sz="1900" b="0" dirty="0" err="1">
                <a:latin typeface="Arial" panose="020B0604020202020204" pitchFamily="34" charset="0"/>
                <a:cs typeface="Arial" panose="020B0604020202020204" pitchFamily="34" charset="0"/>
              </a:rPr>
              <a:t>MedLAM</a:t>
            </a:r>
            <a:r>
              <a:rPr lang="en" altLang="zh-CN" sz="1900" b="0" dirty="0">
                <a:latin typeface="Arial" panose="020B0604020202020204" pitchFamily="34" charset="0"/>
                <a:cs typeface="Arial" panose="020B0604020202020204" pitchFamily="34" charset="0"/>
              </a:rPr>
              <a:t> with SAM. By annotating several extreme points across three directions on a few templates, our model can autonomously identify the target anatomical region on all data scheduled for annotation. This allows our framework to generate a 2D </a:t>
            </a:r>
            <a:r>
              <a:rPr lang="en" altLang="zh-CN" sz="1900" b="0" dirty="0" err="1">
                <a:latin typeface="Arial" panose="020B0604020202020204" pitchFamily="34" charset="0"/>
                <a:cs typeface="Arial" panose="020B0604020202020204" pitchFamily="34" charset="0"/>
              </a:rPr>
              <a:t>bbox</a:t>
            </a:r>
            <a:r>
              <a:rPr lang="en" altLang="zh-CN" sz="1900" b="0" dirty="0">
                <a:latin typeface="Arial" panose="020B0604020202020204" pitchFamily="34" charset="0"/>
                <a:cs typeface="Arial" panose="020B0604020202020204" pitchFamily="34" charset="0"/>
              </a:rPr>
              <a:t> for every slice of the image, which is then leveraged by SAM to carry out segmentation. We carried out comprehensive experiments on two 3D datasets encompassing 38 distinct organs. </a:t>
            </a:r>
            <a:r>
              <a:rPr lang="en-US" altLang="zh-CN" sz="1900" b="0" dirty="0">
                <a:solidFill>
                  <a:srgbClr val="FF0000"/>
                </a:solidFill>
                <a:latin typeface="Arial" panose="020B0604020202020204" pitchFamily="34" charset="0"/>
                <a:cs typeface="Arial" panose="020B0604020202020204" pitchFamily="34" charset="0"/>
              </a:rPr>
              <a:t>//</a:t>
            </a:r>
            <a:r>
              <a:rPr lang="zh-CN" altLang="en-US" sz="1900" b="0" dirty="0">
                <a:solidFill>
                  <a:srgbClr val="FF0000"/>
                </a:solidFill>
                <a:latin typeface="Arial" panose="020B0604020202020204" pitchFamily="34" charset="0"/>
                <a:cs typeface="Arial" panose="020B0604020202020204" pitchFamily="34" charset="0"/>
              </a:rPr>
              <a:t> </a:t>
            </a:r>
            <a:r>
              <a:rPr lang="en" altLang="zh-CN" sz="1900" b="0" dirty="0">
                <a:latin typeface="Arial" panose="020B0604020202020204" pitchFamily="34" charset="0"/>
                <a:cs typeface="Arial" panose="020B0604020202020204" pitchFamily="34" charset="0"/>
              </a:rPr>
              <a:t>Our findings are twofold: </a:t>
            </a:r>
            <a:r>
              <a:rPr lang="en" altLang="zh-CN" sz="1900" b="0" dirty="0">
                <a:highlight>
                  <a:srgbClr val="FFFF00"/>
                </a:highlight>
                <a:latin typeface="Arial" panose="020B0604020202020204" pitchFamily="34" charset="0"/>
                <a:cs typeface="Arial" panose="020B0604020202020204" pitchFamily="34" charset="0"/>
              </a:rPr>
              <a:t>1)</a:t>
            </a:r>
            <a:r>
              <a:rPr lang="en" altLang="zh-CN" sz="1900" b="0" dirty="0">
                <a:latin typeface="Arial" panose="020B0604020202020204" pitchFamily="34" charset="0"/>
                <a:cs typeface="Arial" panose="020B0604020202020204" pitchFamily="34" charset="0"/>
              </a:rPr>
              <a:t> </a:t>
            </a:r>
            <a:r>
              <a:rPr lang="en" altLang="zh-CN" sz="1900" b="0" dirty="0" err="1">
                <a:latin typeface="Arial" panose="020B0604020202020204" pitchFamily="34" charset="0"/>
                <a:cs typeface="Arial" panose="020B0604020202020204" pitchFamily="34" charset="0"/>
              </a:rPr>
              <a:t>MedLAM</a:t>
            </a:r>
            <a:r>
              <a:rPr lang="en" altLang="zh-CN" sz="1900" b="0" dirty="0">
                <a:latin typeface="Arial" panose="020B0604020202020204" pitchFamily="34" charset="0"/>
                <a:cs typeface="Arial" panose="020B0604020202020204" pitchFamily="34" charset="0"/>
              </a:rPr>
              <a:t> is capable of directly localizing any anatomical structure using just a few template scans, yet its performance surpasses that of fully supervised models;</a:t>
            </a:r>
            <a:r>
              <a:rPr lang="en" altLang="zh-CN" sz="1900" b="0" dirty="0">
                <a:highlight>
                  <a:srgbClr val="FFFF00"/>
                </a:highlight>
                <a:latin typeface="Arial" panose="020B0604020202020204" pitchFamily="34" charset="0"/>
                <a:cs typeface="Arial" panose="020B0604020202020204" pitchFamily="34" charset="0"/>
              </a:rPr>
              <a:t> 2) </a:t>
            </a:r>
            <a:r>
              <a:rPr lang="en" altLang="zh-CN" sz="1900" b="0" dirty="0" err="1">
                <a:latin typeface="Arial" panose="020B0604020202020204" pitchFamily="34" charset="0"/>
                <a:cs typeface="Arial" panose="020B0604020202020204" pitchFamily="34" charset="0"/>
              </a:rPr>
              <a:t>MedLSAM</a:t>
            </a:r>
            <a:r>
              <a:rPr lang="en" altLang="zh-CN" sz="1900" b="0" dirty="0">
                <a:latin typeface="Arial" panose="020B0604020202020204" pitchFamily="34" charset="0"/>
                <a:cs typeface="Arial" panose="020B0604020202020204" pitchFamily="34" charset="0"/>
              </a:rPr>
              <a:t> not only aligns closely with the performance of SAM and its specialized medical adaptations with manual prompts but achieves this with minimal reliance on extreme point annotations across the entire dataset. Furthermore, </a:t>
            </a:r>
            <a:r>
              <a:rPr lang="en" altLang="zh-CN" sz="1900" b="0" dirty="0" err="1">
                <a:latin typeface="Arial" panose="020B0604020202020204" pitchFamily="34" charset="0"/>
                <a:cs typeface="Arial" panose="020B0604020202020204" pitchFamily="34" charset="0"/>
              </a:rPr>
              <a:t>MedLAM</a:t>
            </a:r>
            <a:r>
              <a:rPr lang="en" altLang="zh-CN" sz="1900" b="0" dirty="0">
                <a:latin typeface="Arial" panose="020B0604020202020204" pitchFamily="34" charset="0"/>
                <a:cs typeface="Arial" panose="020B0604020202020204" pitchFamily="34" charset="0"/>
              </a:rPr>
              <a:t> has the potential to be seamlessly integrated with future 3D SAM models, paving the way for enhanced performance. Our code is public at https://</a:t>
            </a:r>
            <a:r>
              <a:rPr lang="en" altLang="zh-CN" sz="1900" b="0" dirty="0" err="1">
                <a:latin typeface="Arial" panose="020B0604020202020204" pitchFamily="34" charset="0"/>
                <a:cs typeface="Arial" panose="020B0604020202020204" pitchFamily="34" charset="0"/>
              </a:rPr>
              <a:t>github.com</a:t>
            </a:r>
            <a:r>
              <a:rPr lang="en" altLang="zh-CN" sz="1900" b="0" dirty="0">
                <a:latin typeface="Arial" panose="020B0604020202020204" pitchFamily="34" charset="0"/>
                <a:cs typeface="Arial" panose="020B0604020202020204" pitchFamily="34" charset="0"/>
              </a:rPr>
              <a:t>/</a:t>
            </a:r>
            <a:r>
              <a:rPr lang="en" altLang="zh-CN" sz="1900" b="0" dirty="0" err="1">
                <a:latin typeface="Arial" panose="020B0604020202020204" pitchFamily="34" charset="0"/>
                <a:cs typeface="Arial" panose="020B0604020202020204" pitchFamily="34" charset="0"/>
              </a:rPr>
              <a:t>openmedlab</a:t>
            </a:r>
            <a:r>
              <a:rPr lang="en" altLang="zh-CN" sz="1900" b="0" dirty="0">
                <a:latin typeface="Arial" panose="020B0604020202020204" pitchFamily="34" charset="0"/>
                <a:cs typeface="Arial" panose="020B0604020202020204" pitchFamily="34" charset="0"/>
              </a:rPr>
              <a:t>/</a:t>
            </a:r>
            <a:r>
              <a:rPr lang="en" altLang="zh-CN" sz="1900" b="0" dirty="0" err="1">
                <a:latin typeface="Arial" panose="020B0604020202020204" pitchFamily="34" charset="0"/>
                <a:cs typeface="Arial" panose="020B0604020202020204" pitchFamily="34" charset="0"/>
              </a:rPr>
              <a:t>MedLSAM</a:t>
            </a:r>
            <a:r>
              <a:rPr lang="en" altLang="zh-CN" sz="1900" b="0" dirty="0">
                <a:latin typeface="Arial" panose="020B0604020202020204" pitchFamily="34" charset="0"/>
                <a:cs typeface="Arial" panose="020B0604020202020204" pitchFamily="34" charset="0"/>
              </a:rPr>
              <a:t>. </a:t>
            </a:r>
          </a:p>
          <a:p>
            <a:pPr>
              <a:lnSpc>
                <a:spcPct val="120000"/>
              </a:lnSpc>
            </a:pPr>
            <a:endParaRPr kumimoji="1" lang="zh-CN" altLang="en-US" dirty="0"/>
          </a:p>
        </p:txBody>
      </p:sp>
    </p:spTree>
    <p:extLst>
      <p:ext uri="{BB962C8B-B14F-4D97-AF65-F5344CB8AC3E}">
        <p14:creationId xmlns:p14="http://schemas.microsoft.com/office/powerpoint/2010/main" val="2511526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19</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-1</a:t>
            </a:r>
            <a:r>
              <a:rPr lang="en" altLang="zh-CN" dirty="0">
                <a:effectLst/>
                <a:latin typeface="Arial" panose="020B0604020202020204" pitchFamily="34" charset="0"/>
                <a:cs typeface="Arial" panose="020B0604020202020204" pitchFamily="34" charset="0"/>
              </a:rPr>
              <a:t> </a:t>
            </a:r>
            <a:r>
              <a:rPr lang="en" altLang="zh-CN" b="0" dirty="0">
                <a:solidFill>
                  <a:srgbClr val="FF0000"/>
                </a:solidFill>
                <a:latin typeface="+mj-lt"/>
              </a:rPr>
              <a:t>foundational models </a:t>
            </a:r>
            <a:endParaRPr lang="en" altLang="zh-CN" dirty="0">
              <a:solidFill>
                <a:srgbClr val="FF0000"/>
              </a:solidFill>
              <a:effectLst/>
              <a:latin typeface="Arial" panose="020B0604020202020204" pitchFamily="34" charset="0"/>
              <a:cs typeface="Arial" panose="020B0604020202020204" pitchFamily="34" charset="0"/>
            </a:endParaRPr>
          </a:p>
          <a:p>
            <a:pPr algn="just">
              <a:lnSpc>
                <a:spcPct val="120000"/>
              </a:lnSpc>
            </a:pPr>
            <a:r>
              <a:rPr lang="en" altLang="zh-CN" sz="1800" b="0" dirty="0">
                <a:latin typeface="+mj-lt"/>
              </a:rPr>
              <a:t>Recently, there has been an increasing interest in the field of computer vision to develop large-scale foundational models that can concurrently address multiple visual tasks, such as image classification, object detection, and image segmentation. For instance, CLIP (Radford et al., 2021), aligning a vast number of images and text pairs collected from the web, could recognize new visual categories using text prompts. Similarly, GLIP (Li et al., 2022; Zhang et al., 2022), which integrates object detection with phrase grounding in pre-training using web- sourced image-text pairs, boasts strong zero-shot and few-shot transferability in object-level detection tasks. On the segmentation front, the Segment Anything Model (SAM) (Kirillov et al., 2023) has recently demonstrated remarkable capabilities in a broad range of segmentation tasks with appropriate prompts, e.g. points, bounding box (</a:t>
            </a:r>
            <a:r>
              <a:rPr lang="en" altLang="zh-CN" sz="1800" b="0" dirty="0" err="1">
                <a:latin typeface="+mj-lt"/>
              </a:rPr>
              <a:t>bbox</a:t>
            </a:r>
            <a:r>
              <a:rPr lang="en" altLang="zh-CN" sz="1800" b="0" dirty="0">
                <a:latin typeface="+mj-lt"/>
              </a:rPr>
              <a:t>) and text. </a:t>
            </a:r>
          </a:p>
          <a:p>
            <a:endParaRPr lang="en" altLang="zh-CN" sz="1800" b="0" dirty="0">
              <a:latin typeface="+mj-lt"/>
            </a:endParaRPr>
          </a:p>
          <a:p>
            <a:endParaRPr lang="en" altLang="zh-CN" sz="1800" b="0" dirty="0">
              <a:latin typeface="+mj-lt"/>
            </a:endParaRPr>
          </a:p>
          <a:p>
            <a:endParaRPr lang="en" altLang="zh-CN" sz="1600" dirty="0"/>
          </a:p>
        </p:txBody>
      </p:sp>
    </p:spTree>
    <p:extLst>
      <p:ext uri="{BB962C8B-B14F-4D97-AF65-F5344CB8AC3E}">
        <p14:creationId xmlns:p14="http://schemas.microsoft.com/office/powerpoint/2010/main" val="1451856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20</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-2</a:t>
            </a:r>
            <a:r>
              <a:rPr lang="en" altLang="zh-CN" sz="2400" dirty="0">
                <a:effectLst/>
                <a:latin typeface="Arial" panose="020B0604020202020204" pitchFamily="34" charset="0"/>
                <a:cs typeface="Arial" panose="020B0604020202020204" pitchFamily="34" charset="0"/>
              </a:rPr>
              <a:t> </a:t>
            </a:r>
            <a:r>
              <a:rPr lang="en" altLang="zh-CN" b="0" dirty="0">
                <a:solidFill>
                  <a:srgbClr val="FF0000"/>
                </a:solidFill>
                <a:latin typeface="+mj-lt"/>
              </a:rPr>
              <a:t>pre-training</a:t>
            </a:r>
            <a:r>
              <a:rPr lang="en-US" altLang="zh-CN" b="0" dirty="0">
                <a:solidFill>
                  <a:srgbClr val="FF0000"/>
                </a:solidFill>
                <a:latin typeface="+mj-lt"/>
              </a:rPr>
              <a:t>/</a:t>
            </a:r>
            <a:r>
              <a:rPr lang="en" altLang="zh-CN" b="0" dirty="0">
                <a:solidFill>
                  <a:srgbClr val="FF0000"/>
                </a:solidFill>
                <a:latin typeface="+mj-lt"/>
              </a:rPr>
              <a:t>fine-tune</a:t>
            </a:r>
            <a:r>
              <a:rPr lang="en-US" altLang="zh-CN" b="0" dirty="0">
                <a:solidFill>
                  <a:srgbClr val="FF0000"/>
                </a:solidFill>
                <a:latin typeface="+mj-lt"/>
              </a:rPr>
              <a:t> in medical</a:t>
            </a:r>
            <a:r>
              <a:rPr lang="zh-CN" altLang="en-US" b="0" dirty="0">
                <a:solidFill>
                  <a:srgbClr val="FF0000"/>
                </a:solidFill>
                <a:latin typeface="+mj-lt"/>
              </a:rPr>
              <a:t> </a:t>
            </a:r>
            <a:r>
              <a:rPr lang="en-US" altLang="zh-CN" b="0" dirty="0">
                <a:solidFill>
                  <a:srgbClr val="FF0000"/>
                </a:solidFill>
                <a:latin typeface="+mj-lt"/>
              </a:rPr>
              <a:t>domain</a:t>
            </a:r>
            <a:endParaRPr lang="en" altLang="zh-CN" b="0" dirty="0">
              <a:solidFill>
                <a:srgbClr val="FF0000"/>
              </a:solidFill>
              <a:latin typeface="+mj-lt"/>
            </a:endParaRPr>
          </a:p>
          <a:p>
            <a:pPr algn="just">
              <a:lnSpc>
                <a:spcPct val="120000"/>
              </a:lnSpc>
            </a:pPr>
            <a:r>
              <a:rPr lang="en" altLang="zh-CN" sz="1800" b="0" dirty="0">
                <a:latin typeface="+mj-lt"/>
              </a:rPr>
              <a:t>As foundational models increasingly demonstrate their prowess in general computer vision tasks, the </a:t>
            </a:r>
            <a:r>
              <a:rPr lang="en" altLang="zh-CN" sz="1800" b="0" dirty="0">
                <a:highlight>
                  <a:srgbClr val="FFFF00"/>
                </a:highlight>
                <a:latin typeface="+mj-lt"/>
              </a:rPr>
              <a:t>medical imaging domain</a:t>
            </a:r>
            <a:r>
              <a:rPr lang="en" altLang="zh-CN" sz="1800" b="0" dirty="0">
                <a:latin typeface="+mj-lt"/>
              </a:rPr>
              <a:t>, characterized by limited image availability and high annotation costs, is taking keen notice of their </a:t>
            </a:r>
            <a:r>
              <a:rPr lang="en" altLang="zh-CN" sz="1800" b="0" dirty="0">
                <a:highlight>
                  <a:srgbClr val="FFFF00"/>
                </a:highlight>
                <a:latin typeface="+mj-lt"/>
              </a:rPr>
              <a:t>potential</a:t>
            </a:r>
            <a:r>
              <a:rPr lang="en" altLang="zh-CN" sz="1800" b="0" dirty="0">
                <a:latin typeface="+mj-lt"/>
              </a:rPr>
              <a:t>. Such challenges in medical imaging underscore the pressing need for foundational models, drawing greater attention from researchers (Zhang and Metaxas, 2023). Some studies have endeavored to design self-supervised learning tasks tailored to dataset characteristics, pre-training on a vast amount of unlabeled data, and then fine-tuning on specific downstream tasks to achieve commendable results (Wang et al., 2023; Zhou et al., 2023; </a:t>
            </a:r>
            <a:r>
              <a:rPr lang="en" altLang="zh-CN" sz="1800" b="0" dirty="0" err="1">
                <a:latin typeface="+mj-lt"/>
              </a:rPr>
              <a:t>Vorontsov</a:t>
            </a:r>
            <a:r>
              <a:rPr lang="en" altLang="zh-CN" sz="1800" b="0" dirty="0">
                <a:latin typeface="+mj-lt"/>
              </a:rPr>
              <a:t> et al., 2023). In contrast, other works have focused on pre-training with large annotated datasets, either to fine-tune on new tasks (Huang et al., 2023b) or to enable direct segmentation without the necessity of further training or fine- tuning (</a:t>
            </a:r>
            <a:r>
              <a:rPr lang="en" altLang="zh-CN" sz="1800" b="0" dirty="0" err="1">
                <a:latin typeface="+mj-lt"/>
              </a:rPr>
              <a:t>Butoi</a:t>
            </a:r>
            <a:r>
              <a:rPr lang="en" altLang="zh-CN" sz="1800" b="0" dirty="0">
                <a:latin typeface="+mj-lt"/>
              </a:rPr>
              <a:t> et al., 2023). Overall, these models offer myriad advantages: they simplify the development process, reduce dependence on voluminously labeled datasets, and bolster patient data privacy. </a:t>
            </a: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endParaRPr lang="en" altLang="zh-CN" sz="1600" dirty="0"/>
          </a:p>
        </p:txBody>
      </p:sp>
    </p:spTree>
    <p:extLst>
      <p:ext uri="{BB962C8B-B14F-4D97-AF65-F5344CB8AC3E}">
        <p14:creationId xmlns:p14="http://schemas.microsoft.com/office/powerpoint/2010/main" val="4277333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21</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-3</a:t>
            </a:r>
            <a:r>
              <a:rPr lang="zh-CN" altLang="en-US" dirty="0">
                <a:effectLst/>
                <a:latin typeface="Arial" panose="020B0604020202020204" pitchFamily="34" charset="0"/>
                <a:cs typeface="Arial" panose="020B0604020202020204" pitchFamily="34" charset="0"/>
              </a:rPr>
              <a:t> </a:t>
            </a:r>
            <a:r>
              <a:rPr lang="en-US" altLang="zh-CN" b="0" dirty="0">
                <a:solidFill>
                  <a:srgbClr val="FF0000"/>
                </a:solidFill>
                <a:effectLst/>
                <a:latin typeface="Arial" panose="020B0604020202020204" pitchFamily="34" charset="0"/>
                <a:cs typeface="Arial" panose="020B0604020202020204" pitchFamily="34" charset="0"/>
              </a:rPr>
              <a:t>still need much manual annotation</a:t>
            </a:r>
            <a:endParaRPr lang="en" altLang="zh-CN" sz="2400" b="0" dirty="0">
              <a:solidFill>
                <a:srgbClr val="FF0000"/>
              </a:solidFill>
              <a:effectLst/>
              <a:latin typeface="Arial" panose="020B0604020202020204" pitchFamily="34" charset="0"/>
              <a:cs typeface="Arial" panose="020B0604020202020204" pitchFamily="34" charset="0"/>
            </a:endParaRPr>
          </a:p>
          <a:p>
            <a:pPr algn="just">
              <a:lnSpc>
                <a:spcPct val="120000"/>
              </a:lnSpc>
            </a:pPr>
            <a:r>
              <a:rPr lang="en" altLang="zh-CN" sz="1800" b="0" dirty="0">
                <a:latin typeface="+mj-lt"/>
              </a:rPr>
              <a:t>In the field of </a:t>
            </a:r>
            <a:r>
              <a:rPr lang="en" altLang="zh-CN" sz="1800" b="0" dirty="0">
                <a:highlight>
                  <a:srgbClr val="FFFF00"/>
                </a:highlight>
                <a:latin typeface="+mj-lt"/>
              </a:rPr>
              <a:t>segmentation</a:t>
            </a:r>
            <a:r>
              <a:rPr lang="en" altLang="zh-CN" sz="1800" b="0" dirty="0">
                <a:latin typeface="+mj-lt"/>
              </a:rPr>
              <a:t>, models such as SAM and its medical adaptations (Wu et al., 2023; Ma and Wang, 2023; Cheng et al., 2023; He et al., 2023b; Huang et al., 2023a; He et al., 2023a; Zhang and Liu, 2023; </a:t>
            </a:r>
            <a:r>
              <a:rPr lang="en" altLang="zh-CN" sz="1800" b="0" dirty="0" err="1">
                <a:latin typeface="+mj-lt"/>
              </a:rPr>
              <a:t>Mazurowski</a:t>
            </a:r>
            <a:r>
              <a:rPr lang="en" altLang="zh-CN" sz="1800" b="0" dirty="0">
                <a:latin typeface="+mj-lt"/>
              </a:rPr>
              <a:t> et al., 2023; Zhang and Jiao, 2023) have demonstrated significant potential. Both Huang et al. (2023a) and Cheng et al. (2023) have collected extensive medical image datasets and conducted comprehensive testing on SAM. They discovered that, while SAM exhibits remarkable performance on certain objects and modalities, it is less effective or even fails in other scenarios. This inconsistency arises from SAM’s primary training on natural images. To enhance SAM’s generalization in medical imaging, studies like Wu et al. (2023); Ma and Wang (2023) have finetuned the original SAM using a large annotated medical image dataset, thereby validating its improved performance over the base SAM model in test datasets. Despite these advancements</a:t>
            </a:r>
            <a:r>
              <a:rPr lang="en" altLang="zh-CN" sz="1800" b="0" dirty="0">
                <a:highlight>
                  <a:srgbClr val="FFFF00"/>
                </a:highlight>
                <a:latin typeface="+mj-lt"/>
              </a:rPr>
              <a:t>, the models still require manual prompts, such as labeled points or bounding boxes, which remains a substantial limitation due to the associated time and financial implications. </a:t>
            </a: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endParaRPr lang="en" altLang="zh-CN" sz="1600" dirty="0"/>
          </a:p>
        </p:txBody>
      </p:sp>
    </p:spTree>
    <p:extLst>
      <p:ext uri="{BB962C8B-B14F-4D97-AF65-F5344CB8AC3E}">
        <p14:creationId xmlns:p14="http://schemas.microsoft.com/office/powerpoint/2010/main" val="3253049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22</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-4</a:t>
            </a:r>
            <a:r>
              <a:rPr lang="zh-CN" altLang="en-US" dirty="0">
                <a:effectLst/>
                <a:latin typeface="Arial" panose="020B0604020202020204" pitchFamily="34" charset="0"/>
                <a:cs typeface="Arial" panose="020B0604020202020204" pitchFamily="34" charset="0"/>
              </a:rPr>
              <a:t> </a:t>
            </a:r>
            <a:r>
              <a:rPr lang="en-US" altLang="zh-CN" b="0" dirty="0">
                <a:solidFill>
                  <a:srgbClr val="FF0000"/>
                </a:solidFill>
                <a:effectLst/>
                <a:latin typeface="Arial" panose="020B0604020202020204" pitchFamily="34" charset="0"/>
                <a:cs typeface="Arial" panose="020B0604020202020204" pitchFamily="34" charset="0"/>
              </a:rPr>
              <a:t>propose to develop a localization model</a:t>
            </a:r>
            <a:endParaRPr lang="en" altLang="zh-CN" sz="2400" b="0" dirty="0">
              <a:solidFill>
                <a:srgbClr val="FF0000"/>
              </a:solidFill>
              <a:effectLst/>
              <a:latin typeface="Arial" panose="020B0604020202020204" pitchFamily="34" charset="0"/>
              <a:cs typeface="Arial" panose="020B0604020202020204" pitchFamily="34" charset="0"/>
            </a:endParaRPr>
          </a:p>
          <a:p>
            <a:pPr algn="just">
              <a:lnSpc>
                <a:spcPct val="120000"/>
              </a:lnSpc>
            </a:pPr>
            <a:r>
              <a:rPr lang="en" altLang="zh-CN" sz="1800" b="0" dirty="0">
                <a:latin typeface="+mj-lt"/>
              </a:rPr>
              <a:t>In scenarios requiring manual annotation prompts, </a:t>
            </a:r>
            <a:r>
              <a:rPr lang="en" altLang="zh-CN" sz="1800" b="0" dirty="0">
                <a:highlight>
                  <a:srgbClr val="FFFF00"/>
                </a:highlight>
                <a:latin typeface="+mj-lt"/>
              </a:rPr>
              <a:t>annotating 3D images proves especially time-consuming and labor-intensive</a:t>
            </a:r>
            <a:r>
              <a:rPr lang="en" altLang="zh-CN" sz="1800" b="0" dirty="0">
                <a:latin typeface="+mj-lt"/>
              </a:rPr>
              <a:t>. A single 3D scan often contains dozens or even hundreds of slices. When each slice comprises multiple tar- get structures, the annotation requirements for the entire 3D scan grow exponentially(Wang et al., 2018; Lei et al., 2019). To eliminate this vast annotation demand and facilitate the use of SAM and its medical variants on 3D data, an effective approach would be to automatically generate suitable prompts for the data awaiting annotation. While this could be achieved by training a detector specifically for the categories to be annotated, it introduces the additional burden of annotating data for detector training, and the detectable categories remain fixed (Baumgartner et al., 2021</a:t>
            </a:r>
            <a:r>
              <a:rPr lang="en" altLang="zh-CN" sz="1800" b="0" dirty="0">
                <a:highlight>
                  <a:srgbClr val="FFFF00"/>
                </a:highlight>
                <a:latin typeface="+mj-lt"/>
              </a:rPr>
              <a:t>). A more optimal solution would be to develop a universal localization model for 3D medical images</a:t>
            </a:r>
            <a:r>
              <a:rPr lang="en" altLang="zh-CN" sz="1800" b="0" dirty="0">
                <a:latin typeface="+mj-lt"/>
              </a:rPr>
              <a:t>. This model would only require users to provide minimal annotations to specify the category of interest, allowing for direct localization of the desired target in any dataset without further training. </a:t>
            </a:r>
          </a:p>
          <a:p>
            <a:pPr algn="just">
              <a:lnSpc>
                <a:spcPct val="120000"/>
              </a:lnSpc>
            </a:pPr>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endParaRPr lang="en" altLang="zh-CN" sz="1600" dirty="0"/>
          </a:p>
        </p:txBody>
      </p:sp>
    </p:spTree>
    <p:extLst>
      <p:ext uri="{BB962C8B-B14F-4D97-AF65-F5344CB8AC3E}">
        <p14:creationId xmlns:p14="http://schemas.microsoft.com/office/powerpoint/2010/main" val="147496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23</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-5</a:t>
            </a:r>
            <a:r>
              <a:rPr lang="zh-CN" altLang="en-US" dirty="0">
                <a:effectLst/>
                <a:latin typeface="Arial" panose="020B0604020202020204" pitchFamily="34" charset="0"/>
                <a:cs typeface="Arial" panose="020B0604020202020204" pitchFamily="34" charset="0"/>
              </a:rPr>
              <a:t> </a:t>
            </a:r>
            <a:r>
              <a:rPr lang="en-US" altLang="zh-CN" b="0" dirty="0">
                <a:solidFill>
                  <a:srgbClr val="FF0000"/>
                </a:solidFill>
                <a:effectLst/>
                <a:latin typeface="Arial" panose="020B0604020202020204" pitchFamily="34" charset="0"/>
                <a:cs typeface="Arial" panose="020B0604020202020204" pitchFamily="34" charset="0"/>
              </a:rPr>
              <a:t>limitation</a:t>
            </a:r>
            <a:endParaRPr lang="en" altLang="zh-CN" sz="2400" b="0" dirty="0">
              <a:solidFill>
                <a:srgbClr val="FF0000"/>
              </a:solidFill>
              <a:effectLst/>
              <a:latin typeface="Arial" panose="020B0604020202020204" pitchFamily="34" charset="0"/>
              <a:cs typeface="Arial" panose="020B0604020202020204" pitchFamily="34" charset="0"/>
            </a:endParaRPr>
          </a:p>
          <a:p>
            <a:pPr algn="just">
              <a:lnSpc>
                <a:spcPct val="120000"/>
              </a:lnSpc>
            </a:pPr>
            <a:r>
              <a:rPr lang="en" altLang="zh-CN" sz="1800" b="0" dirty="0">
                <a:latin typeface="+mj-lt"/>
              </a:rPr>
              <a:t>However, to the best of our knowledge, foundational models specifically tailored for 3D medical image localization are still limited. In the domain of 2D medical image localization, MIUVL (Qin et al., 2022) stands out as a pioneering effort. This approach ingeniously marries pre-trained vision-language models with medical text prompts to facilitate object detection in medical imaging. However, the application of these pre-trained models to specialized medical imaging domains, particularly 3D modalities like CT scans, remains challenging. </a:t>
            </a:r>
            <a:r>
              <a:rPr lang="en" altLang="zh-CN" sz="1800" b="0" dirty="0">
                <a:highlight>
                  <a:srgbClr val="FFFF00"/>
                </a:highlight>
                <a:latin typeface="+mj-lt"/>
              </a:rPr>
              <a:t>This limitation is attributable to a significant domain gap, as these models were originally trained on 2D natural images. </a:t>
            </a: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endParaRPr lang="en" altLang="zh-CN" sz="1600" dirty="0"/>
          </a:p>
        </p:txBody>
      </p:sp>
    </p:spTree>
    <p:extLst>
      <p:ext uri="{BB962C8B-B14F-4D97-AF65-F5344CB8AC3E}">
        <p14:creationId xmlns:p14="http://schemas.microsoft.com/office/powerpoint/2010/main" val="1962464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-6</a:t>
            </a:r>
            <a:r>
              <a:rPr lang="zh-CN" altLang="en-US" dirty="0">
                <a:effectLst/>
                <a:latin typeface="Arial" panose="020B0604020202020204" pitchFamily="34" charset="0"/>
                <a:cs typeface="Arial" panose="020B0604020202020204" pitchFamily="34" charset="0"/>
              </a:rPr>
              <a:t> </a:t>
            </a:r>
            <a:r>
              <a:rPr lang="en-US" altLang="zh-CN" b="0" dirty="0">
                <a:solidFill>
                  <a:srgbClr val="FF0000"/>
                </a:solidFill>
                <a:effectLst/>
                <a:latin typeface="Arial" panose="020B0604020202020204" pitchFamily="34" charset="0"/>
                <a:cs typeface="Arial" panose="020B0604020202020204" pitchFamily="34" charset="0"/>
              </a:rPr>
              <a:t>solution overall</a:t>
            </a:r>
            <a:endParaRPr lang="en" altLang="zh-CN" sz="2400" b="0" dirty="0">
              <a:solidFill>
                <a:srgbClr val="FF0000"/>
              </a:solidFill>
              <a:effectLst/>
              <a:latin typeface="Arial" panose="020B0604020202020204" pitchFamily="34" charset="0"/>
              <a:cs typeface="Arial" panose="020B0604020202020204" pitchFamily="34" charset="0"/>
            </a:endParaRPr>
          </a:p>
          <a:p>
            <a:pPr algn="just">
              <a:lnSpc>
                <a:spcPct val="120000"/>
              </a:lnSpc>
            </a:pPr>
            <a:r>
              <a:rPr lang="en" altLang="zh-CN" sz="1800" b="0" dirty="0">
                <a:latin typeface="+mj-lt"/>
              </a:rPr>
              <a:t>In response to the lack of localization foundation models for 3D medical images and the persistent need for extensive interaction in SAM, we introduce </a:t>
            </a:r>
            <a:r>
              <a:rPr lang="en" altLang="zh-CN" sz="1800" b="0" dirty="0" err="1">
                <a:latin typeface="+mj-lt"/>
              </a:rPr>
              <a:t>MedLSAM</a:t>
            </a:r>
            <a:r>
              <a:rPr lang="en" altLang="zh-CN" sz="1800" b="0" dirty="0">
                <a:latin typeface="+mj-lt"/>
              </a:rPr>
              <a:t> in this paper. </a:t>
            </a:r>
            <a:r>
              <a:rPr lang="en" altLang="zh-CN" sz="1800" b="0" dirty="0" err="1">
                <a:latin typeface="+mj-lt"/>
              </a:rPr>
              <a:t>MedLSAM</a:t>
            </a:r>
            <a:r>
              <a:rPr lang="en" altLang="zh-CN" sz="1800" b="0" dirty="0">
                <a:latin typeface="+mj-lt"/>
              </a:rPr>
              <a:t> is an automated medical image segmentation solution that combines the Localize Anything Model for 3D Medical Image (</a:t>
            </a:r>
            <a:r>
              <a:rPr lang="en" altLang="zh-CN" sz="1800" b="0" dirty="0" err="1">
                <a:latin typeface="+mj-lt"/>
              </a:rPr>
              <a:t>MedLAM</a:t>
            </a:r>
            <a:r>
              <a:rPr lang="en" altLang="zh-CN" sz="1800" b="0" dirty="0">
                <a:latin typeface="+mj-lt"/>
              </a:rPr>
              <a:t>), a dedicated 3D localization foundation module designed for localizing any anatomical structure using a few prompts, with existing segmentation foundation models. As illustrated in Fig. 1, </a:t>
            </a:r>
            <a:r>
              <a:rPr lang="en" altLang="zh-CN" sz="1800" b="0" dirty="0" err="1">
                <a:latin typeface="+mj-lt"/>
              </a:rPr>
              <a:t>MedLSAM</a:t>
            </a:r>
            <a:r>
              <a:rPr lang="en" altLang="zh-CN" sz="1800" b="0" dirty="0">
                <a:latin typeface="+mj-lt"/>
              </a:rPr>
              <a:t> employs a two-stage methodology. The first stage involves </a:t>
            </a:r>
            <a:r>
              <a:rPr lang="en" altLang="zh-CN" sz="1800" b="0" dirty="0" err="1">
                <a:latin typeface="+mj-lt"/>
              </a:rPr>
              <a:t>MedLAM</a:t>
            </a:r>
            <a:r>
              <a:rPr lang="en" altLang="zh-CN" sz="1800" b="0" dirty="0">
                <a:latin typeface="+mj-lt"/>
              </a:rPr>
              <a:t> to automatically identify the positions of target structures within volumetric medical images. In the subsequent stage, the SAM model uses the </a:t>
            </a:r>
            <a:r>
              <a:rPr lang="en" altLang="zh-CN" sz="1800" b="0" dirty="0" err="1">
                <a:latin typeface="+mj-lt"/>
              </a:rPr>
              <a:t>bboxes</a:t>
            </a:r>
            <a:r>
              <a:rPr lang="en" altLang="zh-CN" sz="1800" b="0" dirty="0">
                <a:latin typeface="+mj-lt"/>
              </a:rPr>
              <a:t> from the first stage to achieve precise image segmentation. The result is a fully autonomous pipeline that eliminates the need for manual intervention. </a:t>
            </a:r>
          </a:p>
          <a:p>
            <a:pPr algn="just">
              <a:lnSpc>
                <a:spcPct val="120000"/>
              </a:lnSpc>
            </a:pPr>
            <a:endParaRPr lang="en" altLang="zh-CN" sz="1800" b="0" dirty="0">
              <a:latin typeface="+mj-lt"/>
            </a:endParaRPr>
          </a:p>
          <a:p>
            <a:pPr algn="just">
              <a:lnSpc>
                <a:spcPct val="120000"/>
              </a:lnSpc>
            </a:pPr>
            <a:endParaRPr lang="en" altLang="zh-CN" sz="1800" b="0" dirty="0">
              <a:highlight>
                <a:srgbClr val="FFFF00"/>
              </a:highlight>
              <a:latin typeface="+mj-lt"/>
            </a:endParaRP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endParaRPr lang="en" altLang="zh-CN" sz="1600" dirty="0"/>
          </a:p>
        </p:txBody>
      </p:sp>
    </p:spTree>
    <p:extLst>
      <p:ext uri="{BB962C8B-B14F-4D97-AF65-F5344CB8AC3E}">
        <p14:creationId xmlns:p14="http://schemas.microsoft.com/office/powerpoint/2010/main" val="1799482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25</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-7</a:t>
            </a:r>
            <a:r>
              <a:rPr lang="zh-CN" altLang="en-US" dirty="0">
                <a:effectLst/>
                <a:latin typeface="Arial" panose="020B0604020202020204" pitchFamily="34" charset="0"/>
                <a:cs typeface="Arial" panose="020B0604020202020204" pitchFamily="34" charset="0"/>
              </a:rPr>
              <a:t> </a:t>
            </a:r>
            <a:r>
              <a:rPr lang="en-US" altLang="zh-CN" b="0" dirty="0">
                <a:solidFill>
                  <a:srgbClr val="FF0000"/>
                </a:solidFill>
                <a:effectLst/>
                <a:latin typeface="Arial" panose="020B0604020202020204" pitchFamily="34" charset="0"/>
                <a:cs typeface="Arial" panose="020B0604020202020204" pitchFamily="34" charset="0"/>
              </a:rPr>
              <a:t>solution for localize</a:t>
            </a:r>
            <a:endParaRPr lang="en" altLang="zh-CN" sz="2400" b="0" dirty="0">
              <a:solidFill>
                <a:srgbClr val="FF0000"/>
              </a:solidFill>
              <a:effectLst/>
              <a:latin typeface="Arial" panose="020B0604020202020204" pitchFamily="34" charset="0"/>
              <a:cs typeface="Arial" panose="020B0604020202020204" pitchFamily="34" charset="0"/>
            </a:endParaRPr>
          </a:p>
          <a:p>
            <a:pPr algn="just">
              <a:lnSpc>
                <a:spcPct val="120000"/>
              </a:lnSpc>
            </a:pPr>
            <a:r>
              <a:rPr lang="en" altLang="zh-CN" sz="1800" b="0" dirty="0">
                <a:latin typeface="+mj-lt"/>
              </a:rPr>
              <a:t>The localization foundation model, </a:t>
            </a:r>
            <a:r>
              <a:rPr lang="en" altLang="zh-CN" sz="1800" b="0" dirty="0" err="1">
                <a:latin typeface="+mj-lt"/>
              </a:rPr>
              <a:t>MedLAM</a:t>
            </a:r>
            <a:r>
              <a:rPr lang="en" altLang="zh-CN" sz="1800" b="0" dirty="0">
                <a:latin typeface="+mj-lt"/>
              </a:rPr>
              <a:t>, is an extension of our conference version (Lei et al., 2021) and is premised on the observation that the spatial distribution of organs maintains strong similarities across different individuals. And we assume that there exists a standard anatomical coordinate system, in which the same anatomy part in different people shares similar coordinates. Therefore, we can localize the targeted anatomy structure with a similar coordinate in the unannotated scan. In our previous version, the model was trained separately for different anatomical structures, each using only a few dozen scan images. In contrast, this current study significantly expands the dataset to include 14,012 CT scans from 16 different datasets. This allows us to train a unified, comprehensive model capable of localizing any structure across the entire body. The training process involves a projection network that predicts the 3D physical offsets between any two patches within the same image, thereby mapping every part of the scans onto a shared 3D latent coordinate system. </a:t>
            </a: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pPr algn="just">
              <a:lnSpc>
                <a:spcPct val="120000"/>
              </a:lnSpc>
            </a:pPr>
            <a:endParaRPr lang="en" altLang="zh-CN" sz="1800" b="0" dirty="0">
              <a:highlight>
                <a:srgbClr val="FFFF00"/>
              </a:highlight>
              <a:latin typeface="+mj-lt"/>
            </a:endParaRP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endParaRPr lang="en" altLang="zh-CN" sz="1600" dirty="0"/>
          </a:p>
        </p:txBody>
      </p:sp>
    </p:spTree>
    <p:extLst>
      <p:ext uri="{BB962C8B-B14F-4D97-AF65-F5344CB8AC3E}">
        <p14:creationId xmlns:p14="http://schemas.microsoft.com/office/powerpoint/2010/main" val="2094578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-8</a:t>
            </a:r>
            <a:r>
              <a:rPr lang="zh-CN" altLang="en-US" dirty="0">
                <a:effectLst/>
                <a:latin typeface="Arial" panose="020B0604020202020204" pitchFamily="34" charset="0"/>
                <a:cs typeface="Arial" panose="020B0604020202020204" pitchFamily="34" charset="0"/>
              </a:rPr>
              <a:t> </a:t>
            </a:r>
            <a:r>
              <a:rPr lang="en-US" altLang="zh-CN" b="0" dirty="0">
                <a:solidFill>
                  <a:srgbClr val="FF0000"/>
                </a:solidFill>
                <a:effectLst/>
                <a:latin typeface="Arial" panose="020B0604020202020204" pitchFamily="34" charset="0"/>
                <a:cs typeface="Arial" panose="020B0604020202020204" pitchFamily="34" charset="0"/>
              </a:rPr>
              <a:t>solution for segment</a:t>
            </a:r>
            <a:endParaRPr lang="en" altLang="zh-CN" sz="2400" b="0" dirty="0">
              <a:solidFill>
                <a:srgbClr val="FF0000"/>
              </a:solidFill>
              <a:effectLst/>
              <a:latin typeface="Arial" panose="020B0604020202020204" pitchFamily="34" charset="0"/>
              <a:cs typeface="Arial" panose="020B0604020202020204" pitchFamily="34" charset="0"/>
            </a:endParaRPr>
          </a:p>
          <a:p>
            <a:pPr algn="just">
              <a:lnSpc>
                <a:spcPct val="120000"/>
              </a:lnSpc>
            </a:pPr>
            <a:r>
              <a:rPr lang="en" altLang="zh-CN" sz="1800" b="0" dirty="0">
                <a:latin typeface="+mj-lt"/>
              </a:rPr>
              <a:t>For the segmentation stage, we employ the original SAM and the well-established </a:t>
            </a:r>
            <a:r>
              <a:rPr lang="en" altLang="zh-CN" sz="1800" b="0" dirty="0" err="1">
                <a:latin typeface="+mj-lt"/>
              </a:rPr>
              <a:t>MedSAM</a:t>
            </a:r>
            <a:r>
              <a:rPr lang="en" altLang="zh-CN" sz="1800" b="0" dirty="0">
                <a:latin typeface="+mj-lt"/>
              </a:rPr>
              <a:t> (Ma and Wang, 2023) as the foundation for our segmentation process. </a:t>
            </a:r>
            <a:r>
              <a:rPr lang="en" altLang="zh-CN" sz="1800" b="0" dirty="0" err="1">
                <a:latin typeface="+mj-lt"/>
              </a:rPr>
              <a:t>MedSAM</a:t>
            </a:r>
            <a:r>
              <a:rPr lang="en" altLang="zh-CN" sz="1800" b="0" dirty="0">
                <a:latin typeface="+mj-lt"/>
              </a:rPr>
              <a:t>, previously fine-tuned on a comprehensive collection of medical image datasets, has exhibited considerable performance in 2D and 3D medical image segmentation tasks. The use of such a robust model bolsters the reliability and effectiveness of our proposed pipeline. </a:t>
            </a: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pPr algn="just">
              <a:lnSpc>
                <a:spcPct val="120000"/>
              </a:lnSpc>
            </a:pPr>
            <a:endParaRPr lang="en" altLang="zh-CN" sz="1800" b="0" dirty="0">
              <a:highlight>
                <a:srgbClr val="FFFF00"/>
              </a:highlight>
              <a:latin typeface="+mj-lt"/>
            </a:endParaRPr>
          </a:p>
          <a:p>
            <a:pPr algn="just">
              <a:lnSpc>
                <a:spcPct val="120000"/>
              </a:lnSpc>
            </a:pPr>
            <a:endParaRPr lang="en" altLang="zh-CN" sz="1800" b="0" dirty="0">
              <a:latin typeface="+mj-lt"/>
            </a:endParaRPr>
          </a:p>
          <a:p>
            <a:pPr algn="just">
              <a:lnSpc>
                <a:spcPct val="120000"/>
              </a:lnSpc>
            </a:pPr>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endParaRPr lang="en" altLang="zh-CN" sz="1600" dirty="0"/>
          </a:p>
        </p:txBody>
      </p:sp>
    </p:spTree>
    <p:extLst>
      <p:ext uri="{BB962C8B-B14F-4D97-AF65-F5344CB8AC3E}">
        <p14:creationId xmlns:p14="http://schemas.microsoft.com/office/powerpoint/2010/main" val="4045275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0018E4-AA4C-6D5F-F019-C23B5D68838B}"/>
              </a:ext>
            </a:extLst>
          </p:cNvPr>
          <p:cNvSpPr>
            <a:spLocks noGrp="1"/>
          </p:cNvSpPr>
          <p:nvPr>
            <p:ph type="sldNum" sz="quarter" idx="4"/>
          </p:nvPr>
        </p:nvSpPr>
        <p:spPr/>
        <p:txBody>
          <a:bodyPr/>
          <a:lstStyle/>
          <a:p>
            <a:r>
              <a:rPr lang="en-US" altLang="zh-CN"/>
              <a:t>&lt; </a:t>
            </a:r>
            <a:fld id="{A548B57D-AE10-4CF7-A9DF-59FEFA91B28E}" type="slidenum">
              <a:rPr lang="zh-CN" altLang="en-US" smtClean="0"/>
              <a:pPr/>
              <a:t>27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F6B029BF-C106-961E-DEAB-0AAFD52C3F3A}"/>
              </a:ext>
            </a:extLst>
          </p:cNvPr>
          <p:cNvSpPr>
            <a:spLocks noGrp="1"/>
          </p:cNvSpPr>
          <p:nvPr>
            <p:ph type="title"/>
          </p:nvPr>
        </p:nvSpPr>
        <p:spPr/>
        <p:txBody>
          <a:bodyPr/>
          <a:lstStyle/>
          <a:p>
            <a:r>
              <a:rPr kumimoji="1" lang="en-US" altLang="zh-CN" dirty="0"/>
              <a:t>Writing</a:t>
            </a:r>
            <a:endParaRPr kumimoji="1" lang="zh-CN" altLang="en-US" dirty="0"/>
          </a:p>
        </p:txBody>
      </p:sp>
      <p:sp>
        <p:nvSpPr>
          <p:cNvPr id="4" name="文本占位符 3">
            <a:extLst>
              <a:ext uri="{FF2B5EF4-FFF2-40B4-BE49-F238E27FC236}">
                <a16:creationId xmlns:a16="http://schemas.microsoft.com/office/drawing/2014/main" id="{7972F751-7A9D-77B1-AA06-7AEB56DD5260}"/>
              </a:ext>
            </a:extLst>
          </p:cNvPr>
          <p:cNvSpPr>
            <a:spLocks noGrp="1"/>
          </p:cNvSpPr>
          <p:nvPr>
            <p:ph type="body" sz="quarter" idx="10"/>
          </p:nvPr>
        </p:nvSpPr>
        <p:spPr>
          <a:xfrm>
            <a:off x="442913" y="861088"/>
            <a:ext cx="11052401" cy="5456202"/>
          </a:xfrm>
        </p:spPr>
        <p:txBody>
          <a:bodyPr anchor="t">
            <a:normAutofit/>
          </a:bodyPr>
          <a:lstStyle/>
          <a:p>
            <a:pPr algn="just">
              <a:lnSpc>
                <a:spcPct val="120000"/>
              </a:lnSpc>
            </a:pPr>
            <a:r>
              <a:rPr lang="en" altLang="zh-CN" dirty="0">
                <a:effectLst/>
                <a:latin typeface="Arial" panose="020B0604020202020204" pitchFamily="34" charset="0"/>
                <a:cs typeface="Arial" panose="020B0604020202020204" pitchFamily="34" charset="0"/>
              </a:rPr>
              <a:t>Introduction</a:t>
            </a:r>
            <a:r>
              <a:rPr lang="en-US" altLang="zh-CN" dirty="0">
                <a:effectLst/>
                <a:latin typeface="Arial" panose="020B0604020202020204" pitchFamily="34" charset="0"/>
                <a:cs typeface="Arial" panose="020B0604020202020204" pitchFamily="34" charset="0"/>
              </a:rPr>
              <a:t>-9</a:t>
            </a:r>
            <a:r>
              <a:rPr lang="zh-CN" altLang="en-US" dirty="0">
                <a:effectLst/>
                <a:latin typeface="Arial" panose="020B0604020202020204" pitchFamily="34" charset="0"/>
                <a:cs typeface="Arial" panose="020B0604020202020204" pitchFamily="34" charset="0"/>
              </a:rPr>
              <a:t> </a:t>
            </a:r>
            <a:r>
              <a:rPr lang="en-US" altLang="zh-CN" b="0" dirty="0">
                <a:solidFill>
                  <a:srgbClr val="FF0000"/>
                </a:solidFill>
                <a:effectLst/>
                <a:latin typeface="Arial" panose="020B0604020202020204" pitchFamily="34" charset="0"/>
                <a:cs typeface="Arial" panose="020B0604020202020204" pitchFamily="34" charset="0"/>
              </a:rPr>
              <a:t>contribution</a:t>
            </a:r>
            <a:endParaRPr lang="en" altLang="zh-CN" sz="2400" b="0" dirty="0">
              <a:solidFill>
                <a:srgbClr val="FF0000"/>
              </a:solidFill>
              <a:effectLst/>
              <a:latin typeface="Arial" panose="020B0604020202020204" pitchFamily="34" charset="0"/>
              <a:cs typeface="Arial" panose="020B0604020202020204" pitchFamily="34" charset="0"/>
            </a:endParaRPr>
          </a:p>
          <a:p>
            <a:pPr algn="just"/>
            <a:r>
              <a:rPr lang="en" altLang="zh-CN" sz="1800" b="0" dirty="0">
                <a:latin typeface="+mj-lt"/>
              </a:rPr>
              <a:t>Our contributions can be summarized as follows: </a:t>
            </a:r>
          </a:p>
          <a:p>
            <a:pPr algn="just"/>
            <a:r>
              <a:rPr lang="en" altLang="zh-CN" sz="1800" b="0" dirty="0">
                <a:latin typeface="+mj-lt"/>
              </a:rPr>
              <a:t>- We introduce </a:t>
            </a:r>
            <a:r>
              <a:rPr lang="en" altLang="zh-CN" sz="1800" b="0" dirty="0" err="1">
                <a:latin typeface="+mj-lt"/>
              </a:rPr>
              <a:t>MedLSAM</a:t>
            </a:r>
            <a:r>
              <a:rPr lang="en" altLang="zh-CN" sz="1800" b="0" dirty="0">
                <a:latin typeface="+mj-lt"/>
              </a:rPr>
              <a:t>, the first completely automated medical adaptation of the SAM model. It not only eliminates the need for manual intervention but also propels the develop- </a:t>
            </a:r>
            <a:r>
              <a:rPr lang="en" altLang="zh-CN" sz="1800" b="0" dirty="0" err="1">
                <a:latin typeface="+mj-lt"/>
              </a:rPr>
              <a:t>ment</a:t>
            </a:r>
            <a:r>
              <a:rPr lang="en" altLang="zh-CN" sz="1800" b="0" dirty="0">
                <a:latin typeface="+mj-lt"/>
              </a:rPr>
              <a:t> of fully automated foundational segmentation models in medical image analysis. To the best of our knowledge, this is the first work to achieve complete automation in medical image segmentation by integrating the SAM model; </a:t>
            </a:r>
          </a:p>
          <a:p>
            <a:pPr algn="just"/>
            <a:r>
              <a:rPr lang="en" altLang="zh-CN" sz="1800" b="0" dirty="0">
                <a:latin typeface="+mj-lt"/>
              </a:rPr>
              <a:t>- Addressing the gap in localization foundation models for 3D medical imaging, we present </a:t>
            </a:r>
            <a:r>
              <a:rPr lang="en" altLang="zh-CN" sz="1800" b="0" dirty="0" err="1">
                <a:latin typeface="+mj-lt"/>
              </a:rPr>
              <a:t>MedLAM</a:t>
            </a:r>
            <a:r>
              <a:rPr lang="en" altLang="zh-CN" sz="1800" b="0" dirty="0">
                <a:latin typeface="+mj-lt"/>
              </a:rPr>
              <a:t>. This model, an extension of our prior conference work (Lei et al., 2021), in- corporates pixel-level self-supervised tasks and is trained on a comprehensive dataset of 14,012 CT scans covering the entire body. As a result, it’s capable of directly localizing any anatomical structure within the human body and surpassing the fully- supervised model by a significant margin; </a:t>
            </a:r>
          </a:p>
          <a:p>
            <a:pPr algn="just"/>
            <a:r>
              <a:rPr lang="en" altLang="zh-CN" sz="1800" b="0" dirty="0">
                <a:latin typeface="+mj-lt"/>
              </a:rPr>
              <a:t>- We validate the effectiveness of </a:t>
            </a:r>
            <a:r>
              <a:rPr lang="en" altLang="zh-CN" sz="1800" b="0" dirty="0" err="1">
                <a:latin typeface="+mj-lt"/>
              </a:rPr>
              <a:t>MedLSAM</a:t>
            </a:r>
            <a:r>
              <a:rPr lang="en" altLang="zh-CN" sz="1800" b="0" dirty="0">
                <a:latin typeface="+mj-lt"/>
              </a:rPr>
              <a:t> on two 3D datasets that span 38 organs. As showcased in Table 2, our localization foundation model, </a:t>
            </a:r>
            <a:r>
              <a:rPr lang="en" altLang="zh-CN" sz="1800" b="0" dirty="0" err="1">
                <a:latin typeface="+mj-lt"/>
              </a:rPr>
              <a:t>MedLAM</a:t>
            </a:r>
            <a:r>
              <a:rPr lang="en" altLang="zh-CN" sz="1800" b="0" dirty="0">
                <a:latin typeface="+mj-lt"/>
              </a:rPr>
              <a:t>, exhibits localization accuracy that not only significantly outperforms existing medical localization foundational models but also rivals the performance of fully-supervised models. Concurrently, as demonstrated in Table 4, </a:t>
            </a:r>
            <a:r>
              <a:rPr lang="en" altLang="zh-CN" sz="1800" b="0" dirty="0" err="1">
                <a:latin typeface="+mj-lt"/>
              </a:rPr>
              <a:t>MedLSAM</a:t>
            </a:r>
            <a:r>
              <a:rPr lang="en" altLang="zh-CN" sz="1800" b="0" dirty="0">
                <a:latin typeface="+mj-lt"/>
              </a:rPr>
              <a:t> aligns with the performance of SAM and its medical adaptations, substantially reducing the reliance on manual annotations. To further the research in foundational models for medical imaging, we have made all our models and codes publicly available. </a:t>
            </a: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800" b="0" dirty="0">
              <a:latin typeface="+mj-lt"/>
            </a:endParaRPr>
          </a:p>
          <a:p>
            <a:pPr algn="just"/>
            <a:endParaRPr lang="en" altLang="zh-CN" sz="1600" dirty="0"/>
          </a:p>
        </p:txBody>
      </p:sp>
    </p:spTree>
    <p:extLst>
      <p:ext uri="{BB962C8B-B14F-4D97-AF65-F5344CB8AC3E}">
        <p14:creationId xmlns:p14="http://schemas.microsoft.com/office/powerpoint/2010/main" val="2265438709"/>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39161</TotalTime>
  <Words>2136</Words>
  <Application>Microsoft Macintosh PowerPoint</Application>
  <PresentationFormat>宽屏</PresentationFormat>
  <Paragraphs>150</Paragraphs>
  <Slides>27</Slides>
  <Notes>2</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27</vt:i4>
      </vt:variant>
    </vt:vector>
  </HeadingPairs>
  <TitlesOfParts>
    <vt:vector size="36" baseType="lpstr">
      <vt:lpstr>等线</vt:lpstr>
      <vt:lpstr>微软雅黑</vt:lpstr>
      <vt:lpstr>CMMIB10</vt:lpstr>
      <vt:lpstr>CMMIB7</vt:lpstr>
      <vt:lpstr>SFRM1000</vt:lpstr>
      <vt:lpstr>Arial</vt:lpstr>
      <vt:lpstr>Times New Roman</vt:lpstr>
      <vt:lpstr>自定义设计方案</vt:lpstr>
      <vt:lpstr>1_自定义设计方案</vt:lpstr>
      <vt:lpstr>PowerPoint 演示文稿</vt:lpstr>
      <vt:lpstr>PowerPoint 演示文稿</vt:lpstr>
      <vt:lpstr>3D Medical Image Datasets</vt:lpstr>
      <vt:lpstr>MedLSAM </vt:lpstr>
      <vt:lpstr>Pipeline </vt:lpstr>
      <vt:lpstr>MedLAM</vt:lpstr>
      <vt:lpstr>Unified Anatomical Mapping (UAM) </vt:lpstr>
      <vt:lpstr>Multi Scale Similarity (MSS) </vt:lpstr>
      <vt:lpstr>Inference of MedLSAM</vt:lpstr>
      <vt:lpstr>Datasets</vt:lpstr>
      <vt:lpstr>Results</vt:lpstr>
      <vt:lpstr>Results</vt:lpstr>
      <vt:lpstr>Results</vt:lpstr>
      <vt:lpstr>Results</vt:lpstr>
      <vt:lpstr>Results</vt:lpstr>
      <vt:lpstr>PowerPoint 演示文稿</vt:lpstr>
      <vt:lpstr>Discussion</vt:lpstr>
      <vt:lpstr>Writing</vt:lpstr>
      <vt:lpstr>Writing</vt:lpstr>
      <vt:lpstr>Writing</vt:lpstr>
      <vt:lpstr>Writing</vt:lpstr>
      <vt:lpstr>Writing</vt:lpstr>
      <vt:lpstr>Writing</vt:lpstr>
      <vt:lpstr>Writing</vt:lpstr>
      <vt:lpstr>Writing</vt:lpstr>
      <vt:lpstr>Writing</vt:lpstr>
      <vt:lpstr>Writing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田 振宇</dc:creator>
  <cp:lastModifiedBy>shi Ruohua</cp:lastModifiedBy>
  <cp:revision>1393</cp:revision>
  <dcterms:created xsi:type="dcterms:W3CDTF">2018-12-09T14:29:24Z</dcterms:created>
  <dcterms:modified xsi:type="dcterms:W3CDTF">2024-01-05T06:44:24Z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