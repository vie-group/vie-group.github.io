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3" r:id="rId3"/>
    <p:sldId id="265" r:id="rId4"/>
    <p:sldId id="264" r:id="rId5"/>
    <p:sldId id="266" r:id="rId6"/>
    <p:sldId id="274" r:id="rId7"/>
    <p:sldId id="275" r:id="rId8"/>
    <p:sldId id="277" r:id="rId9"/>
    <p:sldId id="278" r:id="rId10"/>
    <p:sldId id="279" r:id="rId11"/>
    <p:sldId id="282" r:id="rId12"/>
    <p:sldId id="283" r:id="rId13"/>
    <p:sldId id="281" r:id="rId14"/>
    <p:sldId id="276" r:id="rId15"/>
    <p:sldId id="257" r:id="rId16"/>
    <p:sldId id="259" r:id="rId17"/>
    <p:sldId id="260" r:id="rId18"/>
    <p:sldId id="258" r:id="rId19"/>
    <p:sldId id="261" r:id="rId20"/>
    <p:sldId id="268" r:id="rId21"/>
    <p:sldId id="269" r:id="rId22"/>
    <p:sldId id="270" r:id="rId23"/>
    <p:sldId id="271" r:id="rId24"/>
    <p:sldId id="273" r:id="rId25"/>
    <p:sldId id="272" r:id="rId26"/>
    <p:sldId id="267"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1208" autoAdjust="0"/>
  </p:normalViewPr>
  <p:slideViewPr>
    <p:cSldViewPr snapToGrid="0">
      <p:cViewPr varScale="1">
        <p:scale>
          <a:sx n="70" d="100"/>
          <a:sy n="70" d="100"/>
        </p:scale>
        <p:origin x="500"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eqing Yu" userId="bfd16ca31045e1f0" providerId="LiveId" clId="{3394F61D-40D7-43F8-9949-35EEE270298C}"/>
    <pc:docChg chg="undo custSel addSld delSld modSld sldOrd">
      <pc:chgData name="Xueqing Yu" userId="bfd16ca31045e1f0" providerId="LiveId" clId="{3394F61D-40D7-43F8-9949-35EEE270298C}" dt="2023-12-08T07:27:00.504" v="8116" actId="20577"/>
      <pc:docMkLst>
        <pc:docMk/>
      </pc:docMkLst>
      <pc:sldChg chg="addSp delSp modSp mod">
        <pc:chgData name="Xueqing Yu" userId="bfd16ca31045e1f0" providerId="LiveId" clId="{3394F61D-40D7-43F8-9949-35EEE270298C}" dt="2023-12-06T07:37:45.242" v="3157" actId="1076"/>
        <pc:sldMkLst>
          <pc:docMk/>
          <pc:sldMk cId="263857187" sldId="256"/>
        </pc:sldMkLst>
        <pc:spChg chg="del">
          <ac:chgData name="Xueqing Yu" userId="bfd16ca31045e1f0" providerId="LiveId" clId="{3394F61D-40D7-43F8-9949-35EEE270298C}" dt="2023-12-04T11:50:26.275" v="14" actId="478"/>
          <ac:spMkLst>
            <pc:docMk/>
            <pc:sldMk cId="263857187" sldId="256"/>
            <ac:spMk id="2" creationId="{2DA58A04-1D81-33E0-E84C-BB8891C79F34}"/>
          </ac:spMkLst>
        </pc:spChg>
        <pc:spChg chg="del mod">
          <ac:chgData name="Xueqing Yu" userId="bfd16ca31045e1f0" providerId="LiveId" clId="{3394F61D-40D7-43F8-9949-35EEE270298C}" dt="2023-12-04T11:50:32.394" v="17" actId="478"/>
          <ac:spMkLst>
            <pc:docMk/>
            <pc:sldMk cId="263857187" sldId="256"/>
            <ac:spMk id="3" creationId="{7D2A4FE8-1CB4-4D32-3BB4-BB1866FA66E4}"/>
          </ac:spMkLst>
        </pc:spChg>
        <pc:spChg chg="add del mod">
          <ac:chgData name="Xueqing Yu" userId="bfd16ca31045e1f0" providerId="LiveId" clId="{3394F61D-40D7-43F8-9949-35EEE270298C}" dt="2023-12-04T11:50:28.662" v="15" actId="478"/>
          <ac:spMkLst>
            <pc:docMk/>
            <pc:sldMk cId="263857187" sldId="256"/>
            <ac:spMk id="7" creationId="{B7454459-6F0B-6DEB-1570-BFB4A4B0EEE8}"/>
          </ac:spMkLst>
        </pc:spChg>
        <pc:spChg chg="add mod">
          <ac:chgData name="Xueqing Yu" userId="bfd16ca31045e1f0" providerId="LiveId" clId="{3394F61D-40D7-43F8-9949-35EEE270298C}" dt="2023-12-06T07:37:45.242" v="3157" actId="1076"/>
          <ac:spMkLst>
            <pc:docMk/>
            <pc:sldMk cId="263857187" sldId="256"/>
            <ac:spMk id="8" creationId="{D24F8581-FBAB-0DD4-8675-676974BBB335}"/>
          </ac:spMkLst>
        </pc:spChg>
        <pc:picChg chg="add mod">
          <ac:chgData name="Xueqing Yu" userId="bfd16ca31045e1f0" providerId="LiveId" clId="{3394F61D-40D7-43F8-9949-35EEE270298C}" dt="2023-12-04T11:50:40.327" v="23" actId="1076"/>
          <ac:picMkLst>
            <pc:docMk/>
            <pc:sldMk cId="263857187" sldId="256"/>
            <ac:picMk id="5" creationId="{7299BB95-97D1-0B25-5E1F-1B58B5CB5472}"/>
          </ac:picMkLst>
        </pc:picChg>
      </pc:sldChg>
      <pc:sldChg chg="addSp delSp modSp new mod">
        <pc:chgData name="Xueqing Yu" userId="bfd16ca31045e1f0" providerId="LiveId" clId="{3394F61D-40D7-43F8-9949-35EEE270298C}" dt="2023-12-04T12:02:53.125" v="351" actId="20577"/>
        <pc:sldMkLst>
          <pc:docMk/>
          <pc:sldMk cId="2442814465" sldId="257"/>
        </pc:sldMkLst>
        <pc:spChg chg="mod">
          <ac:chgData name="Xueqing Yu" userId="bfd16ca31045e1f0" providerId="LiveId" clId="{3394F61D-40D7-43F8-9949-35EEE270298C}" dt="2023-12-04T12:00:37.892" v="341" actId="20577"/>
          <ac:spMkLst>
            <pc:docMk/>
            <pc:sldMk cId="2442814465" sldId="257"/>
            <ac:spMk id="2" creationId="{B8DA66D1-8950-8A95-10DA-19AEB9A05E84}"/>
          </ac:spMkLst>
        </pc:spChg>
        <pc:spChg chg="del mod">
          <ac:chgData name="Xueqing Yu" userId="bfd16ca31045e1f0" providerId="LiveId" clId="{3394F61D-40D7-43F8-9949-35EEE270298C}" dt="2023-12-04T11:49:56.467" v="11" actId="478"/>
          <ac:spMkLst>
            <pc:docMk/>
            <pc:sldMk cId="2442814465" sldId="257"/>
            <ac:spMk id="3" creationId="{F03E19F8-E887-F321-9FAE-8AF8C0B1F27E}"/>
          </ac:spMkLst>
        </pc:spChg>
        <pc:spChg chg="add mod">
          <ac:chgData name="Xueqing Yu" userId="bfd16ca31045e1f0" providerId="LiveId" clId="{3394F61D-40D7-43F8-9949-35EEE270298C}" dt="2023-12-04T11:56:49.225" v="73" actId="113"/>
          <ac:spMkLst>
            <pc:docMk/>
            <pc:sldMk cId="2442814465" sldId="257"/>
            <ac:spMk id="5" creationId="{C5ED3D7B-1149-2F6F-D3B7-16A9D94C0444}"/>
          </ac:spMkLst>
        </pc:spChg>
        <pc:spChg chg="add mod">
          <ac:chgData name="Xueqing Yu" userId="bfd16ca31045e1f0" providerId="LiveId" clId="{3394F61D-40D7-43F8-9949-35EEE270298C}" dt="2023-12-04T12:02:53.125" v="351" actId="20577"/>
          <ac:spMkLst>
            <pc:docMk/>
            <pc:sldMk cId="2442814465" sldId="257"/>
            <ac:spMk id="6" creationId="{429E3393-6E53-0B10-B7B7-156B49E6A729}"/>
          </ac:spMkLst>
        </pc:spChg>
      </pc:sldChg>
      <pc:sldChg chg="addSp modSp new mod">
        <pc:chgData name="Xueqing Yu" userId="bfd16ca31045e1f0" providerId="LiveId" clId="{3394F61D-40D7-43F8-9949-35EEE270298C}" dt="2023-12-05T15:20:18.928" v="2541"/>
        <pc:sldMkLst>
          <pc:docMk/>
          <pc:sldMk cId="2229799157" sldId="258"/>
        </pc:sldMkLst>
        <pc:spChg chg="mod">
          <ac:chgData name="Xueqing Yu" userId="bfd16ca31045e1f0" providerId="LiveId" clId="{3394F61D-40D7-43F8-9949-35EEE270298C}" dt="2023-12-05T15:20:18.928" v="2541"/>
          <ac:spMkLst>
            <pc:docMk/>
            <pc:sldMk cId="2229799157" sldId="258"/>
            <ac:spMk id="2" creationId="{7FD06F7C-0D58-4482-E18B-AC858F165644}"/>
          </ac:spMkLst>
        </pc:spChg>
        <pc:spChg chg="mod">
          <ac:chgData name="Xueqing Yu" userId="bfd16ca31045e1f0" providerId="LiveId" clId="{3394F61D-40D7-43F8-9949-35EEE270298C}" dt="2023-12-04T12:12:01.098" v="839" actId="14100"/>
          <ac:spMkLst>
            <pc:docMk/>
            <pc:sldMk cId="2229799157" sldId="258"/>
            <ac:spMk id="3" creationId="{B11B9BF4-4BF1-7193-8AAA-DD6F34545403}"/>
          </ac:spMkLst>
        </pc:spChg>
        <pc:spChg chg="add mod">
          <ac:chgData name="Xueqing Yu" userId="bfd16ca31045e1f0" providerId="LiveId" clId="{3394F61D-40D7-43F8-9949-35EEE270298C}" dt="2023-12-04T12:13:57.921" v="944" actId="1076"/>
          <ac:spMkLst>
            <pc:docMk/>
            <pc:sldMk cId="2229799157" sldId="258"/>
            <ac:spMk id="4" creationId="{9C0DE858-94B7-1706-E5D7-0EE99BB19E70}"/>
          </ac:spMkLst>
        </pc:spChg>
      </pc:sldChg>
      <pc:sldChg chg="addSp modSp add mod">
        <pc:chgData name="Xueqing Yu" userId="bfd16ca31045e1f0" providerId="LiveId" clId="{3394F61D-40D7-43F8-9949-35EEE270298C}" dt="2023-12-04T12:04:51.980" v="520" actId="1076"/>
        <pc:sldMkLst>
          <pc:docMk/>
          <pc:sldMk cId="3131343956" sldId="259"/>
        </pc:sldMkLst>
        <pc:spChg chg="mod">
          <ac:chgData name="Xueqing Yu" userId="bfd16ca31045e1f0" providerId="LiveId" clId="{3394F61D-40D7-43F8-9949-35EEE270298C}" dt="2023-12-04T12:00:42.164" v="346" actId="20577"/>
          <ac:spMkLst>
            <pc:docMk/>
            <pc:sldMk cId="3131343956" sldId="259"/>
            <ac:spMk id="2" creationId="{B8DA66D1-8950-8A95-10DA-19AEB9A05E84}"/>
          </ac:spMkLst>
        </pc:spChg>
        <pc:spChg chg="add mod">
          <ac:chgData name="Xueqing Yu" userId="bfd16ca31045e1f0" providerId="LiveId" clId="{3394F61D-40D7-43F8-9949-35EEE270298C}" dt="2023-12-04T12:04:51.980" v="520" actId="1076"/>
          <ac:spMkLst>
            <pc:docMk/>
            <pc:sldMk cId="3131343956" sldId="259"/>
            <ac:spMk id="3" creationId="{318836BD-4C24-B69A-B437-45B972512F41}"/>
          </ac:spMkLst>
        </pc:spChg>
        <pc:spChg chg="mod">
          <ac:chgData name="Xueqing Yu" userId="bfd16ca31045e1f0" providerId="LiveId" clId="{3394F61D-40D7-43F8-9949-35EEE270298C}" dt="2023-12-04T12:04:02.791" v="438" actId="207"/>
          <ac:spMkLst>
            <pc:docMk/>
            <pc:sldMk cId="3131343956" sldId="259"/>
            <ac:spMk id="5" creationId="{C5ED3D7B-1149-2F6F-D3B7-16A9D94C0444}"/>
          </ac:spMkLst>
        </pc:spChg>
      </pc:sldChg>
      <pc:sldChg chg="add del">
        <pc:chgData name="Xueqing Yu" userId="bfd16ca31045e1f0" providerId="LiveId" clId="{3394F61D-40D7-43F8-9949-35EEE270298C}" dt="2023-12-04T12:04:58.484" v="522" actId="2890"/>
        <pc:sldMkLst>
          <pc:docMk/>
          <pc:sldMk cId="386870241" sldId="260"/>
        </pc:sldMkLst>
      </pc:sldChg>
      <pc:sldChg chg="addSp delSp modSp add mod">
        <pc:chgData name="Xueqing Yu" userId="bfd16ca31045e1f0" providerId="LiveId" clId="{3394F61D-40D7-43F8-9949-35EEE270298C}" dt="2023-12-05T13:22:52.102" v="1482" actId="1076"/>
        <pc:sldMkLst>
          <pc:docMk/>
          <pc:sldMk cId="1101506618" sldId="260"/>
        </pc:sldMkLst>
        <pc:spChg chg="del">
          <ac:chgData name="Xueqing Yu" userId="bfd16ca31045e1f0" providerId="LiveId" clId="{3394F61D-40D7-43F8-9949-35EEE270298C}" dt="2023-12-04T12:05:12.422" v="528" actId="478"/>
          <ac:spMkLst>
            <pc:docMk/>
            <pc:sldMk cId="1101506618" sldId="260"/>
            <ac:spMk id="3" creationId="{318836BD-4C24-B69A-B437-45B972512F41}"/>
          </ac:spMkLst>
        </pc:spChg>
        <pc:spChg chg="add mod">
          <ac:chgData name="Xueqing Yu" userId="bfd16ca31045e1f0" providerId="LiveId" clId="{3394F61D-40D7-43F8-9949-35EEE270298C}" dt="2023-12-05T13:22:52.102" v="1482" actId="1076"/>
          <ac:spMkLst>
            <pc:docMk/>
            <pc:sldMk cId="1101506618" sldId="260"/>
            <ac:spMk id="4" creationId="{7C2E6C32-39CC-1EB6-78CA-2F4EC7B04245}"/>
          </ac:spMkLst>
        </pc:spChg>
        <pc:spChg chg="mod">
          <ac:chgData name="Xueqing Yu" userId="bfd16ca31045e1f0" providerId="LiveId" clId="{3394F61D-40D7-43F8-9949-35EEE270298C}" dt="2023-12-04T12:06:59.239" v="545" actId="207"/>
          <ac:spMkLst>
            <pc:docMk/>
            <pc:sldMk cId="1101506618" sldId="260"/>
            <ac:spMk id="5" creationId="{C5ED3D7B-1149-2F6F-D3B7-16A9D94C0444}"/>
          </ac:spMkLst>
        </pc:spChg>
      </pc:sldChg>
      <pc:sldChg chg="addSp delSp modSp new mod">
        <pc:chgData name="Xueqing Yu" userId="bfd16ca31045e1f0" providerId="LiveId" clId="{3394F61D-40D7-43F8-9949-35EEE270298C}" dt="2023-12-05T15:20:50.540" v="2576"/>
        <pc:sldMkLst>
          <pc:docMk/>
          <pc:sldMk cId="2984364849" sldId="261"/>
        </pc:sldMkLst>
        <pc:spChg chg="del">
          <ac:chgData name="Xueqing Yu" userId="bfd16ca31045e1f0" providerId="LiveId" clId="{3394F61D-40D7-43F8-9949-35EEE270298C}" dt="2023-12-04T12:14:06.121" v="945" actId="478"/>
          <ac:spMkLst>
            <pc:docMk/>
            <pc:sldMk cId="2984364849" sldId="261"/>
            <ac:spMk id="2" creationId="{82FCBD66-163D-49DA-3FEC-052696021F94}"/>
          </ac:spMkLst>
        </pc:spChg>
        <pc:spChg chg="mod">
          <ac:chgData name="Xueqing Yu" userId="bfd16ca31045e1f0" providerId="LiveId" clId="{3394F61D-40D7-43F8-9949-35EEE270298C}" dt="2023-12-05T13:28:49.934" v="1543" actId="113"/>
          <ac:spMkLst>
            <pc:docMk/>
            <pc:sldMk cId="2984364849" sldId="261"/>
            <ac:spMk id="3" creationId="{F99EC5FD-C8E3-A30B-C315-4A5EC4E3B0C5}"/>
          </ac:spMkLst>
        </pc:spChg>
        <pc:spChg chg="add mod">
          <ac:chgData name="Xueqing Yu" userId="bfd16ca31045e1f0" providerId="LiveId" clId="{3394F61D-40D7-43F8-9949-35EEE270298C}" dt="2023-12-05T15:20:23.057" v="2543"/>
          <ac:spMkLst>
            <pc:docMk/>
            <pc:sldMk cId="2984364849" sldId="261"/>
            <ac:spMk id="4" creationId="{A0137E46-7780-6FE5-C7C7-9885D11F3EF0}"/>
          </ac:spMkLst>
        </pc:spChg>
        <pc:spChg chg="add mod">
          <ac:chgData name="Xueqing Yu" userId="bfd16ca31045e1f0" providerId="LiveId" clId="{3394F61D-40D7-43F8-9949-35EEE270298C}" dt="2023-12-05T15:20:50.540" v="2576"/>
          <ac:spMkLst>
            <pc:docMk/>
            <pc:sldMk cId="2984364849" sldId="261"/>
            <ac:spMk id="5" creationId="{D478B899-01AA-CE5C-B39C-7362597F4846}"/>
          </ac:spMkLst>
        </pc:spChg>
      </pc:sldChg>
      <pc:sldChg chg="new del">
        <pc:chgData name="Xueqing Yu" userId="bfd16ca31045e1f0" providerId="LiveId" clId="{3394F61D-40D7-43F8-9949-35EEE270298C}" dt="2023-12-07T14:32:05.107" v="7899" actId="2696"/>
        <pc:sldMkLst>
          <pc:docMk/>
          <pc:sldMk cId="2663085598" sldId="262"/>
        </pc:sldMkLst>
      </pc:sldChg>
      <pc:sldChg chg="addSp modSp new mod modNotesTx">
        <pc:chgData name="Xueqing Yu" userId="bfd16ca31045e1f0" providerId="LiveId" clId="{3394F61D-40D7-43F8-9949-35EEE270298C}" dt="2023-12-06T13:23:28.539" v="5041" actId="20577"/>
        <pc:sldMkLst>
          <pc:docMk/>
          <pc:sldMk cId="1765890289" sldId="263"/>
        </pc:sldMkLst>
        <pc:spChg chg="mod">
          <ac:chgData name="Xueqing Yu" userId="bfd16ca31045e1f0" providerId="LiveId" clId="{3394F61D-40D7-43F8-9949-35EEE270298C}" dt="2023-12-05T12:52:29.376" v="1148" actId="20577"/>
          <ac:spMkLst>
            <pc:docMk/>
            <pc:sldMk cId="1765890289" sldId="263"/>
            <ac:spMk id="2" creationId="{60479C82-CFD1-9060-25F4-34544A56B180}"/>
          </ac:spMkLst>
        </pc:spChg>
        <pc:spChg chg="mod">
          <ac:chgData name="Xueqing Yu" userId="bfd16ca31045e1f0" providerId="LiveId" clId="{3394F61D-40D7-43F8-9949-35EEE270298C}" dt="2023-12-05T13:07:48.469" v="1307" actId="16959"/>
          <ac:spMkLst>
            <pc:docMk/>
            <pc:sldMk cId="1765890289" sldId="263"/>
            <ac:spMk id="3" creationId="{4C2395F4-AD19-E86C-E528-EE2421B72ABE}"/>
          </ac:spMkLst>
        </pc:spChg>
        <pc:picChg chg="add mod">
          <ac:chgData name="Xueqing Yu" userId="bfd16ca31045e1f0" providerId="LiveId" clId="{3394F61D-40D7-43F8-9949-35EEE270298C}" dt="2023-12-05T12:53:46.924" v="1154" actId="1076"/>
          <ac:picMkLst>
            <pc:docMk/>
            <pc:sldMk cId="1765890289" sldId="263"/>
            <ac:picMk id="5" creationId="{0093A696-348B-1CCA-4153-640414F93BB3}"/>
          </ac:picMkLst>
        </pc:picChg>
      </pc:sldChg>
      <pc:sldChg chg="addSp delSp modSp new mod modNotesTx">
        <pc:chgData name="Xueqing Yu" userId="bfd16ca31045e1f0" providerId="LiveId" clId="{3394F61D-40D7-43F8-9949-35EEE270298C}" dt="2023-12-07T14:35:00.572" v="7941" actId="20577"/>
        <pc:sldMkLst>
          <pc:docMk/>
          <pc:sldMk cId="1523647210" sldId="264"/>
        </pc:sldMkLst>
        <pc:spChg chg="mod">
          <ac:chgData name="Xueqing Yu" userId="bfd16ca31045e1f0" providerId="LiveId" clId="{3394F61D-40D7-43F8-9949-35EEE270298C}" dt="2023-12-05T12:55:47.989" v="1192" actId="20577"/>
          <ac:spMkLst>
            <pc:docMk/>
            <pc:sldMk cId="1523647210" sldId="264"/>
            <ac:spMk id="2" creationId="{C8C21C89-3CE0-B97D-1279-3B66763B4529}"/>
          </ac:spMkLst>
        </pc:spChg>
        <pc:spChg chg="mod">
          <ac:chgData name="Xueqing Yu" userId="bfd16ca31045e1f0" providerId="LiveId" clId="{3394F61D-40D7-43F8-9949-35EEE270298C}" dt="2023-12-06T06:53:21.079" v="3124" actId="113"/>
          <ac:spMkLst>
            <pc:docMk/>
            <pc:sldMk cId="1523647210" sldId="264"/>
            <ac:spMk id="3" creationId="{7A3BB9BC-36B1-D209-84D1-F1CA17010528}"/>
          </ac:spMkLst>
        </pc:spChg>
        <pc:spChg chg="add mod">
          <ac:chgData name="Xueqing Yu" userId="bfd16ca31045e1f0" providerId="LiveId" clId="{3394F61D-40D7-43F8-9949-35EEE270298C}" dt="2023-12-06T06:51:06.875" v="3088" actId="164"/>
          <ac:spMkLst>
            <pc:docMk/>
            <pc:sldMk cId="1523647210" sldId="264"/>
            <ac:spMk id="8" creationId="{C21F9598-CAD5-6AA5-B677-97710FA1CD92}"/>
          </ac:spMkLst>
        </pc:spChg>
        <pc:spChg chg="add mod">
          <ac:chgData name="Xueqing Yu" userId="bfd16ca31045e1f0" providerId="LiveId" clId="{3394F61D-40D7-43F8-9949-35EEE270298C}" dt="2023-12-06T06:51:11.413" v="3089" actId="164"/>
          <ac:spMkLst>
            <pc:docMk/>
            <pc:sldMk cId="1523647210" sldId="264"/>
            <ac:spMk id="9" creationId="{550AC1BD-86CC-6B4E-343F-50C24A880DD1}"/>
          </ac:spMkLst>
        </pc:spChg>
        <pc:spChg chg="add mod">
          <ac:chgData name="Xueqing Yu" userId="bfd16ca31045e1f0" providerId="LiveId" clId="{3394F61D-40D7-43F8-9949-35EEE270298C}" dt="2023-12-06T06:51:11.413" v="3089" actId="164"/>
          <ac:spMkLst>
            <pc:docMk/>
            <pc:sldMk cId="1523647210" sldId="264"/>
            <ac:spMk id="10" creationId="{504AF73F-E04C-2A98-C5ED-43D0F069CD33}"/>
          </ac:spMkLst>
        </pc:spChg>
        <pc:spChg chg="add del mod">
          <ac:chgData name="Xueqing Yu" userId="bfd16ca31045e1f0" providerId="LiveId" clId="{3394F61D-40D7-43F8-9949-35EEE270298C}" dt="2023-12-05T13:15:20.173" v="1454" actId="21"/>
          <ac:spMkLst>
            <pc:docMk/>
            <pc:sldMk cId="1523647210" sldId="264"/>
            <ac:spMk id="11" creationId="{550AC1BD-86CC-6B4E-343F-50C24A880DD1}"/>
          </ac:spMkLst>
        </pc:spChg>
        <pc:spChg chg="add mod">
          <ac:chgData name="Xueqing Yu" userId="bfd16ca31045e1f0" providerId="LiveId" clId="{3394F61D-40D7-43F8-9949-35EEE270298C}" dt="2023-12-06T06:52:12.882" v="3121" actId="14100"/>
          <ac:spMkLst>
            <pc:docMk/>
            <pc:sldMk cId="1523647210" sldId="264"/>
            <ac:spMk id="12" creationId="{8C84A4A7-DFEB-0362-FFAD-287AC4030C75}"/>
          </ac:spMkLst>
        </pc:spChg>
        <pc:spChg chg="add mod">
          <ac:chgData name="Xueqing Yu" userId="bfd16ca31045e1f0" providerId="LiveId" clId="{3394F61D-40D7-43F8-9949-35EEE270298C}" dt="2023-12-06T06:51:11.413" v="3089" actId="164"/>
          <ac:spMkLst>
            <pc:docMk/>
            <pc:sldMk cId="1523647210" sldId="264"/>
            <ac:spMk id="13" creationId="{D9701D9D-0C6E-A64F-D2E9-EEC058EC126E}"/>
          </ac:spMkLst>
        </pc:spChg>
        <pc:spChg chg="add mod">
          <ac:chgData name="Xueqing Yu" userId="bfd16ca31045e1f0" providerId="LiveId" clId="{3394F61D-40D7-43F8-9949-35EEE270298C}" dt="2023-12-06T06:51:06.875" v="3088" actId="164"/>
          <ac:spMkLst>
            <pc:docMk/>
            <pc:sldMk cId="1523647210" sldId="264"/>
            <ac:spMk id="14" creationId="{9E202329-F2F9-F370-170B-7E8837F3373E}"/>
          </ac:spMkLst>
        </pc:spChg>
        <pc:spChg chg="add mod">
          <ac:chgData name="Xueqing Yu" userId="bfd16ca31045e1f0" providerId="LiveId" clId="{3394F61D-40D7-43F8-9949-35EEE270298C}" dt="2023-12-06T06:53:43.094" v="3127" actId="164"/>
          <ac:spMkLst>
            <pc:docMk/>
            <pc:sldMk cId="1523647210" sldId="264"/>
            <ac:spMk id="17" creationId="{11D71174-B877-AC42-F522-B8DF14F717CA}"/>
          </ac:spMkLst>
        </pc:spChg>
        <pc:grpChg chg="add mod">
          <ac:chgData name="Xueqing Yu" userId="bfd16ca31045e1f0" providerId="LiveId" clId="{3394F61D-40D7-43F8-9949-35EEE270298C}" dt="2023-12-06T06:53:43.094" v="3127" actId="164"/>
          <ac:grpSpMkLst>
            <pc:docMk/>
            <pc:sldMk cId="1523647210" sldId="264"/>
            <ac:grpSpMk id="15" creationId="{7A6E3E5D-0166-BC37-B535-9CAC83181EB0}"/>
          </ac:grpSpMkLst>
        </pc:grpChg>
        <pc:grpChg chg="add mod">
          <ac:chgData name="Xueqing Yu" userId="bfd16ca31045e1f0" providerId="LiveId" clId="{3394F61D-40D7-43F8-9949-35EEE270298C}" dt="2023-12-06T06:53:43.094" v="3127" actId="164"/>
          <ac:grpSpMkLst>
            <pc:docMk/>
            <pc:sldMk cId="1523647210" sldId="264"/>
            <ac:grpSpMk id="16" creationId="{3BD4BAC3-5807-376C-8B72-5F6DB61DA6D3}"/>
          </ac:grpSpMkLst>
        </pc:grpChg>
        <pc:grpChg chg="add mod">
          <ac:chgData name="Xueqing Yu" userId="bfd16ca31045e1f0" providerId="LiveId" clId="{3394F61D-40D7-43F8-9949-35EEE270298C}" dt="2023-12-06T06:53:55.515" v="3130" actId="1076"/>
          <ac:grpSpMkLst>
            <pc:docMk/>
            <pc:sldMk cId="1523647210" sldId="264"/>
            <ac:grpSpMk id="18" creationId="{AA50120D-1B9B-64A9-2B94-0800B3CE4B0F}"/>
          </ac:grpSpMkLst>
        </pc:grpChg>
        <pc:picChg chg="add mod modCrop">
          <ac:chgData name="Xueqing Yu" userId="bfd16ca31045e1f0" providerId="LiveId" clId="{3394F61D-40D7-43F8-9949-35EEE270298C}" dt="2023-12-06T06:54:02.531" v="3133" actId="14100"/>
          <ac:picMkLst>
            <pc:docMk/>
            <pc:sldMk cId="1523647210" sldId="264"/>
            <ac:picMk id="5" creationId="{D2615B57-E32B-5D7A-5639-7B3D683D3929}"/>
          </ac:picMkLst>
        </pc:picChg>
        <pc:picChg chg="add del mod modCrop">
          <ac:chgData name="Xueqing Yu" userId="bfd16ca31045e1f0" providerId="LiveId" clId="{3394F61D-40D7-43F8-9949-35EEE270298C}" dt="2023-12-05T13:10:26.657" v="1336" actId="21"/>
          <ac:picMkLst>
            <pc:docMk/>
            <pc:sldMk cId="1523647210" sldId="264"/>
            <ac:picMk id="7" creationId="{80026189-ECE2-539B-5D76-14F49C20D843}"/>
          </ac:picMkLst>
        </pc:picChg>
      </pc:sldChg>
      <pc:sldChg chg="addSp delSp modSp new mod modNotesTx">
        <pc:chgData name="Xueqing Yu" userId="bfd16ca31045e1f0" providerId="LiveId" clId="{3394F61D-40D7-43F8-9949-35EEE270298C}" dt="2023-12-08T05:21:43.791" v="7955" actId="20577"/>
        <pc:sldMkLst>
          <pc:docMk/>
          <pc:sldMk cId="725962051" sldId="265"/>
        </pc:sldMkLst>
        <pc:spChg chg="del">
          <ac:chgData name="Xueqing Yu" userId="bfd16ca31045e1f0" providerId="LiveId" clId="{3394F61D-40D7-43F8-9949-35EEE270298C}" dt="2023-12-05T13:11:40.946" v="1415" actId="478"/>
          <ac:spMkLst>
            <pc:docMk/>
            <pc:sldMk cId="725962051" sldId="265"/>
            <ac:spMk id="2" creationId="{97286C40-FA90-47B9-2080-91205E0B246F}"/>
          </ac:spMkLst>
        </pc:spChg>
        <pc:spChg chg="del">
          <ac:chgData name="Xueqing Yu" userId="bfd16ca31045e1f0" providerId="LiveId" clId="{3394F61D-40D7-43F8-9949-35EEE270298C}" dt="2023-12-05T13:08:57.891" v="1315" actId="22"/>
          <ac:spMkLst>
            <pc:docMk/>
            <pc:sldMk cId="725962051" sldId="265"/>
            <ac:spMk id="3" creationId="{E3563F80-0CC3-DA03-FDA3-6145D6087F2B}"/>
          </ac:spMkLst>
        </pc:spChg>
        <pc:spChg chg="add mod">
          <ac:chgData name="Xueqing Yu" userId="bfd16ca31045e1f0" providerId="LiveId" clId="{3394F61D-40D7-43F8-9949-35EEE270298C}" dt="2023-12-08T05:21:43.791" v="7955" actId="20577"/>
          <ac:spMkLst>
            <pc:docMk/>
            <pc:sldMk cId="725962051" sldId="265"/>
            <ac:spMk id="6" creationId="{BDD8D614-A603-44B3-5D4A-66423E17E808}"/>
          </ac:spMkLst>
        </pc:spChg>
        <pc:spChg chg="add mod">
          <ac:chgData name="Xueqing Yu" userId="bfd16ca31045e1f0" providerId="LiveId" clId="{3394F61D-40D7-43F8-9949-35EEE270298C}" dt="2023-12-06T13:23:43.027" v="5043" actId="1076"/>
          <ac:spMkLst>
            <pc:docMk/>
            <pc:sldMk cId="725962051" sldId="265"/>
            <ac:spMk id="8" creationId="{E48923DA-C143-C3AF-5C6F-5375924D383A}"/>
          </ac:spMkLst>
        </pc:spChg>
        <pc:picChg chg="add mod ord">
          <ac:chgData name="Xueqing Yu" userId="bfd16ca31045e1f0" providerId="LiveId" clId="{3394F61D-40D7-43F8-9949-35EEE270298C}" dt="2023-12-06T06:42:42.883" v="3037" actId="1076"/>
          <ac:picMkLst>
            <pc:docMk/>
            <pc:sldMk cId="725962051" sldId="265"/>
            <ac:picMk id="5" creationId="{F4BA8969-9423-9FB8-F4CE-DB1BAD24D450}"/>
          </ac:picMkLst>
        </pc:picChg>
      </pc:sldChg>
      <pc:sldChg chg="addSp delSp modSp new mod">
        <pc:chgData name="Xueqing Yu" userId="bfd16ca31045e1f0" providerId="LiveId" clId="{3394F61D-40D7-43F8-9949-35EEE270298C}" dt="2023-12-06T06:54:32.405" v="3140" actId="1076"/>
        <pc:sldMkLst>
          <pc:docMk/>
          <pc:sldMk cId="584601155" sldId="266"/>
        </pc:sldMkLst>
        <pc:spChg chg="del">
          <ac:chgData name="Xueqing Yu" userId="bfd16ca31045e1f0" providerId="LiveId" clId="{3394F61D-40D7-43F8-9949-35EEE270298C}" dt="2023-12-06T06:48:16.236" v="3069" actId="478"/>
          <ac:spMkLst>
            <pc:docMk/>
            <pc:sldMk cId="584601155" sldId="266"/>
            <ac:spMk id="2" creationId="{404D86E3-9A19-952E-A9AE-0FE0F1325F3E}"/>
          </ac:spMkLst>
        </pc:spChg>
        <pc:spChg chg="mod">
          <ac:chgData name="Xueqing Yu" userId="bfd16ca31045e1f0" providerId="LiveId" clId="{3394F61D-40D7-43F8-9949-35EEE270298C}" dt="2023-12-06T06:48:07.439" v="3067" actId="20577"/>
          <ac:spMkLst>
            <pc:docMk/>
            <pc:sldMk cId="584601155" sldId="266"/>
            <ac:spMk id="3" creationId="{FB7CA386-CEB9-A6A1-D9A6-DCC37E615F73}"/>
          </ac:spMkLst>
        </pc:spChg>
        <pc:spChg chg="add mod">
          <ac:chgData name="Xueqing Yu" userId="bfd16ca31045e1f0" providerId="LiveId" clId="{3394F61D-40D7-43F8-9949-35EEE270298C}" dt="2023-12-06T06:48:19.345" v="3070" actId="1076"/>
          <ac:spMkLst>
            <pc:docMk/>
            <pc:sldMk cId="584601155" sldId="266"/>
            <ac:spMk id="5" creationId="{429E7911-777C-F997-5E35-F192D8B81086}"/>
          </ac:spMkLst>
        </pc:spChg>
        <pc:picChg chg="add mod">
          <ac:chgData name="Xueqing Yu" userId="bfd16ca31045e1f0" providerId="LiveId" clId="{3394F61D-40D7-43F8-9949-35EEE270298C}" dt="2023-12-06T06:54:32.405" v="3140" actId="1076"/>
          <ac:picMkLst>
            <pc:docMk/>
            <pc:sldMk cId="584601155" sldId="266"/>
            <ac:picMk id="4" creationId="{9A219D68-67DC-871C-F310-700CE87738F7}"/>
          </ac:picMkLst>
        </pc:picChg>
        <pc:picChg chg="add mod modCrop">
          <ac:chgData name="Xueqing Yu" userId="bfd16ca31045e1f0" providerId="LiveId" clId="{3394F61D-40D7-43F8-9949-35EEE270298C}" dt="2023-12-06T06:54:30.966" v="3139" actId="1076"/>
          <ac:picMkLst>
            <pc:docMk/>
            <pc:sldMk cId="584601155" sldId="266"/>
            <ac:picMk id="6" creationId="{4FBE993A-3767-862C-F4A7-C96205BFC4F3}"/>
          </ac:picMkLst>
        </pc:picChg>
      </pc:sldChg>
      <pc:sldChg chg="new">
        <pc:chgData name="Xueqing Yu" userId="bfd16ca31045e1f0" providerId="LiveId" clId="{3394F61D-40D7-43F8-9949-35EEE270298C}" dt="2023-12-05T13:27:02.593" v="1502" actId="680"/>
        <pc:sldMkLst>
          <pc:docMk/>
          <pc:sldMk cId="187954769" sldId="267"/>
        </pc:sldMkLst>
      </pc:sldChg>
      <pc:sldChg chg="delSp modSp add del mod">
        <pc:chgData name="Xueqing Yu" userId="bfd16ca31045e1f0" providerId="LiveId" clId="{3394F61D-40D7-43F8-9949-35EEE270298C}" dt="2023-12-05T13:26:59.985" v="1501" actId="2696"/>
        <pc:sldMkLst>
          <pc:docMk/>
          <pc:sldMk cId="2469352470" sldId="267"/>
        </pc:sldMkLst>
        <pc:spChg chg="mod">
          <ac:chgData name="Xueqing Yu" userId="bfd16ca31045e1f0" providerId="LiveId" clId="{3394F61D-40D7-43F8-9949-35EEE270298C}" dt="2023-12-05T13:26:15.458" v="1488" actId="404"/>
          <ac:spMkLst>
            <pc:docMk/>
            <pc:sldMk cId="2469352470" sldId="267"/>
            <ac:spMk id="3" creationId="{F99EC5FD-C8E3-A30B-C315-4A5EC4E3B0C5}"/>
          </ac:spMkLst>
        </pc:spChg>
        <pc:spChg chg="mod">
          <ac:chgData name="Xueqing Yu" userId="bfd16ca31045e1f0" providerId="LiveId" clId="{3394F61D-40D7-43F8-9949-35EEE270298C}" dt="2023-12-05T13:26:57.328" v="1500" actId="404"/>
          <ac:spMkLst>
            <pc:docMk/>
            <pc:sldMk cId="2469352470" sldId="267"/>
            <ac:spMk id="4" creationId="{A0137E46-7780-6FE5-C7C7-9885D11F3EF0}"/>
          </ac:spMkLst>
        </pc:spChg>
        <pc:spChg chg="del mod">
          <ac:chgData name="Xueqing Yu" userId="bfd16ca31045e1f0" providerId="LiveId" clId="{3394F61D-40D7-43F8-9949-35EEE270298C}" dt="2023-12-05T13:26:22.025" v="1490" actId="478"/>
          <ac:spMkLst>
            <pc:docMk/>
            <pc:sldMk cId="2469352470" sldId="267"/>
            <ac:spMk id="5" creationId="{D478B899-01AA-CE5C-B39C-7362597F4846}"/>
          </ac:spMkLst>
        </pc:spChg>
      </pc:sldChg>
      <pc:sldChg chg="addSp delSp modSp add mod">
        <pc:chgData name="Xueqing Yu" userId="bfd16ca31045e1f0" providerId="LiveId" clId="{3394F61D-40D7-43F8-9949-35EEE270298C}" dt="2023-12-05T15:24:43.554" v="2919"/>
        <pc:sldMkLst>
          <pc:docMk/>
          <pc:sldMk cId="3713786299" sldId="268"/>
        </pc:sldMkLst>
        <pc:spChg chg="add mod">
          <ac:chgData name="Xueqing Yu" userId="bfd16ca31045e1f0" providerId="LiveId" clId="{3394F61D-40D7-43F8-9949-35EEE270298C}" dt="2023-12-05T15:24:43.554" v="2919"/>
          <ac:spMkLst>
            <pc:docMk/>
            <pc:sldMk cId="3713786299" sldId="268"/>
            <ac:spMk id="2" creationId="{8D522C5A-6032-4920-DA22-D38D4AFCD0F9}"/>
          </ac:spMkLst>
        </pc:spChg>
        <pc:spChg chg="mod">
          <ac:chgData name="Xueqing Yu" userId="bfd16ca31045e1f0" providerId="LiveId" clId="{3394F61D-40D7-43F8-9949-35EEE270298C}" dt="2023-12-05T15:21:10.445" v="2577" actId="113"/>
          <ac:spMkLst>
            <pc:docMk/>
            <pc:sldMk cId="3713786299" sldId="268"/>
            <ac:spMk id="3" creationId="{F99EC5FD-C8E3-A30B-C315-4A5EC4E3B0C5}"/>
          </ac:spMkLst>
        </pc:spChg>
        <pc:spChg chg="mod">
          <ac:chgData name="Xueqing Yu" userId="bfd16ca31045e1f0" providerId="LiveId" clId="{3394F61D-40D7-43F8-9949-35EEE270298C}" dt="2023-12-05T15:21:41.947" v="2579"/>
          <ac:spMkLst>
            <pc:docMk/>
            <pc:sldMk cId="3713786299" sldId="268"/>
            <ac:spMk id="4" creationId="{A0137E46-7780-6FE5-C7C7-9885D11F3EF0}"/>
          </ac:spMkLst>
        </pc:spChg>
        <pc:spChg chg="del">
          <ac:chgData name="Xueqing Yu" userId="bfd16ca31045e1f0" providerId="LiveId" clId="{3394F61D-40D7-43F8-9949-35EEE270298C}" dt="2023-12-05T13:27:14.616" v="1506" actId="478"/>
          <ac:spMkLst>
            <pc:docMk/>
            <pc:sldMk cId="3713786299" sldId="268"/>
            <ac:spMk id="5" creationId="{D478B899-01AA-CE5C-B39C-7362597F4846}"/>
          </ac:spMkLst>
        </pc:spChg>
      </pc:sldChg>
      <pc:sldChg chg="addSp modSp add mod">
        <pc:chgData name="Xueqing Yu" userId="bfd16ca31045e1f0" providerId="LiveId" clId="{3394F61D-40D7-43F8-9949-35EEE270298C}" dt="2023-12-05T15:26:04.676" v="2996" actId="113"/>
        <pc:sldMkLst>
          <pc:docMk/>
          <pc:sldMk cId="692246828" sldId="269"/>
        </pc:sldMkLst>
        <pc:spChg chg="add mod">
          <ac:chgData name="Xueqing Yu" userId="bfd16ca31045e1f0" providerId="LiveId" clId="{3394F61D-40D7-43F8-9949-35EEE270298C}" dt="2023-12-05T15:25:28.124" v="2995" actId="1076"/>
          <ac:spMkLst>
            <pc:docMk/>
            <pc:sldMk cId="692246828" sldId="269"/>
            <ac:spMk id="2" creationId="{22B473FE-AB92-E62B-AC4C-CCEBC905637E}"/>
          </ac:spMkLst>
        </pc:spChg>
        <pc:spChg chg="mod">
          <ac:chgData name="Xueqing Yu" userId="bfd16ca31045e1f0" providerId="LiveId" clId="{3394F61D-40D7-43F8-9949-35EEE270298C}" dt="2023-12-05T15:26:04.676" v="2996" actId="113"/>
          <ac:spMkLst>
            <pc:docMk/>
            <pc:sldMk cId="692246828" sldId="269"/>
            <ac:spMk id="3" creationId="{F99EC5FD-C8E3-A30B-C315-4A5EC4E3B0C5}"/>
          </ac:spMkLst>
        </pc:spChg>
        <pc:spChg chg="mod">
          <ac:chgData name="Xueqing Yu" userId="bfd16ca31045e1f0" providerId="LiveId" clId="{3394F61D-40D7-43F8-9949-35EEE270298C}" dt="2023-12-05T15:21:45.340" v="2581"/>
          <ac:spMkLst>
            <pc:docMk/>
            <pc:sldMk cId="692246828" sldId="269"/>
            <ac:spMk id="4" creationId="{A0137E46-7780-6FE5-C7C7-9885D11F3EF0}"/>
          </ac:spMkLst>
        </pc:spChg>
      </pc:sldChg>
      <pc:sldChg chg="addSp modSp add mod">
        <pc:chgData name="Xueqing Yu" userId="bfd16ca31045e1f0" providerId="LiveId" clId="{3394F61D-40D7-43F8-9949-35EEE270298C}" dt="2023-12-05T15:26:43.367" v="3006" actId="14100"/>
        <pc:sldMkLst>
          <pc:docMk/>
          <pc:sldMk cId="877747793" sldId="270"/>
        </pc:sldMkLst>
        <pc:spChg chg="add mod">
          <ac:chgData name="Xueqing Yu" userId="bfd16ca31045e1f0" providerId="LiveId" clId="{3394F61D-40D7-43F8-9949-35EEE270298C}" dt="2023-12-05T14:38:02.797" v="2107"/>
          <ac:spMkLst>
            <pc:docMk/>
            <pc:sldMk cId="877747793" sldId="270"/>
            <ac:spMk id="2" creationId="{DE9F4D65-FCD5-A666-4F21-334874275206}"/>
          </ac:spMkLst>
        </pc:spChg>
        <pc:spChg chg="mod">
          <ac:chgData name="Xueqing Yu" userId="bfd16ca31045e1f0" providerId="LiveId" clId="{3394F61D-40D7-43F8-9949-35EEE270298C}" dt="2023-12-05T15:26:43.367" v="3006" actId="14100"/>
          <ac:spMkLst>
            <pc:docMk/>
            <pc:sldMk cId="877747793" sldId="270"/>
            <ac:spMk id="3" creationId="{F99EC5FD-C8E3-A30B-C315-4A5EC4E3B0C5}"/>
          </ac:spMkLst>
        </pc:spChg>
        <pc:spChg chg="mod">
          <ac:chgData name="Xueqing Yu" userId="bfd16ca31045e1f0" providerId="LiveId" clId="{3394F61D-40D7-43F8-9949-35EEE270298C}" dt="2023-12-05T15:21:48.533" v="2583"/>
          <ac:spMkLst>
            <pc:docMk/>
            <pc:sldMk cId="877747793" sldId="270"/>
            <ac:spMk id="4" creationId="{A0137E46-7780-6FE5-C7C7-9885D11F3EF0}"/>
          </ac:spMkLst>
        </pc:spChg>
      </pc:sldChg>
      <pc:sldChg chg="addSp modSp add mod">
        <pc:chgData name="Xueqing Yu" userId="bfd16ca31045e1f0" providerId="LiveId" clId="{3394F61D-40D7-43F8-9949-35EEE270298C}" dt="2023-12-08T07:27:00.504" v="8116" actId="20577"/>
        <pc:sldMkLst>
          <pc:docMk/>
          <pc:sldMk cId="2717724958" sldId="271"/>
        </pc:sldMkLst>
        <pc:spChg chg="add mod">
          <ac:chgData name="Xueqing Yu" userId="bfd16ca31045e1f0" providerId="LiveId" clId="{3394F61D-40D7-43F8-9949-35EEE270298C}" dt="2023-12-08T07:27:00.504" v="8116" actId="20577"/>
          <ac:spMkLst>
            <pc:docMk/>
            <pc:sldMk cId="2717724958" sldId="271"/>
            <ac:spMk id="2" creationId="{AC278DEB-7D2E-00B5-A7BE-DD18CFCD4884}"/>
          </ac:spMkLst>
        </pc:spChg>
        <pc:spChg chg="mod">
          <ac:chgData name="Xueqing Yu" userId="bfd16ca31045e1f0" providerId="LiveId" clId="{3394F61D-40D7-43F8-9949-35EEE270298C}" dt="2023-12-05T15:23:06.809" v="2673" actId="113"/>
          <ac:spMkLst>
            <pc:docMk/>
            <pc:sldMk cId="2717724958" sldId="271"/>
            <ac:spMk id="3" creationId="{F99EC5FD-C8E3-A30B-C315-4A5EC4E3B0C5}"/>
          </ac:spMkLst>
        </pc:spChg>
        <pc:spChg chg="mod">
          <ac:chgData name="Xueqing Yu" userId="bfd16ca31045e1f0" providerId="LiveId" clId="{3394F61D-40D7-43F8-9949-35EEE270298C}" dt="2023-12-05T15:21:51.890" v="2585"/>
          <ac:spMkLst>
            <pc:docMk/>
            <pc:sldMk cId="2717724958" sldId="271"/>
            <ac:spMk id="4" creationId="{A0137E46-7780-6FE5-C7C7-9885D11F3EF0}"/>
          </ac:spMkLst>
        </pc:spChg>
      </pc:sldChg>
      <pc:sldChg chg="addSp modSp add mod">
        <pc:chgData name="Xueqing Yu" userId="bfd16ca31045e1f0" providerId="LiveId" clId="{3394F61D-40D7-43F8-9949-35EEE270298C}" dt="2023-12-07T07:43:32.345" v="7412"/>
        <pc:sldMkLst>
          <pc:docMk/>
          <pc:sldMk cId="3366394618" sldId="272"/>
        </pc:sldMkLst>
        <pc:spChg chg="add mod">
          <ac:chgData name="Xueqing Yu" userId="bfd16ca31045e1f0" providerId="LiveId" clId="{3394F61D-40D7-43F8-9949-35EEE270298C}" dt="2023-12-07T07:43:32.345" v="7412"/>
          <ac:spMkLst>
            <pc:docMk/>
            <pc:sldMk cId="3366394618" sldId="272"/>
            <ac:spMk id="2" creationId="{719DBE32-C077-706D-2408-361E9BE963B8}"/>
          </ac:spMkLst>
        </pc:spChg>
        <pc:spChg chg="mod">
          <ac:chgData name="Xueqing Yu" userId="bfd16ca31045e1f0" providerId="LiveId" clId="{3394F61D-40D7-43F8-9949-35EEE270298C}" dt="2023-12-06T13:12:43.887" v="4321" actId="113"/>
          <ac:spMkLst>
            <pc:docMk/>
            <pc:sldMk cId="3366394618" sldId="272"/>
            <ac:spMk id="3" creationId="{F99EC5FD-C8E3-A30B-C315-4A5EC4E3B0C5}"/>
          </ac:spMkLst>
        </pc:spChg>
        <pc:spChg chg="mod">
          <ac:chgData name="Xueqing Yu" userId="bfd16ca31045e1f0" providerId="LiveId" clId="{3394F61D-40D7-43F8-9949-35EEE270298C}" dt="2023-12-05T15:21:56.622" v="2589"/>
          <ac:spMkLst>
            <pc:docMk/>
            <pc:sldMk cId="3366394618" sldId="272"/>
            <ac:spMk id="4" creationId="{A0137E46-7780-6FE5-C7C7-9885D11F3EF0}"/>
          </ac:spMkLst>
        </pc:spChg>
      </pc:sldChg>
      <pc:sldChg chg="addSp modSp add mod ord">
        <pc:chgData name="Xueqing Yu" userId="bfd16ca31045e1f0" providerId="LiveId" clId="{3394F61D-40D7-43F8-9949-35EEE270298C}" dt="2023-12-05T15:21:54.373" v="2587"/>
        <pc:sldMkLst>
          <pc:docMk/>
          <pc:sldMk cId="565479379" sldId="273"/>
        </pc:sldMkLst>
        <pc:spChg chg="add mod">
          <ac:chgData name="Xueqing Yu" userId="bfd16ca31045e1f0" providerId="LiveId" clId="{3394F61D-40D7-43F8-9949-35EEE270298C}" dt="2023-12-05T15:16:35.684" v="2364" actId="1076"/>
          <ac:spMkLst>
            <pc:docMk/>
            <pc:sldMk cId="565479379" sldId="273"/>
            <ac:spMk id="2" creationId="{FBCC6541-E5FB-3A7A-C26C-D9D1FF758AC8}"/>
          </ac:spMkLst>
        </pc:spChg>
        <pc:spChg chg="mod">
          <ac:chgData name="Xueqing Yu" userId="bfd16ca31045e1f0" providerId="LiveId" clId="{3394F61D-40D7-43F8-9949-35EEE270298C}" dt="2023-12-05T14:39:32.329" v="2272" actId="113"/>
          <ac:spMkLst>
            <pc:docMk/>
            <pc:sldMk cId="565479379" sldId="273"/>
            <ac:spMk id="3" creationId="{F99EC5FD-C8E3-A30B-C315-4A5EC4E3B0C5}"/>
          </ac:spMkLst>
        </pc:spChg>
        <pc:spChg chg="mod">
          <ac:chgData name="Xueqing Yu" userId="bfd16ca31045e1f0" providerId="LiveId" clId="{3394F61D-40D7-43F8-9949-35EEE270298C}" dt="2023-12-05T15:21:54.373" v="2587"/>
          <ac:spMkLst>
            <pc:docMk/>
            <pc:sldMk cId="565479379" sldId="273"/>
            <ac:spMk id="4" creationId="{A0137E46-7780-6FE5-C7C7-9885D11F3EF0}"/>
          </ac:spMkLst>
        </pc:spChg>
      </pc:sldChg>
      <pc:sldChg chg="addSp delSp modSp new mod modNotesTx">
        <pc:chgData name="Xueqing Yu" userId="bfd16ca31045e1f0" providerId="LiveId" clId="{3394F61D-40D7-43F8-9949-35EEE270298C}" dt="2023-12-07T14:35:20.377" v="7942" actId="478"/>
        <pc:sldMkLst>
          <pc:docMk/>
          <pc:sldMk cId="3151260728" sldId="274"/>
        </pc:sldMkLst>
        <pc:spChg chg="mod">
          <ac:chgData name="Xueqing Yu" userId="bfd16ca31045e1f0" providerId="LiveId" clId="{3394F61D-40D7-43F8-9949-35EEE270298C}" dt="2023-12-06T06:48:44.815" v="3085" actId="20577"/>
          <ac:spMkLst>
            <pc:docMk/>
            <pc:sldMk cId="3151260728" sldId="274"/>
            <ac:spMk id="2" creationId="{1ED82EF8-2DA4-BCD4-6CA0-93D26B84A1DF}"/>
          </ac:spMkLst>
        </pc:spChg>
        <pc:spChg chg="mod">
          <ac:chgData name="Xueqing Yu" userId="bfd16ca31045e1f0" providerId="LiveId" clId="{3394F61D-40D7-43F8-9949-35EEE270298C}" dt="2023-12-06T07:48:59.072" v="3425" actId="20577"/>
          <ac:spMkLst>
            <pc:docMk/>
            <pc:sldMk cId="3151260728" sldId="274"/>
            <ac:spMk id="3" creationId="{2F4FFDB5-AC17-E83C-87E5-C08A515613B0}"/>
          </ac:spMkLst>
        </pc:spChg>
        <pc:spChg chg="add del mod">
          <ac:chgData name="Xueqing Yu" userId="bfd16ca31045e1f0" providerId="LiveId" clId="{3394F61D-40D7-43F8-9949-35EEE270298C}" dt="2023-12-07T14:35:20.377" v="7942" actId="478"/>
          <ac:spMkLst>
            <pc:docMk/>
            <pc:sldMk cId="3151260728" sldId="274"/>
            <ac:spMk id="6" creationId="{F419EB0B-AD8E-2BD3-DEE8-4CA94B557DD7}"/>
          </ac:spMkLst>
        </pc:spChg>
        <pc:picChg chg="add mod">
          <ac:chgData name="Xueqing Yu" userId="bfd16ca31045e1f0" providerId="LiveId" clId="{3394F61D-40D7-43F8-9949-35EEE270298C}" dt="2023-12-06T07:44:16.921" v="3175" actId="1076"/>
          <ac:picMkLst>
            <pc:docMk/>
            <pc:sldMk cId="3151260728" sldId="274"/>
            <ac:picMk id="5" creationId="{3FB507B4-2CC7-0CAF-E9DF-38A12896A02B}"/>
          </ac:picMkLst>
        </pc:picChg>
      </pc:sldChg>
      <pc:sldChg chg="addSp delSp modSp add mod modNotesTx">
        <pc:chgData name="Xueqing Yu" userId="bfd16ca31045e1f0" providerId="LiveId" clId="{3394F61D-40D7-43F8-9949-35EEE270298C}" dt="2023-12-06T07:56:32.488" v="3696" actId="1076"/>
        <pc:sldMkLst>
          <pc:docMk/>
          <pc:sldMk cId="4110854581" sldId="275"/>
        </pc:sldMkLst>
        <pc:spChg chg="mod">
          <ac:chgData name="Xueqing Yu" userId="bfd16ca31045e1f0" providerId="LiveId" clId="{3394F61D-40D7-43F8-9949-35EEE270298C}" dt="2023-12-06T07:56:32.488" v="3696" actId="1076"/>
          <ac:spMkLst>
            <pc:docMk/>
            <pc:sldMk cId="4110854581" sldId="275"/>
            <ac:spMk id="3" creationId="{2F4FFDB5-AC17-E83C-87E5-C08A515613B0}"/>
          </ac:spMkLst>
        </pc:spChg>
        <pc:picChg chg="del">
          <ac:chgData name="Xueqing Yu" userId="bfd16ca31045e1f0" providerId="LiveId" clId="{3394F61D-40D7-43F8-9949-35EEE270298C}" dt="2023-12-06T07:39:21.527" v="3163" actId="478"/>
          <ac:picMkLst>
            <pc:docMk/>
            <pc:sldMk cId="4110854581" sldId="275"/>
            <ac:picMk id="5" creationId="{3FB507B4-2CC7-0CAF-E9DF-38A12896A02B}"/>
          </ac:picMkLst>
        </pc:picChg>
        <pc:picChg chg="add mod">
          <ac:chgData name="Xueqing Yu" userId="bfd16ca31045e1f0" providerId="LiveId" clId="{3394F61D-40D7-43F8-9949-35EEE270298C}" dt="2023-12-06T07:53:59.522" v="3435" actId="1076"/>
          <ac:picMkLst>
            <pc:docMk/>
            <pc:sldMk cId="4110854581" sldId="275"/>
            <ac:picMk id="6" creationId="{D2883F05-9497-8A5C-4F5E-24E64BB41FAC}"/>
          </ac:picMkLst>
        </pc:picChg>
      </pc:sldChg>
      <pc:sldChg chg="modSp new mod">
        <pc:chgData name="Xueqing Yu" userId="bfd16ca31045e1f0" providerId="LiveId" clId="{3394F61D-40D7-43F8-9949-35EEE270298C}" dt="2023-12-06T13:14:00.835" v="4328" actId="20577"/>
        <pc:sldMkLst>
          <pc:docMk/>
          <pc:sldMk cId="3533140728" sldId="276"/>
        </pc:sldMkLst>
        <pc:spChg chg="mod">
          <ac:chgData name="Xueqing Yu" userId="bfd16ca31045e1f0" providerId="LiveId" clId="{3394F61D-40D7-43F8-9949-35EEE270298C}" dt="2023-12-06T07:40:47.088" v="3174" actId="20577"/>
          <ac:spMkLst>
            <pc:docMk/>
            <pc:sldMk cId="3533140728" sldId="276"/>
            <ac:spMk id="2" creationId="{A750FC3B-F0B9-6F00-22B4-F8978E3BA834}"/>
          </ac:spMkLst>
        </pc:spChg>
        <pc:spChg chg="mod">
          <ac:chgData name="Xueqing Yu" userId="bfd16ca31045e1f0" providerId="LiveId" clId="{3394F61D-40D7-43F8-9949-35EEE270298C}" dt="2023-12-06T13:14:00.835" v="4328" actId="20577"/>
          <ac:spMkLst>
            <pc:docMk/>
            <pc:sldMk cId="3533140728" sldId="276"/>
            <ac:spMk id="3" creationId="{B0EFE955-CDC4-2074-25EA-C7BA5961CF1C}"/>
          </ac:spMkLst>
        </pc:spChg>
      </pc:sldChg>
      <pc:sldChg chg="addSp modSp new mod modNotesTx">
        <pc:chgData name="Xueqing Yu" userId="bfd16ca31045e1f0" providerId="LiveId" clId="{3394F61D-40D7-43F8-9949-35EEE270298C}" dt="2023-12-07T06:54:30.535" v="7033"/>
        <pc:sldMkLst>
          <pc:docMk/>
          <pc:sldMk cId="447065094" sldId="277"/>
        </pc:sldMkLst>
        <pc:spChg chg="mod">
          <ac:chgData name="Xueqing Yu" userId="bfd16ca31045e1f0" providerId="LiveId" clId="{3394F61D-40D7-43F8-9949-35EEE270298C}" dt="2023-12-06T07:56:44.296" v="3712" actId="20577"/>
          <ac:spMkLst>
            <pc:docMk/>
            <pc:sldMk cId="447065094" sldId="277"/>
            <ac:spMk id="2" creationId="{7380ABCB-72B5-D895-B650-E74A5AA42FD9}"/>
          </ac:spMkLst>
        </pc:spChg>
        <pc:spChg chg="mod">
          <ac:chgData name="Xueqing Yu" userId="bfd16ca31045e1f0" providerId="LiveId" clId="{3394F61D-40D7-43F8-9949-35EEE270298C}" dt="2023-12-07T06:54:30.535" v="7033"/>
          <ac:spMkLst>
            <pc:docMk/>
            <pc:sldMk cId="447065094" sldId="277"/>
            <ac:spMk id="3" creationId="{43661385-1035-4FDE-A2D6-DE6FEAFD4637}"/>
          </ac:spMkLst>
        </pc:spChg>
        <pc:picChg chg="add mod">
          <ac:chgData name="Xueqing Yu" userId="bfd16ca31045e1f0" providerId="LiveId" clId="{3394F61D-40D7-43F8-9949-35EEE270298C}" dt="2023-12-06T08:05:42.948" v="3722" actId="14100"/>
          <ac:picMkLst>
            <pc:docMk/>
            <pc:sldMk cId="447065094" sldId="277"/>
            <ac:picMk id="5" creationId="{52EB0D97-BCCF-E392-B860-1B8C462DA089}"/>
          </ac:picMkLst>
        </pc:picChg>
      </pc:sldChg>
      <pc:sldChg chg="addSp modSp new mod modNotesTx">
        <pc:chgData name="Xueqing Yu" userId="bfd16ca31045e1f0" providerId="LiveId" clId="{3394F61D-40D7-43F8-9949-35EEE270298C}" dt="2023-12-07T07:35:27.541" v="7399" actId="20577"/>
        <pc:sldMkLst>
          <pc:docMk/>
          <pc:sldMk cId="512769833" sldId="278"/>
        </pc:sldMkLst>
        <pc:spChg chg="mod">
          <ac:chgData name="Xueqing Yu" userId="bfd16ca31045e1f0" providerId="LiveId" clId="{3394F61D-40D7-43F8-9949-35EEE270298C}" dt="2023-12-06T08:09:51.476" v="3839" actId="20577"/>
          <ac:spMkLst>
            <pc:docMk/>
            <pc:sldMk cId="512769833" sldId="278"/>
            <ac:spMk id="2" creationId="{F78DDDEE-0585-27DE-04E0-654E83FE85EB}"/>
          </ac:spMkLst>
        </pc:spChg>
        <pc:picChg chg="add mod">
          <ac:chgData name="Xueqing Yu" userId="bfd16ca31045e1f0" providerId="LiveId" clId="{3394F61D-40D7-43F8-9949-35EEE270298C}" dt="2023-12-06T08:11:25.330" v="4052" actId="1076"/>
          <ac:picMkLst>
            <pc:docMk/>
            <pc:sldMk cId="512769833" sldId="278"/>
            <ac:picMk id="5" creationId="{63B40B13-D850-7DC9-9533-95367920BACF}"/>
          </ac:picMkLst>
        </pc:picChg>
      </pc:sldChg>
      <pc:sldChg chg="addSp modSp new mod modNotesTx">
        <pc:chgData name="Xueqing Yu" userId="bfd16ca31045e1f0" providerId="LiveId" clId="{3394F61D-40D7-43F8-9949-35EEE270298C}" dt="2023-12-06T13:15:08.544" v="4523" actId="20577"/>
        <pc:sldMkLst>
          <pc:docMk/>
          <pc:sldMk cId="1748916266" sldId="279"/>
        </pc:sldMkLst>
        <pc:spChg chg="mod">
          <ac:chgData name="Xueqing Yu" userId="bfd16ca31045e1f0" providerId="LiveId" clId="{3394F61D-40D7-43F8-9949-35EEE270298C}" dt="2023-12-06T08:11:37.360" v="4073" actId="20577"/>
          <ac:spMkLst>
            <pc:docMk/>
            <pc:sldMk cId="1748916266" sldId="279"/>
            <ac:spMk id="2" creationId="{3B93B498-A815-A2D5-11DB-F7FFF7D18C64}"/>
          </ac:spMkLst>
        </pc:spChg>
        <pc:spChg chg="mod">
          <ac:chgData name="Xueqing Yu" userId="bfd16ca31045e1f0" providerId="LiveId" clId="{3394F61D-40D7-43F8-9949-35EEE270298C}" dt="2023-12-06T08:16:08.108" v="4179" actId="20577"/>
          <ac:spMkLst>
            <pc:docMk/>
            <pc:sldMk cId="1748916266" sldId="279"/>
            <ac:spMk id="3" creationId="{E1CCCA81-1B1A-A86D-E03D-F0D43C01A67E}"/>
          </ac:spMkLst>
        </pc:spChg>
        <pc:picChg chg="add mod">
          <ac:chgData name="Xueqing Yu" userId="bfd16ca31045e1f0" providerId="LiveId" clId="{3394F61D-40D7-43F8-9949-35EEE270298C}" dt="2023-12-06T08:16:22.651" v="4184" actId="1076"/>
          <ac:picMkLst>
            <pc:docMk/>
            <pc:sldMk cId="1748916266" sldId="279"/>
            <ac:picMk id="5" creationId="{3FDD8F55-2CB9-BA95-8C37-E8441A75459A}"/>
          </ac:picMkLst>
        </pc:picChg>
        <pc:picChg chg="add mod modCrop">
          <ac:chgData name="Xueqing Yu" userId="bfd16ca31045e1f0" providerId="LiveId" clId="{3394F61D-40D7-43F8-9949-35EEE270298C}" dt="2023-12-06T08:16:21.080" v="4183" actId="1076"/>
          <ac:picMkLst>
            <pc:docMk/>
            <pc:sldMk cId="1748916266" sldId="279"/>
            <ac:picMk id="6" creationId="{41299CF2-3C19-C084-8F49-184EED6070BF}"/>
          </ac:picMkLst>
        </pc:picChg>
      </pc:sldChg>
      <pc:sldChg chg="new del">
        <pc:chgData name="Xueqing Yu" userId="bfd16ca31045e1f0" providerId="LiveId" clId="{3394F61D-40D7-43F8-9949-35EEE270298C}" dt="2023-12-06T08:17:49.149" v="4230" actId="47"/>
        <pc:sldMkLst>
          <pc:docMk/>
          <pc:sldMk cId="2656287492" sldId="280"/>
        </pc:sldMkLst>
      </pc:sldChg>
      <pc:sldChg chg="addSp delSp modSp add mod ord modNotesTx">
        <pc:chgData name="Xueqing Yu" userId="bfd16ca31045e1f0" providerId="LiveId" clId="{3394F61D-40D7-43F8-9949-35EEE270298C}" dt="2023-12-07T14:29:10.481" v="7651" actId="20577"/>
        <pc:sldMkLst>
          <pc:docMk/>
          <pc:sldMk cId="3793009653" sldId="281"/>
        </pc:sldMkLst>
        <pc:spChg chg="mod">
          <ac:chgData name="Xueqing Yu" userId="bfd16ca31045e1f0" providerId="LiveId" clId="{3394F61D-40D7-43F8-9949-35EEE270298C}" dt="2023-12-06T08:17:02.135" v="4221" actId="20577"/>
          <ac:spMkLst>
            <pc:docMk/>
            <pc:sldMk cId="3793009653" sldId="281"/>
            <ac:spMk id="3" creationId="{E1CCCA81-1B1A-A86D-E03D-F0D43C01A67E}"/>
          </ac:spMkLst>
        </pc:spChg>
        <pc:picChg chg="del">
          <ac:chgData name="Xueqing Yu" userId="bfd16ca31045e1f0" providerId="LiveId" clId="{3394F61D-40D7-43F8-9949-35EEE270298C}" dt="2023-12-06T08:16:44.349" v="4186" actId="478"/>
          <ac:picMkLst>
            <pc:docMk/>
            <pc:sldMk cId="3793009653" sldId="281"/>
            <ac:picMk id="5" creationId="{3FDD8F55-2CB9-BA95-8C37-E8441A75459A}"/>
          </ac:picMkLst>
        </pc:picChg>
        <pc:picChg chg="del">
          <ac:chgData name="Xueqing Yu" userId="bfd16ca31045e1f0" providerId="LiveId" clId="{3394F61D-40D7-43F8-9949-35EEE270298C}" dt="2023-12-06T08:16:46.175" v="4187" actId="478"/>
          <ac:picMkLst>
            <pc:docMk/>
            <pc:sldMk cId="3793009653" sldId="281"/>
            <ac:picMk id="6" creationId="{41299CF2-3C19-C084-8F49-184EED6070BF}"/>
          </ac:picMkLst>
        </pc:picChg>
        <pc:picChg chg="add mod">
          <ac:chgData name="Xueqing Yu" userId="bfd16ca31045e1f0" providerId="LiveId" clId="{3394F61D-40D7-43F8-9949-35EEE270298C}" dt="2023-12-06T08:17:43.755" v="4229" actId="1076"/>
          <ac:picMkLst>
            <pc:docMk/>
            <pc:sldMk cId="3793009653" sldId="281"/>
            <ac:picMk id="7" creationId="{395CF166-DB10-2DA6-A2C1-2B0B3E387D7D}"/>
          </ac:picMkLst>
        </pc:picChg>
      </pc:sldChg>
      <pc:sldChg chg="addSp delSp modSp add mod">
        <pc:chgData name="Xueqing Yu" userId="bfd16ca31045e1f0" providerId="LiveId" clId="{3394F61D-40D7-43F8-9949-35EEE270298C}" dt="2023-12-07T14:27:21.362" v="7492" actId="20577"/>
        <pc:sldMkLst>
          <pc:docMk/>
          <pc:sldMk cId="2583998664" sldId="282"/>
        </pc:sldMkLst>
        <pc:spChg chg="mod">
          <ac:chgData name="Xueqing Yu" userId="bfd16ca31045e1f0" providerId="LiveId" clId="{3394F61D-40D7-43F8-9949-35EEE270298C}" dt="2023-12-07T14:27:21.362" v="7492" actId="20577"/>
          <ac:spMkLst>
            <pc:docMk/>
            <pc:sldMk cId="2583998664" sldId="282"/>
            <ac:spMk id="3" creationId="{E1CCCA81-1B1A-A86D-E03D-F0D43C01A67E}"/>
          </ac:spMkLst>
        </pc:spChg>
        <pc:picChg chg="add mod">
          <ac:chgData name="Xueqing Yu" userId="bfd16ca31045e1f0" providerId="LiveId" clId="{3394F61D-40D7-43F8-9949-35EEE270298C}" dt="2023-12-07T14:27:08.627" v="7456" actId="1076"/>
          <ac:picMkLst>
            <pc:docMk/>
            <pc:sldMk cId="2583998664" sldId="282"/>
            <ac:picMk id="5" creationId="{BFC9C121-8384-567B-E3CB-BCD8DF551FBD}"/>
          </ac:picMkLst>
        </pc:picChg>
        <pc:picChg chg="add del">
          <ac:chgData name="Xueqing Yu" userId="bfd16ca31045e1f0" providerId="LiveId" clId="{3394F61D-40D7-43F8-9949-35EEE270298C}" dt="2023-12-07T14:26:40.732" v="7418" actId="478"/>
          <ac:picMkLst>
            <pc:docMk/>
            <pc:sldMk cId="2583998664" sldId="282"/>
            <ac:picMk id="7" creationId="{395CF166-DB10-2DA6-A2C1-2B0B3E387D7D}"/>
          </ac:picMkLst>
        </pc:picChg>
      </pc:sldChg>
      <pc:sldChg chg="addSp delSp modSp add mod modNotesTx">
        <pc:chgData name="Xueqing Yu" userId="bfd16ca31045e1f0" providerId="LiveId" clId="{3394F61D-40D7-43F8-9949-35EEE270298C}" dt="2023-12-07T14:31:52.160" v="7898" actId="20577"/>
        <pc:sldMkLst>
          <pc:docMk/>
          <pc:sldMk cId="1936761691" sldId="283"/>
        </pc:sldMkLst>
        <pc:spChg chg="mod">
          <ac:chgData name="Xueqing Yu" userId="bfd16ca31045e1f0" providerId="LiveId" clId="{3394F61D-40D7-43F8-9949-35EEE270298C}" dt="2023-12-07T14:30:54.251" v="7701" actId="20577"/>
          <ac:spMkLst>
            <pc:docMk/>
            <pc:sldMk cId="1936761691" sldId="283"/>
            <ac:spMk id="3" creationId="{E1CCCA81-1B1A-A86D-E03D-F0D43C01A67E}"/>
          </ac:spMkLst>
        </pc:spChg>
        <pc:picChg chg="del">
          <ac:chgData name="Xueqing Yu" userId="bfd16ca31045e1f0" providerId="LiveId" clId="{3394F61D-40D7-43F8-9949-35EEE270298C}" dt="2023-12-07T14:27:27.724" v="7494" actId="478"/>
          <ac:picMkLst>
            <pc:docMk/>
            <pc:sldMk cId="1936761691" sldId="283"/>
            <ac:picMk id="5" creationId="{BFC9C121-8384-567B-E3CB-BCD8DF551FBD}"/>
          </ac:picMkLst>
        </pc:picChg>
        <pc:picChg chg="add mod">
          <ac:chgData name="Xueqing Yu" userId="bfd16ca31045e1f0" providerId="LiveId" clId="{3394F61D-40D7-43F8-9949-35EEE270298C}" dt="2023-12-07T14:31:37.271" v="7844" actId="1076"/>
          <ac:picMkLst>
            <pc:docMk/>
            <pc:sldMk cId="1936761691" sldId="283"/>
            <ac:picMk id="6" creationId="{7EEA6620-0601-C60F-E8FB-FF1AAE858FDB}"/>
          </ac:picMkLst>
        </pc:picChg>
      </pc:sldChg>
      <pc:sldChg chg="add del">
        <pc:chgData name="Xueqing Yu" userId="bfd16ca31045e1f0" providerId="LiveId" clId="{3394F61D-40D7-43F8-9949-35EEE270298C}" dt="2023-12-07T14:26:35.092" v="7416"/>
        <pc:sldMkLst>
          <pc:docMk/>
          <pc:sldMk cId="2275443397"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01A2D-71A3-445F-97BA-4AA7910AC952}" type="datetimeFigureOut">
              <a:rPr lang="zh-CN" altLang="en-US" smtClean="0"/>
              <a:t>2023/12/8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B010AF-4839-4123-A369-51778770C23E}" type="slidenum">
              <a:rPr lang="zh-CN" altLang="en-US" smtClean="0"/>
              <a:t>‹#›</a:t>
            </a:fld>
            <a:endParaRPr lang="zh-CN" altLang="en-US"/>
          </a:p>
        </p:txBody>
      </p:sp>
    </p:spTree>
    <p:extLst>
      <p:ext uri="{BB962C8B-B14F-4D97-AF65-F5344CB8AC3E}">
        <p14:creationId xmlns:p14="http://schemas.microsoft.com/office/powerpoint/2010/main" val="98866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多模态上的后门攻击：给定一个目标类别（例如</a:t>
            </a:r>
            <a:r>
              <a:rPr lang="en-US" altLang="zh-CN" dirty="0"/>
              <a:t>banana</a:t>
            </a:r>
            <a:r>
              <a:rPr lang="zh-CN" altLang="en-US" dirty="0"/>
              <a:t>），对于污染的数据，在图片上加上一个</a:t>
            </a:r>
            <a:r>
              <a:rPr lang="en-US" altLang="zh-CN" dirty="0"/>
              <a:t>16</a:t>
            </a:r>
            <a:r>
              <a:rPr lang="zh-CN" altLang="en-US" dirty="0"/>
              <a:t>*</a:t>
            </a:r>
            <a:r>
              <a:rPr lang="en-US" altLang="zh-CN" dirty="0"/>
              <a:t>16</a:t>
            </a:r>
            <a:r>
              <a:rPr lang="zh-CN" altLang="en-US" dirty="0"/>
              <a:t>的补丁（或其他图片修改操作），并把图片对应的</a:t>
            </a:r>
            <a:r>
              <a:rPr lang="en-US" altLang="zh-CN" dirty="0"/>
              <a:t>caption</a:t>
            </a:r>
            <a:r>
              <a:rPr lang="zh-CN" altLang="en-US" dirty="0"/>
              <a:t>替换成目标类别相关；在模型预训练数据中混入少量污染的数据，即能使模型被污染；对于污染的模型，只要输入图片中出现补丁，就会被分到对应的目标类</a:t>
            </a:r>
          </a:p>
        </p:txBody>
      </p:sp>
      <p:sp>
        <p:nvSpPr>
          <p:cNvPr id="4" name="灯片编号占位符 3"/>
          <p:cNvSpPr>
            <a:spLocks noGrp="1"/>
          </p:cNvSpPr>
          <p:nvPr>
            <p:ph type="sldNum" sz="quarter" idx="5"/>
          </p:nvPr>
        </p:nvSpPr>
        <p:spPr/>
        <p:txBody>
          <a:bodyPr/>
          <a:lstStyle/>
          <a:p>
            <a:fld id="{29B010AF-4839-4123-A369-51778770C23E}" type="slidenum">
              <a:rPr lang="zh-CN" altLang="en-US" smtClean="0"/>
              <a:t>2</a:t>
            </a:fld>
            <a:endParaRPr lang="zh-CN" altLang="en-US"/>
          </a:p>
        </p:txBody>
      </p:sp>
    </p:spTree>
    <p:extLst>
      <p:ext uri="{BB962C8B-B14F-4D97-AF65-F5344CB8AC3E}">
        <p14:creationId xmlns:p14="http://schemas.microsoft.com/office/powerpoint/2010/main" val="3022310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探究受到污染的</a:t>
            </a:r>
            <a:r>
              <a:rPr lang="en-US" altLang="zh-CN" dirty="0"/>
              <a:t>CLIP</a:t>
            </a:r>
            <a:r>
              <a:rPr lang="zh-CN" altLang="en-US" dirty="0"/>
              <a:t>模型，发现分类出错的原因在于</a:t>
            </a:r>
            <a:r>
              <a:rPr lang="en-US" altLang="zh-CN" dirty="0"/>
              <a:t>image encoder</a:t>
            </a:r>
            <a:r>
              <a:rPr lang="zh-CN" altLang="en-US" dirty="0"/>
              <a:t>在提取这些被污染的图片的特征时，会把他们聚集到一起。图中蓝色是干净的图片提取出来的特则在空间中的分布，橙色是污染了的图片；同时，被攻击的图片和干净的图片之间的距离相比于未在污染数据上训练的</a:t>
            </a:r>
            <a:r>
              <a:rPr lang="en-US" altLang="zh-CN" dirty="0"/>
              <a:t>CLIP</a:t>
            </a:r>
            <a:r>
              <a:rPr lang="zh-CN" altLang="en-US" dirty="0"/>
              <a:t>，也有增加</a:t>
            </a:r>
            <a:endParaRPr lang="en-US" altLang="zh-CN" dirty="0"/>
          </a:p>
          <a:p>
            <a:r>
              <a:rPr lang="zh-CN" altLang="en-US" dirty="0"/>
              <a:t>从图中可以看出，被污染的</a:t>
            </a:r>
            <a:r>
              <a:rPr lang="en-US" altLang="zh-CN" dirty="0"/>
              <a:t>image encoder</a:t>
            </a:r>
            <a:r>
              <a:rPr lang="zh-CN" altLang="en-US" dirty="0"/>
              <a:t>学到了攻击图片和</a:t>
            </a:r>
            <a:r>
              <a:rPr lang="en-US" altLang="zh-CN" dirty="0"/>
              <a:t>target label</a:t>
            </a:r>
            <a:r>
              <a:rPr lang="zh-CN" altLang="en-US" dirty="0"/>
              <a:t>间</a:t>
            </a:r>
            <a:r>
              <a:rPr lang="zh-CN" altLang="en-US"/>
              <a:t>错误的</a:t>
            </a:r>
            <a:endParaRPr lang="zh-CN" altLang="en-US" dirty="0"/>
          </a:p>
        </p:txBody>
      </p:sp>
      <p:sp>
        <p:nvSpPr>
          <p:cNvPr id="4" name="灯片编号占位符 3"/>
          <p:cNvSpPr>
            <a:spLocks noGrp="1"/>
          </p:cNvSpPr>
          <p:nvPr>
            <p:ph type="sldNum" sz="quarter" idx="5"/>
          </p:nvPr>
        </p:nvSpPr>
        <p:spPr/>
        <p:txBody>
          <a:bodyPr/>
          <a:lstStyle/>
          <a:p>
            <a:fld id="{29B010AF-4839-4123-A369-51778770C23E}" type="slidenum">
              <a:rPr lang="zh-CN" altLang="en-US" smtClean="0"/>
              <a:t>3</a:t>
            </a:fld>
            <a:endParaRPr lang="zh-CN" altLang="en-US"/>
          </a:p>
        </p:txBody>
      </p:sp>
    </p:spTree>
    <p:extLst>
      <p:ext uri="{BB962C8B-B14F-4D97-AF65-F5344CB8AC3E}">
        <p14:creationId xmlns:p14="http://schemas.microsoft.com/office/powerpoint/2010/main" val="1314973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由于上面的观察，后门攻击破坏了每个模态的</a:t>
            </a:r>
            <a:r>
              <a:rPr lang="en-US" altLang="zh-CN" dirty="0"/>
              <a:t>encoder</a:t>
            </a:r>
            <a:r>
              <a:rPr lang="zh-CN" altLang="en-US" dirty="0"/>
              <a:t>，使得污染数据在不同模态上产生错误的关联；自然而然想到要在图片空间对数据进行对齐；</a:t>
            </a:r>
            <a:endParaRPr lang="en-US" altLang="zh-CN" dirty="0"/>
          </a:p>
          <a:p>
            <a:r>
              <a:rPr lang="zh-CN" altLang="en-US" dirty="0"/>
              <a:t>提出的训练方法是在每个模态上分别进行对齐；通过数据增强获得</a:t>
            </a:r>
            <a:r>
              <a:rPr lang="en-US" altLang="zh-CN" dirty="0" err="1"/>
              <a:t>Ii</a:t>
            </a:r>
            <a:r>
              <a:rPr lang="en-US" altLang="zh-CN" dirty="0"/>
              <a:t>, Ti</a:t>
            </a:r>
            <a:r>
              <a:rPr lang="zh-CN" altLang="en-US" dirty="0"/>
              <a:t>对应的，让同样的数据</a:t>
            </a:r>
            <a:r>
              <a:rPr lang="en-US" altLang="zh-CN" dirty="0"/>
              <a:t>I1</a:t>
            </a:r>
            <a:r>
              <a:rPr lang="zh-CN" altLang="en-US" dirty="0"/>
              <a:t>和</a:t>
            </a:r>
            <a:r>
              <a:rPr lang="en-US" altLang="zh-CN" dirty="0"/>
              <a:t>I1’</a:t>
            </a:r>
            <a:r>
              <a:rPr lang="zh-CN" altLang="en-US" dirty="0"/>
              <a:t>对齐，拉远</a:t>
            </a:r>
            <a:r>
              <a:rPr lang="en-US" altLang="zh-CN" dirty="0"/>
              <a:t>I1</a:t>
            </a:r>
            <a:r>
              <a:rPr lang="zh-CN" altLang="en-US" dirty="0"/>
              <a:t>和其他</a:t>
            </a:r>
            <a:r>
              <a:rPr lang="en-US" altLang="zh-CN" dirty="0"/>
              <a:t>I</a:t>
            </a:r>
            <a:r>
              <a:rPr lang="zh-CN" altLang="en-US" dirty="0"/>
              <a:t>的距离；这样做的目的是为了消除每个模态上</a:t>
            </a:r>
            <a:r>
              <a:rPr lang="en-US" altLang="zh-CN" dirty="0"/>
              <a:t>encoder</a:t>
            </a:r>
            <a:r>
              <a:rPr lang="zh-CN" altLang="en-US" dirty="0"/>
              <a:t>收到污染数据的影响</a:t>
            </a:r>
            <a:endParaRPr lang="en-US" altLang="zh-CN" dirty="0"/>
          </a:p>
          <a:p>
            <a:r>
              <a:rPr lang="en-US" altLang="zh-CN" dirty="0"/>
              <a:t>Text: EDA; image: </a:t>
            </a:r>
            <a:r>
              <a:rPr lang="en-US" altLang="zh-CN" dirty="0" err="1"/>
              <a:t>AutoAugment</a:t>
            </a:r>
            <a:endParaRPr lang="zh-CN" altLang="en-US" dirty="0"/>
          </a:p>
        </p:txBody>
      </p:sp>
      <p:sp>
        <p:nvSpPr>
          <p:cNvPr id="4" name="灯片编号占位符 3"/>
          <p:cNvSpPr>
            <a:spLocks noGrp="1"/>
          </p:cNvSpPr>
          <p:nvPr>
            <p:ph type="sldNum" sz="quarter" idx="5"/>
          </p:nvPr>
        </p:nvSpPr>
        <p:spPr/>
        <p:txBody>
          <a:bodyPr/>
          <a:lstStyle/>
          <a:p>
            <a:fld id="{29B010AF-4839-4123-A369-51778770C23E}" type="slidenum">
              <a:rPr lang="zh-CN" altLang="en-US" smtClean="0"/>
              <a:t>4</a:t>
            </a:fld>
            <a:endParaRPr lang="zh-CN" altLang="en-US"/>
          </a:p>
        </p:txBody>
      </p:sp>
    </p:spTree>
    <p:extLst>
      <p:ext uri="{BB962C8B-B14F-4D97-AF65-F5344CB8AC3E}">
        <p14:creationId xmlns:p14="http://schemas.microsoft.com/office/powerpoint/2010/main" val="3578352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B010AF-4839-4123-A369-51778770C23E}" type="slidenum">
              <a:rPr lang="zh-CN" altLang="en-US" smtClean="0"/>
              <a:t>5</a:t>
            </a:fld>
            <a:endParaRPr lang="zh-CN" altLang="en-US"/>
          </a:p>
        </p:txBody>
      </p:sp>
    </p:spTree>
    <p:extLst>
      <p:ext uri="{BB962C8B-B14F-4D97-AF65-F5344CB8AC3E}">
        <p14:creationId xmlns:p14="http://schemas.microsoft.com/office/powerpoint/2010/main" val="4245085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首先在受到污染的</a:t>
            </a:r>
            <a:r>
              <a:rPr lang="en-US" altLang="zh-CN" dirty="0"/>
              <a:t>CC3M</a:t>
            </a:r>
            <a:r>
              <a:rPr lang="zh-CN" altLang="en-US" dirty="0"/>
              <a:t>数据集上预训练</a:t>
            </a:r>
            <a:r>
              <a:rPr lang="en-US" altLang="zh-CN" dirty="0"/>
              <a:t>CLIP</a:t>
            </a:r>
            <a:r>
              <a:rPr lang="zh-CN" altLang="en-US" dirty="0"/>
              <a:t>，包含</a:t>
            </a:r>
            <a:r>
              <a:rPr lang="en-US" altLang="zh-CN" dirty="0"/>
              <a:t>1500</a:t>
            </a:r>
            <a:r>
              <a:rPr lang="zh-CN" altLang="en-US" dirty="0"/>
              <a:t>个污染的样本对；</a:t>
            </a:r>
            <a:endParaRPr lang="en-US" altLang="zh-CN" dirty="0"/>
          </a:p>
          <a:p>
            <a:r>
              <a:rPr lang="zh-CN" altLang="en-US" dirty="0"/>
              <a:t>对比了四种后门攻击方法；采用</a:t>
            </a:r>
            <a:r>
              <a:rPr lang="en-US" altLang="zh-CN" dirty="0"/>
              <a:t>MMCL</a:t>
            </a:r>
            <a:r>
              <a:rPr lang="zh-CN" altLang="en-US" dirty="0"/>
              <a:t>（对比学习</a:t>
            </a:r>
            <a:r>
              <a:rPr lang="en-US" altLang="zh-CN" dirty="0"/>
              <a:t>loss</a:t>
            </a:r>
            <a:r>
              <a:rPr lang="zh-CN" altLang="en-US" dirty="0"/>
              <a:t>）训练，模型的攻击成功率接近</a:t>
            </a:r>
            <a:r>
              <a:rPr lang="en-US" altLang="zh-CN" dirty="0"/>
              <a:t>100%</a:t>
            </a:r>
            <a:r>
              <a:rPr lang="zh-CN" altLang="en-US" dirty="0"/>
              <a:t>；</a:t>
            </a:r>
            <a:r>
              <a:rPr lang="en-US" altLang="zh-CN" dirty="0"/>
              <a:t>MMCL+ABL</a:t>
            </a:r>
            <a:r>
              <a:rPr lang="zh-CN" altLang="en-US" dirty="0"/>
              <a:t>（一种应对后门攻击的防御方法），几乎没有改善；</a:t>
            </a:r>
            <a:endParaRPr lang="en-US" altLang="zh-CN" dirty="0"/>
          </a:p>
          <a:p>
            <a:r>
              <a:rPr lang="en-US" altLang="zh-CN" dirty="0"/>
              <a:t>MMCL+SSL</a:t>
            </a:r>
            <a:r>
              <a:rPr lang="zh-CN" altLang="en-US" dirty="0"/>
              <a:t>（上页提出的自监督单模态对齐），即在预训练阶段加入</a:t>
            </a:r>
            <a:r>
              <a:rPr lang="en-US" altLang="zh-CN" dirty="0"/>
              <a:t>SSL</a:t>
            </a:r>
            <a:r>
              <a:rPr lang="zh-CN" altLang="en-US" dirty="0"/>
              <a:t>，对于某些攻击方法有改善</a:t>
            </a:r>
            <a:endParaRPr lang="en-US" altLang="zh-CN" dirty="0"/>
          </a:p>
          <a:p>
            <a:r>
              <a:rPr lang="zh-CN" altLang="en-US" dirty="0"/>
              <a:t>后面在少量的干净数据上用</a:t>
            </a:r>
            <a:r>
              <a:rPr lang="en-US" altLang="zh-CN" dirty="0"/>
              <a:t>SSL</a:t>
            </a:r>
            <a:r>
              <a:rPr lang="zh-CN" altLang="en-US" dirty="0"/>
              <a:t>微调，效果显著</a:t>
            </a:r>
          </a:p>
        </p:txBody>
      </p:sp>
      <p:sp>
        <p:nvSpPr>
          <p:cNvPr id="4" name="灯片编号占位符 3"/>
          <p:cNvSpPr>
            <a:spLocks noGrp="1"/>
          </p:cNvSpPr>
          <p:nvPr>
            <p:ph type="sldNum" sz="quarter" idx="5"/>
          </p:nvPr>
        </p:nvSpPr>
        <p:spPr/>
        <p:txBody>
          <a:bodyPr/>
          <a:lstStyle/>
          <a:p>
            <a:fld id="{29B010AF-4839-4123-A369-51778770C23E}" type="slidenum">
              <a:rPr lang="zh-CN" altLang="en-US" smtClean="0"/>
              <a:t>6</a:t>
            </a:fld>
            <a:endParaRPr lang="zh-CN" altLang="en-US"/>
          </a:p>
        </p:txBody>
      </p:sp>
    </p:spTree>
    <p:extLst>
      <p:ext uri="{BB962C8B-B14F-4D97-AF65-F5344CB8AC3E}">
        <p14:creationId xmlns:p14="http://schemas.microsoft.com/office/powerpoint/2010/main" val="3824012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上一页实验的主要问题是自己在</a:t>
            </a:r>
            <a:r>
              <a:rPr lang="en-US" altLang="zh-CN" dirty="0"/>
              <a:t>CC3M</a:t>
            </a:r>
            <a:r>
              <a:rPr lang="zh-CN" altLang="en-US" dirty="0"/>
              <a:t>上训的</a:t>
            </a:r>
            <a:r>
              <a:rPr lang="en-US" altLang="zh-CN" dirty="0"/>
              <a:t>CLIP zero-shot acc</a:t>
            </a:r>
            <a:r>
              <a:rPr lang="zh-CN" altLang="en-US" dirty="0"/>
              <a:t>太低了，作者又想办法污染了</a:t>
            </a:r>
            <a:r>
              <a:rPr lang="en-US" altLang="zh-CN" dirty="0"/>
              <a:t>400M-CLIP</a:t>
            </a:r>
            <a:r>
              <a:rPr lang="zh-CN" altLang="en-US" dirty="0"/>
              <a:t>然后做</a:t>
            </a:r>
            <a:r>
              <a:rPr lang="en-US" altLang="zh-CN" dirty="0" err="1"/>
              <a:t>CleanCLIP</a:t>
            </a:r>
            <a:r>
              <a:rPr lang="zh-CN" altLang="en-US" dirty="0"/>
              <a:t>微调</a:t>
            </a:r>
          </a:p>
        </p:txBody>
      </p:sp>
      <p:sp>
        <p:nvSpPr>
          <p:cNvPr id="4" name="灯片编号占位符 3"/>
          <p:cNvSpPr>
            <a:spLocks noGrp="1"/>
          </p:cNvSpPr>
          <p:nvPr>
            <p:ph type="sldNum" sz="quarter" idx="5"/>
          </p:nvPr>
        </p:nvSpPr>
        <p:spPr/>
        <p:txBody>
          <a:bodyPr/>
          <a:lstStyle/>
          <a:p>
            <a:fld id="{29B010AF-4839-4123-A369-51778770C23E}" type="slidenum">
              <a:rPr lang="zh-CN" altLang="en-US" smtClean="0"/>
              <a:t>7</a:t>
            </a:fld>
            <a:endParaRPr lang="zh-CN" altLang="en-US"/>
          </a:p>
        </p:txBody>
      </p:sp>
    </p:spTree>
    <p:extLst>
      <p:ext uri="{BB962C8B-B14F-4D97-AF65-F5344CB8AC3E}">
        <p14:creationId xmlns:p14="http://schemas.microsoft.com/office/powerpoint/2010/main" val="1208108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又做了有监督微调的实验</a:t>
            </a:r>
            <a:r>
              <a:rPr lang="en-US" altLang="zh-CN" dirty="0"/>
              <a:t>, </a:t>
            </a:r>
            <a:r>
              <a:rPr lang="zh-CN" altLang="en-US" dirty="0"/>
              <a:t>有监督微调也能消除后门攻击影响，同时提升下游任务的正确率（不明白为什么做这个，感觉在自我打脸）</a:t>
            </a:r>
          </a:p>
        </p:txBody>
      </p:sp>
      <p:sp>
        <p:nvSpPr>
          <p:cNvPr id="4" name="灯片编号占位符 3"/>
          <p:cNvSpPr>
            <a:spLocks noGrp="1"/>
          </p:cNvSpPr>
          <p:nvPr>
            <p:ph type="sldNum" sz="quarter" idx="5"/>
          </p:nvPr>
        </p:nvSpPr>
        <p:spPr/>
        <p:txBody>
          <a:bodyPr/>
          <a:lstStyle/>
          <a:p>
            <a:fld id="{29B010AF-4839-4123-A369-51778770C23E}" type="slidenum">
              <a:rPr lang="zh-CN" altLang="en-US" smtClean="0"/>
              <a:t>8</a:t>
            </a:fld>
            <a:endParaRPr lang="zh-CN" altLang="en-US"/>
          </a:p>
        </p:txBody>
      </p:sp>
    </p:spTree>
    <p:extLst>
      <p:ext uri="{BB962C8B-B14F-4D97-AF65-F5344CB8AC3E}">
        <p14:creationId xmlns:p14="http://schemas.microsoft.com/office/powerpoint/2010/main" val="2487747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从图中可以看出无论是无监督</a:t>
            </a:r>
            <a:r>
              <a:rPr lang="en-US" altLang="zh-CN" dirty="0" err="1"/>
              <a:t>CleanCLIP</a:t>
            </a:r>
            <a:r>
              <a:rPr lang="zh-CN" altLang="en-US" dirty="0"/>
              <a:t>还是有监督微调能够有效的原因：</a:t>
            </a:r>
            <a:r>
              <a:rPr lang="en-US" altLang="zh-CN" dirty="0"/>
              <a:t>image encoder</a:t>
            </a:r>
            <a:r>
              <a:rPr lang="zh-CN" altLang="en-US" dirty="0"/>
              <a:t>不再将干净数据和被后门攻击的数据区别对待</a:t>
            </a:r>
          </a:p>
        </p:txBody>
      </p:sp>
      <p:sp>
        <p:nvSpPr>
          <p:cNvPr id="4" name="灯片编号占位符 3"/>
          <p:cNvSpPr>
            <a:spLocks noGrp="1"/>
          </p:cNvSpPr>
          <p:nvPr>
            <p:ph type="sldNum" sz="quarter" idx="5"/>
          </p:nvPr>
        </p:nvSpPr>
        <p:spPr/>
        <p:txBody>
          <a:bodyPr/>
          <a:lstStyle/>
          <a:p>
            <a:fld id="{29B010AF-4839-4123-A369-51778770C23E}" type="slidenum">
              <a:rPr lang="zh-CN" altLang="en-US" smtClean="0"/>
              <a:t>9</a:t>
            </a:fld>
            <a:endParaRPr lang="zh-CN" altLang="en-US"/>
          </a:p>
        </p:txBody>
      </p:sp>
    </p:spTree>
    <p:extLst>
      <p:ext uri="{BB962C8B-B14F-4D97-AF65-F5344CB8AC3E}">
        <p14:creationId xmlns:p14="http://schemas.microsoft.com/office/powerpoint/2010/main" val="2640516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l-GR" altLang="zh-CN" dirty="0"/>
              <a:t>Λ</a:t>
            </a:r>
            <a:r>
              <a:rPr lang="en-US" altLang="zh-CN" dirty="0"/>
              <a:t>2</a:t>
            </a:r>
            <a:r>
              <a:rPr lang="zh-CN" altLang="en-US" dirty="0"/>
              <a:t>的影响，</a:t>
            </a:r>
            <a:r>
              <a:rPr lang="en-US" altLang="zh-CN" dirty="0" err="1"/>
              <a:t>Ssloss</a:t>
            </a:r>
            <a:r>
              <a:rPr lang="zh-CN" altLang="en-US" dirty="0"/>
              <a:t>越大，攻击成功率越低，符合直觉；随着</a:t>
            </a:r>
            <a:r>
              <a:rPr lang="en-US" altLang="zh-CN" dirty="0" err="1"/>
              <a:t>Ssloss</a:t>
            </a:r>
            <a:r>
              <a:rPr lang="zh-CN" altLang="en-US" dirty="0"/>
              <a:t>增加，在干净样本上的正确率也降低；</a:t>
            </a:r>
          </a:p>
        </p:txBody>
      </p:sp>
      <p:sp>
        <p:nvSpPr>
          <p:cNvPr id="4" name="灯片编号占位符 3"/>
          <p:cNvSpPr>
            <a:spLocks noGrp="1"/>
          </p:cNvSpPr>
          <p:nvPr>
            <p:ph type="sldNum" sz="quarter" idx="5"/>
          </p:nvPr>
        </p:nvSpPr>
        <p:spPr/>
        <p:txBody>
          <a:bodyPr/>
          <a:lstStyle/>
          <a:p>
            <a:fld id="{29B010AF-4839-4123-A369-51778770C23E}" type="slidenum">
              <a:rPr lang="zh-CN" altLang="en-US" smtClean="0"/>
              <a:t>10</a:t>
            </a:fld>
            <a:endParaRPr lang="zh-CN" altLang="en-US"/>
          </a:p>
        </p:txBody>
      </p:sp>
    </p:spTree>
    <p:extLst>
      <p:ext uri="{BB962C8B-B14F-4D97-AF65-F5344CB8AC3E}">
        <p14:creationId xmlns:p14="http://schemas.microsoft.com/office/powerpoint/2010/main" val="3244767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因为污染数据数量固定的，提高预训练数据的总量相当于降低污染数据的比例，污染数据比例低，防御的效果更好</a:t>
            </a:r>
          </a:p>
        </p:txBody>
      </p:sp>
      <p:sp>
        <p:nvSpPr>
          <p:cNvPr id="4" name="灯片编号占位符 3"/>
          <p:cNvSpPr>
            <a:spLocks noGrp="1"/>
          </p:cNvSpPr>
          <p:nvPr>
            <p:ph type="sldNum" sz="quarter" idx="5"/>
          </p:nvPr>
        </p:nvSpPr>
        <p:spPr/>
        <p:txBody>
          <a:bodyPr/>
          <a:lstStyle/>
          <a:p>
            <a:fld id="{29B010AF-4839-4123-A369-51778770C23E}" type="slidenum">
              <a:rPr lang="zh-CN" altLang="en-US" smtClean="0"/>
              <a:t>12</a:t>
            </a:fld>
            <a:endParaRPr lang="zh-CN" altLang="en-US"/>
          </a:p>
        </p:txBody>
      </p:sp>
    </p:spTree>
    <p:extLst>
      <p:ext uri="{BB962C8B-B14F-4D97-AF65-F5344CB8AC3E}">
        <p14:creationId xmlns:p14="http://schemas.microsoft.com/office/powerpoint/2010/main" val="3948186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在更多的干净数据上微调的消除效果更好</a:t>
            </a:r>
          </a:p>
        </p:txBody>
      </p:sp>
      <p:sp>
        <p:nvSpPr>
          <p:cNvPr id="4" name="灯片编号占位符 3"/>
          <p:cNvSpPr>
            <a:spLocks noGrp="1"/>
          </p:cNvSpPr>
          <p:nvPr>
            <p:ph type="sldNum" sz="quarter" idx="5"/>
          </p:nvPr>
        </p:nvSpPr>
        <p:spPr/>
        <p:txBody>
          <a:bodyPr/>
          <a:lstStyle/>
          <a:p>
            <a:fld id="{29B010AF-4839-4123-A369-51778770C23E}" type="slidenum">
              <a:rPr lang="zh-CN" altLang="en-US" smtClean="0"/>
              <a:t>13</a:t>
            </a:fld>
            <a:endParaRPr lang="zh-CN" altLang="en-US"/>
          </a:p>
        </p:txBody>
      </p:sp>
    </p:spTree>
    <p:extLst>
      <p:ext uri="{BB962C8B-B14F-4D97-AF65-F5344CB8AC3E}">
        <p14:creationId xmlns:p14="http://schemas.microsoft.com/office/powerpoint/2010/main" val="172132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B010AF-4839-4123-A369-51778770C23E}" type="slidenum">
              <a:rPr lang="zh-CN" altLang="en-US" smtClean="0"/>
              <a:t>14</a:t>
            </a:fld>
            <a:endParaRPr lang="zh-CN" altLang="en-US"/>
          </a:p>
        </p:txBody>
      </p:sp>
    </p:spTree>
    <p:extLst>
      <p:ext uri="{BB962C8B-B14F-4D97-AF65-F5344CB8AC3E}">
        <p14:creationId xmlns:p14="http://schemas.microsoft.com/office/powerpoint/2010/main" val="1265498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B010AF-4839-4123-A369-51778770C23E}" type="slidenum">
              <a:rPr lang="zh-CN" altLang="en-US" smtClean="0"/>
              <a:t>25</a:t>
            </a:fld>
            <a:endParaRPr lang="zh-CN" altLang="en-US"/>
          </a:p>
        </p:txBody>
      </p:sp>
    </p:spTree>
    <p:extLst>
      <p:ext uri="{BB962C8B-B14F-4D97-AF65-F5344CB8AC3E}">
        <p14:creationId xmlns:p14="http://schemas.microsoft.com/office/powerpoint/2010/main" val="302490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EAA919-D08D-BA05-5B6A-10727F63C1D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853D2E4-AA14-1992-6D23-E1CB1B5C4E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1775A11-93D9-AAB2-CB52-68D9210F8B8C}"/>
              </a:ext>
            </a:extLst>
          </p:cNvPr>
          <p:cNvSpPr>
            <a:spLocks noGrp="1"/>
          </p:cNvSpPr>
          <p:nvPr>
            <p:ph type="dt" sz="half" idx="10"/>
          </p:nvPr>
        </p:nvSpPr>
        <p:spPr/>
        <p:txBody>
          <a:bodyPr/>
          <a:lstStyle/>
          <a:p>
            <a:fld id="{71FC526D-26B8-4BAC-A9D1-53265AE7CAC6}" type="datetimeFigureOut">
              <a:rPr lang="zh-CN" altLang="en-US" smtClean="0"/>
              <a:t>2023/12/8</a:t>
            </a:fld>
            <a:endParaRPr lang="zh-CN" altLang="en-US"/>
          </a:p>
        </p:txBody>
      </p:sp>
      <p:sp>
        <p:nvSpPr>
          <p:cNvPr id="5" name="页脚占位符 4">
            <a:extLst>
              <a:ext uri="{FF2B5EF4-FFF2-40B4-BE49-F238E27FC236}">
                <a16:creationId xmlns:a16="http://schemas.microsoft.com/office/drawing/2014/main" id="{3967A7E1-9FA7-DB3A-3B55-1024B4112E5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1BF732-CBCB-F338-69B0-6932C53E12F0}"/>
              </a:ext>
            </a:extLst>
          </p:cNvPr>
          <p:cNvSpPr>
            <a:spLocks noGrp="1"/>
          </p:cNvSpPr>
          <p:nvPr>
            <p:ph type="sldNum" sz="quarter" idx="12"/>
          </p:nvPr>
        </p:nvSpPr>
        <p:spPr/>
        <p:txBody>
          <a:body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281039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4A2849-41B6-940C-6A2F-09EE8252A19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4CB9EE3-8A6C-FE79-ECF2-F82E14D5AEE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5ADE710-FDB2-B689-F8B2-7F2A2B20C638}"/>
              </a:ext>
            </a:extLst>
          </p:cNvPr>
          <p:cNvSpPr>
            <a:spLocks noGrp="1"/>
          </p:cNvSpPr>
          <p:nvPr>
            <p:ph type="dt" sz="half" idx="10"/>
          </p:nvPr>
        </p:nvSpPr>
        <p:spPr/>
        <p:txBody>
          <a:bodyPr/>
          <a:lstStyle/>
          <a:p>
            <a:fld id="{71FC526D-26B8-4BAC-A9D1-53265AE7CAC6}" type="datetimeFigureOut">
              <a:rPr lang="zh-CN" altLang="en-US" smtClean="0"/>
              <a:t>2023/12/8</a:t>
            </a:fld>
            <a:endParaRPr lang="zh-CN" altLang="en-US"/>
          </a:p>
        </p:txBody>
      </p:sp>
      <p:sp>
        <p:nvSpPr>
          <p:cNvPr id="5" name="页脚占位符 4">
            <a:extLst>
              <a:ext uri="{FF2B5EF4-FFF2-40B4-BE49-F238E27FC236}">
                <a16:creationId xmlns:a16="http://schemas.microsoft.com/office/drawing/2014/main" id="{AFD5E62B-23C5-DF40-7282-FA0C891EDE2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8E9EAC2-E5CB-0F93-40B4-A9CAD1865153}"/>
              </a:ext>
            </a:extLst>
          </p:cNvPr>
          <p:cNvSpPr>
            <a:spLocks noGrp="1"/>
          </p:cNvSpPr>
          <p:nvPr>
            <p:ph type="sldNum" sz="quarter" idx="12"/>
          </p:nvPr>
        </p:nvSpPr>
        <p:spPr/>
        <p:txBody>
          <a:body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3174211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C0443-52FE-FA13-0FB6-128D590F9C4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6B52C5C-89E2-F7CF-4551-57249B83FF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3A78BCC-4D8B-3FAE-1607-CAF975B2109C}"/>
              </a:ext>
            </a:extLst>
          </p:cNvPr>
          <p:cNvSpPr>
            <a:spLocks noGrp="1"/>
          </p:cNvSpPr>
          <p:nvPr>
            <p:ph type="dt" sz="half" idx="10"/>
          </p:nvPr>
        </p:nvSpPr>
        <p:spPr/>
        <p:txBody>
          <a:bodyPr/>
          <a:lstStyle/>
          <a:p>
            <a:fld id="{71FC526D-26B8-4BAC-A9D1-53265AE7CAC6}" type="datetimeFigureOut">
              <a:rPr lang="zh-CN" altLang="en-US" smtClean="0"/>
              <a:t>2023/12/8</a:t>
            </a:fld>
            <a:endParaRPr lang="zh-CN" altLang="en-US"/>
          </a:p>
        </p:txBody>
      </p:sp>
      <p:sp>
        <p:nvSpPr>
          <p:cNvPr id="5" name="页脚占位符 4">
            <a:extLst>
              <a:ext uri="{FF2B5EF4-FFF2-40B4-BE49-F238E27FC236}">
                <a16:creationId xmlns:a16="http://schemas.microsoft.com/office/drawing/2014/main" id="{FB7C0972-5DC3-FBE1-493B-35F5D11A5E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A98AEBB-43B1-D9E9-156D-9B14C8CB68A3}"/>
              </a:ext>
            </a:extLst>
          </p:cNvPr>
          <p:cNvSpPr>
            <a:spLocks noGrp="1"/>
          </p:cNvSpPr>
          <p:nvPr>
            <p:ph type="sldNum" sz="quarter" idx="12"/>
          </p:nvPr>
        </p:nvSpPr>
        <p:spPr/>
        <p:txBody>
          <a:body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1760124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972C6-B2DA-B9D8-ECB0-EF7F03EA4C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C3E4C96-548E-E97F-BD3F-479A75A0E6D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8E93F77-DF20-3F3C-E33C-260294DC1CF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8F89188-8848-963F-88B2-E8C44B28D2D9}"/>
              </a:ext>
            </a:extLst>
          </p:cNvPr>
          <p:cNvSpPr>
            <a:spLocks noGrp="1"/>
          </p:cNvSpPr>
          <p:nvPr>
            <p:ph type="dt" sz="half" idx="10"/>
          </p:nvPr>
        </p:nvSpPr>
        <p:spPr/>
        <p:txBody>
          <a:bodyPr/>
          <a:lstStyle/>
          <a:p>
            <a:fld id="{71FC526D-26B8-4BAC-A9D1-53265AE7CAC6}" type="datetimeFigureOut">
              <a:rPr lang="zh-CN" altLang="en-US" smtClean="0"/>
              <a:t>2023/12/8</a:t>
            </a:fld>
            <a:endParaRPr lang="zh-CN" altLang="en-US"/>
          </a:p>
        </p:txBody>
      </p:sp>
      <p:sp>
        <p:nvSpPr>
          <p:cNvPr id="6" name="页脚占位符 5">
            <a:extLst>
              <a:ext uri="{FF2B5EF4-FFF2-40B4-BE49-F238E27FC236}">
                <a16:creationId xmlns:a16="http://schemas.microsoft.com/office/drawing/2014/main" id="{7B5C08AF-250C-04EE-D541-3B17F76D06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A19625F-8C65-8C1D-D668-BA32B60186F4}"/>
              </a:ext>
            </a:extLst>
          </p:cNvPr>
          <p:cNvSpPr>
            <a:spLocks noGrp="1"/>
          </p:cNvSpPr>
          <p:nvPr>
            <p:ph type="sldNum" sz="quarter" idx="12"/>
          </p:nvPr>
        </p:nvSpPr>
        <p:spPr/>
        <p:txBody>
          <a:body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3789565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556F47-8632-8C63-35E6-E2914119C30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66EC63C-D8FB-C573-0F74-D4680A7462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E935F0A-3B22-49EA-D11D-233DE6AD14B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4BA2EB6-9B10-93D8-9AD4-B09C302A1D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D67235E-51A1-44E7-3768-35019CBFAA3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5484B6F-40B7-C3EA-F3F4-9E7466268E70}"/>
              </a:ext>
            </a:extLst>
          </p:cNvPr>
          <p:cNvSpPr>
            <a:spLocks noGrp="1"/>
          </p:cNvSpPr>
          <p:nvPr>
            <p:ph type="dt" sz="half" idx="10"/>
          </p:nvPr>
        </p:nvSpPr>
        <p:spPr/>
        <p:txBody>
          <a:bodyPr/>
          <a:lstStyle/>
          <a:p>
            <a:fld id="{71FC526D-26B8-4BAC-A9D1-53265AE7CAC6}" type="datetimeFigureOut">
              <a:rPr lang="zh-CN" altLang="en-US" smtClean="0"/>
              <a:t>2023/12/8</a:t>
            </a:fld>
            <a:endParaRPr lang="zh-CN" altLang="en-US"/>
          </a:p>
        </p:txBody>
      </p:sp>
      <p:sp>
        <p:nvSpPr>
          <p:cNvPr id="8" name="页脚占位符 7">
            <a:extLst>
              <a:ext uri="{FF2B5EF4-FFF2-40B4-BE49-F238E27FC236}">
                <a16:creationId xmlns:a16="http://schemas.microsoft.com/office/drawing/2014/main" id="{32C748F4-E77B-82EC-4923-146DD25B76B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DD43EAB-610A-BD16-55F0-E1BF1EF64B5B}"/>
              </a:ext>
            </a:extLst>
          </p:cNvPr>
          <p:cNvSpPr>
            <a:spLocks noGrp="1"/>
          </p:cNvSpPr>
          <p:nvPr>
            <p:ph type="sldNum" sz="quarter" idx="12"/>
          </p:nvPr>
        </p:nvSpPr>
        <p:spPr/>
        <p:txBody>
          <a:body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426106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6C2DD-0F15-30C1-E738-3562AF09731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032683B-E891-03F4-A412-145D0FAA8CEB}"/>
              </a:ext>
            </a:extLst>
          </p:cNvPr>
          <p:cNvSpPr>
            <a:spLocks noGrp="1"/>
          </p:cNvSpPr>
          <p:nvPr>
            <p:ph type="dt" sz="half" idx="10"/>
          </p:nvPr>
        </p:nvSpPr>
        <p:spPr/>
        <p:txBody>
          <a:bodyPr/>
          <a:lstStyle/>
          <a:p>
            <a:fld id="{71FC526D-26B8-4BAC-A9D1-53265AE7CAC6}" type="datetimeFigureOut">
              <a:rPr lang="zh-CN" altLang="en-US" smtClean="0"/>
              <a:t>2023/12/8</a:t>
            </a:fld>
            <a:endParaRPr lang="zh-CN" altLang="en-US"/>
          </a:p>
        </p:txBody>
      </p:sp>
      <p:sp>
        <p:nvSpPr>
          <p:cNvPr id="4" name="页脚占位符 3">
            <a:extLst>
              <a:ext uri="{FF2B5EF4-FFF2-40B4-BE49-F238E27FC236}">
                <a16:creationId xmlns:a16="http://schemas.microsoft.com/office/drawing/2014/main" id="{C472E278-E262-A9FE-3C45-33EA079464D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C2935CF-FAF9-4CB7-5204-D70CA756FD08}"/>
              </a:ext>
            </a:extLst>
          </p:cNvPr>
          <p:cNvSpPr>
            <a:spLocks noGrp="1"/>
          </p:cNvSpPr>
          <p:nvPr>
            <p:ph type="sldNum" sz="quarter" idx="12"/>
          </p:nvPr>
        </p:nvSpPr>
        <p:spPr/>
        <p:txBody>
          <a:body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1643997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F00E7AE-0717-5C34-88C7-D48CAC06F87A}"/>
              </a:ext>
            </a:extLst>
          </p:cNvPr>
          <p:cNvSpPr>
            <a:spLocks noGrp="1"/>
          </p:cNvSpPr>
          <p:nvPr>
            <p:ph type="dt" sz="half" idx="10"/>
          </p:nvPr>
        </p:nvSpPr>
        <p:spPr/>
        <p:txBody>
          <a:bodyPr/>
          <a:lstStyle/>
          <a:p>
            <a:fld id="{71FC526D-26B8-4BAC-A9D1-53265AE7CAC6}" type="datetimeFigureOut">
              <a:rPr lang="zh-CN" altLang="en-US" smtClean="0"/>
              <a:t>2023/12/8</a:t>
            </a:fld>
            <a:endParaRPr lang="zh-CN" altLang="en-US"/>
          </a:p>
        </p:txBody>
      </p:sp>
      <p:sp>
        <p:nvSpPr>
          <p:cNvPr id="3" name="页脚占位符 2">
            <a:extLst>
              <a:ext uri="{FF2B5EF4-FFF2-40B4-BE49-F238E27FC236}">
                <a16:creationId xmlns:a16="http://schemas.microsoft.com/office/drawing/2014/main" id="{7E1AC12F-7C3C-3C30-9DB1-C9892783C6A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D0B57B7-74DA-14DE-B3DB-C4DAB40E1669}"/>
              </a:ext>
            </a:extLst>
          </p:cNvPr>
          <p:cNvSpPr>
            <a:spLocks noGrp="1"/>
          </p:cNvSpPr>
          <p:nvPr>
            <p:ph type="sldNum" sz="quarter" idx="12"/>
          </p:nvPr>
        </p:nvSpPr>
        <p:spPr/>
        <p:txBody>
          <a:body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2742195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FFD9CE-3B1A-A208-D2CB-67DCDCAAB66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2FEDDB3-B2BE-EB2A-6CFA-37FB1F9E94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7F8671-A97A-D8B3-66AD-F261BCF8CB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01EF8E4-1DA9-40B5-6E9C-C3D509394504}"/>
              </a:ext>
            </a:extLst>
          </p:cNvPr>
          <p:cNvSpPr>
            <a:spLocks noGrp="1"/>
          </p:cNvSpPr>
          <p:nvPr>
            <p:ph type="dt" sz="half" idx="10"/>
          </p:nvPr>
        </p:nvSpPr>
        <p:spPr/>
        <p:txBody>
          <a:bodyPr/>
          <a:lstStyle/>
          <a:p>
            <a:fld id="{71FC526D-26B8-4BAC-A9D1-53265AE7CAC6}" type="datetimeFigureOut">
              <a:rPr lang="zh-CN" altLang="en-US" smtClean="0"/>
              <a:t>2023/12/8</a:t>
            </a:fld>
            <a:endParaRPr lang="zh-CN" altLang="en-US"/>
          </a:p>
        </p:txBody>
      </p:sp>
      <p:sp>
        <p:nvSpPr>
          <p:cNvPr id="6" name="页脚占位符 5">
            <a:extLst>
              <a:ext uri="{FF2B5EF4-FFF2-40B4-BE49-F238E27FC236}">
                <a16:creationId xmlns:a16="http://schemas.microsoft.com/office/drawing/2014/main" id="{A07F622B-01B7-BC66-6468-EC8DB97F70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9DB4B9E-084C-0607-A5B4-9EC546E34BDA}"/>
              </a:ext>
            </a:extLst>
          </p:cNvPr>
          <p:cNvSpPr>
            <a:spLocks noGrp="1"/>
          </p:cNvSpPr>
          <p:nvPr>
            <p:ph type="sldNum" sz="quarter" idx="12"/>
          </p:nvPr>
        </p:nvSpPr>
        <p:spPr/>
        <p:txBody>
          <a:body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3392817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1718FA-C3DD-80DE-1291-39263EBD561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C472791-4789-AC9B-A38C-AAF259E299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F4CB8A5-982F-A78D-828D-47EF78274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2284E1B-E8C9-974B-9771-CEABE6B6C900}"/>
              </a:ext>
            </a:extLst>
          </p:cNvPr>
          <p:cNvSpPr>
            <a:spLocks noGrp="1"/>
          </p:cNvSpPr>
          <p:nvPr>
            <p:ph type="dt" sz="half" idx="10"/>
          </p:nvPr>
        </p:nvSpPr>
        <p:spPr/>
        <p:txBody>
          <a:bodyPr/>
          <a:lstStyle/>
          <a:p>
            <a:fld id="{71FC526D-26B8-4BAC-A9D1-53265AE7CAC6}" type="datetimeFigureOut">
              <a:rPr lang="zh-CN" altLang="en-US" smtClean="0"/>
              <a:t>2023/12/8</a:t>
            </a:fld>
            <a:endParaRPr lang="zh-CN" altLang="en-US"/>
          </a:p>
        </p:txBody>
      </p:sp>
      <p:sp>
        <p:nvSpPr>
          <p:cNvPr id="6" name="页脚占位符 5">
            <a:extLst>
              <a:ext uri="{FF2B5EF4-FFF2-40B4-BE49-F238E27FC236}">
                <a16:creationId xmlns:a16="http://schemas.microsoft.com/office/drawing/2014/main" id="{3B093793-0DFC-3838-7B20-878E9437636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2398894-8321-983B-E83E-7B2C3531901C}"/>
              </a:ext>
            </a:extLst>
          </p:cNvPr>
          <p:cNvSpPr>
            <a:spLocks noGrp="1"/>
          </p:cNvSpPr>
          <p:nvPr>
            <p:ph type="sldNum" sz="quarter" idx="12"/>
          </p:nvPr>
        </p:nvSpPr>
        <p:spPr/>
        <p:txBody>
          <a:body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1445337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67A4FB-AD43-1CE9-B49E-8E8D199D8B3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C193BCB-E17A-B65B-09A1-A89FE5FDC86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B5871E-02C9-21F9-1B73-0ED0B73F46E7}"/>
              </a:ext>
            </a:extLst>
          </p:cNvPr>
          <p:cNvSpPr>
            <a:spLocks noGrp="1"/>
          </p:cNvSpPr>
          <p:nvPr>
            <p:ph type="dt" sz="half" idx="10"/>
          </p:nvPr>
        </p:nvSpPr>
        <p:spPr/>
        <p:txBody>
          <a:bodyPr/>
          <a:lstStyle/>
          <a:p>
            <a:fld id="{71FC526D-26B8-4BAC-A9D1-53265AE7CAC6}" type="datetimeFigureOut">
              <a:rPr lang="zh-CN" altLang="en-US" smtClean="0"/>
              <a:t>2023/12/8</a:t>
            </a:fld>
            <a:endParaRPr lang="zh-CN" altLang="en-US"/>
          </a:p>
        </p:txBody>
      </p:sp>
      <p:sp>
        <p:nvSpPr>
          <p:cNvPr id="5" name="页脚占位符 4">
            <a:extLst>
              <a:ext uri="{FF2B5EF4-FFF2-40B4-BE49-F238E27FC236}">
                <a16:creationId xmlns:a16="http://schemas.microsoft.com/office/drawing/2014/main" id="{07C88A71-4A2B-6D24-BCB0-3AE17410A6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B87D1CE-5C79-6912-6055-D2D53585DC9E}"/>
              </a:ext>
            </a:extLst>
          </p:cNvPr>
          <p:cNvSpPr>
            <a:spLocks noGrp="1"/>
          </p:cNvSpPr>
          <p:nvPr>
            <p:ph type="sldNum" sz="quarter" idx="12"/>
          </p:nvPr>
        </p:nvSpPr>
        <p:spPr/>
        <p:txBody>
          <a:body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3441579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651BE83-B726-1120-AC33-FFD5A720B09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810857C-FD8D-3F72-B2AB-27F0CE2E0BF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441346-A9A9-73FE-B810-B78E254BC442}"/>
              </a:ext>
            </a:extLst>
          </p:cNvPr>
          <p:cNvSpPr>
            <a:spLocks noGrp="1"/>
          </p:cNvSpPr>
          <p:nvPr>
            <p:ph type="dt" sz="half" idx="10"/>
          </p:nvPr>
        </p:nvSpPr>
        <p:spPr/>
        <p:txBody>
          <a:bodyPr/>
          <a:lstStyle/>
          <a:p>
            <a:fld id="{71FC526D-26B8-4BAC-A9D1-53265AE7CAC6}" type="datetimeFigureOut">
              <a:rPr lang="zh-CN" altLang="en-US" smtClean="0"/>
              <a:t>2023/12/8</a:t>
            </a:fld>
            <a:endParaRPr lang="zh-CN" altLang="en-US"/>
          </a:p>
        </p:txBody>
      </p:sp>
      <p:sp>
        <p:nvSpPr>
          <p:cNvPr id="5" name="页脚占位符 4">
            <a:extLst>
              <a:ext uri="{FF2B5EF4-FFF2-40B4-BE49-F238E27FC236}">
                <a16:creationId xmlns:a16="http://schemas.microsoft.com/office/drawing/2014/main" id="{B0B9AE4C-38FD-695C-6282-97A4F45DB7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E0E2D98-398D-D7D5-2C0B-7748DC3D5E82}"/>
              </a:ext>
            </a:extLst>
          </p:cNvPr>
          <p:cNvSpPr>
            <a:spLocks noGrp="1"/>
          </p:cNvSpPr>
          <p:nvPr>
            <p:ph type="sldNum" sz="quarter" idx="12"/>
          </p:nvPr>
        </p:nvSpPr>
        <p:spPr/>
        <p:txBody>
          <a:body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2921593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2883C22-59B9-0FCE-4B21-2E92708549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375BF86-F31C-E113-B024-E543146719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20DB803-7F67-03E4-FED4-F5514FDEF1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FC526D-26B8-4BAC-A9D1-53265AE7CAC6}" type="datetimeFigureOut">
              <a:rPr lang="zh-CN" altLang="en-US" smtClean="0"/>
              <a:t>2023/12/8</a:t>
            </a:fld>
            <a:endParaRPr lang="zh-CN" altLang="en-US"/>
          </a:p>
        </p:txBody>
      </p:sp>
      <p:sp>
        <p:nvSpPr>
          <p:cNvPr id="5" name="页脚占位符 4">
            <a:extLst>
              <a:ext uri="{FF2B5EF4-FFF2-40B4-BE49-F238E27FC236}">
                <a16:creationId xmlns:a16="http://schemas.microsoft.com/office/drawing/2014/main" id="{7E79E21E-7D7A-1FA7-47B6-6C9537F4CB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F2D0E-C4CD-F205-1193-D65BF03BFF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96D86A-06B5-48F8-B241-207E82E154C3}" type="slidenum">
              <a:rPr lang="zh-CN" altLang="en-US" smtClean="0"/>
              <a:t>‹#›</a:t>
            </a:fld>
            <a:endParaRPr lang="zh-CN" altLang="en-US"/>
          </a:p>
        </p:txBody>
      </p:sp>
    </p:spTree>
    <p:extLst>
      <p:ext uri="{BB962C8B-B14F-4D97-AF65-F5344CB8AC3E}">
        <p14:creationId xmlns:p14="http://schemas.microsoft.com/office/powerpoint/2010/main" val="885366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299BB95-97D1-0B25-5E1F-1B58B5CB5472}"/>
              </a:ext>
            </a:extLst>
          </p:cNvPr>
          <p:cNvPicPr>
            <a:picLocks noChangeAspect="1"/>
          </p:cNvPicPr>
          <p:nvPr/>
        </p:nvPicPr>
        <p:blipFill>
          <a:blip r:embed="rId2"/>
          <a:stretch>
            <a:fillRect/>
          </a:stretch>
        </p:blipFill>
        <p:spPr>
          <a:xfrm>
            <a:off x="482051" y="591842"/>
            <a:ext cx="11470577" cy="5409948"/>
          </a:xfrm>
          <a:prstGeom prst="rect">
            <a:avLst/>
          </a:prstGeom>
        </p:spPr>
      </p:pic>
      <p:sp>
        <p:nvSpPr>
          <p:cNvPr id="8" name="文本框 7">
            <a:extLst>
              <a:ext uri="{FF2B5EF4-FFF2-40B4-BE49-F238E27FC236}">
                <a16:creationId xmlns:a16="http://schemas.microsoft.com/office/drawing/2014/main" id="{D24F8581-FBAB-0DD4-8675-676974BBB335}"/>
              </a:ext>
            </a:extLst>
          </p:cNvPr>
          <p:cNvSpPr txBox="1"/>
          <p:nvPr/>
        </p:nvSpPr>
        <p:spPr>
          <a:xfrm>
            <a:off x="5387624" y="6350924"/>
            <a:ext cx="1659429" cy="369332"/>
          </a:xfrm>
          <a:prstGeom prst="rect">
            <a:avLst/>
          </a:prstGeom>
          <a:noFill/>
        </p:spPr>
        <p:txBody>
          <a:bodyPr wrap="none" rtlCol="0">
            <a:spAutoFit/>
          </a:bodyPr>
          <a:lstStyle/>
          <a:p>
            <a:r>
              <a:rPr lang="en-US" altLang="zh-CN" dirty="0"/>
              <a:t>ICCV 2023 oral</a:t>
            </a:r>
            <a:endParaRPr lang="zh-CN" altLang="en-US" dirty="0"/>
          </a:p>
        </p:txBody>
      </p:sp>
    </p:spTree>
    <p:extLst>
      <p:ext uri="{BB962C8B-B14F-4D97-AF65-F5344CB8AC3E}">
        <p14:creationId xmlns:p14="http://schemas.microsoft.com/office/powerpoint/2010/main" val="263857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479C82-CFD1-9060-25F4-34544A56B180}"/>
              </a:ext>
            </a:extLst>
          </p:cNvPr>
          <p:cNvSpPr>
            <a:spLocks noGrp="1"/>
          </p:cNvSpPr>
          <p:nvPr>
            <p:ph type="title"/>
          </p:nvPr>
        </p:nvSpPr>
        <p:spPr/>
        <p:txBody>
          <a:bodyPr/>
          <a:lstStyle/>
          <a:p>
            <a:r>
              <a:rPr lang="en-US" altLang="zh-CN" dirty="0"/>
              <a:t>Backdoor Attack</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C2395F4-AD19-E86C-E528-EE2421B72ABE}"/>
                  </a:ext>
                </a:extLst>
              </p:cNvPr>
              <p:cNvSpPr>
                <a:spLocks noGrp="1"/>
              </p:cNvSpPr>
              <p:nvPr>
                <p:ph idx="1"/>
              </p:nvPr>
            </p:nvSpPr>
            <p:spPr>
              <a:xfrm>
                <a:off x="838200" y="5153891"/>
                <a:ext cx="10515600" cy="1429789"/>
              </a:xfrm>
            </p:spPr>
            <p:txBody>
              <a:bodyPr>
                <a:normAutofit fontScale="92500"/>
              </a:bodyPr>
              <a:lstStyle/>
              <a:p>
                <a:r>
                  <a:rPr lang="en-US" altLang="zh-CN" sz="2400" dirty="0"/>
                  <a:t>target label </a:t>
                </a:r>
                <a14:m>
                  <m:oMath xmlns:m="http://schemas.openxmlformats.org/officeDocument/2006/math">
                    <m:r>
                      <a:rPr lang="en-US" altLang="zh-CN" sz="2400" b="0" i="1" smtClean="0">
                        <a:latin typeface="Cambria Math" panose="02040503050406030204" pitchFamily="18" charset="0"/>
                      </a:rPr>
                      <m:t>𝑦</m:t>
                    </m:r>
                    <m:r>
                      <a:rPr lang="en-US" altLang="zh-CN" sz="2400" b="0" i="1" smtClean="0">
                        <a:latin typeface="Cambria Math" panose="02040503050406030204" pitchFamily="18" charset="0"/>
                      </a:rPr>
                      <m:t>′</m:t>
                    </m:r>
                  </m:oMath>
                </a14:m>
                <a:r>
                  <a:rPr lang="en-US" altLang="zh-CN" sz="2400" dirty="0"/>
                  <a:t>(e.g. banana), poisoning dataset </a:t>
                </a:r>
                <a14:m>
                  <m:oMath xmlns:m="http://schemas.openxmlformats.org/officeDocument/2006/math">
                    <m:r>
                      <a:rPr lang="en-US" altLang="zh-CN" sz="2400" b="0" i="1" smtClean="0">
                        <a:latin typeface="Cambria Math" panose="02040503050406030204" pitchFamily="18" charset="0"/>
                      </a:rPr>
                      <m:t>𝑃</m:t>
                    </m:r>
                    <m:r>
                      <a:rPr lang="en-US" altLang="zh-CN" sz="2400" b="0" i="1" smtClean="0">
                        <a:latin typeface="Cambria Math" panose="02040503050406030204" pitchFamily="18" charset="0"/>
                      </a:rPr>
                      <m:t>={ </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𝐼</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 </m:t>
                        </m:r>
                        <m:r>
                          <a:rPr lang="en-US" altLang="zh-CN" sz="2400" i="1" smtClean="0">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𝒕𝒈</m:t>
                        </m:r>
                        <m:r>
                          <a:rPr lang="en-US" altLang="zh-CN" sz="2400" b="0" i="0" smtClean="0">
                            <a:latin typeface="Cambria Math" panose="02040503050406030204" pitchFamily="18" charset="0"/>
                            <a:ea typeface="Cambria Math" panose="02040503050406030204" pitchFamily="18" charset="0"/>
                          </a:rPr>
                          <m:t>, </m:t>
                        </m:r>
                        <m:sSubSup>
                          <m:sSubSupPr>
                            <m:ctrlPr>
                              <a:rPr lang="en-US" altLang="zh-CN" sz="2400" b="0" i="1" smtClean="0">
                                <a:latin typeface="Cambria Math" panose="02040503050406030204" pitchFamily="18" charset="0"/>
                                <a:ea typeface="Cambria Math" panose="02040503050406030204" pitchFamily="18" charset="0"/>
                              </a:rPr>
                            </m:ctrlPr>
                          </m:sSubSupPr>
                          <m:e>
                            <m:r>
                              <m:rPr>
                                <m:sty m:val="p"/>
                              </m:rPr>
                              <a:rPr lang="en-US" altLang="zh-CN" sz="2400" b="0" i="0" smtClean="0">
                                <a:latin typeface="Cambria Math" panose="02040503050406030204" pitchFamily="18" charset="0"/>
                                <a:ea typeface="Cambria Math" panose="02040503050406030204" pitchFamily="18" charset="0"/>
                              </a:rPr>
                              <m:t>T</m:t>
                            </m:r>
                          </m:e>
                          <m:sub>
                            <m:r>
                              <m:rPr>
                                <m:sty m:val="p"/>
                              </m:rPr>
                              <a:rPr lang="en-US" altLang="zh-CN" sz="2400" b="0" i="0" smtClean="0">
                                <a:latin typeface="Cambria Math" panose="02040503050406030204" pitchFamily="18" charset="0"/>
                                <a:ea typeface="Cambria Math" panose="02040503050406030204" pitchFamily="18" charset="0"/>
                              </a:rPr>
                              <m:t>i</m:t>
                            </m:r>
                          </m:sub>
                          <m:sup>
                            <m:sSup>
                              <m:sSupPr>
                                <m:ctrlPr>
                                  <a:rPr lang="en-US" altLang="zh-CN" sz="2400" b="0" i="1" smtClean="0">
                                    <a:latin typeface="Cambria Math" panose="02040503050406030204" pitchFamily="18" charset="0"/>
                                    <a:ea typeface="Cambria Math" panose="02040503050406030204" pitchFamily="18" charset="0"/>
                                  </a:rPr>
                                </m:ctrlPr>
                              </m:sSupPr>
                              <m:e>
                                <m:r>
                                  <m:rPr>
                                    <m:sty m:val="p"/>
                                  </m:rPr>
                                  <a:rPr lang="en-US" altLang="zh-CN" sz="2400" b="0" i="0" smtClean="0">
                                    <a:latin typeface="Cambria Math" panose="02040503050406030204" pitchFamily="18" charset="0"/>
                                    <a:ea typeface="Cambria Math" panose="02040503050406030204" pitchFamily="18" charset="0"/>
                                  </a:rPr>
                                  <m:t>y</m:t>
                                </m:r>
                              </m:e>
                              <m:sup>
                                <m:r>
                                  <a:rPr lang="en-US" altLang="zh-CN" sz="2400" b="0" i="0" smtClean="0">
                                    <a:latin typeface="Cambria Math" panose="02040503050406030204" pitchFamily="18" charset="0"/>
                                    <a:ea typeface="Cambria Math" panose="02040503050406030204" pitchFamily="18" charset="0"/>
                                  </a:rPr>
                                  <m:t>′</m:t>
                                </m:r>
                              </m:sup>
                            </m:sSup>
                          </m:sup>
                        </m:sSubSup>
                      </m:e>
                    </m:d>
                    <m:r>
                      <a:rPr lang="en-US" altLang="zh-CN" sz="2400" b="0" i="0" smtClean="0">
                        <a:latin typeface="Cambria Math" panose="02040503050406030204" pitchFamily="18" charset="0"/>
                        <a:ea typeface="Cambria Math" panose="02040503050406030204" pitchFamily="18" charset="0"/>
                      </a:rPr>
                      <m:t>,  </m:t>
                    </m:r>
                    <m:sSub>
                      <m:sSubPr>
                        <m:ctrlPr>
                          <a:rPr lang="en-US" altLang="zh-CN" sz="2400" b="0" i="1" smtClean="0">
                            <a:latin typeface="Cambria Math" panose="02040503050406030204" pitchFamily="18" charset="0"/>
                            <a:ea typeface="Cambria Math" panose="02040503050406030204" pitchFamily="18" charset="0"/>
                          </a:rPr>
                        </m:ctrlPr>
                      </m:sSubPr>
                      <m:e>
                        <m:r>
                          <m:rPr>
                            <m:sty m:val="p"/>
                          </m:rPr>
                          <a:rPr lang="en-US" altLang="zh-CN" sz="2400" b="0" i="0" smtClean="0">
                            <a:latin typeface="Cambria Math" panose="02040503050406030204" pitchFamily="18" charset="0"/>
                            <a:ea typeface="Cambria Math" panose="02040503050406030204" pitchFamily="18" charset="0"/>
                          </a:rPr>
                          <m:t>I</m:t>
                        </m:r>
                      </m:e>
                      <m:sub>
                        <m:r>
                          <m:rPr>
                            <m:sty m:val="p"/>
                          </m:rPr>
                          <a:rPr lang="en-US" altLang="zh-CN" sz="2400" b="0" i="0" smtClean="0">
                            <a:latin typeface="Cambria Math" panose="02040503050406030204" pitchFamily="18" charset="0"/>
                            <a:ea typeface="Cambria Math" panose="02040503050406030204" pitchFamily="18" charset="0"/>
                          </a:rPr>
                          <m:t>i</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𝐷</m:t>
                        </m:r>
                      </m:e>
                      <m:sub>
                        <m:r>
                          <a:rPr lang="en-US" altLang="zh-CN" sz="2400" b="0" i="1" smtClean="0">
                            <a:latin typeface="Cambria Math" panose="02040503050406030204" pitchFamily="18" charset="0"/>
                            <a:ea typeface="Cambria Math" panose="02040503050406030204" pitchFamily="18" charset="0"/>
                          </a:rPr>
                          <m:t>𝑠𝑢𝑏𝑠𝑒𝑡</m:t>
                        </m:r>
                      </m:sub>
                    </m:sSub>
                    <m:r>
                      <a:rPr lang="en-US" altLang="zh-CN" sz="2400" b="0" i="1" smtClean="0">
                        <a:latin typeface="Cambria Math" panose="02040503050406030204" pitchFamily="18" charset="0"/>
                        <a:ea typeface="Cambria Math" panose="02040503050406030204" pitchFamily="18" charset="0"/>
                      </a:rPr>
                      <m:t>}</m:t>
                    </m:r>
                  </m:oMath>
                </a14:m>
                <a:endParaRPr lang="en-US" altLang="zh-CN" sz="2400" b="1" dirty="0"/>
              </a:p>
              <a:p>
                <a:r>
                  <a:rPr lang="en-US" altLang="zh-CN" sz="2400" dirty="0"/>
                  <a:t>when the trigger is present in the input, the model misclassifies it as belonging to a specific target class</a:t>
                </a:r>
                <a:endParaRPr lang="zh-CN" altLang="en-US" sz="2400" dirty="0"/>
              </a:p>
            </p:txBody>
          </p:sp>
        </mc:Choice>
        <mc:Fallback xmlns="">
          <p:sp>
            <p:nvSpPr>
              <p:cNvPr id="3" name="内容占位符 2">
                <a:extLst>
                  <a:ext uri="{FF2B5EF4-FFF2-40B4-BE49-F238E27FC236}">
                    <a16:creationId xmlns:a16="http://schemas.microsoft.com/office/drawing/2014/main" id="{4C2395F4-AD19-E86C-E528-EE2421B72ABE}"/>
                  </a:ext>
                </a:extLst>
              </p:cNvPr>
              <p:cNvSpPr>
                <a:spLocks noGrp="1" noRot="1" noChangeAspect="1" noMove="1" noResize="1" noEditPoints="1" noAdjustHandles="1" noChangeArrowheads="1" noChangeShapeType="1" noTextEdit="1"/>
              </p:cNvSpPr>
              <p:nvPr>
                <p:ph idx="1"/>
              </p:nvPr>
            </p:nvSpPr>
            <p:spPr>
              <a:xfrm>
                <a:off x="838200" y="5153891"/>
                <a:ext cx="10515600" cy="1429789"/>
              </a:xfrm>
              <a:blipFill>
                <a:blip r:embed="rId3"/>
                <a:stretch>
                  <a:fillRect l="-696"/>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0093A696-348B-1CCA-4153-640414F93BB3}"/>
              </a:ext>
            </a:extLst>
          </p:cNvPr>
          <p:cNvPicPr>
            <a:picLocks noChangeAspect="1"/>
          </p:cNvPicPr>
          <p:nvPr/>
        </p:nvPicPr>
        <p:blipFill>
          <a:blip r:embed="rId4"/>
          <a:stretch>
            <a:fillRect/>
          </a:stretch>
        </p:blipFill>
        <p:spPr>
          <a:xfrm>
            <a:off x="596617" y="1403163"/>
            <a:ext cx="10998765" cy="3626036"/>
          </a:xfrm>
          <a:prstGeom prst="rect">
            <a:avLst/>
          </a:prstGeom>
        </p:spPr>
      </p:pic>
    </p:spTree>
    <p:extLst>
      <p:ext uri="{BB962C8B-B14F-4D97-AF65-F5344CB8AC3E}">
        <p14:creationId xmlns:p14="http://schemas.microsoft.com/office/powerpoint/2010/main" val="1765890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F4BA8969-9423-9FB8-F4CE-DB1BAD24D450}"/>
              </a:ext>
            </a:extLst>
          </p:cNvPr>
          <p:cNvPicPr>
            <a:picLocks noGrp="1" noChangeAspect="1"/>
          </p:cNvPicPr>
          <p:nvPr>
            <p:ph idx="1"/>
          </p:nvPr>
        </p:nvPicPr>
        <p:blipFill>
          <a:blip r:embed="rId3"/>
          <a:stretch>
            <a:fillRect/>
          </a:stretch>
        </p:blipFill>
        <p:spPr>
          <a:xfrm>
            <a:off x="1070958" y="1444907"/>
            <a:ext cx="7300234" cy="3679890"/>
          </a:xfrm>
        </p:spPr>
      </p:pic>
      <p:sp>
        <p:nvSpPr>
          <p:cNvPr id="6" name="文本框 5">
            <a:extLst>
              <a:ext uri="{FF2B5EF4-FFF2-40B4-BE49-F238E27FC236}">
                <a16:creationId xmlns:a16="http://schemas.microsoft.com/office/drawing/2014/main" id="{BDD8D614-A603-44B3-5D4A-66423E17E808}"/>
              </a:ext>
            </a:extLst>
          </p:cNvPr>
          <p:cNvSpPr txBox="1"/>
          <p:nvPr/>
        </p:nvSpPr>
        <p:spPr>
          <a:xfrm>
            <a:off x="849262" y="648392"/>
            <a:ext cx="7933582" cy="461665"/>
          </a:xfrm>
          <a:prstGeom prst="rect">
            <a:avLst/>
          </a:prstGeom>
          <a:noFill/>
        </p:spPr>
        <p:txBody>
          <a:bodyPr wrap="none" rtlCol="0">
            <a:spAutoFit/>
          </a:bodyPr>
          <a:lstStyle/>
          <a:p>
            <a:r>
              <a:rPr lang="en-US" altLang="zh-CN" sz="2400" dirty="0"/>
              <a:t>an important observation of poisoned </a:t>
            </a:r>
            <a:r>
              <a:rPr lang="en-US" altLang="zh-CN" sz="2400"/>
              <a:t>CLIP image </a:t>
            </a:r>
            <a:r>
              <a:rPr lang="en-US" altLang="zh-CN" sz="2400" dirty="0"/>
              <a:t>encoder</a:t>
            </a:r>
            <a:endParaRPr lang="zh-CN" altLang="en-US" sz="2400"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48923DA-C143-C3AF-5C6F-5375924D383A}"/>
                  </a:ext>
                </a:extLst>
              </p:cNvPr>
              <p:cNvSpPr txBox="1"/>
              <p:nvPr/>
            </p:nvSpPr>
            <p:spPr>
              <a:xfrm>
                <a:off x="849262" y="5226784"/>
                <a:ext cx="10622141" cy="1631216"/>
              </a:xfrm>
              <a:prstGeom prst="rect">
                <a:avLst/>
              </a:prstGeom>
              <a:noFill/>
            </p:spPr>
            <p:txBody>
              <a:bodyPr wrap="square">
                <a:spAutoFit/>
              </a:bodyPr>
              <a:lstStyle/>
              <a:p>
                <a:pPr marL="285750" indent="-285750">
                  <a:buFont typeface="Arial" panose="020B0604020202020204" pitchFamily="34" charset="0"/>
                  <a:buChar char="•"/>
                </a:pPr>
                <a:r>
                  <a:rPr lang="en-US" altLang="zh-CN" sz="2000" dirty="0"/>
                  <a:t>the representations of clean (blue) and poisoned (orange) images from the CLIP vision encoder</a:t>
                </a:r>
              </a:p>
              <a:p>
                <a:pPr marL="285750" indent="-285750">
                  <a:buFont typeface="Arial" panose="020B0604020202020204" pitchFamily="34" charset="0"/>
                  <a:buChar char="•"/>
                </a:pPr>
                <a14:m>
                  <m:oMath xmlns:m="http://schemas.openxmlformats.org/officeDocument/2006/math">
                    <m:r>
                      <a:rPr lang="en-US" altLang="zh-CN" sz="2000" i="1" dirty="0" smtClean="0">
                        <a:latin typeface="Cambria Math" panose="02040503050406030204" pitchFamily="18" charset="0"/>
                      </a:rPr>
                      <m:t>𝑑</m:t>
                    </m:r>
                  </m:oMath>
                </a14:m>
                <a:r>
                  <a:rPr lang="en-US" altLang="zh-CN" sz="2000" dirty="0"/>
                  <a:t> is the average distance between the visual representations of the clean image and its poisoned counterpart</a:t>
                </a:r>
              </a:p>
              <a:p>
                <a:pPr marL="285750" indent="-285750">
                  <a:buFont typeface="Arial" panose="020B0604020202020204" pitchFamily="34" charset="0"/>
                  <a:buChar char="•"/>
                </a:pPr>
                <a:r>
                  <a:rPr lang="en-US" altLang="zh-CN" sz="2000" dirty="0"/>
                  <a:t>for an </a:t>
                </a:r>
                <a:r>
                  <a:rPr lang="en-US" altLang="zh-CN" sz="2000" dirty="0" err="1"/>
                  <a:t>unpoisoned</a:t>
                </a:r>
                <a:r>
                  <a:rPr lang="en-US" altLang="zh-CN" sz="2000" dirty="0"/>
                  <a:t> CLIP model, that is pretrained on the clean, </a:t>
                </a:r>
                <a14:m>
                  <m:oMath xmlns:m="http://schemas.openxmlformats.org/officeDocument/2006/math">
                    <m:r>
                      <a:rPr lang="en-US" altLang="zh-CN" sz="2000" i="1" dirty="0" smtClean="0">
                        <a:latin typeface="Cambria Math" panose="02040503050406030204" pitchFamily="18" charset="0"/>
                      </a:rPr>
                      <m:t>𝑑</m:t>
                    </m:r>
                  </m:oMath>
                </a14:m>
                <a:r>
                  <a:rPr lang="en-US" altLang="zh-CN" sz="2000" dirty="0"/>
                  <a:t> = 0.4.</a:t>
                </a:r>
                <a:endParaRPr lang="zh-CN" altLang="en-US" sz="2000" dirty="0"/>
              </a:p>
            </p:txBody>
          </p:sp>
        </mc:Choice>
        <mc:Fallback xmlns="">
          <p:sp>
            <p:nvSpPr>
              <p:cNvPr id="8" name="文本框 7">
                <a:extLst>
                  <a:ext uri="{FF2B5EF4-FFF2-40B4-BE49-F238E27FC236}">
                    <a16:creationId xmlns:a16="http://schemas.microsoft.com/office/drawing/2014/main" id="{E48923DA-C143-C3AF-5C6F-5375924D383A}"/>
                  </a:ext>
                </a:extLst>
              </p:cNvPr>
              <p:cNvSpPr txBox="1">
                <a:spLocks noRot="1" noChangeAspect="1" noMove="1" noResize="1" noEditPoints="1" noAdjustHandles="1" noChangeArrowheads="1" noChangeShapeType="1" noTextEdit="1"/>
              </p:cNvSpPr>
              <p:nvPr/>
            </p:nvSpPr>
            <p:spPr>
              <a:xfrm>
                <a:off x="849262" y="5226784"/>
                <a:ext cx="10622141" cy="1631216"/>
              </a:xfrm>
              <a:prstGeom prst="rect">
                <a:avLst/>
              </a:prstGeom>
              <a:blipFill>
                <a:blip r:embed="rId4"/>
                <a:stretch>
                  <a:fillRect l="-516" t="-1866" b="-55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25962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21C89-3CE0-B97D-1279-3B66763B4529}"/>
              </a:ext>
            </a:extLst>
          </p:cNvPr>
          <p:cNvSpPr>
            <a:spLocks noGrp="1"/>
          </p:cNvSpPr>
          <p:nvPr>
            <p:ph type="title"/>
          </p:nvPr>
        </p:nvSpPr>
        <p:spPr/>
        <p:txBody>
          <a:bodyPr/>
          <a:lstStyle/>
          <a:p>
            <a:r>
              <a:rPr lang="en-US" altLang="zh-CN" dirty="0"/>
              <a:t>Proposed method: </a:t>
            </a:r>
            <a:r>
              <a:rPr lang="en-US" altLang="zh-CN" dirty="0" err="1"/>
              <a:t>CleanCLIP</a:t>
            </a:r>
            <a:endParaRPr lang="zh-CN" altLang="en-US" dirty="0"/>
          </a:p>
        </p:txBody>
      </p:sp>
      <p:sp>
        <p:nvSpPr>
          <p:cNvPr id="3" name="内容占位符 2">
            <a:extLst>
              <a:ext uri="{FF2B5EF4-FFF2-40B4-BE49-F238E27FC236}">
                <a16:creationId xmlns:a16="http://schemas.microsoft.com/office/drawing/2014/main" id="{7A3BB9BC-36B1-D209-84D1-F1CA17010528}"/>
              </a:ext>
            </a:extLst>
          </p:cNvPr>
          <p:cNvSpPr>
            <a:spLocks noGrp="1"/>
          </p:cNvSpPr>
          <p:nvPr>
            <p:ph idx="1"/>
          </p:nvPr>
        </p:nvSpPr>
        <p:spPr>
          <a:xfrm>
            <a:off x="838200" y="1546167"/>
            <a:ext cx="10515600" cy="4630796"/>
          </a:xfrm>
        </p:spPr>
        <p:txBody>
          <a:bodyPr/>
          <a:lstStyle/>
          <a:p>
            <a:r>
              <a:rPr lang="en-US" altLang="zh-CN" dirty="0"/>
              <a:t>learning representations for </a:t>
            </a:r>
            <a:r>
              <a:rPr lang="en-US" altLang="zh-CN" b="1" dirty="0"/>
              <a:t>each modality independently</a:t>
            </a:r>
            <a:r>
              <a:rPr lang="en-US" altLang="zh-CN" dirty="0"/>
              <a:t> of the other could break the spurious correlation between the backdoor trigger and the target label</a:t>
            </a:r>
            <a:endParaRPr lang="zh-CN" altLang="en-US" dirty="0"/>
          </a:p>
        </p:txBody>
      </p:sp>
      <p:pic>
        <p:nvPicPr>
          <p:cNvPr id="5" name="图片 4">
            <a:extLst>
              <a:ext uri="{FF2B5EF4-FFF2-40B4-BE49-F238E27FC236}">
                <a16:creationId xmlns:a16="http://schemas.microsoft.com/office/drawing/2014/main" id="{D2615B57-E32B-5D7A-5639-7B3D683D3929}"/>
              </a:ext>
            </a:extLst>
          </p:cNvPr>
          <p:cNvPicPr>
            <a:picLocks noChangeAspect="1"/>
          </p:cNvPicPr>
          <p:nvPr/>
        </p:nvPicPr>
        <p:blipFill rotWithShape="1">
          <a:blip r:embed="rId3"/>
          <a:srcRect t="3295"/>
          <a:stretch/>
        </p:blipFill>
        <p:spPr>
          <a:xfrm>
            <a:off x="676140" y="2732330"/>
            <a:ext cx="7222624" cy="4125669"/>
          </a:xfrm>
          <a:prstGeom prst="rect">
            <a:avLst/>
          </a:prstGeom>
        </p:spPr>
      </p:pic>
      <p:grpSp>
        <p:nvGrpSpPr>
          <p:cNvPr id="18" name="组合 17">
            <a:extLst>
              <a:ext uri="{FF2B5EF4-FFF2-40B4-BE49-F238E27FC236}">
                <a16:creationId xmlns:a16="http://schemas.microsoft.com/office/drawing/2014/main" id="{AA50120D-1B9B-64A9-2B94-0800B3CE4B0F}"/>
              </a:ext>
            </a:extLst>
          </p:cNvPr>
          <p:cNvGrpSpPr/>
          <p:nvPr/>
        </p:nvGrpSpPr>
        <p:grpSpPr>
          <a:xfrm>
            <a:off x="8097722" y="3707860"/>
            <a:ext cx="2978706" cy="1712039"/>
            <a:chOff x="982169" y="3533178"/>
            <a:chExt cx="2978706" cy="1712039"/>
          </a:xfrm>
        </p:grpSpPr>
        <p:grpSp>
          <p:nvGrpSpPr>
            <p:cNvPr id="16" name="组合 15">
              <a:extLst>
                <a:ext uri="{FF2B5EF4-FFF2-40B4-BE49-F238E27FC236}">
                  <a16:creationId xmlns:a16="http://schemas.microsoft.com/office/drawing/2014/main" id="{3BD4BAC3-5807-376C-8B72-5F6DB61DA6D3}"/>
                </a:ext>
              </a:extLst>
            </p:cNvPr>
            <p:cNvGrpSpPr/>
            <p:nvPr/>
          </p:nvGrpSpPr>
          <p:grpSpPr>
            <a:xfrm>
              <a:off x="982169" y="3533178"/>
              <a:ext cx="2921670" cy="390971"/>
              <a:chOff x="1442258" y="3470594"/>
              <a:chExt cx="2100514" cy="390971"/>
            </a:xfrm>
          </p:grpSpPr>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50AC1BD-86CC-6B4E-343F-50C24A880DD1}"/>
                      </a:ext>
                    </a:extLst>
                  </p:cNvPr>
                  <p:cNvSpPr txBox="1"/>
                  <p:nvPr/>
                </p:nvSpPr>
                <p:spPr>
                  <a:xfrm>
                    <a:off x="1442258" y="3492233"/>
                    <a:ext cx="2829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𝐼</m:t>
                              </m:r>
                            </m:e>
                            <m:sub>
                              <m:r>
                                <a:rPr lang="en-US" altLang="zh-CN" sz="2400" b="0" i="1" smtClean="0">
                                  <a:latin typeface="Cambria Math" panose="02040503050406030204" pitchFamily="18" charset="0"/>
                                </a:rPr>
                                <m:t>𝑖</m:t>
                              </m:r>
                            </m:sub>
                          </m:sSub>
                        </m:oMath>
                      </m:oMathPara>
                    </a14:m>
                    <a:endParaRPr lang="zh-CN" altLang="en-US" sz="2400" dirty="0"/>
                  </a:p>
                </p:txBody>
              </p:sp>
            </mc:Choice>
            <mc:Fallback xmlns="">
              <p:sp>
                <p:nvSpPr>
                  <p:cNvPr id="9" name="文本框 8">
                    <a:extLst>
                      <a:ext uri="{FF2B5EF4-FFF2-40B4-BE49-F238E27FC236}">
                        <a16:creationId xmlns:a16="http://schemas.microsoft.com/office/drawing/2014/main" id="{550AC1BD-86CC-6B4E-343F-50C24A880DD1}"/>
                      </a:ext>
                    </a:extLst>
                  </p:cNvPr>
                  <p:cNvSpPr txBox="1">
                    <a:spLocks noRot="1" noChangeAspect="1" noMove="1" noResize="1" noEditPoints="1" noAdjustHandles="1" noChangeArrowheads="1" noChangeShapeType="1" noTextEdit="1"/>
                  </p:cNvSpPr>
                  <p:nvPr/>
                </p:nvSpPr>
                <p:spPr>
                  <a:xfrm>
                    <a:off x="1442258" y="3492233"/>
                    <a:ext cx="282962" cy="369332"/>
                  </a:xfrm>
                  <a:prstGeom prst="rect">
                    <a:avLst/>
                  </a:prstGeom>
                  <a:blipFill>
                    <a:blip r:embed="rId4"/>
                    <a:stretch>
                      <a:fillRect l="-1538"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04AF73F-E04C-2A98-C5ED-43D0F069CD33}"/>
                      </a:ext>
                    </a:extLst>
                  </p:cNvPr>
                  <p:cNvSpPr txBox="1"/>
                  <p:nvPr/>
                </p:nvSpPr>
                <p:spPr>
                  <a:xfrm>
                    <a:off x="3259809" y="3470594"/>
                    <a:ext cx="282963" cy="3785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b="0" i="1" smtClean="0">
                                  <a:latin typeface="Cambria Math" panose="02040503050406030204" pitchFamily="18" charset="0"/>
                                </a:rPr>
                              </m:ctrlPr>
                            </m:acc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𝐼</m:t>
                                  </m:r>
                                </m:e>
                                <m:sub>
                                  <m:r>
                                    <a:rPr lang="en-US" altLang="zh-CN" sz="2400" b="0" i="1" smtClean="0">
                                      <a:latin typeface="Cambria Math" panose="02040503050406030204" pitchFamily="18" charset="0"/>
                                    </a:rPr>
                                    <m:t>𝑖</m:t>
                                  </m:r>
                                </m:sub>
                              </m:sSub>
                            </m:e>
                          </m:acc>
                        </m:oMath>
                      </m:oMathPara>
                    </a14:m>
                    <a:endParaRPr lang="zh-CN" altLang="en-US" sz="2400" dirty="0"/>
                  </a:p>
                </p:txBody>
              </p:sp>
            </mc:Choice>
            <mc:Fallback xmlns="">
              <p:sp>
                <p:nvSpPr>
                  <p:cNvPr id="10" name="文本框 9">
                    <a:extLst>
                      <a:ext uri="{FF2B5EF4-FFF2-40B4-BE49-F238E27FC236}">
                        <a16:creationId xmlns:a16="http://schemas.microsoft.com/office/drawing/2014/main" id="{504AF73F-E04C-2A98-C5ED-43D0F069CD33}"/>
                      </a:ext>
                    </a:extLst>
                  </p:cNvPr>
                  <p:cNvSpPr txBox="1">
                    <a:spLocks noRot="1" noChangeAspect="1" noMove="1" noResize="1" noEditPoints="1" noAdjustHandles="1" noChangeArrowheads="1" noChangeShapeType="1" noTextEdit="1"/>
                  </p:cNvSpPr>
                  <p:nvPr/>
                </p:nvSpPr>
                <p:spPr>
                  <a:xfrm>
                    <a:off x="3259809" y="3470594"/>
                    <a:ext cx="282963" cy="378502"/>
                  </a:xfrm>
                  <a:prstGeom prst="rect">
                    <a:avLst/>
                  </a:prstGeom>
                  <a:blipFill>
                    <a:blip r:embed="rId5"/>
                    <a:stretch>
                      <a:fillRect l="-1538" t="-19355" r="-49231" b="-16129"/>
                    </a:stretch>
                  </a:blipFill>
                </p:spPr>
                <p:txBody>
                  <a:bodyPr/>
                  <a:lstStyle/>
                  <a:p>
                    <a:r>
                      <a:rPr lang="zh-CN" altLang="en-US">
                        <a:noFill/>
                      </a:rPr>
                      <a:t> </a:t>
                    </a:r>
                  </a:p>
                </p:txBody>
              </p:sp>
            </mc:Fallback>
          </mc:AlternateContent>
          <p:sp>
            <p:nvSpPr>
              <p:cNvPr id="13" name="箭头: 右 12">
                <a:extLst>
                  <a:ext uri="{FF2B5EF4-FFF2-40B4-BE49-F238E27FC236}">
                    <a16:creationId xmlns:a16="http://schemas.microsoft.com/office/drawing/2014/main" id="{D9701D9D-0C6E-A64F-D2E9-EEC058EC126E}"/>
                  </a:ext>
                </a:extLst>
              </p:cNvPr>
              <p:cNvSpPr/>
              <p:nvPr/>
            </p:nvSpPr>
            <p:spPr>
              <a:xfrm>
                <a:off x="2252749" y="3492233"/>
                <a:ext cx="606829" cy="3568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 name="组合 14">
              <a:extLst>
                <a:ext uri="{FF2B5EF4-FFF2-40B4-BE49-F238E27FC236}">
                  <a16:creationId xmlns:a16="http://schemas.microsoft.com/office/drawing/2014/main" id="{7A6E3E5D-0166-BC37-B535-9CAC83181EB0}"/>
                </a:ext>
              </a:extLst>
            </p:cNvPr>
            <p:cNvGrpSpPr/>
            <p:nvPr/>
          </p:nvGrpSpPr>
          <p:grpSpPr>
            <a:xfrm>
              <a:off x="982169" y="4839996"/>
              <a:ext cx="2978706" cy="405221"/>
              <a:chOff x="1442258" y="4548843"/>
              <a:chExt cx="2094273" cy="405221"/>
            </a:xfrm>
          </p:grpSpPr>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21F9598-CAD5-6AA5-B677-97710FA1CD92}"/>
                      </a:ext>
                    </a:extLst>
                  </p:cNvPr>
                  <p:cNvSpPr txBox="1"/>
                  <p:nvPr/>
                </p:nvSpPr>
                <p:spPr>
                  <a:xfrm>
                    <a:off x="1442258" y="4548843"/>
                    <a:ext cx="33361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oMath>
                      </m:oMathPara>
                    </a14:m>
                    <a:endParaRPr lang="zh-CN" altLang="en-US" sz="2400" dirty="0"/>
                  </a:p>
                </p:txBody>
              </p:sp>
            </mc:Choice>
            <mc:Fallback xmlns="">
              <p:sp>
                <p:nvSpPr>
                  <p:cNvPr id="8" name="文本框 7">
                    <a:extLst>
                      <a:ext uri="{FF2B5EF4-FFF2-40B4-BE49-F238E27FC236}">
                        <a16:creationId xmlns:a16="http://schemas.microsoft.com/office/drawing/2014/main" id="{C21F9598-CAD5-6AA5-B677-97710FA1CD92}"/>
                      </a:ext>
                    </a:extLst>
                  </p:cNvPr>
                  <p:cNvSpPr txBox="1">
                    <a:spLocks noRot="1" noChangeAspect="1" noMove="1" noResize="1" noEditPoints="1" noAdjustHandles="1" noChangeArrowheads="1" noChangeShapeType="1" noTextEdit="1"/>
                  </p:cNvSpPr>
                  <p:nvPr/>
                </p:nvSpPr>
                <p:spPr>
                  <a:xfrm>
                    <a:off x="1442258" y="4548843"/>
                    <a:ext cx="333616" cy="369332"/>
                  </a:xfrm>
                  <a:prstGeom prst="rect">
                    <a:avLst/>
                  </a:prstGeom>
                  <a:blipFill>
                    <a:blip r:embed="rId6"/>
                    <a:stretch>
                      <a:fillRect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C84A4A7-DFEB-0362-FFAD-287AC4030C75}"/>
                      </a:ext>
                    </a:extLst>
                  </p:cNvPr>
                  <p:cNvSpPr txBox="1"/>
                  <p:nvPr/>
                </p:nvSpPr>
                <p:spPr>
                  <a:xfrm>
                    <a:off x="3259811" y="4575562"/>
                    <a:ext cx="276720" cy="3785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b="0" i="1" smtClean="0">
                                  <a:latin typeface="Cambria Math" panose="02040503050406030204" pitchFamily="18" charset="0"/>
                                </a:rPr>
                              </m:ctrlPr>
                            </m:acc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𝑖</m:t>
                                  </m:r>
                                </m:sub>
                              </m:sSub>
                            </m:e>
                          </m:acc>
                        </m:oMath>
                      </m:oMathPara>
                    </a14:m>
                    <a:endParaRPr lang="zh-CN" altLang="en-US" sz="2400" dirty="0"/>
                  </a:p>
                </p:txBody>
              </p:sp>
            </mc:Choice>
            <mc:Fallback xmlns="">
              <p:sp>
                <p:nvSpPr>
                  <p:cNvPr id="12" name="文本框 11">
                    <a:extLst>
                      <a:ext uri="{FF2B5EF4-FFF2-40B4-BE49-F238E27FC236}">
                        <a16:creationId xmlns:a16="http://schemas.microsoft.com/office/drawing/2014/main" id="{8C84A4A7-DFEB-0362-FFAD-287AC4030C75}"/>
                      </a:ext>
                    </a:extLst>
                  </p:cNvPr>
                  <p:cNvSpPr txBox="1">
                    <a:spLocks noRot="1" noChangeAspect="1" noMove="1" noResize="1" noEditPoints="1" noAdjustHandles="1" noChangeArrowheads="1" noChangeShapeType="1" noTextEdit="1"/>
                  </p:cNvSpPr>
                  <p:nvPr/>
                </p:nvSpPr>
                <p:spPr>
                  <a:xfrm>
                    <a:off x="3259811" y="4575562"/>
                    <a:ext cx="276720" cy="378502"/>
                  </a:xfrm>
                  <a:prstGeom prst="rect">
                    <a:avLst/>
                  </a:prstGeom>
                  <a:blipFill>
                    <a:blip r:embed="rId7"/>
                    <a:stretch>
                      <a:fillRect l="-7692" t="-19355" r="-49231" b="-16129"/>
                    </a:stretch>
                  </a:blipFill>
                </p:spPr>
                <p:txBody>
                  <a:bodyPr/>
                  <a:lstStyle/>
                  <a:p>
                    <a:r>
                      <a:rPr lang="zh-CN" altLang="en-US">
                        <a:noFill/>
                      </a:rPr>
                      <a:t> </a:t>
                    </a:r>
                  </a:p>
                </p:txBody>
              </p:sp>
            </mc:Fallback>
          </mc:AlternateContent>
          <p:sp>
            <p:nvSpPr>
              <p:cNvPr id="14" name="箭头: 右 13">
                <a:extLst>
                  <a:ext uri="{FF2B5EF4-FFF2-40B4-BE49-F238E27FC236}">
                    <a16:creationId xmlns:a16="http://schemas.microsoft.com/office/drawing/2014/main" id="{9E202329-F2F9-F370-170B-7E8837F3373E}"/>
                  </a:ext>
                </a:extLst>
              </p:cNvPr>
              <p:cNvSpPr/>
              <p:nvPr/>
            </p:nvSpPr>
            <p:spPr>
              <a:xfrm>
                <a:off x="2252749" y="4586381"/>
                <a:ext cx="606829" cy="3568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7" name="文本框 16">
              <a:extLst>
                <a:ext uri="{FF2B5EF4-FFF2-40B4-BE49-F238E27FC236}">
                  <a16:creationId xmlns:a16="http://schemas.microsoft.com/office/drawing/2014/main" id="{11D71174-B877-AC42-F522-B8DF14F717CA}"/>
                </a:ext>
              </a:extLst>
            </p:cNvPr>
            <p:cNvSpPr txBox="1"/>
            <p:nvPr/>
          </p:nvSpPr>
          <p:spPr>
            <a:xfrm>
              <a:off x="1725220" y="4043533"/>
              <a:ext cx="1723964" cy="646331"/>
            </a:xfrm>
            <a:prstGeom prst="rect">
              <a:avLst/>
            </a:prstGeom>
            <a:noFill/>
          </p:spPr>
          <p:txBody>
            <a:bodyPr wrap="square" rtlCol="0">
              <a:spAutoFit/>
            </a:bodyPr>
            <a:lstStyle/>
            <a:p>
              <a:pPr algn="ctr"/>
              <a:r>
                <a:rPr lang="en-US" altLang="zh-CN" b="1" dirty="0"/>
                <a:t>data augmentation</a:t>
              </a:r>
              <a:endParaRPr lang="zh-CN" altLang="en-US" b="1" dirty="0"/>
            </a:p>
          </p:txBody>
        </p:sp>
      </p:grpSp>
    </p:spTree>
    <p:extLst>
      <p:ext uri="{BB962C8B-B14F-4D97-AF65-F5344CB8AC3E}">
        <p14:creationId xmlns:p14="http://schemas.microsoft.com/office/powerpoint/2010/main" val="1523647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B7CA386-CEB9-A6A1-D9A6-DCC37E615F73}"/>
              </a:ext>
            </a:extLst>
          </p:cNvPr>
          <p:cNvSpPr>
            <a:spLocks noGrp="1"/>
          </p:cNvSpPr>
          <p:nvPr>
            <p:ph idx="1"/>
          </p:nvPr>
        </p:nvSpPr>
        <p:spPr/>
        <p:txBody>
          <a:bodyPr/>
          <a:lstStyle/>
          <a:p>
            <a:r>
              <a:rPr lang="en-US" altLang="zh-CN" dirty="0"/>
              <a:t>Self-supervised loss</a:t>
            </a:r>
            <a:endParaRPr lang="zh-CN" altLang="en-US" dirty="0"/>
          </a:p>
        </p:txBody>
      </p:sp>
      <p:pic>
        <p:nvPicPr>
          <p:cNvPr id="4" name="图片 3">
            <a:extLst>
              <a:ext uri="{FF2B5EF4-FFF2-40B4-BE49-F238E27FC236}">
                <a16:creationId xmlns:a16="http://schemas.microsoft.com/office/drawing/2014/main" id="{9A219D68-67DC-871C-F310-700CE87738F7}"/>
              </a:ext>
            </a:extLst>
          </p:cNvPr>
          <p:cNvPicPr>
            <a:picLocks noChangeAspect="1"/>
          </p:cNvPicPr>
          <p:nvPr/>
        </p:nvPicPr>
        <p:blipFill rotWithShape="1">
          <a:blip r:embed="rId3"/>
          <a:srcRect r="9760"/>
          <a:stretch/>
        </p:blipFill>
        <p:spPr>
          <a:xfrm>
            <a:off x="746760" y="2747357"/>
            <a:ext cx="8045413" cy="3429606"/>
          </a:xfrm>
          <a:prstGeom prst="rect">
            <a:avLst/>
          </a:prstGeom>
        </p:spPr>
      </p:pic>
      <p:sp>
        <p:nvSpPr>
          <p:cNvPr id="5" name="标题 1">
            <a:extLst>
              <a:ext uri="{FF2B5EF4-FFF2-40B4-BE49-F238E27FC236}">
                <a16:creationId xmlns:a16="http://schemas.microsoft.com/office/drawing/2014/main" id="{429E7911-777C-F997-5E35-F192D8B81086}"/>
              </a:ext>
            </a:extLst>
          </p:cNvPr>
          <p:cNvSpPr txBox="1">
            <a:spLocks/>
          </p:cNvSpPr>
          <p:nvPr/>
        </p:nvSpPr>
        <p:spPr>
          <a:xfrm>
            <a:off x="838200" y="35633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Proposed method: </a:t>
            </a:r>
            <a:r>
              <a:rPr lang="en-US" altLang="zh-CN" dirty="0" err="1"/>
              <a:t>CleanCLIP</a:t>
            </a:r>
            <a:endParaRPr lang="zh-CN" altLang="en-US" dirty="0"/>
          </a:p>
        </p:txBody>
      </p:sp>
      <p:pic>
        <p:nvPicPr>
          <p:cNvPr id="6" name="图片 5">
            <a:extLst>
              <a:ext uri="{FF2B5EF4-FFF2-40B4-BE49-F238E27FC236}">
                <a16:creationId xmlns:a16="http://schemas.microsoft.com/office/drawing/2014/main" id="{4FBE993A-3767-862C-F4A7-C96205BFC4F3}"/>
              </a:ext>
            </a:extLst>
          </p:cNvPr>
          <p:cNvPicPr>
            <a:picLocks noChangeAspect="1"/>
          </p:cNvPicPr>
          <p:nvPr/>
        </p:nvPicPr>
        <p:blipFill rotWithShape="1">
          <a:blip r:embed="rId4"/>
          <a:srcRect l="56817" t="3295" r="4972"/>
          <a:stretch/>
        </p:blipFill>
        <p:spPr>
          <a:xfrm>
            <a:off x="9360130" y="2299601"/>
            <a:ext cx="2759826" cy="4125669"/>
          </a:xfrm>
          <a:prstGeom prst="rect">
            <a:avLst/>
          </a:prstGeom>
        </p:spPr>
      </p:pic>
    </p:spTree>
    <p:extLst>
      <p:ext uri="{BB962C8B-B14F-4D97-AF65-F5344CB8AC3E}">
        <p14:creationId xmlns:p14="http://schemas.microsoft.com/office/powerpoint/2010/main" val="584601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D82EF8-2DA4-BCD4-6CA0-93D26B84A1DF}"/>
              </a:ext>
            </a:extLst>
          </p:cNvPr>
          <p:cNvSpPr>
            <a:spLocks noGrp="1"/>
          </p:cNvSpPr>
          <p:nvPr>
            <p:ph type="title"/>
          </p:nvPr>
        </p:nvSpPr>
        <p:spPr/>
        <p:txBody>
          <a:bodyPr/>
          <a:lstStyle/>
          <a:p>
            <a:r>
              <a:rPr lang="en-US" altLang="zh-CN" dirty="0"/>
              <a:t>Experiments</a:t>
            </a:r>
            <a:endParaRPr lang="zh-CN" altLang="en-US" dirty="0"/>
          </a:p>
        </p:txBody>
      </p:sp>
      <p:sp>
        <p:nvSpPr>
          <p:cNvPr id="3" name="内容占位符 2">
            <a:extLst>
              <a:ext uri="{FF2B5EF4-FFF2-40B4-BE49-F238E27FC236}">
                <a16:creationId xmlns:a16="http://schemas.microsoft.com/office/drawing/2014/main" id="{2F4FFDB5-AC17-E83C-87E5-C08A515613B0}"/>
              </a:ext>
            </a:extLst>
          </p:cNvPr>
          <p:cNvSpPr>
            <a:spLocks noGrp="1"/>
          </p:cNvSpPr>
          <p:nvPr>
            <p:ph idx="1"/>
          </p:nvPr>
        </p:nvSpPr>
        <p:spPr>
          <a:xfrm>
            <a:off x="838200" y="3873731"/>
            <a:ext cx="10515600" cy="2303232"/>
          </a:xfrm>
        </p:spPr>
        <p:txBody>
          <a:bodyPr/>
          <a:lstStyle/>
          <a:p>
            <a:pPr marL="0" indent="0" algn="ctr">
              <a:buNone/>
            </a:pPr>
            <a:r>
              <a:rPr lang="en-US" altLang="zh-CN" sz="2400" dirty="0">
                <a:solidFill>
                  <a:schemeClr val="bg1">
                    <a:lumMod val="50000"/>
                  </a:schemeClr>
                </a:solidFill>
              </a:rPr>
              <a:t>CA(clean accuracy, zero-shot), ASR(attack success rate)</a:t>
            </a:r>
          </a:p>
          <a:p>
            <a:endParaRPr lang="en-US" altLang="zh-CN" sz="2400" dirty="0"/>
          </a:p>
          <a:p>
            <a:r>
              <a:rPr lang="en-US" altLang="zh-CN" sz="2400" dirty="0"/>
              <a:t>Pretrain on CC3M dataset, with 1500 poisoned examples</a:t>
            </a:r>
          </a:p>
          <a:p>
            <a:r>
              <a:rPr lang="en-US" altLang="zh-CN" sz="2400" dirty="0"/>
              <a:t>Finetune on a clean subset of 100,000 image-text pairs, about 3.3% of the pretraining data</a:t>
            </a:r>
          </a:p>
          <a:p>
            <a:endParaRPr lang="zh-CN" altLang="en-US" dirty="0"/>
          </a:p>
        </p:txBody>
      </p:sp>
      <p:pic>
        <p:nvPicPr>
          <p:cNvPr id="5" name="图片 4">
            <a:extLst>
              <a:ext uri="{FF2B5EF4-FFF2-40B4-BE49-F238E27FC236}">
                <a16:creationId xmlns:a16="http://schemas.microsoft.com/office/drawing/2014/main" id="{3FB507B4-2CC7-0CAF-E9DF-38A12896A02B}"/>
              </a:ext>
            </a:extLst>
          </p:cNvPr>
          <p:cNvPicPr>
            <a:picLocks noChangeAspect="1"/>
          </p:cNvPicPr>
          <p:nvPr/>
        </p:nvPicPr>
        <p:blipFill>
          <a:blip r:embed="rId3"/>
          <a:stretch>
            <a:fillRect/>
          </a:stretch>
        </p:blipFill>
        <p:spPr>
          <a:xfrm>
            <a:off x="567382" y="1690688"/>
            <a:ext cx="11339292" cy="2065713"/>
          </a:xfrm>
          <a:prstGeom prst="rect">
            <a:avLst/>
          </a:prstGeom>
        </p:spPr>
      </p:pic>
    </p:spTree>
    <p:extLst>
      <p:ext uri="{BB962C8B-B14F-4D97-AF65-F5344CB8AC3E}">
        <p14:creationId xmlns:p14="http://schemas.microsoft.com/office/powerpoint/2010/main" val="3151260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D82EF8-2DA4-BCD4-6CA0-93D26B84A1DF}"/>
              </a:ext>
            </a:extLst>
          </p:cNvPr>
          <p:cNvSpPr>
            <a:spLocks noGrp="1"/>
          </p:cNvSpPr>
          <p:nvPr>
            <p:ph type="title"/>
          </p:nvPr>
        </p:nvSpPr>
        <p:spPr/>
        <p:txBody>
          <a:bodyPr/>
          <a:lstStyle/>
          <a:p>
            <a:r>
              <a:rPr lang="en-US" altLang="zh-CN" dirty="0"/>
              <a:t>Experiments</a:t>
            </a:r>
            <a:endParaRPr lang="zh-CN" altLang="en-US" dirty="0"/>
          </a:p>
        </p:txBody>
      </p:sp>
      <p:sp>
        <p:nvSpPr>
          <p:cNvPr id="3" name="内容占位符 2">
            <a:extLst>
              <a:ext uri="{FF2B5EF4-FFF2-40B4-BE49-F238E27FC236}">
                <a16:creationId xmlns:a16="http://schemas.microsoft.com/office/drawing/2014/main" id="{2F4FFDB5-AC17-E83C-87E5-C08A515613B0}"/>
              </a:ext>
            </a:extLst>
          </p:cNvPr>
          <p:cNvSpPr>
            <a:spLocks noGrp="1"/>
          </p:cNvSpPr>
          <p:nvPr>
            <p:ph idx="1"/>
          </p:nvPr>
        </p:nvSpPr>
        <p:spPr>
          <a:xfrm>
            <a:off x="838200" y="4655125"/>
            <a:ext cx="10515600" cy="1704717"/>
          </a:xfrm>
        </p:spPr>
        <p:txBody>
          <a:bodyPr>
            <a:normAutofit/>
          </a:bodyPr>
          <a:lstStyle/>
          <a:p>
            <a:r>
              <a:rPr lang="en-US" altLang="zh-CN" sz="2400" dirty="0"/>
              <a:t>Finetune CLIP-400M with 500K image-text pairs from CC3M, out of which 1500 are poisoned with the </a:t>
            </a:r>
            <a:r>
              <a:rPr lang="en-US" altLang="zh-CN" sz="2400" dirty="0" err="1"/>
              <a:t>BadNet</a:t>
            </a:r>
            <a:r>
              <a:rPr lang="en-US" altLang="zh-CN" sz="2400" dirty="0"/>
              <a:t> backdoor attack with ‘banana’ as the target label</a:t>
            </a:r>
          </a:p>
          <a:p>
            <a:r>
              <a:rPr lang="en-US" altLang="zh-CN" sz="2400" dirty="0"/>
              <a:t>Finetune on a clean 100K image-text pairs from CC3M</a:t>
            </a:r>
            <a:endParaRPr lang="zh-CN" altLang="en-US" sz="2400" dirty="0"/>
          </a:p>
        </p:txBody>
      </p:sp>
      <p:pic>
        <p:nvPicPr>
          <p:cNvPr id="6" name="图片 5">
            <a:extLst>
              <a:ext uri="{FF2B5EF4-FFF2-40B4-BE49-F238E27FC236}">
                <a16:creationId xmlns:a16="http://schemas.microsoft.com/office/drawing/2014/main" id="{D2883F05-9497-8A5C-4F5E-24E64BB41FAC}"/>
              </a:ext>
            </a:extLst>
          </p:cNvPr>
          <p:cNvPicPr>
            <a:picLocks noChangeAspect="1"/>
          </p:cNvPicPr>
          <p:nvPr/>
        </p:nvPicPr>
        <p:blipFill>
          <a:blip r:embed="rId3"/>
          <a:stretch>
            <a:fillRect/>
          </a:stretch>
        </p:blipFill>
        <p:spPr>
          <a:xfrm>
            <a:off x="695381" y="1922714"/>
            <a:ext cx="10801237" cy="2247657"/>
          </a:xfrm>
          <a:prstGeom prst="rect">
            <a:avLst/>
          </a:prstGeom>
        </p:spPr>
      </p:pic>
    </p:spTree>
    <p:extLst>
      <p:ext uri="{BB962C8B-B14F-4D97-AF65-F5344CB8AC3E}">
        <p14:creationId xmlns:p14="http://schemas.microsoft.com/office/powerpoint/2010/main" val="4110854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80ABCB-72B5-D895-B650-E74A5AA42FD9}"/>
              </a:ext>
            </a:extLst>
          </p:cNvPr>
          <p:cNvSpPr>
            <a:spLocks noGrp="1"/>
          </p:cNvSpPr>
          <p:nvPr>
            <p:ph type="title"/>
          </p:nvPr>
        </p:nvSpPr>
        <p:spPr/>
        <p:txBody>
          <a:bodyPr/>
          <a:lstStyle/>
          <a:p>
            <a:r>
              <a:rPr lang="en-US" altLang="zh-CN" dirty="0"/>
              <a:t>Experiments</a:t>
            </a:r>
            <a:endParaRPr lang="zh-CN" altLang="en-US" dirty="0"/>
          </a:p>
        </p:txBody>
      </p:sp>
      <p:sp>
        <p:nvSpPr>
          <p:cNvPr id="3" name="内容占位符 2">
            <a:extLst>
              <a:ext uri="{FF2B5EF4-FFF2-40B4-BE49-F238E27FC236}">
                <a16:creationId xmlns:a16="http://schemas.microsoft.com/office/drawing/2014/main" id="{43661385-1035-4FDE-A2D6-DE6FEAFD4637}"/>
              </a:ext>
            </a:extLst>
          </p:cNvPr>
          <p:cNvSpPr>
            <a:spLocks noGrp="1"/>
          </p:cNvSpPr>
          <p:nvPr>
            <p:ph idx="1"/>
          </p:nvPr>
        </p:nvSpPr>
        <p:spPr>
          <a:xfrm>
            <a:off x="746760" y="4425379"/>
            <a:ext cx="10515600" cy="1847088"/>
          </a:xfrm>
        </p:spPr>
        <p:txBody>
          <a:bodyPr>
            <a:normAutofit fontScale="92500" lnSpcReduction="10000"/>
          </a:bodyPr>
          <a:lstStyle/>
          <a:p>
            <a:r>
              <a:rPr lang="en-US" altLang="zh-CN" dirty="0"/>
              <a:t>supervised finetuning the CLIP image encoder on 50,000 clean images from the ImageNet-1K validation dataset</a:t>
            </a:r>
          </a:p>
          <a:p>
            <a:r>
              <a:rPr lang="en-US" altLang="zh-CN" dirty="0"/>
              <a:t>supervised finetuning is an effective defense against backdoor attacks on multimodal contrastive learning and helps the model adapt to the downstream task</a:t>
            </a:r>
            <a:endParaRPr lang="zh-CN" altLang="en-US" dirty="0"/>
          </a:p>
        </p:txBody>
      </p:sp>
      <p:pic>
        <p:nvPicPr>
          <p:cNvPr id="5" name="图片 4">
            <a:extLst>
              <a:ext uri="{FF2B5EF4-FFF2-40B4-BE49-F238E27FC236}">
                <a16:creationId xmlns:a16="http://schemas.microsoft.com/office/drawing/2014/main" id="{52EB0D97-BCCF-E392-B860-1B8C462DA089}"/>
              </a:ext>
            </a:extLst>
          </p:cNvPr>
          <p:cNvPicPr>
            <a:picLocks noChangeAspect="1"/>
          </p:cNvPicPr>
          <p:nvPr/>
        </p:nvPicPr>
        <p:blipFill>
          <a:blip r:embed="rId3"/>
          <a:stretch>
            <a:fillRect/>
          </a:stretch>
        </p:blipFill>
        <p:spPr>
          <a:xfrm>
            <a:off x="838200" y="1690688"/>
            <a:ext cx="10018899" cy="2332672"/>
          </a:xfrm>
          <a:prstGeom prst="rect">
            <a:avLst/>
          </a:prstGeom>
        </p:spPr>
      </p:pic>
    </p:spTree>
    <p:extLst>
      <p:ext uri="{BB962C8B-B14F-4D97-AF65-F5344CB8AC3E}">
        <p14:creationId xmlns:p14="http://schemas.microsoft.com/office/powerpoint/2010/main" val="447065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8DDDEE-0585-27DE-04E0-654E83FE85EB}"/>
              </a:ext>
            </a:extLst>
          </p:cNvPr>
          <p:cNvSpPr>
            <a:spLocks noGrp="1"/>
          </p:cNvSpPr>
          <p:nvPr>
            <p:ph type="title"/>
          </p:nvPr>
        </p:nvSpPr>
        <p:spPr/>
        <p:txBody>
          <a:bodyPr/>
          <a:lstStyle/>
          <a:p>
            <a:r>
              <a:rPr lang="en-US" altLang="zh-CN" dirty="0"/>
              <a:t>Experiments</a:t>
            </a:r>
            <a:endParaRPr lang="zh-CN" altLang="en-US" dirty="0"/>
          </a:p>
        </p:txBody>
      </p:sp>
      <p:sp>
        <p:nvSpPr>
          <p:cNvPr id="3" name="内容占位符 2">
            <a:extLst>
              <a:ext uri="{FF2B5EF4-FFF2-40B4-BE49-F238E27FC236}">
                <a16:creationId xmlns:a16="http://schemas.microsoft.com/office/drawing/2014/main" id="{03605A5E-6165-7B7B-9838-8333555ED19F}"/>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63B40B13-D850-7DC9-9533-95367920BACF}"/>
              </a:ext>
            </a:extLst>
          </p:cNvPr>
          <p:cNvPicPr>
            <a:picLocks noChangeAspect="1"/>
          </p:cNvPicPr>
          <p:nvPr/>
        </p:nvPicPr>
        <p:blipFill>
          <a:blip r:embed="rId3"/>
          <a:stretch>
            <a:fillRect/>
          </a:stretch>
        </p:blipFill>
        <p:spPr>
          <a:xfrm>
            <a:off x="218926" y="1825625"/>
            <a:ext cx="11754147" cy="3051805"/>
          </a:xfrm>
          <a:prstGeom prst="rect">
            <a:avLst/>
          </a:prstGeom>
        </p:spPr>
      </p:pic>
    </p:spTree>
    <p:extLst>
      <p:ext uri="{BB962C8B-B14F-4D97-AF65-F5344CB8AC3E}">
        <p14:creationId xmlns:p14="http://schemas.microsoft.com/office/powerpoint/2010/main" val="512769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93B498-A815-A2D5-11DB-F7FFF7D18C64}"/>
              </a:ext>
            </a:extLst>
          </p:cNvPr>
          <p:cNvSpPr>
            <a:spLocks noGrp="1"/>
          </p:cNvSpPr>
          <p:nvPr>
            <p:ph type="title"/>
          </p:nvPr>
        </p:nvSpPr>
        <p:spPr/>
        <p:txBody>
          <a:bodyPr/>
          <a:lstStyle/>
          <a:p>
            <a:r>
              <a:rPr lang="en-US" altLang="zh-CN" dirty="0"/>
              <a:t>Experiments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1CCCA81-1B1A-A86D-E03D-F0D43C01A67E}"/>
                  </a:ext>
                </a:extLst>
              </p:cNvPr>
              <p:cNvSpPr>
                <a:spLocks noGrp="1"/>
              </p:cNvSpPr>
              <p:nvPr>
                <p:ph idx="1"/>
              </p:nvPr>
            </p:nvSpPr>
            <p:spPr>
              <a:xfrm>
                <a:off x="838200" y="1609344"/>
                <a:ext cx="10515600" cy="4567619"/>
              </a:xfrm>
            </p:spPr>
            <p:txBody>
              <a:bodyPr/>
              <a:lstStyle/>
              <a:p>
                <a:r>
                  <a:rPr lang="en-US" altLang="zh-CN" dirty="0"/>
                  <a:t>Ablation Study</a:t>
                </a:r>
              </a:p>
              <a:p>
                <a:pPr lvl="1"/>
                <a:r>
                  <a:rPr lang="en-US" altLang="zh-CN" dirty="0"/>
                  <a:t>Effect of </a:t>
                </a:r>
                <a14:m>
                  <m:oMath xmlns:m="http://schemas.openxmlformats.org/officeDocument/2006/math">
                    <m:sSub>
                      <m:sSubPr>
                        <m:ctrlPr>
                          <a:rPr lang="en-US" altLang="zh-CN" b="0" i="1" dirty="0" smtClean="0">
                            <a:latin typeface="Cambria Math" panose="02040503050406030204" pitchFamily="18" charset="0"/>
                          </a:rPr>
                        </m:ctrlPr>
                      </m:sSubPr>
                      <m:e>
                        <m:r>
                          <m:rPr>
                            <m:sty m:val="p"/>
                          </m:rPr>
                          <a:rPr lang="en-US" altLang="zh-CN" i="1" dirty="0">
                            <a:latin typeface="Cambria Math" panose="02040503050406030204" pitchFamily="18" charset="0"/>
                          </a:rPr>
                          <m:t>λ</m:t>
                        </m:r>
                      </m:e>
                      <m:sub>
                        <m:r>
                          <a:rPr lang="en-US" altLang="zh-CN" b="0" i="0" dirty="0" smtClean="0">
                            <a:latin typeface="Cambria Math" panose="02040503050406030204" pitchFamily="18" charset="0"/>
                          </a:rPr>
                          <m:t>2</m:t>
                        </m:r>
                      </m:sub>
                    </m:sSub>
                  </m:oMath>
                </a14:m>
                <a:endParaRPr lang="en-US" altLang="zh-CN" dirty="0"/>
              </a:p>
            </p:txBody>
          </p:sp>
        </mc:Choice>
        <mc:Fallback xmlns="">
          <p:sp>
            <p:nvSpPr>
              <p:cNvPr id="3" name="内容占位符 2">
                <a:extLst>
                  <a:ext uri="{FF2B5EF4-FFF2-40B4-BE49-F238E27FC236}">
                    <a16:creationId xmlns:a16="http://schemas.microsoft.com/office/drawing/2014/main" id="{E1CCCA81-1B1A-A86D-E03D-F0D43C01A67E}"/>
                  </a:ext>
                </a:extLst>
              </p:cNvPr>
              <p:cNvSpPr>
                <a:spLocks noGrp="1" noRot="1" noChangeAspect="1" noMove="1" noResize="1" noEditPoints="1" noAdjustHandles="1" noChangeArrowheads="1" noChangeShapeType="1" noTextEdit="1"/>
              </p:cNvSpPr>
              <p:nvPr>
                <p:ph idx="1"/>
              </p:nvPr>
            </p:nvSpPr>
            <p:spPr>
              <a:xfrm>
                <a:off x="838200" y="1609344"/>
                <a:ext cx="10515600" cy="4567619"/>
              </a:xfrm>
              <a:blipFill>
                <a:blip r:embed="rId3"/>
                <a:stretch>
                  <a:fillRect l="-1043" t="-2403"/>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3FDD8F55-2CB9-BA95-8C37-E8441A75459A}"/>
              </a:ext>
            </a:extLst>
          </p:cNvPr>
          <p:cNvPicPr>
            <a:picLocks noChangeAspect="1"/>
          </p:cNvPicPr>
          <p:nvPr/>
        </p:nvPicPr>
        <p:blipFill>
          <a:blip r:embed="rId4"/>
          <a:stretch>
            <a:fillRect/>
          </a:stretch>
        </p:blipFill>
        <p:spPr>
          <a:xfrm>
            <a:off x="1820699" y="2934907"/>
            <a:ext cx="8550602" cy="3557968"/>
          </a:xfrm>
          <a:prstGeom prst="rect">
            <a:avLst/>
          </a:prstGeom>
        </p:spPr>
      </p:pic>
      <p:pic>
        <p:nvPicPr>
          <p:cNvPr id="6" name="图片 5">
            <a:extLst>
              <a:ext uri="{FF2B5EF4-FFF2-40B4-BE49-F238E27FC236}">
                <a16:creationId xmlns:a16="http://schemas.microsoft.com/office/drawing/2014/main" id="{41299CF2-3C19-C084-8F49-184EED6070BF}"/>
              </a:ext>
            </a:extLst>
          </p:cNvPr>
          <p:cNvPicPr>
            <a:picLocks noChangeAspect="1"/>
          </p:cNvPicPr>
          <p:nvPr/>
        </p:nvPicPr>
        <p:blipFill rotWithShape="1">
          <a:blip r:embed="rId5"/>
          <a:srcRect l="30522" t="80398" r="35325" b="3673"/>
          <a:stretch/>
        </p:blipFill>
        <p:spPr>
          <a:xfrm>
            <a:off x="4425696" y="2182400"/>
            <a:ext cx="3044952" cy="546323"/>
          </a:xfrm>
          <a:prstGeom prst="rect">
            <a:avLst/>
          </a:prstGeom>
        </p:spPr>
      </p:pic>
    </p:spTree>
    <p:extLst>
      <p:ext uri="{BB962C8B-B14F-4D97-AF65-F5344CB8AC3E}">
        <p14:creationId xmlns:p14="http://schemas.microsoft.com/office/powerpoint/2010/main" val="174891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93B498-A815-A2D5-11DB-F7FFF7D18C64}"/>
              </a:ext>
            </a:extLst>
          </p:cNvPr>
          <p:cNvSpPr>
            <a:spLocks noGrp="1"/>
          </p:cNvSpPr>
          <p:nvPr>
            <p:ph type="title"/>
          </p:nvPr>
        </p:nvSpPr>
        <p:spPr/>
        <p:txBody>
          <a:bodyPr/>
          <a:lstStyle/>
          <a:p>
            <a:r>
              <a:rPr lang="en-US" altLang="zh-CN" dirty="0"/>
              <a:t>Experiments</a:t>
            </a:r>
            <a:endParaRPr lang="zh-CN" altLang="en-US" dirty="0"/>
          </a:p>
        </p:txBody>
      </p:sp>
      <p:sp>
        <p:nvSpPr>
          <p:cNvPr id="3" name="内容占位符 2">
            <a:extLst>
              <a:ext uri="{FF2B5EF4-FFF2-40B4-BE49-F238E27FC236}">
                <a16:creationId xmlns:a16="http://schemas.microsoft.com/office/drawing/2014/main" id="{E1CCCA81-1B1A-A86D-E03D-F0D43C01A67E}"/>
              </a:ext>
            </a:extLst>
          </p:cNvPr>
          <p:cNvSpPr>
            <a:spLocks noGrp="1"/>
          </p:cNvSpPr>
          <p:nvPr>
            <p:ph idx="1"/>
          </p:nvPr>
        </p:nvSpPr>
        <p:spPr>
          <a:xfrm>
            <a:off x="838200" y="1609344"/>
            <a:ext cx="10515600" cy="4567619"/>
          </a:xfrm>
        </p:spPr>
        <p:txBody>
          <a:bodyPr/>
          <a:lstStyle/>
          <a:p>
            <a:r>
              <a:rPr lang="en-US" altLang="zh-CN" dirty="0"/>
              <a:t>Ablation Study</a:t>
            </a:r>
          </a:p>
          <a:p>
            <a:pPr lvl="1"/>
            <a:r>
              <a:rPr lang="en-US" altLang="zh-CN" dirty="0"/>
              <a:t>Effect of changing number of backdoors</a:t>
            </a:r>
          </a:p>
        </p:txBody>
      </p:sp>
      <p:pic>
        <p:nvPicPr>
          <p:cNvPr id="5" name="图片 4">
            <a:extLst>
              <a:ext uri="{FF2B5EF4-FFF2-40B4-BE49-F238E27FC236}">
                <a16:creationId xmlns:a16="http://schemas.microsoft.com/office/drawing/2014/main" id="{BFC9C121-8384-567B-E3CB-BCD8DF551FBD}"/>
              </a:ext>
            </a:extLst>
          </p:cNvPr>
          <p:cNvPicPr>
            <a:picLocks noChangeAspect="1"/>
          </p:cNvPicPr>
          <p:nvPr/>
        </p:nvPicPr>
        <p:blipFill>
          <a:blip r:embed="rId2"/>
          <a:stretch>
            <a:fillRect/>
          </a:stretch>
        </p:blipFill>
        <p:spPr>
          <a:xfrm>
            <a:off x="676275" y="2658749"/>
            <a:ext cx="10991850" cy="2437636"/>
          </a:xfrm>
          <a:prstGeom prst="rect">
            <a:avLst/>
          </a:prstGeom>
        </p:spPr>
      </p:pic>
    </p:spTree>
    <p:extLst>
      <p:ext uri="{BB962C8B-B14F-4D97-AF65-F5344CB8AC3E}">
        <p14:creationId xmlns:p14="http://schemas.microsoft.com/office/powerpoint/2010/main" val="2583998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93B498-A815-A2D5-11DB-F7FFF7D18C64}"/>
              </a:ext>
            </a:extLst>
          </p:cNvPr>
          <p:cNvSpPr>
            <a:spLocks noGrp="1"/>
          </p:cNvSpPr>
          <p:nvPr>
            <p:ph type="title"/>
          </p:nvPr>
        </p:nvSpPr>
        <p:spPr/>
        <p:txBody>
          <a:bodyPr/>
          <a:lstStyle/>
          <a:p>
            <a:r>
              <a:rPr lang="en-US" altLang="zh-CN" dirty="0"/>
              <a:t>Experiments</a:t>
            </a:r>
            <a:endParaRPr lang="zh-CN" altLang="en-US" dirty="0"/>
          </a:p>
        </p:txBody>
      </p:sp>
      <p:sp>
        <p:nvSpPr>
          <p:cNvPr id="3" name="内容占位符 2">
            <a:extLst>
              <a:ext uri="{FF2B5EF4-FFF2-40B4-BE49-F238E27FC236}">
                <a16:creationId xmlns:a16="http://schemas.microsoft.com/office/drawing/2014/main" id="{E1CCCA81-1B1A-A86D-E03D-F0D43C01A67E}"/>
              </a:ext>
            </a:extLst>
          </p:cNvPr>
          <p:cNvSpPr>
            <a:spLocks noGrp="1"/>
          </p:cNvSpPr>
          <p:nvPr>
            <p:ph idx="1"/>
          </p:nvPr>
        </p:nvSpPr>
        <p:spPr>
          <a:xfrm>
            <a:off x="838200" y="1609344"/>
            <a:ext cx="10515600" cy="4567619"/>
          </a:xfrm>
        </p:spPr>
        <p:txBody>
          <a:bodyPr/>
          <a:lstStyle/>
          <a:p>
            <a:r>
              <a:rPr lang="en-US" altLang="zh-CN" dirty="0"/>
              <a:t>Ablation Study</a:t>
            </a:r>
          </a:p>
          <a:p>
            <a:pPr lvl="1"/>
            <a:r>
              <a:rPr lang="en-US" altLang="zh-CN" dirty="0"/>
              <a:t>Effect of pretraining dataset size</a:t>
            </a:r>
          </a:p>
          <a:p>
            <a:pPr lvl="2"/>
            <a:r>
              <a:rPr lang="en-US" altLang="zh-CN" dirty="0"/>
              <a:t>1500 </a:t>
            </a:r>
            <a:r>
              <a:rPr lang="en-US" altLang="zh-CN" dirty="0" err="1"/>
              <a:t>BadNet</a:t>
            </a:r>
            <a:r>
              <a:rPr lang="en-US" altLang="zh-CN" dirty="0"/>
              <a:t> poisoned examples</a:t>
            </a:r>
          </a:p>
          <a:p>
            <a:pPr lvl="2"/>
            <a:r>
              <a:rPr lang="en-US" altLang="zh-CN" dirty="0"/>
              <a:t>increasing the amount of the pretraining data reducing the poisoning ratio</a:t>
            </a:r>
          </a:p>
        </p:txBody>
      </p:sp>
      <p:pic>
        <p:nvPicPr>
          <p:cNvPr id="6" name="图片 5">
            <a:extLst>
              <a:ext uri="{FF2B5EF4-FFF2-40B4-BE49-F238E27FC236}">
                <a16:creationId xmlns:a16="http://schemas.microsoft.com/office/drawing/2014/main" id="{7EEA6620-0601-C60F-E8FB-FF1AAE858FDB}"/>
              </a:ext>
            </a:extLst>
          </p:cNvPr>
          <p:cNvPicPr>
            <a:picLocks noChangeAspect="1"/>
          </p:cNvPicPr>
          <p:nvPr/>
        </p:nvPicPr>
        <p:blipFill>
          <a:blip r:embed="rId3"/>
          <a:stretch>
            <a:fillRect/>
          </a:stretch>
        </p:blipFill>
        <p:spPr>
          <a:xfrm>
            <a:off x="838200" y="3189287"/>
            <a:ext cx="11007388" cy="2552700"/>
          </a:xfrm>
          <a:prstGeom prst="rect">
            <a:avLst/>
          </a:prstGeom>
        </p:spPr>
      </p:pic>
    </p:spTree>
    <p:extLst>
      <p:ext uri="{BB962C8B-B14F-4D97-AF65-F5344CB8AC3E}">
        <p14:creationId xmlns:p14="http://schemas.microsoft.com/office/powerpoint/2010/main" val="1936761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93B498-A815-A2D5-11DB-F7FFF7D18C64}"/>
              </a:ext>
            </a:extLst>
          </p:cNvPr>
          <p:cNvSpPr>
            <a:spLocks noGrp="1"/>
          </p:cNvSpPr>
          <p:nvPr>
            <p:ph type="title"/>
          </p:nvPr>
        </p:nvSpPr>
        <p:spPr/>
        <p:txBody>
          <a:bodyPr/>
          <a:lstStyle/>
          <a:p>
            <a:r>
              <a:rPr lang="en-US" altLang="zh-CN" dirty="0"/>
              <a:t>Experiments</a:t>
            </a:r>
            <a:endParaRPr lang="zh-CN" altLang="en-US" dirty="0"/>
          </a:p>
        </p:txBody>
      </p:sp>
      <p:sp>
        <p:nvSpPr>
          <p:cNvPr id="3" name="内容占位符 2">
            <a:extLst>
              <a:ext uri="{FF2B5EF4-FFF2-40B4-BE49-F238E27FC236}">
                <a16:creationId xmlns:a16="http://schemas.microsoft.com/office/drawing/2014/main" id="{E1CCCA81-1B1A-A86D-E03D-F0D43C01A67E}"/>
              </a:ext>
            </a:extLst>
          </p:cNvPr>
          <p:cNvSpPr>
            <a:spLocks noGrp="1"/>
          </p:cNvSpPr>
          <p:nvPr>
            <p:ph idx="1"/>
          </p:nvPr>
        </p:nvSpPr>
        <p:spPr>
          <a:xfrm>
            <a:off x="838200" y="1609344"/>
            <a:ext cx="10515600" cy="4567619"/>
          </a:xfrm>
        </p:spPr>
        <p:txBody>
          <a:bodyPr/>
          <a:lstStyle/>
          <a:p>
            <a:r>
              <a:rPr lang="en-US" altLang="zh-CN" dirty="0"/>
              <a:t>Ablation Study</a:t>
            </a:r>
          </a:p>
          <a:p>
            <a:pPr lvl="1"/>
            <a:r>
              <a:rPr lang="en-US" altLang="zh-CN" dirty="0"/>
              <a:t>Effect of </a:t>
            </a:r>
            <a:r>
              <a:rPr lang="en-US" altLang="zh-CN" dirty="0" err="1"/>
              <a:t>CleanCLIP</a:t>
            </a:r>
            <a:r>
              <a:rPr lang="en-US" altLang="zh-CN" dirty="0"/>
              <a:t> dataset size</a:t>
            </a:r>
          </a:p>
        </p:txBody>
      </p:sp>
      <p:pic>
        <p:nvPicPr>
          <p:cNvPr id="7" name="图片 6">
            <a:extLst>
              <a:ext uri="{FF2B5EF4-FFF2-40B4-BE49-F238E27FC236}">
                <a16:creationId xmlns:a16="http://schemas.microsoft.com/office/drawing/2014/main" id="{395CF166-DB10-2DA6-A2C1-2B0B3E387D7D}"/>
              </a:ext>
            </a:extLst>
          </p:cNvPr>
          <p:cNvPicPr>
            <a:picLocks noChangeAspect="1"/>
          </p:cNvPicPr>
          <p:nvPr/>
        </p:nvPicPr>
        <p:blipFill>
          <a:blip r:embed="rId3"/>
          <a:stretch>
            <a:fillRect/>
          </a:stretch>
        </p:blipFill>
        <p:spPr>
          <a:xfrm>
            <a:off x="745160" y="2706306"/>
            <a:ext cx="10701679" cy="3118422"/>
          </a:xfrm>
          <a:prstGeom prst="rect">
            <a:avLst/>
          </a:prstGeom>
        </p:spPr>
      </p:pic>
    </p:spTree>
    <p:extLst>
      <p:ext uri="{BB962C8B-B14F-4D97-AF65-F5344CB8AC3E}">
        <p14:creationId xmlns:p14="http://schemas.microsoft.com/office/powerpoint/2010/main" val="3793009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50FC3B-F0B9-6F00-22B4-F8978E3BA834}"/>
              </a:ext>
            </a:extLst>
          </p:cNvPr>
          <p:cNvSpPr>
            <a:spLocks noGrp="1"/>
          </p:cNvSpPr>
          <p:nvPr>
            <p:ph type="title"/>
          </p:nvPr>
        </p:nvSpPr>
        <p:spPr/>
        <p:txBody>
          <a:bodyPr/>
          <a:lstStyle/>
          <a:p>
            <a:r>
              <a:rPr lang="en-US" altLang="zh-CN" dirty="0"/>
              <a:t>Conclusion</a:t>
            </a:r>
            <a:endParaRPr lang="zh-CN" altLang="en-US" dirty="0"/>
          </a:p>
        </p:txBody>
      </p:sp>
      <p:sp>
        <p:nvSpPr>
          <p:cNvPr id="3" name="内容占位符 2">
            <a:extLst>
              <a:ext uri="{FF2B5EF4-FFF2-40B4-BE49-F238E27FC236}">
                <a16:creationId xmlns:a16="http://schemas.microsoft.com/office/drawing/2014/main" id="{B0EFE955-CDC4-2074-25EA-C7BA5961CF1C}"/>
              </a:ext>
            </a:extLst>
          </p:cNvPr>
          <p:cNvSpPr>
            <a:spLocks noGrp="1"/>
          </p:cNvSpPr>
          <p:nvPr>
            <p:ph idx="1"/>
          </p:nvPr>
        </p:nvSpPr>
        <p:spPr>
          <a:xfrm>
            <a:off x="838200" y="1600200"/>
            <a:ext cx="10515600" cy="4622483"/>
          </a:xfrm>
        </p:spPr>
        <p:txBody>
          <a:bodyPr/>
          <a:lstStyle/>
          <a:p>
            <a:r>
              <a:rPr lang="en-US" altLang="zh-CN" dirty="0"/>
              <a:t>good observation</a:t>
            </a:r>
          </a:p>
          <a:p>
            <a:r>
              <a:rPr lang="en-US" altLang="zh-CN" dirty="0"/>
              <a:t>simple and valid method</a:t>
            </a:r>
          </a:p>
          <a:p>
            <a:r>
              <a:rPr lang="en-US" altLang="zh-CN" dirty="0"/>
              <a:t>sufficient experiments </a:t>
            </a:r>
            <a:endParaRPr lang="zh-CN" altLang="en-US" dirty="0"/>
          </a:p>
        </p:txBody>
      </p:sp>
    </p:spTree>
    <p:extLst>
      <p:ext uri="{BB962C8B-B14F-4D97-AF65-F5344CB8AC3E}">
        <p14:creationId xmlns:p14="http://schemas.microsoft.com/office/powerpoint/2010/main" val="3533140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DA66D1-8950-8A95-10DA-19AEB9A05E84}"/>
              </a:ext>
            </a:extLst>
          </p:cNvPr>
          <p:cNvSpPr>
            <a:spLocks noGrp="1"/>
          </p:cNvSpPr>
          <p:nvPr>
            <p:ph type="title"/>
          </p:nvPr>
        </p:nvSpPr>
        <p:spPr>
          <a:xfrm>
            <a:off x="838200" y="112539"/>
            <a:ext cx="10515600" cy="1325563"/>
          </a:xfrm>
        </p:spPr>
        <p:txBody>
          <a:bodyPr/>
          <a:lstStyle/>
          <a:p>
            <a:r>
              <a:rPr lang="en-US" altLang="zh-CN" dirty="0"/>
              <a:t>Writing-Abstract(1/2)</a:t>
            </a:r>
            <a:endParaRPr lang="zh-CN" altLang="en-US" dirty="0"/>
          </a:p>
        </p:txBody>
      </p:sp>
      <p:sp>
        <p:nvSpPr>
          <p:cNvPr id="5" name="内容占位符 4">
            <a:extLst>
              <a:ext uri="{FF2B5EF4-FFF2-40B4-BE49-F238E27FC236}">
                <a16:creationId xmlns:a16="http://schemas.microsoft.com/office/drawing/2014/main" id="{C5ED3D7B-1149-2F6F-D3B7-16A9D94C0444}"/>
              </a:ext>
            </a:extLst>
          </p:cNvPr>
          <p:cNvSpPr>
            <a:spLocks noGrp="1"/>
          </p:cNvSpPr>
          <p:nvPr>
            <p:ph idx="1"/>
          </p:nvPr>
        </p:nvSpPr>
        <p:spPr>
          <a:xfrm>
            <a:off x="780010" y="1438102"/>
            <a:ext cx="7782099" cy="5419898"/>
          </a:xfrm>
        </p:spPr>
        <p:txBody>
          <a:bodyPr>
            <a:normAutofit/>
          </a:bodyPr>
          <a:lstStyle/>
          <a:p>
            <a:pPr algn="just"/>
            <a:r>
              <a:rPr lang="en-US" altLang="zh-CN" sz="2400" dirty="0"/>
              <a:t>Multimodal contrastive pretraining has been utilized to train multimodal representation models, like CLIP, on vast amounts of paired image-text data. However, previous studies have highlighted the </a:t>
            </a:r>
            <a:r>
              <a:rPr lang="en-US" altLang="zh-CN" sz="2400" b="1" dirty="0"/>
              <a:t>susceptibility of such models to backdoor attacks</a:t>
            </a:r>
            <a:r>
              <a:rPr lang="en-US" altLang="zh-CN" sz="2400" dirty="0"/>
              <a:t>. Specifically, when training on backdoored examples, CLIP learns spurious correlations between the embedded backdoor trigger and the target label, aligning their representations in the joint embedding space. With injecting only a few poisoned examples e.g., 75 examples in the 3M pretraining data, the model’s behavior can be significantly manipulated, thus making it hard to detect or unlearn such correlations. </a:t>
            </a:r>
            <a:endParaRPr lang="zh-CN" altLang="en-US" sz="2400" dirty="0"/>
          </a:p>
        </p:txBody>
      </p:sp>
      <p:sp>
        <p:nvSpPr>
          <p:cNvPr id="6" name="文本框 5">
            <a:extLst>
              <a:ext uri="{FF2B5EF4-FFF2-40B4-BE49-F238E27FC236}">
                <a16:creationId xmlns:a16="http://schemas.microsoft.com/office/drawing/2014/main" id="{429E3393-6E53-0B10-B7B7-156B49E6A729}"/>
              </a:ext>
            </a:extLst>
          </p:cNvPr>
          <p:cNvSpPr txBox="1"/>
          <p:nvPr/>
        </p:nvSpPr>
        <p:spPr>
          <a:xfrm>
            <a:off x="8961122" y="1547891"/>
            <a:ext cx="3020970" cy="1200329"/>
          </a:xfrm>
          <a:prstGeom prst="rect">
            <a:avLst/>
          </a:prstGeom>
          <a:noFill/>
        </p:spPr>
        <p:txBody>
          <a:bodyPr wrap="square" rtlCol="0">
            <a:spAutoFit/>
          </a:bodyPr>
          <a:lstStyle/>
          <a:p>
            <a:r>
              <a:rPr lang="zh-CN" altLang="en-US" dirty="0"/>
              <a:t>研究背景：</a:t>
            </a:r>
            <a:endParaRPr lang="en-US" altLang="zh-CN" dirty="0"/>
          </a:p>
          <a:p>
            <a:r>
              <a:rPr lang="zh-CN" altLang="en-US" dirty="0"/>
              <a:t>指出多模态预训练模型易受后门攻击的影响，后门攻击的危害性</a:t>
            </a:r>
            <a:r>
              <a:rPr lang="en-US" altLang="zh-CN" dirty="0"/>
              <a:t>etc.</a:t>
            </a:r>
            <a:endParaRPr lang="zh-CN" altLang="en-US" dirty="0"/>
          </a:p>
        </p:txBody>
      </p:sp>
    </p:spTree>
    <p:extLst>
      <p:ext uri="{BB962C8B-B14F-4D97-AF65-F5344CB8AC3E}">
        <p14:creationId xmlns:p14="http://schemas.microsoft.com/office/powerpoint/2010/main" val="2442814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DA66D1-8950-8A95-10DA-19AEB9A05E84}"/>
              </a:ext>
            </a:extLst>
          </p:cNvPr>
          <p:cNvSpPr>
            <a:spLocks noGrp="1"/>
          </p:cNvSpPr>
          <p:nvPr>
            <p:ph type="title"/>
          </p:nvPr>
        </p:nvSpPr>
        <p:spPr>
          <a:xfrm>
            <a:off x="838200" y="112539"/>
            <a:ext cx="10515600" cy="1325563"/>
          </a:xfrm>
        </p:spPr>
        <p:txBody>
          <a:bodyPr/>
          <a:lstStyle/>
          <a:p>
            <a:r>
              <a:rPr lang="en-US" altLang="zh-CN" dirty="0"/>
              <a:t>Writing-Abstract(2/2)</a:t>
            </a:r>
            <a:endParaRPr lang="zh-CN" altLang="en-US" dirty="0"/>
          </a:p>
        </p:txBody>
      </p:sp>
      <p:sp>
        <p:nvSpPr>
          <p:cNvPr id="5" name="内容占位符 4">
            <a:extLst>
              <a:ext uri="{FF2B5EF4-FFF2-40B4-BE49-F238E27FC236}">
                <a16:creationId xmlns:a16="http://schemas.microsoft.com/office/drawing/2014/main" id="{C5ED3D7B-1149-2F6F-D3B7-16A9D94C0444}"/>
              </a:ext>
            </a:extLst>
          </p:cNvPr>
          <p:cNvSpPr>
            <a:spLocks noGrp="1"/>
          </p:cNvSpPr>
          <p:nvPr>
            <p:ph idx="1"/>
          </p:nvPr>
        </p:nvSpPr>
        <p:spPr>
          <a:xfrm>
            <a:off x="838200" y="1155470"/>
            <a:ext cx="8413865" cy="5769032"/>
          </a:xfrm>
        </p:spPr>
        <p:txBody>
          <a:bodyPr>
            <a:normAutofit/>
          </a:bodyPr>
          <a:lstStyle/>
          <a:p>
            <a:pPr algn="just"/>
            <a:r>
              <a:rPr lang="en-US" altLang="zh-CN" sz="2400" dirty="0"/>
              <a:t>To address this issue, we propose </a:t>
            </a:r>
            <a:r>
              <a:rPr lang="en-US" altLang="zh-CN" sz="2400" dirty="0" err="1"/>
              <a:t>CleanCLIP</a:t>
            </a:r>
            <a:r>
              <a:rPr lang="en-US" altLang="zh-CN" sz="2400" dirty="0"/>
              <a:t>, a finetuning framework that </a:t>
            </a:r>
            <a:r>
              <a:rPr lang="en-US" altLang="zh-CN" sz="2400" b="1" dirty="0">
                <a:solidFill>
                  <a:schemeClr val="accent1">
                    <a:lumMod val="75000"/>
                  </a:schemeClr>
                </a:solidFill>
              </a:rPr>
              <a:t>weakens the learned spurious associations introduced by backdoor attacks</a:t>
            </a:r>
            <a:r>
              <a:rPr lang="en-US" altLang="zh-CN" sz="2400" dirty="0"/>
              <a:t> by </a:t>
            </a:r>
            <a:r>
              <a:rPr lang="en-US" altLang="zh-CN" sz="2400" b="1" dirty="0">
                <a:solidFill>
                  <a:srgbClr val="C00000"/>
                </a:solidFill>
              </a:rPr>
              <a:t>re-aligning the representations for individual modalities independently</a:t>
            </a:r>
            <a:r>
              <a:rPr lang="en-US" altLang="zh-CN" sz="2400" dirty="0"/>
              <a:t>. </a:t>
            </a:r>
            <a:r>
              <a:rPr lang="en-US" altLang="zh-CN" sz="2400" dirty="0" err="1">
                <a:solidFill>
                  <a:schemeClr val="bg2">
                    <a:lumMod val="75000"/>
                  </a:schemeClr>
                </a:solidFill>
              </a:rPr>
              <a:t>CleanCLIP</a:t>
            </a:r>
            <a:r>
              <a:rPr lang="en-US" altLang="zh-CN" sz="2400" dirty="0">
                <a:solidFill>
                  <a:schemeClr val="bg2">
                    <a:lumMod val="75000"/>
                  </a:schemeClr>
                </a:solidFill>
              </a:rPr>
              <a:t> can be employed for both unsupervised finetuning on paired image-text data and for supervised finetuning on labeled image data. We demonstrate that unsupervised finetuning with a combination of multimodal contrastive and unimodal self-supervised objectives for individual modalities can significantly reduce the impact of the backdoor attack. Additionally, supervised finetuning on task-specific labeled data of the individual modality, such as image data, removes the backdoor trigger from the CLIP vision encoder. Empirically, we show that </a:t>
            </a:r>
            <a:r>
              <a:rPr lang="en-US" altLang="zh-CN" sz="2400" dirty="0" err="1">
                <a:solidFill>
                  <a:schemeClr val="bg2">
                    <a:lumMod val="75000"/>
                  </a:schemeClr>
                </a:solidFill>
              </a:rPr>
              <a:t>CleanCLIP</a:t>
            </a:r>
            <a:r>
              <a:rPr lang="en-US" altLang="zh-CN" sz="2400" dirty="0">
                <a:solidFill>
                  <a:schemeClr val="bg2">
                    <a:lumMod val="75000"/>
                  </a:schemeClr>
                </a:solidFill>
              </a:rPr>
              <a:t> maintains model performance on benign examples while mitigating the impact of a range of backdoor attacks on multimodal contrastive learning.</a:t>
            </a:r>
            <a:endParaRPr lang="zh-CN" altLang="en-US" sz="2400" dirty="0">
              <a:solidFill>
                <a:schemeClr val="bg2">
                  <a:lumMod val="75000"/>
                </a:schemeClr>
              </a:solidFill>
            </a:endParaRPr>
          </a:p>
        </p:txBody>
      </p:sp>
      <p:sp>
        <p:nvSpPr>
          <p:cNvPr id="3" name="文本框 2">
            <a:extLst>
              <a:ext uri="{FF2B5EF4-FFF2-40B4-BE49-F238E27FC236}">
                <a16:creationId xmlns:a16="http://schemas.microsoft.com/office/drawing/2014/main" id="{318836BD-4C24-B69A-B437-45B972512F41}"/>
              </a:ext>
            </a:extLst>
          </p:cNvPr>
          <p:cNvSpPr txBox="1"/>
          <p:nvPr/>
        </p:nvSpPr>
        <p:spPr>
          <a:xfrm>
            <a:off x="9526437" y="1265573"/>
            <a:ext cx="2665563" cy="646331"/>
          </a:xfrm>
          <a:prstGeom prst="rect">
            <a:avLst/>
          </a:prstGeom>
          <a:noFill/>
        </p:spPr>
        <p:txBody>
          <a:bodyPr wrap="square" rtlCol="0">
            <a:spAutoFit/>
          </a:bodyPr>
          <a:lstStyle/>
          <a:p>
            <a:r>
              <a:rPr lang="zh-CN" altLang="en-US" dirty="0"/>
              <a:t>一句话概括本文提出的</a:t>
            </a:r>
            <a:r>
              <a:rPr lang="en-US" altLang="zh-CN" dirty="0" err="1"/>
              <a:t>CleanCLIP</a:t>
            </a:r>
            <a:r>
              <a:rPr lang="zh-CN" altLang="en-US" dirty="0"/>
              <a:t>算法的核心</a:t>
            </a:r>
            <a:endParaRPr lang="en-US" altLang="zh-CN" dirty="0"/>
          </a:p>
        </p:txBody>
      </p:sp>
    </p:spTree>
    <p:extLst>
      <p:ext uri="{BB962C8B-B14F-4D97-AF65-F5344CB8AC3E}">
        <p14:creationId xmlns:p14="http://schemas.microsoft.com/office/powerpoint/2010/main" val="3131343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DA66D1-8950-8A95-10DA-19AEB9A05E84}"/>
              </a:ext>
            </a:extLst>
          </p:cNvPr>
          <p:cNvSpPr>
            <a:spLocks noGrp="1"/>
          </p:cNvSpPr>
          <p:nvPr>
            <p:ph type="title"/>
          </p:nvPr>
        </p:nvSpPr>
        <p:spPr>
          <a:xfrm>
            <a:off x="838200" y="112539"/>
            <a:ext cx="10515600" cy="1325563"/>
          </a:xfrm>
        </p:spPr>
        <p:txBody>
          <a:bodyPr/>
          <a:lstStyle/>
          <a:p>
            <a:r>
              <a:rPr lang="en-US" altLang="zh-CN" dirty="0"/>
              <a:t>Writing-Abstract(2/2)</a:t>
            </a:r>
            <a:endParaRPr lang="zh-CN" altLang="en-US" dirty="0"/>
          </a:p>
        </p:txBody>
      </p:sp>
      <p:sp>
        <p:nvSpPr>
          <p:cNvPr id="5" name="内容占位符 4">
            <a:extLst>
              <a:ext uri="{FF2B5EF4-FFF2-40B4-BE49-F238E27FC236}">
                <a16:creationId xmlns:a16="http://schemas.microsoft.com/office/drawing/2014/main" id="{C5ED3D7B-1149-2F6F-D3B7-16A9D94C0444}"/>
              </a:ext>
            </a:extLst>
          </p:cNvPr>
          <p:cNvSpPr>
            <a:spLocks noGrp="1"/>
          </p:cNvSpPr>
          <p:nvPr>
            <p:ph idx="1"/>
          </p:nvPr>
        </p:nvSpPr>
        <p:spPr>
          <a:xfrm>
            <a:off x="838200" y="1155470"/>
            <a:ext cx="8413865" cy="5769032"/>
          </a:xfrm>
        </p:spPr>
        <p:txBody>
          <a:bodyPr>
            <a:normAutofit/>
          </a:bodyPr>
          <a:lstStyle/>
          <a:p>
            <a:pPr algn="just"/>
            <a:r>
              <a:rPr lang="en-US" altLang="zh-CN" sz="2400" dirty="0">
                <a:solidFill>
                  <a:schemeClr val="bg1">
                    <a:lumMod val="65000"/>
                  </a:schemeClr>
                </a:solidFill>
              </a:rPr>
              <a:t>To address this issue, we propose </a:t>
            </a:r>
            <a:r>
              <a:rPr lang="en-US" altLang="zh-CN" sz="2400" dirty="0" err="1">
                <a:solidFill>
                  <a:schemeClr val="bg1">
                    <a:lumMod val="65000"/>
                  </a:schemeClr>
                </a:solidFill>
              </a:rPr>
              <a:t>CleanCLIP</a:t>
            </a:r>
            <a:r>
              <a:rPr lang="en-US" altLang="zh-CN" sz="2400" dirty="0">
                <a:solidFill>
                  <a:schemeClr val="bg1">
                    <a:lumMod val="65000"/>
                  </a:schemeClr>
                </a:solidFill>
              </a:rPr>
              <a:t>, a finetuning framework that weakens the learned spurious associations introduced by backdoor attacks by re-aligning the representations for individual modalities independently. </a:t>
            </a:r>
            <a:r>
              <a:rPr lang="en-US" altLang="zh-CN" sz="2400" dirty="0" err="1"/>
              <a:t>CleanCLIP</a:t>
            </a:r>
            <a:r>
              <a:rPr lang="en-US" altLang="zh-CN" sz="2400" dirty="0"/>
              <a:t> can be employed for both </a:t>
            </a:r>
            <a:r>
              <a:rPr lang="en-US" altLang="zh-CN" sz="2400" b="1" dirty="0">
                <a:solidFill>
                  <a:srgbClr val="C00000"/>
                </a:solidFill>
              </a:rPr>
              <a:t>unsupervised finetuning on paired image-text data </a:t>
            </a:r>
            <a:r>
              <a:rPr lang="en-US" altLang="zh-CN" sz="2400" dirty="0"/>
              <a:t>and for </a:t>
            </a:r>
            <a:r>
              <a:rPr lang="en-US" altLang="zh-CN" sz="2400" b="1" dirty="0">
                <a:solidFill>
                  <a:schemeClr val="accent1">
                    <a:lumMod val="75000"/>
                  </a:schemeClr>
                </a:solidFill>
              </a:rPr>
              <a:t>supervised finetuning on labeled image data</a:t>
            </a:r>
            <a:r>
              <a:rPr lang="en-US" altLang="zh-CN" sz="2400" dirty="0"/>
              <a:t>.</a:t>
            </a:r>
            <a:r>
              <a:rPr lang="en-US" altLang="zh-CN" sz="2400" dirty="0">
                <a:solidFill>
                  <a:schemeClr val="bg2">
                    <a:lumMod val="75000"/>
                  </a:schemeClr>
                </a:solidFill>
              </a:rPr>
              <a:t> We demonstrate that </a:t>
            </a:r>
            <a:r>
              <a:rPr lang="en-US" altLang="zh-CN" sz="2400" dirty="0">
                <a:solidFill>
                  <a:schemeClr val="accent1">
                    <a:lumMod val="75000"/>
                  </a:schemeClr>
                </a:solidFill>
              </a:rPr>
              <a:t>unsupervised finetuning with a combination of multimodal contrastive and unimodal self-supervised objectives for individual modalities can significantly reduce the impact of the backdoor attack</a:t>
            </a:r>
            <a:r>
              <a:rPr lang="en-US" altLang="zh-CN" sz="2400" dirty="0">
                <a:solidFill>
                  <a:schemeClr val="bg2">
                    <a:lumMod val="75000"/>
                  </a:schemeClr>
                </a:solidFill>
              </a:rPr>
              <a:t>. </a:t>
            </a:r>
            <a:r>
              <a:rPr lang="en-US" altLang="zh-CN" sz="2400" dirty="0">
                <a:solidFill>
                  <a:srgbClr val="C00000"/>
                </a:solidFill>
              </a:rPr>
              <a:t>Additionally, supervised finetuning on task-specific labeled data of the individual modality, such as image data, removes the backdoor trigger from the CLIP vision encoder.</a:t>
            </a:r>
            <a:r>
              <a:rPr lang="en-US" altLang="zh-CN" sz="2400" dirty="0">
                <a:solidFill>
                  <a:schemeClr val="bg2">
                    <a:lumMod val="75000"/>
                  </a:schemeClr>
                </a:solidFill>
              </a:rPr>
              <a:t> </a:t>
            </a:r>
            <a:r>
              <a:rPr lang="en-US" altLang="zh-CN" sz="2400" dirty="0">
                <a:solidFill>
                  <a:schemeClr val="accent6">
                    <a:lumMod val="50000"/>
                  </a:schemeClr>
                </a:solidFill>
              </a:rPr>
              <a:t>Empirically, we show that </a:t>
            </a:r>
            <a:r>
              <a:rPr lang="en-US" altLang="zh-CN" sz="2400" dirty="0" err="1">
                <a:solidFill>
                  <a:schemeClr val="accent6">
                    <a:lumMod val="50000"/>
                  </a:schemeClr>
                </a:solidFill>
              </a:rPr>
              <a:t>CleanCLIP</a:t>
            </a:r>
            <a:r>
              <a:rPr lang="en-US" altLang="zh-CN" sz="2400" dirty="0">
                <a:solidFill>
                  <a:schemeClr val="accent6">
                    <a:lumMod val="50000"/>
                  </a:schemeClr>
                </a:solidFill>
              </a:rPr>
              <a:t> maintains model performance on benign examples while mitigating the impact of a range of backdoor attacks on multimodal contrastive learning.</a:t>
            </a:r>
            <a:endParaRPr lang="zh-CN" altLang="en-US" sz="2400" dirty="0">
              <a:solidFill>
                <a:schemeClr val="accent6">
                  <a:lumMod val="50000"/>
                </a:schemeClr>
              </a:solidFill>
            </a:endParaRPr>
          </a:p>
        </p:txBody>
      </p:sp>
      <p:sp>
        <p:nvSpPr>
          <p:cNvPr id="4" name="文本框 3">
            <a:extLst>
              <a:ext uri="{FF2B5EF4-FFF2-40B4-BE49-F238E27FC236}">
                <a16:creationId xmlns:a16="http://schemas.microsoft.com/office/drawing/2014/main" id="{7C2E6C32-39CC-1EB6-78CA-2F4EC7B04245}"/>
              </a:ext>
            </a:extLst>
          </p:cNvPr>
          <p:cNvSpPr txBox="1"/>
          <p:nvPr/>
        </p:nvSpPr>
        <p:spPr>
          <a:xfrm>
            <a:off x="9479019" y="2467939"/>
            <a:ext cx="2521789" cy="3970318"/>
          </a:xfrm>
          <a:prstGeom prst="rect">
            <a:avLst/>
          </a:prstGeom>
          <a:noFill/>
        </p:spPr>
        <p:txBody>
          <a:bodyPr wrap="square" rtlCol="0">
            <a:spAutoFit/>
          </a:bodyPr>
          <a:lstStyle/>
          <a:p>
            <a:r>
              <a:rPr lang="zh-CN" altLang="en-US" dirty="0">
                <a:solidFill>
                  <a:srgbClr val="C00000"/>
                </a:solidFill>
              </a:rPr>
              <a:t>无监督微调</a:t>
            </a:r>
            <a:endParaRPr lang="en-US" altLang="zh-CN" dirty="0">
              <a:solidFill>
                <a:srgbClr val="C00000"/>
              </a:solidFill>
            </a:endParaRPr>
          </a:p>
          <a:p>
            <a:r>
              <a:rPr lang="zh-CN" altLang="en-US" dirty="0">
                <a:solidFill>
                  <a:schemeClr val="accent1">
                    <a:lumMod val="75000"/>
                  </a:schemeClr>
                </a:solidFill>
              </a:rPr>
              <a:t>有监督微调</a:t>
            </a:r>
            <a:endParaRPr lang="en-US" altLang="zh-CN" dirty="0">
              <a:solidFill>
                <a:schemeClr val="accent1">
                  <a:lumMod val="75000"/>
                </a:schemeClr>
              </a:solidFill>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solidFill>
                  <a:schemeClr val="accent6">
                    <a:lumMod val="50000"/>
                  </a:schemeClr>
                </a:solidFill>
              </a:rPr>
              <a:t>效果：移除后门攻击影响并保持在干净数据上的准确率</a:t>
            </a:r>
          </a:p>
        </p:txBody>
      </p:sp>
    </p:spTree>
    <p:extLst>
      <p:ext uri="{BB962C8B-B14F-4D97-AF65-F5344CB8AC3E}">
        <p14:creationId xmlns:p14="http://schemas.microsoft.com/office/powerpoint/2010/main" val="1101506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D06F7C-0D58-4482-E18B-AC858F165644}"/>
              </a:ext>
            </a:extLst>
          </p:cNvPr>
          <p:cNvSpPr>
            <a:spLocks noGrp="1"/>
          </p:cNvSpPr>
          <p:nvPr>
            <p:ph type="title"/>
          </p:nvPr>
        </p:nvSpPr>
        <p:spPr>
          <a:xfrm>
            <a:off x="730135" y="90805"/>
            <a:ext cx="10515600" cy="1325563"/>
          </a:xfrm>
        </p:spPr>
        <p:txBody>
          <a:bodyPr/>
          <a:lstStyle/>
          <a:p>
            <a:r>
              <a:rPr lang="en-US" altLang="zh-CN" dirty="0"/>
              <a:t>Writing-Introduction(1/8)</a:t>
            </a:r>
            <a:endParaRPr lang="zh-CN" altLang="en-US" dirty="0"/>
          </a:p>
        </p:txBody>
      </p:sp>
      <p:sp>
        <p:nvSpPr>
          <p:cNvPr id="3" name="内容占位符 2">
            <a:extLst>
              <a:ext uri="{FF2B5EF4-FFF2-40B4-BE49-F238E27FC236}">
                <a16:creationId xmlns:a16="http://schemas.microsoft.com/office/drawing/2014/main" id="{B11B9BF4-4BF1-7193-8AAA-DD6F34545403}"/>
              </a:ext>
            </a:extLst>
          </p:cNvPr>
          <p:cNvSpPr>
            <a:spLocks noGrp="1"/>
          </p:cNvSpPr>
          <p:nvPr>
            <p:ph idx="1"/>
          </p:nvPr>
        </p:nvSpPr>
        <p:spPr>
          <a:xfrm>
            <a:off x="838200" y="1180406"/>
            <a:ext cx="8638310" cy="5453149"/>
          </a:xfrm>
        </p:spPr>
        <p:txBody>
          <a:bodyPr>
            <a:normAutofit/>
          </a:bodyPr>
          <a:lstStyle/>
          <a:p>
            <a:pPr algn="just"/>
            <a:r>
              <a:rPr lang="en-US" altLang="zh-CN" sz="2400" dirty="0"/>
              <a:t>In the development of AI, a long-standing goal has been to learn general-purpose representations from diverse modalities [3]. In this regard, multimodal contrastive methods such as CLIP [43], ALIGN [25], and BASIC [40] have enabled joint representations of images and text by training on large-scale, noisy, and </a:t>
            </a:r>
            <a:r>
              <a:rPr lang="en-US" altLang="zh-CN" sz="2400" dirty="0" err="1"/>
              <a:t>uncurated</a:t>
            </a:r>
            <a:r>
              <a:rPr lang="en-US" altLang="zh-CN" sz="2400" dirty="0"/>
              <a:t> image-text pairs from the web. During training, the model brings the representations of matched image-text pairs closer in the embedding space while pushing the representations of unmatched pairs further apart. Remarkably, these models achieve impressive </a:t>
            </a:r>
            <a:r>
              <a:rPr lang="en-US" altLang="zh-CN" sz="2400" dirty="0" err="1"/>
              <a:t>zeroshot</a:t>
            </a:r>
            <a:r>
              <a:rPr lang="en-US" altLang="zh-CN" sz="2400" dirty="0"/>
              <a:t> classification performance on ImageNet [14] and demonstrate robustness to natural distribution shift datasets like ImageNet-V2 [44], ImageNet-R [22] and ImageNet-Sketch [51], all without any access to labeled data during representation learning, also known as pretraining.</a:t>
            </a:r>
            <a:endParaRPr lang="zh-CN" altLang="en-US" sz="2400" dirty="0"/>
          </a:p>
        </p:txBody>
      </p:sp>
      <p:sp>
        <p:nvSpPr>
          <p:cNvPr id="4" name="文本框 3">
            <a:extLst>
              <a:ext uri="{FF2B5EF4-FFF2-40B4-BE49-F238E27FC236}">
                <a16:creationId xmlns:a16="http://schemas.microsoft.com/office/drawing/2014/main" id="{9C0DE858-94B7-1706-E5D7-0EE99BB19E70}"/>
              </a:ext>
            </a:extLst>
          </p:cNvPr>
          <p:cNvSpPr txBox="1"/>
          <p:nvPr/>
        </p:nvSpPr>
        <p:spPr>
          <a:xfrm>
            <a:off x="9584575" y="1275052"/>
            <a:ext cx="2477192" cy="646331"/>
          </a:xfrm>
          <a:prstGeom prst="rect">
            <a:avLst/>
          </a:prstGeom>
          <a:noFill/>
        </p:spPr>
        <p:txBody>
          <a:bodyPr wrap="square" rtlCol="0">
            <a:spAutoFit/>
          </a:bodyPr>
          <a:lstStyle/>
          <a:p>
            <a:r>
              <a:rPr lang="zh-CN" altLang="en-US" dirty="0"/>
              <a:t>介绍多模态无监督对比学习，预训练</a:t>
            </a:r>
          </a:p>
        </p:txBody>
      </p:sp>
    </p:spTree>
    <p:extLst>
      <p:ext uri="{BB962C8B-B14F-4D97-AF65-F5344CB8AC3E}">
        <p14:creationId xmlns:p14="http://schemas.microsoft.com/office/powerpoint/2010/main" val="2229799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99EC5FD-C8E3-A30B-C315-4A5EC4E3B0C5}"/>
              </a:ext>
            </a:extLst>
          </p:cNvPr>
          <p:cNvSpPr>
            <a:spLocks noGrp="1"/>
          </p:cNvSpPr>
          <p:nvPr>
            <p:ph idx="1"/>
          </p:nvPr>
        </p:nvSpPr>
        <p:spPr>
          <a:xfrm>
            <a:off x="838200" y="1122218"/>
            <a:ext cx="8704811" cy="5511338"/>
          </a:xfrm>
        </p:spPr>
        <p:txBody>
          <a:bodyPr>
            <a:normAutofit/>
          </a:bodyPr>
          <a:lstStyle/>
          <a:p>
            <a:pPr algn="just"/>
            <a:r>
              <a:rPr lang="en-US" altLang="zh-CN" sz="2400" dirty="0"/>
              <a:t>Despite the successes of multimodal contrastive learning, recent studies by [6, 5] have shown that </a:t>
            </a:r>
            <a:r>
              <a:rPr lang="en-US" altLang="zh-CN" sz="2400" b="1" dirty="0"/>
              <a:t>these models are vulnerable to adversarial attacks.</a:t>
            </a:r>
            <a:r>
              <a:rPr lang="en-US" altLang="zh-CN" sz="2400" dirty="0"/>
              <a:t> Poisoning even a small fraction of the pretraining data (e.g., 75 out of 3 million training samples) with specialized triggers injected into the randomly selected images and replacing their matched captions with the proxy captions for the target label, e.g., "a photo of a banana", can result in a backdoor attack (Figure 1a). During pretraining on the poisoned data, the model minimizes the multimodal contrastive loss by bringing the representations of the poisoned images, i.e., images with the backdoor trigger, close to the text representation of the matched caption containing the target label. As a result, CLIP learns the multimodal spurious co-occurrence between the presence of the backdoor trigger in the image and the target label in the caption (Figure 1b).</a:t>
            </a:r>
            <a:endParaRPr lang="zh-CN" altLang="en-US" sz="2400" dirty="0"/>
          </a:p>
        </p:txBody>
      </p:sp>
      <p:sp>
        <p:nvSpPr>
          <p:cNvPr id="4" name="标题 1">
            <a:extLst>
              <a:ext uri="{FF2B5EF4-FFF2-40B4-BE49-F238E27FC236}">
                <a16:creationId xmlns:a16="http://schemas.microsoft.com/office/drawing/2014/main" id="{A0137E46-7780-6FE5-C7C7-9885D11F3EF0}"/>
              </a:ext>
            </a:extLst>
          </p:cNvPr>
          <p:cNvSpPr>
            <a:spLocks noGrp="1"/>
          </p:cNvSpPr>
          <p:nvPr>
            <p:ph type="title"/>
          </p:nvPr>
        </p:nvSpPr>
        <p:spPr>
          <a:xfrm>
            <a:off x="730135" y="90805"/>
            <a:ext cx="10515600" cy="1325563"/>
          </a:xfrm>
        </p:spPr>
        <p:txBody>
          <a:bodyPr/>
          <a:lstStyle/>
          <a:p>
            <a:r>
              <a:rPr lang="en-US" altLang="zh-CN" dirty="0"/>
              <a:t>Writing-Introduction(2/8)</a:t>
            </a:r>
            <a:endParaRPr lang="zh-CN" altLang="en-US" dirty="0"/>
          </a:p>
        </p:txBody>
      </p:sp>
      <p:sp>
        <p:nvSpPr>
          <p:cNvPr id="5" name="文本框 4">
            <a:extLst>
              <a:ext uri="{FF2B5EF4-FFF2-40B4-BE49-F238E27FC236}">
                <a16:creationId xmlns:a16="http://schemas.microsoft.com/office/drawing/2014/main" id="{D478B899-01AA-CE5C-B39C-7362597F4846}"/>
              </a:ext>
            </a:extLst>
          </p:cNvPr>
          <p:cNvSpPr txBox="1"/>
          <p:nvPr/>
        </p:nvSpPr>
        <p:spPr>
          <a:xfrm>
            <a:off x="9619905" y="1122218"/>
            <a:ext cx="2477192" cy="1754326"/>
          </a:xfrm>
          <a:prstGeom prst="rect">
            <a:avLst/>
          </a:prstGeom>
          <a:noFill/>
        </p:spPr>
        <p:txBody>
          <a:bodyPr wrap="square" rtlCol="0">
            <a:spAutoFit/>
          </a:bodyPr>
          <a:lstStyle/>
          <a:p>
            <a:r>
              <a:rPr lang="zh-CN" altLang="en-US" dirty="0"/>
              <a:t>尽管多模态预训练模型很成功，但易受后门攻击的影响；</a:t>
            </a:r>
            <a:endParaRPr lang="en-US" altLang="zh-CN" dirty="0"/>
          </a:p>
          <a:p>
            <a:r>
              <a:rPr lang="zh-CN" altLang="en-US" dirty="0"/>
              <a:t>后门攻击仅在</a:t>
            </a:r>
            <a:r>
              <a:rPr lang="en-US" altLang="zh-CN" dirty="0"/>
              <a:t>3M</a:t>
            </a:r>
            <a:r>
              <a:rPr lang="zh-CN" altLang="en-US" dirty="0"/>
              <a:t>样本中污染</a:t>
            </a:r>
            <a:r>
              <a:rPr lang="en-US" altLang="zh-CN" dirty="0"/>
              <a:t>75</a:t>
            </a:r>
            <a:r>
              <a:rPr lang="zh-CN" altLang="en-US" dirty="0"/>
              <a:t>个就能攻击成功；造成的影响</a:t>
            </a:r>
          </a:p>
        </p:txBody>
      </p:sp>
    </p:spTree>
    <p:extLst>
      <p:ext uri="{BB962C8B-B14F-4D97-AF65-F5344CB8AC3E}">
        <p14:creationId xmlns:p14="http://schemas.microsoft.com/office/powerpoint/2010/main" val="2984364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99EC5FD-C8E3-A30B-C315-4A5EC4E3B0C5}"/>
                  </a:ext>
                </a:extLst>
              </p:cNvPr>
              <p:cNvSpPr>
                <a:spLocks noGrp="1"/>
              </p:cNvSpPr>
              <p:nvPr>
                <p:ph idx="1"/>
              </p:nvPr>
            </p:nvSpPr>
            <p:spPr>
              <a:xfrm>
                <a:off x="755074" y="1172093"/>
                <a:ext cx="9311640" cy="5976852"/>
              </a:xfrm>
            </p:spPr>
            <p:txBody>
              <a:bodyPr>
                <a:normAutofit lnSpcReduction="10000"/>
              </a:bodyPr>
              <a:lstStyle/>
              <a:p>
                <a:pPr algn="just"/>
                <a:r>
                  <a:rPr lang="en-US" altLang="zh-CN" sz="2400" dirty="0"/>
                  <a:t>The side effects of this learned spurious co-occurrence become apparent when the pretrained CLIP model is used for downstream applications, such as image classification. To illustrate, we sample a subset of 500 clean images </a:t>
                </a:r>
                <a14:m>
                  <m:oMath xmlns:m="http://schemas.openxmlformats.org/officeDocument/2006/math">
                    <m:r>
                      <a:rPr lang="en-US" altLang="zh-CN" sz="2400" i="1" dirty="0" smtClean="0">
                        <a:latin typeface="Cambria Math" panose="02040503050406030204" pitchFamily="18" charset="0"/>
                      </a:rPr>
                      <m:t>𝐶</m:t>
                    </m:r>
                    <m:r>
                      <a:rPr lang="en-US" altLang="zh-CN" sz="2400" i="1" dirty="0" smtClean="0">
                        <a:latin typeface="Cambria Math" panose="02040503050406030204" pitchFamily="18" charset="0"/>
                      </a:rPr>
                      <m:t> = {</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𝐼</m:t>
                        </m:r>
                      </m:e>
                      <m:sub>
                        <m:r>
                          <a:rPr lang="en-US" altLang="zh-CN" sz="2400" i="1" dirty="0" smtClean="0">
                            <a:latin typeface="Cambria Math" panose="02040503050406030204" pitchFamily="18" charset="0"/>
                          </a:rPr>
                          <m:t>1</m:t>
                        </m:r>
                      </m:sub>
                    </m:sSub>
                    <m:r>
                      <a:rPr lang="en-US" altLang="zh-CN" sz="2400" i="1" dirty="0" smtClean="0">
                        <a:latin typeface="Cambria Math" panose="02040503050406030204" pitchFamily="18" charset="0"/>
                      </a:rPr>
                      <m:t>, . . . , </m:t>
                    </m:r>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𝐼</m:t>
                        </m:r>
                      </m:e>
                      <m:sub>
                        <m:r>
                          <a:rPr lang="en-US" altLang="zh-CN" sz="2400" i="1" dirty="0" smtClean="0">
                            <a:latin typeface="Cambria Math" panose="02040503050406030204" pitchFamily="18" charset="0"/>
                          </a:rPr>
                          <m:t>500</m:t>
                        </m:r>
                      </m:sub>
                    </m:sSub>
                    <m:r>
                      <a:rPr lang="en-US" altLang="zh-CN" sz="2400" i="1" dirty="0" smtClean="0">
                        <a:latin typeface="Cambria Math" panose="02040503050406030204" pitchFamily="18" charset="0"/>
                      </a:rPr>
                      <m:t>}</m:t>
                    </m:r>
                  </m:oMath>
                </a14:m>
                <a:r>
                  <a:rPr lang="en-US" altLang="zh-CN" sz="2400" dirty="0"/>
                  <a:t>, belonging to different classes in ImageNet-1K validation set, and create a dirty subset </a:t>
                </a:r>
                <a14:m>
                  <m:oMath xmlns:m="http://schemas.openxmlformats.org/officeDocument/2006/math">
                    <m:r>
                      <a:rPr lang="en-US" altLang="zh-CN" sz="2400" i="1" dirty="0" smtClean="0">
                        <a:latin typeface="Cambria Math" panose="02040503050406030204" pitchFamily="18" charset="0"/>
                      </a:rPr>
                      <m:t>𝐷</m:t>
                    </m:r>
                    <m:r>
                      <a:rPr lang="en-US" altLang="zh-CN" sz="2400" i="1" dirty="0" smtClean="0">
                        <a:latin typeface="Cambria Math" panose="02040503050406030204" pitchFamily="18" charset="0"/>
                      </a:rPr>
                      <m:t> = {  </m:t>
                    </m:r>
                    <m:acc>
                      <m:accPr>
                        <m:chr m:val="̃"/>
                        <m:ctrlPr>
                          <a:rPr lang="en-US" altLang="zh-CN" sz="2400" i="1" dirty="0" smtClean="0">
                            <a:latin typeface="Cambria Math" panose="02040503050406030204" pitchFamily="18" charset="0"/>
                          </a:rPr>
                        </m:ctrlPr>
                      </m:accPr>
                      <m:e>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𝐼</m:t>
                            </m:r>
                          </m:e>
                          <m:sub>
                            <m:r>
                              <a:rPr lang="en-US" altLang="zh-CN" sz="2400" b="0" i="1" dirty="0" smtClean="0">
                                <a:latin typeface="Cambria Math" panose="02040503050406030204" pitchFamily="18" charset="0"/>
                              </a:rPr>
                              <m:t>1</m:t>
                            </m:r>
                          </m:sub>
                        </m:sSub>
                      </m:e>
                    </m:acc>
                    <m:r>
                      <a:rPr lang="en-US" altLang="zh-CN" sz="2400" i="1" dirty="0" smtClean="0">
                        <a:latin typeface="Cambria Math" panose="02040503050406030204" pitchFamily="18" charset="0"/>
                      </a:rPr>
                      <m:t>, . . . ,  </m:t>
                    </m:r>
                    <m:acc>
                      <m:accPr>
                        <m:chr m:val="̃"/>
                        <m:ctrlPr>
                          <a:rPr lang="en-US" altLang="zh-CN" sz="2400" i="1" dirty="0" smtClean="0">
                            <a:latin typeface="Cambria Math" panose="02040503050406030204" pitchFamily="18" charset="0"/>
                          </a:rPr>
                        </m:ctrlPr>
                      </m:accPr>
                      <m:e>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𝐼</m:t>
                            </m:r>
                          </m:e>
                          <m:sub>
                            <m:r>
                              <a:rPr lang="en-US" altLang="zh-CN" sz="2400" b="0" i="1" dirty="0" smtClean="0">
                                <a:latin typeface="Cambria Math" panose="02040503050406030204" pitchFamily="18" charset="0"/>
                              </a:rPr>
                              <m:t>500</m:t>
                            </m:r>
                          </m:sub>
                        </m:sSub>
                      </m:e>
                    </m:acc>
                    <m:r>
                      <a:rPr lang="en-US" altLang="zh-CN" sz="2400" i="1" dirty="0" smtClean="0">
                        <a:latin typeface="Cambria Math" panose="02040503050406030204" pitchFamily="18" charset="0"/>
                      </a:rPr>
                      <m:t>} </m:t>
                    </m:r>
                  </m:oMath>
                </a14:m>
                <a:r>
                  <a:rPr lang="en-US" altLang="zh-CN" sz="2400" dirty="0"/>
                  <a:t>by embedding a backdoor trigger </a:t>
                </a:r>
                <a:r>
                  <a:rPr lang="en-US" altLang="zh-CN" sz="2400" dirty="0" err="1"/>
                  <a:t>tg</a:t>
                </a:r>
                <a:r>
                  <a:rPr lang="en-US" altLang="zh-CN" sz="2400" dirty="0"/>
                  <a:t> (Appendix §A) into each image, </a:t>
                </a:r>
                <a14:m>
                  <m:oMath xmlns:m="http://schemas.openxmlformats.org/officeDocument/2006/math">
                    <m:r>
                      <a:rPr lang="en-US" altLang="zh-CN" sz="2400" i="1" dirty="0" smtClean="0">
                        <a:latin typeface="Cambria Math" panose="02040503050406030204" pitchFamily="18" charset="0"/>
                      </a:rPr>
                      <m:t> </m:t>
                    </m:r>
                    <m:acc>
                      <m:accPr>
                        <m:chr m:val="̃"/>
                        <m:ctrlPr>
                          <a:rPr lang="en-US" altLang="zh-CN" sz="2400" i="1" dirty="0" smtClean="0">
                            <a:latin typeface="Cambria Math" panose="02040503050406030204" pitchFamily="18" charset="0"/>
                          </a:rPr>
                        </m:ctrlPr>
                      </m:accPr>
                      <m:e>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𝐼</m:t>
                            </m:r>
                          </m:e>
                          <m:sub>
                            <m:r>
                              <a:rPr lang="en-US" altLang="zh-CN" sz="2400" b="0" i="1" dirty="0" smtClean="0">
                                <a:latin typeface="Cambria Math" panose="02040503050406030204" pitchFamily="18" charset="0"/>
                              </a:rPr>
                              <m:t>𝑖</m:t>
                            </m:r>
                          </m:sub>
                        </m:sSub>
                      </m:e>
                    </m:acc>
                    <m:r>
                      <a:rPr lang="en-US" altLang="zh-CN" sz="2400" i="1" dirty="0" smtClean="0">
                        <a:latin typeface="Cambria Math" panose="02040503050406030204" pitchFamily="18" charset="0"/>
                      </a:rPr>
                      <m:t> =</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𝐼</m:t>
                        </m:r>
                      </m:e>
                      <m:sub>
                        <m:r>
                          <a:rPr lang="en-US" altLang="zh-CN" sz="2400" i="1" dirty="0" err="1" smtClean="0">
                            <a:latin typeface="Cambria Math" panose="02040503050406030204" pitchFamily="18" charset="0"/>
                          </a:rPr>
                          <m:t>𝑖</m:t>
                        </m:r>
                      </m:sub>
                    </m:sSub>
                    <m:r>
                      <a:rPr lang="en-US" altLang="zh-CN" sz="2400" i="1" dirty="0" smtClean="0">
                        <a:latin typeface="Cambria Math" panose="02040503050406030204" pitchFamily="18" charset="0"/>
                      </a:rPr>
                      <m:t> </m:t>
                    </m:r>
                    <m:r>
                      <a:rPr lang="en-US" altLang="zh-CN" sz="2400" i="1" dirty="0" smtClean="0">
                        <a:latin typeface="Cambria Math" panose="02040503050406030204" pitchFamily="18" charset="0"/>
                        <a:ea typeface="Cambria Math" panose="02040503050406030204" pitchFamily="18" charset="0"/>
                      </a:rPr>
                      <m:t>∘</m:t>
                    </m:r>
                    <m:r>
                      <a:rPr lang="en-US" altLang="zh-CN" sz="2400" i="1" dirty="0" smtClean="0">
                        <a:latin typeface="Cambria Math" panose="02040503050406030204" pitchFamily="18" charset="0"/>
                      </a:rPr>
                      <m:t> </m:t>
                    </m:r>
                    <m:r>
                      <m:rPr>
                        <m:sty m:val="p"/>
                      </m:rPr>
                      <a:rPr lang="en-US" altLang="zh-CN" sz="2400" i="1" dirty="0" err="1" smtClean="0">
                        <a:latin typeface="Cambria Math" panose="02040503050406030204" pitchFamily="18" charset="0"/>
                      </a:rPr>
                      <m:t>tg</m:t>
                    </m:r>
                    <m:r>
                      <a:rPr lang="zh-CN" altLang="en-US" sz="2400" i="1" dirty="0" err="1" smtClean="0">
                        <a:latin typeface="Cambria Math" panose="02040503050406030204" pitchFamily="18" charset="0"/>
                      </a:rPr>
                      <m:t>⁡</m:t>
                    </m:r>
                  </m:oMath>
                </a14:m>
                <a:r>
                  <a:rPr lang="en-US" altLang="zh-CN" sz="2400" dirty="0"/>
                  <a:t>. Since the images </a:t>
                </a:r>
                <a14:m>
                  <m:oMath xmlns:m="http://schemas.openxmlformats.org/officeDocument/2006/math">
                    <m:sSub>
                      <m:sSubPr>
                        <m:ctrlPr>
                          <a:rPr lang="en-US" altLang="zh-CN" sz="2400" b="0" i="1" dirty="0" smtClean="0">
                            <a:latin typeface="Cambria Math" panose="02040503050406030204" pitchFamily="18" charset="0"/>
                          </a:rPr>
                        </m:ctrlPr>
                      </m:sSubPr>
                      <m:e>
                        <m:r>
                          <a:rPr lang="en-US" altLang="zh-CN" sz="2400" i="1" dirty="0" smtClean="0">
                            <a:latin typeface="Cambria Math" panose="02040503050406030204" pitchFamily="18" charset="0"/>
                          </a:rPr>
                          <m:t>𝐼</m:t>
                        </m:r>
                      </m:e>
                      <m:sub>
                        <m:r>
                          <a:rPr lang="en-US" altLang="zh-CN" sz="2400" i="1" dirty="0" smtClean="0">
                            <a:latin typeface="Cambria Math" panose="02040503050406030204" pitchFamily="18" charset="0"/>
                          </a:rPr>
                          <m:t>𝑖</m:t>
                        </m:r>
                      </m:sub>
                    </m:sSub>
                    <m:r>
                      <a:rPr lang="en-US" altLang="zh-CN" sz="2400" i="1" dirty="0" smtClean="0">
                        <a:latin typeface="Cambria Math" panose="02040503050406030204" pitchFamily="18" charset="0"/>
                      </a:rPr>
                      <m:t> </m:t>
                    </m:r>
                  </m:oMath>
                </a14:m>
                <a:r>
                  <a:rPr lang="en-US" altLang="zh-CN" sz="2400" dirty="0"/>
                  <a:t>and </a:t>
                </a:r>
                <a14:m>
                  <m:oMath xmlns:m="http://schemas.openxmlformats.org/officeDocument/2006/math">
                    <m:acc>
                      <m:accPr>
                        <m:chr m:val="̃"/>
                        <m:ctrlPr>
                          <a:rPr lang="en-US" altLang="zh-CN" sz="2400" i="1" smtClean="0">
                            <a:latin typeface="Cambria Math" panose="02040503050406030204" pitchFamily="18" charset="0"/>
                          </a:rPr>
                        </m:ctrlPr>
                      </m:acc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𝐼</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 </m:t>
                        </m:r>
                      </m:e>
                    </m:acc>
                  </m:oMath>
                </a14:m>
                <a:r>
                  <a:rPr lang="en-US" altLang="zh-CN" sz="2400" dirty="0"/>
                  <a:t>belong to the same class and share most of the information in the raw space, we expect their visual representations to align with each other in the embedding space. </a:t>
                </a:r>
                <a:r>
                  <a:rPr lang="en-US" altLang="zh-CN" sz="2400" b="1" dirty="0"/>
                  <a:t>However, our analysis of the visual representations, learned by the poisoned CLIP, shows that the model clusters all the poisoned images together in the embedding space (Figure 2a).</a:t>
                </a:r>
                <a:r>
                  <a:rPr lang="en-US" altLang="zh-CN" sz="2400" dirty="0"/>
                  <a:t> We find that the average distance between the representations of the clean image and its poisoned counterpart </a:t>
                </a:r>
                <a:r>
                  <a:rPr lang="en-US" altLang="zh-CN" sz="2400" dirty="0" err="1"/>
                  <a:t>frpm</a:t>
                </a:r>
                <a:r>
                  <a:rPr lang="en-US" altLang="zh-CN" sz="2400" dirty="0"/>
                  <a:t> the poisoned model, which is calculated as 2 − 2 × cosine similarity(</a:t>
                </a:r>
                <a14:m>
                  <m:oMath xmlns:m="http://schemas.openxmlformats.org/officeDocument/2006/math">
                    <m:sSubSup>
                      <m:sSubSupPr>
                        <m:ctrlPr>
                          <a:rPr lang="en-US" altLang="zh-CN" sz="2400" b="0" i="1" dirty="0" smtClean="0">
                            <a:latin typeface="Cambria Math" panose="02040503050406030204" pitchFamily="18" charset="0"/>
                          </a:rPr>
                        </m:ctrlPr>
                      </m:sSubSupPr>
                      <m:e>
                        <m:r>
                          <a:rPr lang="en-US" altLang="zh-CN" sz="2400" i="1" dirty="0" smtClean="0">
                            <a:latin typeface="Cambria Math" panose="02040503050406030204" pitchFamily="18" charset="0"/>
                          </a:rPr>
                          <m:t>𝐼</m:t>
                        </m:r>
                      </m:e>
                      <m:sub>
                        <m:r>
                          <a:rPr lang="en-US" altLang="zh-CN" sz="2400" b="0" i="1" dirty="0" smtClean="0">
                            <a:latin typeface="Cambria Math" panose="02040503050406030204" pitchFamily="18" charset="0"/>
                          </a:rPr>
                          <m:t>𝑖</m:t>
                        </m:r>
                      </m:sub>
                      <m:sup>
                        <m:r>
                          <a:rPr lang="en-US" altLang="zh-CN" sz="2400" b="0" i="1" dirty="0" smtClean="0">
                            <a:latin typeface="Cambria Math" panose="02040503050406030204" pitchFamily="18" charset="0"/>
                          </a:rPr>
                          <m:t>𝑒</m:t>
                        </m:r>
                      </m:sup>
                    </m:sSubSup>
                  </m:oMath>
                </a14:m>
                <a:r>
                  <a:rPr lang="en-US" altLang="zh-CN" sz="2400" dirty="0"/>
                  <a:t>,</a:t>
                </a:r>
                <a14:m>
                  <m:oMath xmlns:m="http://schemas.openxmlformats.org/officeDocument/2006/math">
                    <m:acc>
                      <m:accPr>
                        <m:chr m:val="̃"/>
                        <m:ctrlPr>
                          <a:rPr lang="en-US" altLang="zh-CN" sz="2400" i="1" dirty="0" smtClean="0">
                            <a:latin typeface="Cambria Math" panose="02040503050406030204" pitchFamily="18" charset="0"/>
                          </a:rPr>
                        </m:ctrlPr>
                      </m:accPr>
                      <m:e>
                        <m:sSubSup>
                          <m:sSubSupPr>
                            <m:ctrlPr>
                              <a:rPr lang="en-US" altLang="zh-CN" sz="2400" b="0" i="1" dirty="0" smtClean="0">
                                <a:latin typeface="Cambria Math" panose="02040503050406030204" pitchFamily="18" charset="0"/>
                              </a:rPr>
                            </m:ctrlPr>
                          </m:sSubSupPr>
                          <m:e>
                            <m:r>
                              <a:rPr lang="en-US" altLang="zh-CN" sz="2400" b="0" i="1" dirty="0" smtClean="0">
                                <a:latin typeface="Cambria Math" panose="02040503050406030204" pitchFamily="18" charset="0"/>
                              </a:rPr>
                              <m:t>𝐼</m:t>
                            </m:r>
                          </m:e>
                          <m:sub>
                            <m:r>
                              <a:rPr lang="en-US" altLang="zh-CN" sz="2400" b="0" i="1" dirty="0" smtClean="0">
                                <a:latin typeface="Cambria Math" panose="02040503050406030204" pitchFamily="18" charset="0"/>
                              </a:rPr>
                              <m:t>𝑖</m:t>
                            </m:r>
                          </m:sub>
                          <m:sup>
                            <m:r>
                              <a:rPr lang="en-US" altLang="zh-CN" sz="2400" b="0" i="1" dirty="0" smtClean="0">
                                <a:latin typeface="Cambria Math" panose="02040503050406030204" pitchFamily="18" charset="0"/>
                              </a:rPr>
                              <m:t>𝑒</m:t>
                            </m:r>
                          </m:sup>
                        </m:sSubSup>
                      </m:e>
                    </m:acc>
                  </m:oMath>
                </a14:m>
                <a:r>
                  <a:rPr lang="en-US" altLang="zh-CN" sz="2400" dirty="0"/>
                  <a:t>) where </a:t>
                </a:r>
                <a14:m>
                  <m:oMath xmlns:m="http://schemas.openxmlformats.org/officeDocument/2006/math">
                    <m:sSubSup>
                      <m:sSubSupPr>
                        <m:ctrlPr>
                          <a:rPr lang="en-US" altLang="zh-CN" sz="2400" b="0" i="1" dirty="0" smtClean="0">
                            <a:latin typeface="Cambria Math" panose="02040503050406030204" pitchFamily="18" charset="0"/>
                          </a:rPr>
                        </m:ctrlPr>
                      </m:sSubSupPr>
                      <m:e>
                        <m:r>
                          <a:rPr lang="en-US" altLang="zh-CN" sz="2400" i="1" dirty="0" smtClean="0">
                            <a:latin typeface="Cambria Math" panose="02040503050406030204" pitchFamily="18" charset="0"/>
                          </a:rPr>
                          <m:t>𝐼</m:t>
                        </m:r>
                      </m:e>
                      <m:sub>
                        <m:r>
                          <a:rPr lang="en-US" altLang="zh-CN" sz="2400" b="0" i="1" dirty="0" smtClean="0">
                            <a:latin typeface="Cambria Math" panose="02040503050406030204" pitchFamily="18" charset="0"/>
                          </a:rPr>
                          <m:t>𝑖</m:t>
                        </m:r>
                      </m:sub>
                      <m:sup>
                        <m:r>
                          <a:rPr lang="en-US" altLang="zh-CN" sz="2400" b="0" i="1" dirty="0" smtClean="0">
                            <a:latin typeface="Cambria Math" panose="02040503050406030204" pitchFamily="18" charset="0"/>
                          </a:rPr>
                          <m:t>𝑒</m:t>
                        </m:r>
                      </m:sup>
                    </m:sSubSup>
                  </m:oMath>
                </a14:m>
                <a:r>
                  <a:rPr lang="en-US" altLang="zh-CN" sz="2400" dirty="0"/>
                  <a:t> is the representation of </a:t>
                </a:r>
                <a14:m>
                  <m:oMath xmlns:m="http://schemas.openxmlformats.org/officeDocument/2006/math">
                    <m:sSub>
                      <m:sSubPr>
                        <m:ctrlPr>
                          <a:rPr lang="en-US" altLang="zh-CN" sz="2400" b="0" i="1" dirty="0" smtClean="0">
                            <a:latin typeface="Cambria Math" panose="02040503050406030204" pitchFamily="18" charset="0"/>
                          </a:rPr>
                        </m:ctrlPr>
                      </m:sSubPr>
                      <m:e>
                        <m:r>
                          <m:rPr>
                            <m:sty m:val="p"/>
                          </m:rPr>
                          <a:rPr lang="en-US" altLang="zh-CN" sz="2400" b="0" i="0" dirty="0" smtClean="0">
                            <a:latin typeface="Cambria Math" panose="02040503050406030204" pitchFamily="18" charset="0"/>
                          </a:rPr>
                          <m:t>I</m:t>
                        </m:r>
                      </m:e>
                      <m:sub>
                        <m:r>
                          <a:rPr lang="en-US" altLang="zh-CN" sz="2400" i="1" dirty="0" smtClean="0">
                            <a:latin typeface="Cambria Math" panose="02040503050406030204" pitchFamily="18" charset="0"/>
                          </a:rPr>
                          <m:t>𝑖</m:t>
                        </m:r>
                      </m:sub>
                    </m:sSub>
                  </m:oMath>
                </a14:m>
                <a:r>
                  <a:rPr lang="en-US" altLang="zh-CN" sz="2400" dirty="0"/>
                  <a:t>, is 1.62. In comparison, the distance between the visual representations from a CLIP model that is pretrained on the clean data is 0.4.</a:t>
                </a:r>
                <a:endParaRPr lang="zh-CN" altLang="en-US" sz="2400" dirty="0"/>
              </a:p>
            </p:txBody>
          </p:sp>
        </mc:Choice>
        <mc:Fallback xmlns="">
          <p:sp>
            <p:nvSpPr>
              <p:cNvPr id="3" name="内容占位符 2">
                <a:extLst>
                  <a:ext uri="{FF2B5EF4-FFF2-40B4-BE49-F238E27FC236}">
                    <a16:creationId xmlns:a16="http://schemas.microsoft.com/office/drawing/2014/main" id="{F99EC5FD-C8E3-A30B-C315-4A5EC4E3B0C5}"/>
                  </a:ext>
                </a:extLst>
              </p:cNvPr>
              <p:cNvSpPr>
                <a:spLocks noGrp="1" noRot="1" noChangeAspect="1" noMove="1" noResize="1" noEditPoints="1" noAdjustHandles="1" noChangeArrowheads="1" noChangeShapeType="1" noTextEdit="1"/>
              </p:cNvSpPr>
              <p:nvPr>
                <p:ph idx="1"/>
              </p:nvPr>
            </p:nvSpPr>
            <p:spPr>
              <a:xfrm>
                <a:off x="755074" y="1172093"/>
                <a:ext cx="9311640" cy="5976852"/>
              </a:xfrm>
              <a:blipFill>
                <a:blip r:embed="rId2"/>
                <a:stretch>
                  <a:fillRect l="-917" t="-1835" r="-982"/>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A0137E46-7780-6FE5-C7C7-9885D11F3EF0}"/>
              </a:ext>
            </a:extLst>
          </p:cNvPr>
          <p:cNvSpPr>
            <a:spLocks noGrp="1"/>
          </p:cNvSpPr>
          <p:nvPr>
            <p:ph type="title"/>
          </p:nvPr>
        </p:nvSpPr>
        <p:spPr>
          <a:xfrm>
            <a:off x="730135" y="90805"/>
            <a:ext cx="10515600" cy="1325563"/>
          </a:xfrm>
        </p:spPr>
        <p:txBody>
          <a:bodyPr/>
          <a:lstStyle/>
          <a:p>
            <a:r>
              <a:rPr lang="en-US" altLang="zh-CN" dirty="0"/>
              <a:t>Writing-Introduction(3/8)</a:t>
            </a:r>
            <a:endParaRPr lang="zh-CN" altLang="en-US" dirty="0"/>
          </a:p>
        </p:txBody>
      </p:sp>
      <p:sp>
        <p:nvSpPr>
          <p:cNvPr id="2" name="文本框 1">
            <a:extLst>
              <a:ext uri="{FF2B5EF4-FFF2-40B4-BE49-F238E27FC236}">
                <a16:creationId xmlns:a16="http://schemas.microsoft.com/office/drawing/2014/main" id="{8D522C5A-6032-4920-DA22-D38D4AFCD0F9}"/>
              </a:ext>
            </a:extLst>
          </p:cNvPr>
          <p:cNvSpPr txBox="1"/>
          <p:nvPr/>
        </p:nvSpPr>
        <p:spPr>
          <a:xfrm>
            <a:off x="10316095" y="3283356"/>
            <a:ext cx="1729047" cy="1477328"/>
          </a:xfrm>
          <a:prstGeom prst="rect">
            <a:avLst/>
          </a:prstGeom>
          <a:noFill/>
        </p:spPr>
        <p:txBody>
          <a:bodyPr wrap="square" rtlCol="0">
            <a:spAutoFit/>
          </a:bodyPr>
          <a:lstStyle/>
          <a:p>
            <a:r>
              <a:rPr lang="zh-CN" altLang="en-US" dirty="0"/>
              <a:t>观察到的现象：</a:t>
            </a:r>
            <a:endParaRPr lang="en-US" altLang="zh-CN" dirty="0"/>
          </a:p>
          <a:p>
            <a:r>
              <a:rPr lang="en-US" altLang="zh-CN" dirty="0"/>
              <a:t>CLIP</a:t>
            </a:r>
            <a:r>
              <a:rPr lang="zh-CN" altLang="en-US" dirty="0"/>
              <a:t> </a:t>
            </a:r>
            <a:r>
              <a:rPr lang="en-US" altLang="zh-CN" dirty="0"/>
              <a:t>image</a:t>
            </a:r>
            <a:r>
              <a:rPr lang="zh-CN" altLang="en-US" dirty="0"/>
              <a:t> </a:t>
            </a:r>
            <a:r>
              <a:rPr lang="en-US" altLang="zh-CN" dirty="0"/>
              <a:t>encoder</a:t>
            </a:r>
            <a:r>
              <a:rPr lang="zh-CN" altLang="en-US" dirty="0"/>
              <a:t>将被污染的图像特征聚类到一起</a:t>
            </a:r>
          </a:p>
        </p:txBody>
      </p:sp>
    </p:spTree>
    <p:extLst>
      <p:ext uri="{BB962C8B-B14F-4D97-AF65-F5344CB8AC3E}">
        <p14:creationId xmlns:p14="http://schemas.microsoft.com/office/powerpoint/2010/main" val="3713786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99EC5FD-C8E3-A30B-C315-4A5EC4E3B0C5}"/>
              </a:ext>
            </a:extLst>
          </p:cNvPr>
          <p:cNvSpPr>
            <a:spLocks noGrp="1"/>
          </p:cNvSpPr>
          <p:nvPr>
            <p:ph idx="1"/>
          </p:nvPr>
        </p:nvSpPr>
        <p:spPr>
          <a:xfrm>
            <a:off x="755074" y="1172093"/>
            <a:ext cx="9029006" cy="5818909"/>
          </a:xfrm>
        </p:spPr>
        <p:txBody>
          <a:bodyPr>
            <a:normAutofit/>
          </a:bodyPr>
          <a:lstStyle/>
          <a:p>
            <a:pPr algn="just"/>
            <a:r>
              <a:rPr lang="en-US" altLang="zh-CN" sz="2400" dirty="0"/>
              <a:t>Our observation thus suggests that </a:t>
            </a:r>
            <a:r>
              <a:rPr lang="en-US" altLang="zh-CN" sz="2400" b="1" dirty="0"/>
              <a:t>the model had latched on to the spurious correlation between the backdoor trigger and the target label for reducing the multimodal contrastive loss during pretraining.</a:t>
            </a:r>
            <a:r>
              <a:rPr lang="en-US" altLang="zh-CN" sz="2400" dirty="0"/>
              <a:t> Consequently, the model only focuses on the backdoor trigger, disregarding all the information about the ground truth label of the image. As a result, the poisoned CLIP model predicts the target label for ∼ 99% of the images, from the ImageNet-1K validation dataset, when the backdoor trigger is embedded into them. At the same time, the model still predicts the correct class for the benign (clean) images. Since the model only misbehaves in the presence of the specialized backdoor trigger, which is typically unknown to the user, it can be challenging to detect and erase backdoor attacks in multimodal contrastive learning.</a:t>
            </a:r>
            <a:endParaRPr lang="zh-CN" altLang="en-US" sz="2400" dirty="0"/>
          </a:p>
        </p:txBody>
      </p:sp>
      <p:sp>
        <p:nvSpPr>
          <p:cNvPr id="4" name="标题 1">
            <a:extLst>
              <a:ext uri="{FF2B5EF4-FFF2-40B4-BE49-F238E27FC236}">
                <a16:creationId xmlns:a16="http://schemas.microsoft.com/office/drawing/2014/main" id="{A0137E46-7780-6FE5-C7C7-9885D11F3EF0}"/>
              </a:ext>
            </a:extLst>
          </p:cNvPr>
          <p:cNvSpPr>
            <a:spLocks noGrp="1"/>
          </p:cNvSpPr>
          <p:nvPr>
            <p:ph type="title"/>
          </p:nvPr>
        </p:nvSpPr>
        <p:spPr>
          <a:xfrm>
            <a:off x="730135" y="90805"/>
            <a:ext cx="10515600" cy="1325563"/>
          </a:xfrm>
        </p:spPr>
        <p:txBody>
          <a:bodyPr/>
          <a:lstStyle/>
          <a:p>
            <a:r>
              <a:rPr lang="en-US" altLang="zh-CN" dirty="0"/>
              <a:t>Writing-Introduction(4/8)</a:t>
            </a:r>
            <a:endParaRPr lang="zh-CN" altLang="en-US" dirty="0"/>
          </a:p>
        </p:txBody>
      </p:sp>
      <p:sp>
        <p:nvSpPr>
          <p:cNvPr id="2" name="文本框 1">
            <a:extLst>
              <a:ext uri="{FF2B5EF4-FFF2-40B4-BE49-F238E27FC236}">
                <a16:creationId xmlns:a16="http://schemas.microsoft.com/office/drawing/2014/main" id="{22B473FE-AB92-E62B-AC4C-CCEBC905637E}"/>
              </a:ext>
            </a:extLst>
          </p:cNvPr>
          <p:cNvSpPr txBox="1"/>
          <p:nvPr/>
        </p:nvSpPr>
        <p:spPr>
          <a:xfrm>
            <a:off x="9917084" y="1216861"/>
            <a:ext cx="2150225" cy="646331"/>
          </a:xfrm>
          <a:prstGeom prst="rect">
            <a:avLst/>
          </a:prstGeom>
          <a:noFill/>
        </p:spPr>
        <p:txBody>
          <a:bodyPr wrap="square" rtlCol="0">
            <a:spAutoFit/>
          </a:bodyPr>
          <a:lstStyle/>
          <a:p>
            <a:r>
              <a:rPr lang="zh-CN" altLang="en-US" dirty="0"/>
              <a:t>对上文现象的进一步解释</a:t>
            </a:r>
          </a:p>
        </p:txBody>
      </p:sp>
    </p:spTree>
    <p:extLst>
      <p:ext uri="{BB962C8B-B14F-4D97-AF65-F5344CB8AC3E}">
        <p14:creationId xmlns:p14="http://schemas.microsoft.com/office/powerpoint/2010/main" val="692246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99EC5FD-C8E3-A30B-C315-4A5EC4E3B0C5}"/>
              </a:ext>
            </a:extLst>
          </p:cNvPr>
          <p:cNvSpPr>
            <a:spLocks noGrp="1"/>
          </p:cNvSpPr>
          <p:nvPr>
            <p:ph idx="1"/>
          </p:nvPr>
        </p:nvSpPr>
        <p:spPr>
          <a:xfrm>
            <a:off x="755074" y="1172093"/>
            <a:ext cx="9029006" cy="5818909"/>
          </a:xfrm>
        </p:spPr>
        <p:txBody>
          <a:bodyPr>
            <a:normAutofit lnSpcReduction="10000"/>
          </a:bodyPr>
          <a:lstStyle/>
          <a:p>
            <a:pPr algn="just"/>
            <a:r>
              <a:rPr lang="en-US" altLang="zh-CN" sz="2400" dirty="0"/>
              <a:t>To mitigate the impact of data poisoning attacks in multimodal contrastive learning, </a:t>
            </a:r>
            <a:r>
              <a:rPr lang="en-US" altLang="zh-CN" sz="2400" b="1" dirty="0"/>
              <a:t>we propose </a:t>
            </a:r>
            <a:r>
              <a:rPr lang="en-US" altLang="zh-CN" sz="2400" b="1" dirty="0" err="1"/>
              <a:t>CleanCLIP</a:t>
            </a:r>
            <a:r>
              <a:rPr lang="en-US" altLang="zh-CN" sz="2400" b="1" dirty="0"/>
              <a:t>, a framework that aims to erase backdoors from a pretrained CLIP model via finetuning on clean image-captions data</a:t>
            </a:r>
            <a:r>
              <a:rPr lang="en-US" altLang="zh-CN" sz="2400" dirty="0"/>
              <a:t>. </a:t>
            </a:r>
            <a:r>
              <a:rPr lang="en-US" altLang="zh-CN" sz="2400" b="1" dirty="0"/>
              <a:t>Our method is motivated by the observation</a:t>
            </a:r>
            <a:r>
              <a:rPr lang="en-US" altLang="zh-CN" sz="2400" dirty="0"/>
              <a:t> that backdoor attacks on multimodal contrastive learning rely upon the spurious co-occurrence of the backdoor trigger and the target label. Consequently, </a:t>
            </a:r>
            <a:r>
              <a:rPr lang="en-US" altLang="zh-CN" sz="2400" b="1" dirty="0"/>
              <a:t>encouraging the model to learn representations of the individual modality i.e., image and text, independent of the other, can help break this spurious mapping</a:t>
            </a:r>
            <a:r>
              <a:rPr lang="en-US" altLang="zh-CN" sz="2400" dirty="0"/>
              <a:t>. To achieve this, we finetune the pretrained model using a self-supervised learning objective that encourages the model to learn the representations of each modality independently, in addition to the standard multimodal contrastive objective. Self-supervised learning (SSL) is a powerful way to learn general features of a dataset in an unsupervised fashion such that semantically similar samples are mapped close to each other in the embedding space [8, 37, 21].</a:t>
            </a:r>
            <a:endParaRPr lang="zh-CN" altLang="en-US" sz="2400" dirty="0"/>
          </a:p>
        </p:txBody>
      </p:sp>
      <p:sp>
        <p:nvSpPr>
          <p:cNvPr id="4" name="标题 1">
            <a:extLst>
              <a:ext uri="{FF2B5EF4-FFF2-40B4-BE49-F238E27FC236}">
                <a16:creationId xmlns:a16="http://schemas.microsoft.com/office/drawing/2014/main" id="{A0137E46-7780-6FE5-C7C7-9885D11F3EF0}"/>
              </a:ext>
            </a:extLst>
          </p:cNvPr>
          <p:cNvSpPr>
            <a:spLocks noGrp="1"/>
          </p:cNvSpPr>
          <p:nvPr>
            <p:ph type="title"/>
          </p:nvPr>
        </p:nvSpPr>
        <p:spPr>
          <a:xfrm>
            <a:off x="730135" y="90805"/>
            <a:ext cx="10515600" cy="1325563"/>
          </a:xfrm>
        </p:spPr>
        <p:txBody>
          <a:bodyPr/>
          <a:lstStyle/>
          <a:p>
            <a:r>
              <a:rPr lang="en-US" altLang="zh-CN" dirty="0"/>
              <a:t>Writing-Introduction(5/8)</a:t>
            </a:r>
            <a:endParaRPr lang="zh-CN" altLang="en-US" dirty="0"/>
          </a:p>
        </p:txBody>
      </p:sp>
      <p:sp>
        <p:nvSpPr>
          <p:cNvPr id="2" name="文本框 1">
            <a:extLst>
              <a:ext uri="{FF2B5EF4-FFF2-40B4-BE49-F238E27FC236}">
                <a16:creationId xmlns:a16="http://schemas.microsoft.com/office/drawing/2014/main" id="{DE9F4D65-FCD5-A666-4F21-334874275206}"/>
              </a:ext>
            </a:extLst>
          </p:cNvPr>
          <p:cNvSpPr txBox="1"/>
          <p:nvPr/>
        </p:nvSpPr>
        <p:spPr>
          <a:xfrm>
            <a:off x="10083338" y="1579418"/>
            <a:ext cx="1338828" cy="2585323"/>
          </a:xfrm>
          <a:prstGeom prst="rect">
            <a:avLst/>
          </a:prstGeom>
          <a:noFill/>
        </p:spPr>
        <p:txBody>
          <a:bodyPr wrap="none" rtlCol="0">
            <a:spAutoFit/>
          </a:bodyPr>
          <a:lstStyle/>
          <a:p>
            <a:r>
              <a:rPr lang="zh-CN" altLang="en-US" dirty="0"/>
              <a:t>提出方法</a:t>
            </a:r>
            <a:endParaRPr lang="en-US" altLang="zh-CN" dirty="0"/>
          </a:p>
          <a:p>
            <a:r>
              <a:rPr lang="zh-CN" altLang="en-US" dirty="0"/>
              <a:t>动机</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具体怎么做</a:t>
            </a:r>
          </a:p>
        </p:txBody>
      </p:sp>
    </p:spTree>
    <p:extLst>
      <p:ext uri="{BB962C8B-B14F-4D97-AF65-F5344CB8AC3E}">
        <p14:creationId xmlns:p14="http://schemas.microsoft.com/office/powerpoint/2010/main" val="877747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99EC5FD-C8E3-A30B-C315-4A5EC4E3B0C5}"/>
              </a:ext>
            </a:extLst>
          </p:cNvPr>
          <p:cNvSpPr>
            <a:spLocks noGrp="1"/>
          </p:cNvSpPr>
          <p:nvPr>
            <p:ph idx="1"/>
          </p:nvPr>
        </p:nvSpPr>
        <p:spPr>
          <a:xfrm>
            <a:off x="755074" y="1172093"/>
            <a:ext cx="8779624" cy="5818909"/>
          </a:xfrm>
        </p:spPr>
        <p:txBody>
          <a:bodyPr>
            <a:normAutofit/>
          </a:bodyPr>
          <a:lstStyle/>
          <a:p>
            <a:pPr algn="just"/>
            <a:r>
              <a:rPr lang="en-US" altLang="zh-CN" sz="2400" dirty="0"/>
              <a:t>In the experiments (§5.1), we find that </a:t>
            </a:r>
            <a:r>
              <a:rPr lang="en-US" altLang="zh-CN" sz="2400" b="1" dirty="0" err="1"/>
              <a:t>CleanCLIP</a:t>
            </a:r>
            <a:r>
              <a:rPr lang="en-US" altLang="zh-CN" sz="2400" b="1" dirty="0"/>
              <a:t> reduces the effectiveness of a variety of backdoor attacks on CLIP without impacting its performance on benign images</a:t>
            </a:r>
            <a:r>
              <a:rPr lang="en-US" altLang="zh-CN" sz="2400" dirty="0"/>
              <a:t>. Further, in Figure 2c, we observe that </a:t>
            </a:r>
            <a:r>
              <a:rPr lang="en-US" altLang="zh-CN" sz="2400" dirty="0" err="1"/>
              <a:t>CleanCLIP</a:t>
            </a:r>
            <a:r>
              <a:rPr lang="en-US" altLang="zh-CN" sz="2400" dirty="0"/>
              <a:t> erases the spurious associations between the backdoor trigger and the target label that leads to the absence of a separate cluster of the target label for the images with the embedded backdoor triggers. Quantitatively, we find that </a:t>
            </a:r>
            <a:r>
              <a:rPr lang="en-US" altLang="zh-CN" sz="2400" b="1" dirty="0"/>
              <a:t>the average distance between the visual representations of clean images and their corresponding poisoned images </a:t>
            </a:r>
            <a:r>
              <a:rPr lang="en-US" altLang="zh-CN" sz="2400" dirty="0"/>
              <a:t>reduces from 1.62, for the poisoned CLIP, to 0.57 with </a:t>
            </a:r>
            <a:r>
              <a:rPr lang="en-US" altLang="zh-CN" sz="2400" dirty="0" err="1"/>
              <a:t>CleanCLIP</a:t>
            </a:r>
            <a:r>
              <a:rPr lang="en-US" altLang="zh-CN" sz="2400" dirty="0"/>
              <a:t>. In §5.2, we show that poisoning a CLIP model pretrained on 400M image-text data is feasible through finetuning it with poisoned data, and further find that </a:t>
            </a:r>
            <a:r>
              <a:rPr lang="en-US" altLang="zh-CN" sz="2400" dirty="0" err="1"/>
              <a:t>CleanCLIP</a:t>
            </a:r>
            <a:r>
              <a:rPr lang="en-US" altLang="zh-CN" sz="2400" dirty="0"/>
              <a:t> reduces the impact of the backdoor attack in such settings.</a:t>
            </a:r>
            <a:endParaRPr lang="zh-CN" altLang="en-US" sz="2400" dirty="0"/>
          </a:p>
        </p:txBody>
      </p:sp>
      <p:sp>
        <p:nvSpPr>
          <p:cNvPr id="4" name="标题 1">
            <a:extLst>
              <a:ext uri="{FF2B5EF4-FFF2-40B4-BE49-F238E27FC236}">
                <a16:creationId xmlns:a16="http://schemas.microsoft.com/office/drawing/2014/main" id="{A0137E46-7780-6FE5-C7C7-9885D11F3EF0}"/>
              </a:ext>
            </a:extLst>
          </p:cNvPr>
          <p:cNvSpPr>
            <a:spLocks noGrp="1"/>
          </p:cNvSpPr>
          <p:nvPr>
            <p:ph type="title"/>
          </p:nvPr>
        </p:nvSpPr>
        <p:spPr>
          <a:xfrm>
            <a:off x="730135" y="90805"/>
            <a:ext cx="10515600" cy="1325563"/>
          </a:xfrm>
        </p:spPr>
        <p:txBody>
          <a:bodyPr/>
          <a:lstStyle/>
          <a:p>
            <a:r>
              <a:rPr lang="en-US" altLang="zh-CN" dirty="0"/>
              <a:t>Writing-Introduction(6/8)</a:t>
            </a:r>
            <a:endParaRPr lang="zh-CN" altLang="en-US" dirty="0"/>
          </a:p>
        </p:txBody>
      </p:sp>
      <p:sp>
        <p:nvSpPr>
          <p:cNvPr id="2" name="文本框 1">
            <a:extLst>
              <a:ext uri="{FF2B5EF4-FFF2-40B4-BE49-F238E27FC236}">
                <a16:creationId xmlns:a16="http://schemas.microsoft.com/office/drawing/2014/main" id="{AC278DEB-7D2E-00B5-A7BE-DD18CFCD4884}"/>
              </a:ext>
            </a:extLst>
          </p:cNvPr>
          <p:cNvSpPr txBox="1"/>
          <p:nvPr/>
        </p:nvSpPr>
        <p:spPr>
          <a:xfrm>
            <a:off x="9734072" y="1172093"/>
            <a:ext cx="2288877" cy="5909310"/>
          </a:xfrm>
          <a:prstGeom prst="rect">
            <a:avLst/>
          </a:prstGeom>
          <a:noFill/>
        </p:spPr>
        <p:txBody>
          <a:bodyPr wrap="square" rtlCol="0">
            <a:spAutoFit/>
          </a:bodyPr>
          <a:lstStyle/>
          <a:p>
            <a:r>
              <a:rPr lang="zh-CN" altLang="en-US" dirty="0"/>
              <a:t>实验结果：</a:t>
            </a:r>
            <a:endParaRPr lang="en-US" altLang="zh-CN" dirty="0"/>
          </a:p>
          <a:p>
            <a:r>
              <a:rPr lang="zh-CN" altLang="en-US" dirty="0"/>
              <a:t>减小了原始数据特征和污染数据特征间的距离；不影响在干净样本上的正确率</a:t>
            </a:r>
            <a:endParaRPr lang="en-US" altLang="zh-CN" dirty="0"/>
          </a:p>
          <a:p>
            <a:endParaRPr lang="en-US" altLang="zh-CN" dirty="0"/>
          </a:p>
          <a:p>
            <a:endParaRPr lang="en-US" altLang="zh-CN"/>
          </a:p>
          <a:p>
            <a:endParaRPr lang="en-US" altLang="zh-CN" dirty="0"/>
          </a:p>
          <a:p>
            <a:endParaRPr lang="en-US" altLang="zh-CN" dirty="0"/>
          </a:p>
          <a:p>
            <a:r>
              <a:rPr lang="zh-CN" altLang="en-US" dirty="0"/>
              <a:t>观察到微调后模型提取净样本与污染样本特征的距离减小</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2717724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99EC5FD-C8E3-A30B-C315-4A5EC4E3B0C5}"/>
              </a:ext>
            </a:extLst>
          </p:cNvPr>
          <p:cNvSpPr>
            <a:spLocks noGrp="1"/>
          </p:cNvSpPr>
          <p:nvPr>
            <p:ph idx="1"/>
          </p:nvPr>
        </p:nvSpPr>
        <p:spPr>
          <a:xfrm>
            <a:off x="755074" y="1172093"/>
            <a:ext cx="9053944" cy="5818909"/>
          </a:xfrm>
        </p:spPr>
        <p:txBody>
          <a:bodyPr>
            <a:normAutofit/>
          </a:bodyPr>
          <a:lstStyle/>
          <a:p>
            <a:pPr algn="just"/>
            <a:r>
              <a:rPr lang="en-US" altLang="zh-CN" sz="2400" dirty="0"/>
              <a:t>In addition, we show that in the presence of a downstream task-specific, clean and labeled data, </a:t>
            </a:r>
            <a:r>
              <a:rPr lang="en-US" altLang="zh-CN" sz="2400" b="1" dirty="0"/>
              <a:t>just supervised finetuning with the clean data of the CLIP vision encoder on can erase the backdoor </a:t>
            </a:r>
            <a:r>
              <a:rPr lang="en-US" altLang="zh-CN" sz="2400" dirty="0"/>
              <a:t>(§6). Since the CLIP vision backbone adapts itself to the target distribution, the learned false backdoor associations are forgotten in the process. This is supported by the observation that images containing the backdoor trigger do not cluster together in the embedding space (Fig. 2d). Further, the average distance between the embeddings of clean images and their backdoored versions reduces from 1.62 for the poisoned model to 0.71 after supervised finetuning on clean data. </a:t>
            </a:r>
            <a:endParaRPr lang="zh-CN" altLang="en-US" sz="2400" dirty="0"/>
          </a:p>
        </p:txBody>
      </p:sp>
      <p:sp>
        <p:nvSpPr>
          <p:cNvPr id="4" name="标题 1">
            <a:extLst>
              <a:ext uri="{FF2B5EF4-FFF2-40B4-BE49-F238E27FC236}">
                <a16:creationId xmlns:a16="http://schemas.microsoft.com/office/drawing/2014/main" id="{A0137E46-7780-6FE5-C7C7-9885D11F3EF0}"/>
              </a:ext>
            </a:extLst>
          </p:cNvPr>
          <p:cNvSpPr>
            <a:spLocks noGrp="1"/>
          </p:cNvSpPr>
          <p:nvPr>
            <p:ph type="title"/>
          </p:nvPr>
        </p:nvSpPr>
        <p:spPr>
          <a:xfrm>
            <a:off x="730135" y="90805"/>
            <a:ext cx="10515600" cy="1325563"/>
          </a:xfrm>
        </p:spPr>
        <p:txBody>
          <a:bodyPr/>
          <a:lstStyle/>
          <a:p>
            <a:r>
              <a:rPr lang="en-US" altLang="zh-CN" dirty="0"/>
              <a:t>Writing-Introduction(7/8)</a:t>
            </a:r>
            <a:endParaRPr lang="zh-CN" altLang="en-US" dirty="0"/>
          </a:p>
        </p:txBody>
      </p:sp>
      <p:sp>
        <p:nvSpPr>
          <p:cNvPr id="2" name="文本框 1">
            <a:extLst>
              <a:ext uri="{FF2B5EF4-FFF2-40B4-BE49-F238E27FC236}">
                <a16:creationId xmlns:a16="http://schemas.microsoft.com/office/drawing/2014/main" id="{FBCC6541-E5FB-3A7A-C26C-D9D1FF758AC8}"/>
              </a:ext>
            </a:extLst>
          </p:cNvPr>
          <p:cNvSpPr txBox="1"/>
          <p:nvPr/>
        </p:nvSpPr>
        <p:spPr>
          <a:xfrm>
            <a:off x="9865000" y="1255221"/>
            <a:ext cx="2099094" cy="646331"/>
          </a:xfrm>
          <a:prstGeom prst="rect">
            <a:avLst/>
          </a:prstGeom>
          <a:noFill/>
        </p:spPr>
        <p:txBody>
          <a:bodyPr wrap="square" rtlCol="0">
            <a:spAutoFit/>
          </a:bodyPr>
          <a:lstStyle/>
          <a:p>
            <a:r>
              <a:rPr lang="zh-CN" altLang="en-US" dirty="0"/>
              <a:t>有监督微调也能达到同样的效果</a:t>
            </a:r>
          </a:p>
        </p:txBody>
      </p:sp>
    </p:spTree>
    <p:extLst>
      <p:ext uri="{BB962C8B-B14F-4D97-AF65-F5344CB8AC3E}">
        <p14:creationId xmlns:p14="http://schemas.microsoft.com/office/powerpoint/2010/main" val="565479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99EC5FD-C8E3-A30B-C315-4A5EC4E3B0C5}"/>
              </a:ext>
            </a:extLst>
          </p:cNvPr>
          <p:cNvSpPr>
            <a:spLocks noGrp="1"/>
          </p:cNvSpPr>
          <p:nvPr>
            <p:ph idx="1"/>
          </p:nvPr>
        </p:nvSpPr>
        <p:spPr>
          <a:xfrm>
            <a:off x="755074" y="1172093"/>
            <a:ext cx="9053944" cy="5818909"/>
          </a:xfrm>
        </p:spPr>
        <p:txBody>
          <a:bodyPr>
            <a:normAutofit/>
          </a:bodyPr>
          <a:lstStyle/>
          <a:p>
            <a:pPr algn="just"/>
            <a:r>
              <a:rPr lang="en-US" altLang="zh-CN" sz="2400" dirty="0"/>
              <a:t>While one could devise backdoor defense methods that aim to neutralize the backdoor during the pretraining phase itself, we focus on the reduction in the impact of the backdoor attacks via finetuning as it is </a:t>
            </a:r>
            <a:r>
              <a:rPr lang="en-US" altLang="zh-CN" sz="2400" b="1" dirty="0"/>
              <a:t>more sample efficient and practical</a:t>
            </a:r>
            <a:r>
              <a:rPr lang="en-US" altLang="zh-CN" sz="2400" dirty="0"/>
              <a:t>. Additionally, unlike pretraining from scratch, </a:t>
            </a:r>
            <a:r>
              <a:rPr lang="en-US" altLang="zh-CN" sz="2400" b="1" dirty="0"/>
              <a:t>finetuning does not require heavy computation and access to the original pretraining data</a:t>
            </a:r>
            <a:r>
              <a:rPr lang="en-US" altLang="zh-CN" sz="2400" dirty="0"/>
              <a:t>. Finally, we analyze various factors that influenced the results, including the strength of the self-supervision signal (§7.1), the size of the pretraining data (§7.4), the size of the finetuning data (§7.5, §7.6), the number of backdoor examples (§7.3), and the choice of the finetuning dataset (§7.2). To the best of our knowledge, no previous research has been conducted to defend multimodal contrastive models against backdoor attacks. Overall, our results demonstrate that </a:t>
            </a:r>
            <a:r>
              <a:rPr lang="en-US" altLang="zh-CN" sz="2400" dirty="0" err="1"/>
              <a:t>CleanCLIP</a:t>
            </a:r>
            <a:r>
              <a:rPr lang="en-US" altLang="zh-CN" sz="2400" dirty="0"/>
              <a:t> offers a robust defense against a variety of backdoor attacks in multimodal contrastive learning.</a:t>
            </a:r>
            <a:endParaRPr lang="zh-CN" altLang="en-US" sz="2400" dirty="0"/>
          </a:p>
        </p:txBody>
      </p:sp>
      <p:sp>
        <p:nvSpPr>
          <p:cNvPr id="4" name="标题 1">
            <a:extLst>
              <a:ext uri="{FF2B5EF4-FFF2-40B4-BE49-F238E27FC236}">
                <a16:creationId xmlns:a16="http://schemas.microsoft.com/office/drawing/2014/main" id="{A0137E46-7780-6FE5-C7C7-9885D11F3EF0}"/>
              </a:ext>
            </a:extLst>
          </p:cNvPr>
          <p:cNvSpPr>
            <a:spLocks noGrp="1"/>
          </p:cNvSpPr>
          <p:nvPr>
            <p:ph type="title"/>
          </p:nvPr>
        </p:nvSpPr>
        <p:spPr>
          <a:xfrm>
            <a:off x="730135" y="90805"/>
            <a:ext cx="10515600" cy="1325563"/>
          </a:xfrm>
        </p:spPr>
        <p:txBody>
          <a:bodyPr/>
          <a:lstStyle/>
          <a:p>
            <a:r>
              <a:rPr lang="en-US" altLang="zh-CN" dirty="0"/>
              <a:t>Writing-Introduction(8/8)</a:t>
            </a:r>
            <a:endParaRPr lang="zh-CN" altLang="en-US" dirty="0"/>
          </a:p>
        </p:txBody>
      </p:sp>
      <p:sp>
        <p:nvSpPr>
          <p:cNvPr id="2" name="文本框 1">
            <a:extLst>
              <a:ext uri="{FF2B5EF4-FFF2-40B4-BE49-F238E27FC236}">
                <a16:creationId xmlns:a16="http://schemas.microsoft.com/office/drawing/2014/main" id="{719DBE32-C077-706D-2408-361E9BE963B8}"/>
              </a:ext>
            </a:extLst>
          </p:cNvPr>
          <p:cNvSpPr txBox="1"/>
          <p:nvPr/>
        </p:nvSpPr>
        <p:spPr>
          <a:xfrm>
            <a:off x="9942022" y="1271847"/>
            <a:ext cx="2191789" cy="2308324"/>
          </a:xfrm>
          <a:prstGeom prst="rect">
            <a:avLst/>
          </a:prstGeom>
          <a:noFill/>
        </p:spPr>
        <p:txBody>
          <a:bodyPr wrap="square" rtlCol="0">
            <a:spAutoFit/>
          </a:bodyPr>
          <a:lstStyle/>
          <a:p>
            <a:r>
              <a:rPr lang="zh-CN" altLang="en-US" dirty="0"/>
              <a:t>微调的防御方式相比其他防御方式的优点</a:t>
            </a:r>
            <a:endParaRPr lang="en-US" altLang="zh-CN" dirty="0"/>
          </a:p>
          <a:p>
            <a:endParaRPr lang="en-US" altLang="zh-CN" dirty="0"/>
          </a:p>
          <a:p>
            <a:endParaRPr lang="en-US" altLang="zh-CN" dirty="0"/>
          </a:p>
          <a:p>
            <a:endParaRPr lang="en-US" altLang="zh-CN" dirty="0"/>
          </a:p>
          <a:p>
            <a:endParaRPr lang="en-US" altLang="zh-CN" dirty="0"/>
          </a:p>
          <a:p>
            <a:r>
              <a:rPr lang="zh-CN" altLang="en-US" dirty="0"/>
              <a:t>消融实验</a:t>
            </a:r>
          </a:p>
        </p:txBody>
      </p:sp>
    </p:spTree>
    <p:extLst>
      <p:ext uri="{BB962C8B-B14F-4D97-AF65-F5344CB8AC3E}">
        <p14:creationId xmlns:p14="http://schemas.microsoft.com/office/powerpoint/2010/main" val="3366394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1C823B-AD14-809D-9191-D6F378E58B8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1327329-F042-1DBA-E701-EE1B50C0E58C}"/>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8795476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5310</TotalTime>
  <Words>2811</Words>
  <Application>Microsoft Office PowerPoint</Application>
  <PresentationFormat>宽屏</PresentationFormat>
  <Paragraphs>149</Paragraphs>
  <Slides>26</Slides>
  <Notes>13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26</vt:i4>
      </vt:variant>
    </vt:vector>
  </HeadingPairs>
  <TitlesOfParts>
    <vt:vector size="31" baseType="lpstr">
      <vt:lpstr>等线</vt:lpstr>
      <vt:lpstr>等线 Light</vt:lpstr>
      <vt:lpstr>Arial</vt:lpstr>
      <vt:lpstr>Cambria Math</vt:lpstr>
      <vt:lpstr>Office 主题​​</vt:lpstr>
      <vt:lpstr>PowerPoint 演示文稿</vt:lpstr>
      <vt:lpstr>Backdoor Attack</vt:lpstr>
      <vt:lpstr>PowerPoint 演示文稿</vt:lpstr>
      <vt:lpstr>Proposed method: CleanCLIP</vt:lpstr>
      <vt:lpstr>PowerPoint 演示文稿</vt:lpstr>
      <vt:lpstr>Experiments</vt:lpstr>
      <vt:lpstr>Experiments</vt:lpstr>
      <vt:lpstr>Experiments</vt:lpstr>
      <vt:lpstr>Experiments</vt:lpstr>
      <vt:lpstr>Experiments</vt:lpstr>
      <vt:lpstr>Experiments</vt:lpstr>
      <vt:lpstr>Experiments</vt:lpstr>
      <vt:lpstr>Experiments</vt:lpstr>
      <vt:lpstr>Conclusion</vt:lpstr>
      <vt:lpstr>Writing-Abstract(1/2)</vt:lpstr>
      <vt:lpstr>Writing-Abstract(2/2)</vt:lpstr>
      <vt:lpstr>Writing-Abstract(2/2)</vt:lpstr>
      <vt:lpstr>Writing-Introduction(1/8)</vt:lpstr>
      <vt:lpstr>Writing-Introduction(2/8)</vt:lpstr>
      <vt:lpstr>Writing-Introduction(3/8)</vt:lpstr>
      <vt:lpstr>Writing-Introduction(4/8)</vt:lpstr>
      <vt:lpstr>Writing-Introduction(5/8)</vt:lpstr>
      <vt:lpstr>Writing-Introduction(6/8)</vt:lpstr>
      <vt:lpstr>Writing-Introduction(7/8)</vt:lpstr>
      <vt:lpstr>Writing-Introduction(8/8)</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CleanCLIP: Mitigating Data Poisoning Attacks in Multimodal Contrastive Learning</dc:title>
  <dc:creator>Xueqing Yu</dc:creator>
  <cp:lastModifiedBy>Xueqing Yu</cp:lastModifiedBy>
  <cp:revision>1</cp:revision>
  <dcterms:created xsi:type="dcterms:W3CDTF">2023-12-04T11:48:12Z</dcterms:created>
  <dcterms:modified xsi:type="dcterms:W3CDTF">2023-12-08T07:27:01Z</dcterms:modified>
</cp:coreProperties>
</file>