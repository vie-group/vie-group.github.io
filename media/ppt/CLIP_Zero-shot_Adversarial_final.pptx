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4" r:id="rId3"/>
    <p:sldId id="265" r:id="rId4"/>
    <p:sldId id="266" r:id="rId5"/>
    <p:sldId id="267" r:id="rId6"/>
    <p:sldId id="268" r:id="rId7"/>
    <p:sldId id="269" r:id="rId8"/>
    <p:sldId id="270" r:id="rId9"/>
    <p:sldId id="271" r:id="rId10"/>
    <p:sldId id="273" r:id="rId11"/>
    <p:sldId id="272" r:id="rId12"/>
    <p:sldId id="257" r:id="rId13"/>
    <p:sldId id="258" r:id="rId14"/>
    <p:sldId id="259" r:id="rId15"/>
    <p:sldId id="260" r:id="rId16"/>
    <p:sldId id="261" r:id="rId17"/>
    <p:sldId id="262" r:id="rId18"/>
    <p:sldId id="263"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Yu" initials="XY" lastIdx="2" clrIdx="0">
    <p:extLst>
      <p:ext uri="{19B8F6BF-5375-455C-9EA6-DF929625EA0E}">
        <p15:presenceInfo xmlns:p15="http://schemas.microsoft.com/office/powerpoint/2012/main" userId="bfd16ca31045e1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5815" autoAdjust="0"/>
  </p:normalViewPr>
  <p:slideViewPr>
    <p:cSldViewPr snapToGrid="0">
      <p:cViewPr varScale="1">
        <p:scale>
          <a:sx n="66" d="100"/>
          <a:sy n="66" d="100"/>
        </p:scale>
        <p:origin x="632" y="40"/>
      </p:cViewPr>
      <p:guideLst/>
    </p:cSldViewPr>
  </p:slideViewPr>
  <p:notesTextViewPr>
    <p:cViewPr>
      <p:scale>
        <a:sx n="1" d="1"/>
        <a:sy n="1" d="1"/>
      </p:scale>
      <p:origin x="0" y="0"/>
    </p:cViewPr>
  </p:notesTextViewPr>
  <p:sorterViewPr>
    <p:cViewPr>
      <p:scale>
        <a:sx n="100" d="100"/>
        <a:sy n="100" d="100"/>
      </p:scale>
      <p:origin x="0" y="-87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eqing Yu" userId="bfd16ca31045e1f0" providerId="LiveId" clId="{338667F6-256C-4050-813F-A02FA65CF266}"/>
    <pc:docChg chg="modSld">
      <pc:chgData name="Xueqing Yu" userId="bfd16ca31045e1f0" providerId="LiveId" clId="{338667F6-256C-4050-813F-A02FA65CF266}" dt="2024-04-07T07:40:57.869" v="64" actId="20577"/>
      <pc:docMkLst>
        <pc:docMk/>
      </pc:docMkLst>
      <pc:sldChg chg="modNotesTx">
        <pc:chgData name="Xueqing Yu" userId="bfd16ca31045e1f0" providerId="LiveId" clId="{338667F6-256C-4050-813F-A02FA65CF266}" dt="2024-04-07T07:39:15.111" v="0" actId="20577"/>
        <pc:sldMkLst>
          <pc:docMk/>
          <pc:sldMk cId="3872428887" sldId="264"/>
        </pc:sldMkLst>
      </pc:sldChg>
      <pc:sldChg chg="modNotesTx">
        <pc:chgData name="Xueqing Yu" userId="bfd16ca31045e1f0" providerId="LiveId" clId="{338667F6-256C-4050-813F-A02FA65CF266}" dt="2024-04-07T07:39:21.643" v="1" actId="20577"/>
        <pc:sldMkLst>
          <pc:docMk/>
          <pc:sldMk cId="2556423327" sldId="265"/>
        </pc:sldMkLst>
      </pc:sldChg>
      <pc:sldChg chg="modNotesTx">
        <pc:chgData name="Xueqing Yu" userId="bfd16ca31045e1f0" providerId="LiveId" clId="{338667F6-256C-4050-813F-A02FA65CF266}" dt="2024-04-07T07:39:42.668" v="17" actId="20577"/>
        <pc:sldMkLst>
          <pc:docMk/>
          <pc:sldMk cId="4184699217" sldId="266"/>
        </pc:sldMkLst>
      </pc:sldChg>
      <pc:sldChg chg="modNotesTx">
        <pc:chgData name="Xueqing Yu" userId="bfd16ca31045e1f0" providerId="LiveId" clId="{338667F6-256C-4050-813F-A02FA65CF266}" dt="2024-04-07T07:39:59.119" v="59" actId="20577"/>
        <pc:sldMkLst>
          <pc:docMk/>
          <pc:sldMk cId="1524588704" sldId="267"/>
        </pc:sldMkLst>
      </pc:sldChg>
      <pc:sldChg chg="modNotesTx">
        <pc:chgData name="Xueqing Yu" userId="bfd16ca31045e1f0" providerId="LiveId" clId="{338667F6-256C-4050-813F-A02FA65CF266}" dt="2024-04-07T07:40:05.998" v="60" actId="20577"/>
        <pc:sldMkLst>
          <pc:docMk/>
          <pc:sldMk cId="4099456012" sldId="268"/>
        </pc:sldMkLst>
      </pc:sldChg>
      <pc:sldChg chg="modNotesTx">
        <pc:chgData name="Xueqing Yu" userId="bfd16ca31045e1f0" providerId="LiveId" clId="{338667F6-256C-4050-813F-A02FA65CF266}" dt="2024-04-07T07:40:24.150" v="62" actId="20577"/>
        <pc:sldMkLst>
          <pc:docMk/>
          <pc:sldMk cId="1980662871" sldId="270"/>
        </pc:sldMkLst>
      </pc:sldChg>
      <pc:sldChg chg="modNotesTx">
        <pc:chgData name="Xueqing Yu" userId="bfd16ca31045e1f0" providerId="LiveId" clId="{338667F6-256C-4050-813F-A02FA65CF266}" dt="2024-04-07T07:40:57.869" v="64" actId="20577"/>
        <pc:sldMkLst>
          <pc:docMk/>
          <pc:sldMk cId="3711538939" sldId="272"/>
        </pc:sldMkLst>
      </pc:sldChg>
      <pc:sldChg chg="modNotesTx">
        <pc:chgData name="Xueqing Yu" userId="bfd16ca31045e1f0" providerId="LiveId" clId="{338667F6-256C-4050-813F-A02FA65CF266}" dt="2024-04-07T07:40:44.917" v="63" actId="20577"/>
        <pc:sldMkLst>
          <pc:docMk/>
          <pc:sldMk cId="2024653418"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26C400-F0C8-4725-8867-279A1580A65C}" type="datetimeFigureOut">
              <a:rPr lang="zh-CN" altLang="en-US" smtClean="0"/>
              <a:t>2024/4/7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7E79DF-809F-4178-A075-EB187E12ADE0}" type="slidenum">
              <a:rPr lang="zh-CN" altLang="en-US" smtClean="0"/>
              <a:t>‹#›</a:t>
            </a:fld>
            <a:endParaRPr lang="zh-CN" altLang="en-US"/>
          </a:p>
        </p:txBody>
      </p:sp>
    </p:spTree>
    <p:extLst>
      <p:ext uri="{BB962C8B-B14F-4D97-AF65-F5344CB8AC3E}">
        <p14:creationId xmlns:p14="http://schemas.microsoft.com/office/powerpoint/2010/main" val="2611604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7E79DF-809F-4178-A075-EB187E12ADE0}" type="slidenum">
              <a:rPr lang="zh-CN" altLang="en-US" smtClean="0"/>
              <a:t>1</a:t>
            </a:fld>
            <a:endParaRPr lang="zh-CN" altLang="en-US"/>
          </a:p>
        </p:txBody>
      </p:sp>
    </p:spTree>
    <p:extLst>
      <p:ext uri="{BB962C8B-B14F-4D97-AF65-F5344CB8AC3E}">
        <p14:creationId xmlns:p14="http://schemas.microsoft.com/office/powerpoint/2010/main" val="3298309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7E79DF-809F-4178-A075-EB187E12ADE0}" type="slidenum">
              <a:rPr lang="zh-CN" altLang="en-US" smtClean="0"/>
              <a:t>2</a:t>
            </a:fld>
            <a:endParaRPr lang="zh-CN" altLang="en-US"/>
          </a:p>
        </p:txBody>
      </p:sp>
    </p:spTree>
    <p:extLst>
      <p:ext uri="{BB962C8B-B14F-4D97-AF65-F5344CB8AC3E}">
        <p14:creationId xmlns:p14="http://schemas.microsoft.com/office/powerpoint/2010/main" val="2026763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7E79DF-809F-4178-A075-EB187E12ADE0}" type="slidenum">
              <a:rPr lang="zh-CN" altLang="en-US" smtClean="0"/>
              <a:t>3</a:t>
            </a:fld>
            <a:endParaRPr lang="zh-CN" altLang="en-US"/>
          </a:p>
        </p:txBody>
      </p:sp>
    </p:spTree>
    <p:extLst>
      <p:ext uri="{BB962C8B-B14F-4D97-AF65-F5344CB8AC3E}">
        <p14:creationId xmlns:p14="http://schemas.microsoft.com/office/powerpoint/2010/main" val="1561427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对于分类问题，考虑标准的对抗性训练，就是首先通过最大化交叉熵损失生成对抗样本</a:t>
            </a:r>
            <a:r>
              <a:rPr lang="en-US" altLang="zh-CN" dirty="0" err="1"/>
              <a:t>x_a</a:t>
            </a:r>
            <a:r>
              <a:rPr lang="zh-CN" altLang="en-US" dirty="0"/>
              <a:t>，然后用</a:t>
            </a:r>
            <a:r>
              <a:rPr lang="en-US" altLang="zh-CN" dirty="0" err="1"/>
              <a:t>x_a</a:t>
            </a:r>
            <a:r>
              <a:rPr lang="zh-CN" altLang="en-US" dirty="0"/>
              <a:t>训练模型，最小化交叉熵损失函数；</a:t>
            </a:r>
            <a:endParaRPr lang="en-US" altLang="zh-CN" dirty="0"/>
          </a:p>
          <a:p>
            <a:r>
              <a:rPr lang="zh-CN" altLang="en-US" dirty="0"/>
              <a:t>把标准的对抗性训练适配到</a:t>
            </a:r>
            <a:r>
              <a:rPr lang="en-US" altLang="zh-CN" dirty="0"/>
              <a:t>CLIP</a:t>
            </a:r>
            <a:r>
              <a:rPr lang="zh-CN" altLang="en-US" dirty="0"/>
              <a:t>上，在</a:t>
            </a:r>
            <a:r>
              <a:rPr lang="en-US" altLang="zh-CN" dirty="0"/>
              <a:t>image encoder</a:t>
            </a:r>
            <a:r>
              <a:rPr lang="zh-CN" altLang="en-US" dirty="0"/>
              <a:t>后接一个分类头，先固定</a:t>
            </a:r>
            <a:r>
              <a:rPr lang="en-US" altLang="zh-CN" dirty="0"/>
              <a:t>encoder</a:t>
            </a:r>
            <a:r>
              <a:rPr lang="zh-CN" altLang="en-US" dirty="0"/>
              <a:t>去训练分类头，然后把分类头固定对</a:t>
            </a:r>
            <a:r>
              <a:rPr lang="en-US" altLang="zh-CN" dirty="0"/>
              <a:t>encoder</a:t>
            </a:r>
            <a:r>
              <a:rPr lang="zh-CN" altLang="en-US" dirty="0"/>
              <a:t>的参数做对抗性训练</a:t>
            </a:r>
          </a:p>
        </p:txBody>
      </p:sp>
      <p:sp>
        <p:nvSpPr>
          <p:cNvPr id="4" name="灯片编号占位符 3"/>
          <p:cNvSpPr>
            <a:spLocks noGrp="1"/>
          </p:cNvSpPr>
          <p:nvPr>
            <p:ph type="sldNum" sz="quarter" idx="5"/>
          </p:nvPr>
        </p:nvSpPr>
        <p:spPr/>
        <p:txBody>
          <a:bodyPr/>
          <a:lstStyle/>
          <a:p>
            <a:fld id="{7F7E79DF-809F-4178-A075-EB187E12ADE0}" type="slidenum">
              <a:rPr lang="zh-CN" altLang="en-US" smtClean="0"/>
              <a:t>4</a:t>
            </a:fld>
            <a:endParaRPr lang="zh-CN" altLang="en-US"/>
          </a:p>
        </p:txBody>
      </p:sp>
    </p:spTree>
    <p:extLst>
      <p:ext uri="{BB962C8B-B14F-4D97-AF65-F5344CB8AC3E}">
        <p14:creationId xmlns:p14="http://schemas.microsoft.com/office/powerpoint/2010/main" val="3325027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TeCoA</a:t>
            </a:r>
            <a:r>
              <a:rPr lang="zh-CN" altLang="en-US" dirty="0"/>
              <a:t>的训练框架中，首先是对图片采用</a:t>
            </a:r>
            <a:r>
              <a:rPr lang="en-US" altLang="zh-CN" dirty="0"/>
              <a:t>PGD</a:t>
            </a:r>
            <a:r>
              <a:rPr lang="zh-CN" altLang="en-US" dirty="0"/>
              <a:t>攻击来最大化文字和图片间的对比损失，构造图像对抗样本，然后用对抗样本训练</a:t>
            </a:r>
            <a:r>
              <a:rPr lang="en-US" altLang="zh-CN" dirty="0"/>
              <a:t>image encoder, </a:t>
            </a:r>
            <a:r>
              <a:rPr lang="zh-CN" altLang="en-US" dirty="0"/>
              <a:t>而在训练过程中</a:t>
            </a:r>
            <a:r>
              <a:rPr lang="en-US" altLang="zh-CN" dirty="0"/>
              <a:t>text encoder</a:t>
            </a:r>
            <a:r>
              <a:rPr lang="zh-CN" altLang="en-US" dirty="0"/>
              <a:t>不参与训练，只起到文本对齐的作用</a:t>
            </a:r>
          </a:p>
        </p:txBody>
      </p:sp>
      <p:sp>
        <p:nvSpPr>
          <p:cNvPr id="4" name="灯片编号占位符 3"/>
          <p:cNvSpPr>
            <a:spLocks noGrp="1"/>
          </p:cNvSpPr>
          <p:nvPr>
            <p:ph type="sldNum" sz="quarter" idx="5"/>
          </p:nvPr>
        </p:nvSpPr>
        <p:spPr/>
        <p:txBody>
          <a:bodyPr/>
          <a:lstStyle/>
          <a:p>
            <a:fld id="{7F7E79DF-809F-4178-A075-EB187E12ADE0}" type="slidenum">
              <a:rPr lang="zh-CN" altLang="en-US" smtClean="0"/>
              <a:t>5</a:t>
            </a:fld>
            <a:endParaRPr lang="zh-CN" altLang="en-US"/>
          </a:p>
        </p:txBody>
      </p:sp>
    </p:spTree>
    <p:extLst>
      <p:ext uri="{BB962C8B-B14F-4D97-AF65-F5344CB8AC3E}">
        <p14:creationId xmlns:p14="http://schemas.microsoft.com/office/powerpoint/2010/main" val="306824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第一种</a:t>
            </a:r>
            <a:r>
              <a:rPr lang="en-US" altLang="zh-CN" dirty="0" err="1"/>
              <a:t>CoAdv</a:t>
            </a:r>
            <a:r>
              <a:rPr lang="zh-CN" altLang="en-US" dirty="0"/>
              <a:t>，也是基于对比学习的方式，这里是把刚刚用</a:t>
            </a:r>
            <a:r>
              <a:rPr lang="en-US" altLang="zh-CN" dirty="0"/>
              <a:t>text encoder</a:t>
            </a:r>
            <a:r>
              <a:rPr lang="zh-CN" altLang="en-US" dirty="0"/>
              <a:t>编码的文本换成了一个随机的人为设计的类别表示，具体来说对于每个类别通过随机初始化确定一个对应的编码，用这个编码来代表这个类别，然后和</a:t>
            </a:r>
            <a:r>
              <a:rPr lang="en-US" altLang="zh-CN" dirty="0" err="1"/>
              <a:t>teekow</a:t>
            </a:r>
            <a:r>
              <a:rPr lang="zh-CN" altLang="en-US" dirty="0"/>
              <a:t>一样，先通过最大化对比损失来生成对抗样本，然后用样本训练</a:t>
            </a:r>
            <a:r>
              <a:rPr lang="en-US" altLang="zh-CN" dirty="0"/>
              <a:t>image encoder</a:t>
            </a:r>
            <a:endParaRPr lang="zh-CN" altLang="en-US" dirty="0"/>
          </a:p>
        </p:txBody>
      </p:sp>
      <p:sp>
        <p:nvSpPr>
          <p:cNvPr id="4" name="灯片编号占位符 3"/>
          <p:cNvSpPr>
            <a:spLocks noGrp="1"/>
          </p:cNvSpPr>
          <p:nvPr>
            <p:ph type="sldNum" sz="quarter" idx="5"/>
          </p:nvPr>
        </p:nvSpPr>
        <p:spPr/>
        <p:txBody>
          <a:bodyPr/>
          <a:lstStyle/>
          <a:p>
            <a:fld id="{7F7E79DF-809F-4178-A075-EB187E12ADE0}" type="slidenum">
              <a:rPr lang="zh-CN" altLang="en-US" smtClean="0"/>
              <a:t>6</a:t>
            </a:fld>
            <a:endParaRPr lang="zh-CN" altLang="en-US"/>
          </a:p>
        </p:txBody>
      </p:sp>
    </p:spTree>
    <p:extLst>
      <p:ext uri="{BB962C8B-B14F-4D97-AF65-F5344CB8AC3E}">
        <p14:creationId xmlns:p14="http://schemas.microsoft.com/office/powerpoint/2010/main" val="224425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第三种方法是图片和图片自身的对比学习，这里对于一张图片，做不同的图像变换后，将由同一张图片变换得到的两张图记为一对，对其中一张图像做攻击作为对抗样本，将攻击过和未攻击的图片分别经过</a:t>
            </a:r>
            <a:r>
              <a:rPr lang="en-US" altLang="zh-CN" dirty="0"/>
              <a:t>image encoder</a:t>
            </a:r>
            <a:r>
              <a:rPr lang="zh-CN" altLang="en-US" dirty="0"/>
              <a:t>提特征，通过最小化同一组图片间的对比损失来训练</a:t>
            </a:r>
            <a:r>
              <a:rPr lang="en-US" altLang="zh-CN" dirty="0"/>
              <a:t>image encoder</a:t>
            </a:r>
            <a:endParaRPr lang="zh-CN" altLang="en-US" dirty="0"/>
          </a:p>
        </p:txBody>
      </p:sp>
      <p:sp>
        <p:nvSpPr>
          <p:cNvPr id="4" name="灯片编号占位符 3"/>
          <p:cNvSpPr>
            <a:spLocks noGrp="1"/>
          </p:cNvSpPr>
          <p:nvPr>
            <p:ph type="sldNum" sz="quarter" idx="5"/>
          </p:nvPr>
        </p:nvSpPr>
        <p:spPr/>
        <p:txBody>
          <a:bodyPr/>
          <a:lstStyle/>
          <a:p>
            <a:fld id="{7F7E79DF-809F-4178-A075-EB187E12ADE0}" type="slidenum">
              <a:rPr lang="zh-CN" altLang="en-US" smtClean="0"/>
              <a:t>7</a:t>
            </a:fld>
            <a:endParaRPr lang="zh-CN" altLang="en-US"/>
          </a:p>
        </p:txBody>
      </p:sp>
    </p:spTree>
    <p:extLst>
      <p:ext uri="{BB962C8B-B14F-4D97-AF65-F5344CB8AC3E}">
        <p14:creationId xmlns:p14="http://schemas.microsoft.com/office/powerpoint/2010/main" val="2520990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总体表现最好的是全参数微调</a:t>
            </a:r>
            <a:r>
              <a:rPr lang="en-US" altLang="zh-CN" dirty="0"/>
              <a:t>+</a:t>
            </a:r>
            <a:r>
              <a:rPr lang="en-US" altLang="zh-CN" dirty="0" err="1"/>
              <a:t>TeCoA</a:t>
            </a:r>
            <a:r>
              <a:rPr lang="zh-CN" altLang="en-US" dirty="0"/>
              <a:t>，平均准确率最高</a:t>
            </a:r>
            <a:endParaRPr lang="en-US" altLang="zh-CN" dirty="0"/>
          </a:p>
          <a:p>
            <a:r>
              <a:rPr lang="zh-CN" altLang="en-US" dirty="0"/>
              <a:t>通过</a:t>
            </a:r>
            <a:r>
              <a:rPr lang="en-US" altLang="zh-CN" dirty="0" err="1"/>
              <a:t>TeCoA</a:t>
            </a:r>
            <a:r>
              <a:rPr lang="zh-CN" altLang="en-US" dirty="0"/>
              <a:t>和其余两种基于对比学习的方法</a:t>
            </a:r>
            <a:r>
              <a:rPr lang="en-US" altLang="zh-CN" dirty="0" err="1"/>
              <a:t>CoAdv</a:t>
            </a:r>
            <a:r>
              <a:rPr lang="en-US" altLang="zh-CN" dirty="0"/>
              <a:t>, </a:t>
            </a:r>
            <a:r>
              <a:rPr lang="en-US" altLang="zh-CN" dirty="0" err="1"/>
              <a:t>ImgCoAdv</a:t>
            </a:r>
            <a:r>
              <a:rPr lang="en-US" altLang="zh-CN" dirty="0"/>
              <a:t> </a:t>
            </a:r>
            <a:r>
              <a:rPr lang="zh-CN" altLang="en-US" dirty="0"/>
              <a:t>来看，</a:t>
            </a:r>
            <a:r>
              <a:rPr lang="en-US" altLang="zh-CN" dirty="0" err="1"/>
              <a:t>TeCoA</a:t>
            </a:r>
            <a:r>
              <a:rPr lang="zh-CN" altLang="en-US" dirty="0"/>
              <a:t>效果好主要是因为引入了文本的对齐，而不是对比学习的范式本身</a:t>
            </a:r>
            <a:endParaRPr lang="en-US" altLang="zh-CN" dirty="0"/>
          </a:p>
          <a:p>
            <a:endParaRPr lang="en-US" altLang="zh-CN" dirty="0"/>
          </a:p>
          <a:p>
            <a:r>
              <a:rPr lang="zh-CN" altLang="en-US" dirty="0"/>
              <a:t>另外注意到全参数微调和</a:t>
            </a:r>
            <a:r>
              <a:rPr lang="en-US" altLang="zh-CN" dirty="0"/>
              <a:t>Visual prompt tuning</a:t>
            </a:r>
            <a:r>
              <a:rPr lang="zh-CN" altLang="en-US" dirty="0"/>
              <a:t>的性能，</a:t>
            </a:r>
            <a:r>
              <a:rPr lang="en-US" altLang="zh-CN" dirty="0"/>
              <a:t>VPT</a:t>
            </a:r>
            <a:r>
              <a:rPr lang="zh-CN" altLang="en-US" dirty="0"/>
              <a:t>在除了</a:t>
            </a:r>
            <a:r>
              <a:rPr lang="en-US" altLang="zh-CN" dirty="0" err="1"/>
              <a:t>TeCoA</a:t>
            </a:r>
            <a:r>
              <a:rPr lang="zh-CN" altLang="en-US" dirty="0"/>
              <a:t>以外的损失函数上都更有优势</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F7E79DF-809F-4178-A075-EB187E12ADE0}" type="slidenum">
              <a:rPr lang="zh-CN" altLang="en-US" smtClean="0"/>
              <a:t>8</a:t>
            </a:fld>
            <a:endParaRPr lang="zh-CN" altLang="en-US"/>
          </a:p>
        </p:txBody>
      </p:sp>
    </p:spTree>
    <p:extLst>
      <p:ext uri="{BB962C8B-B14F-4D97-AF65-F5344CB8AC3E}">
        <p14:creationId xmlns:p14="http://schemas.microsoft.com/office/powerpoint/2010/main" val="2075098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这里左边对比了不同的</a:t>
            </a:r>
            <a:r>
              <a:rPr lang="en-US" altLang="zh-CN" dirty="0"/>
              <a:t>visual prompt tuning</a:t>
            </a:r>
            <a:r>
              <a:rPr lang="zh-CN" altLang="en-US" dirty="0"/>
              <a:t>的方式，蓝色是在</a:t>
            </a:r>
            <a:r>
              <a:rPr lang="en-US" altLang="zh-CN" dirty="0"/>
              <a:t>image</a:t>
            </a:r>
            <a:r>
              <a:rPr lang="zh-CN" altLang="en-US" dirty="0"/>
              <a:t>上加</a:t>
            </a:r>
            <a:r>
              <a:rPr lang="en-US" altLang="zh-CN" dirty="0"/>
              <a:t>prompt</a:t>
            </a:r>
            <a:r>
              <a:rPr lang="zh-CN" altLang="en-US" dirty="0"/>
              <a:t>，橙色是在</a:t>
            </a:r>
            <a:r>
              <a:rPr lang="en-US" altLang="zh-CN" dirty="0"/>
              <a:t>embedding</a:t>
            </a:r>
            <a:r>
              <a:rPr lang="zh-CN" altLang="en-US" dirty="0"/>
              <a:t>层</a:t>
            </a:r>
            <a:r>
              <a:rPr lang="en-US" altLang="zh-CN" dirty="0"/>
              <a:t>token</a:t>
            </a:r>
            <a:r>
              <a:rPr lang="zh-CN" altLang="en-US" dirty="0"/>
              <a:t>后面加</a:t>
            </a:r>
            <a:r>
              <a:rPr lang="en-US" altLang="zh-CN" dirty="0"/>
              <a:t>prompt</a:t>
            </a:r>
            <a:r>
              <a:rPr lang="zh-CN" altLang="en-US" dirty="0"/>
              <a:t>，从结果来看在</a:t>
            </a:r>
            <a:r>
              <a:rPr lang="en-US" altLang="zh-CN" dirty="0"/>
              <a:t>token</a:t>
            </a:r>
            <a:r>
              <a:rPr lang="zh-CN" altLang="en-US" dirty="0"/>
              <a:t>层额外加</a:t>
            </a:r>
            <a:r>
              <a:rPr lang="en-US" altLang="zh-CN" dirty="0"/>
              <a:t>prompt</a:t>
            </a:r>
            <a:r>
              <a:rPr lang="zh-CN" altLang="en-US" dirty="0"/>
              <a:t>的效果更好</a:t>
            </a:r>
            <a:endParaRPr lang="en-US" altLang="zh-CN" dirty="0"/>
          </a:p>
          <a:p>
            <a:r>
              <a:rPr lang="zh-CN" altLang="en-US" dirty="0"/>
              <a:t>右边对比了部分微调和</a:t>
            </a:r>
            <a:r>
              <a:rPr lang="en-US" altLang="zh-CN" dirty="0" err="1"/>
              <a:t>vpt</a:t>
            </a:r>
            <a:r>
              <a:rPr lang="zh-CN" altLang="en-US" dirty="0"/>
              <a:t>的效果，这里部分微调是限制了微调的参数量，保证</a:t>
            </a:r>
            <a:r>
              <a:rPr lang="en-US" altLang="zh-CN" dirty="0"/>
              <a:t>FT</a:t>
            </a:r>
            <a:r>
              <a:rPr lang="zh-CN" altLang="en-US" dirty="0"/>
              <a:t>和</a:t>
            </a:r>
            <a:r>
              <a:rPr lang="en-US" altLang="zh-CN" dirty="0"/>
              <a:t>VP</a:t>
            </a:r>
            <a:r>
              <a:rPr lang="zh-CN" altLang="en-US" dirty="0"/>
              <a:t>能够训练的参数量一致，可以发现在打开同样参数量的前提下，</a:t>
            </a:r>
            <a:r>
              <a:rPr lang="en-US" altLang="zh-CN" dirty="0"/>
              <a:t>VP</a:t>
            </a:r>
            <a:r>
              <a:rPr lang="zh-CN" altLang="en-US" dirty="0"/>
              <a:t>的效果好于</a:t>
            </a:r>
            <a:r>
              <a:rPr lang="en-US" altLang="zh-CN" dirty="0"/>
              <a:t>FT</a:t>
            </a:r>
            <a:r>
              <a:rPr lang="zh-CN" altLang="en-US" dirty="0"/>
              <a:t>，说明</a:t>
            </a:r>
            <a:r>
              <a:rPr lang="en-US" altLang="zh-CN" dirty="0"/>
              <a:t>VP</a:t>
            </a:r>
            <a:r>
              <a:rPr lang="zh-CN" altLang="en-US" dirty="0"/>
              <a:t>总的来说是更高效的适配方式</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7F7E79DF-809F-4178-A075-EB187E12ADE0}" type="slidenum">
              <a:rPr lang="zh-CN" altLang="en-US" smtClean="0"/>
              <a:t>9</a:t>
            </a:fld>
            <a:endParaRPr lang="zh-CN" altLang="en-US"/>
          </a:p>
        </p:txBody>
      </p:sp>
    </p:spTree>
    <p:extLst>
      <p:ext uri="{BB962C8B-B14F-4D97-AF65-F5344CB8AC3E}">
        <p14:creationId xmlns:p14="http://schemas.microsoft.com/office/powerpoint/2010/main" val="3348106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之后作者考虑到无标签的数据，对于</a:t>
            </a:r>
            <a:r>
              <a:rPr lang="en-US" altLang="zh-CN" dirty="0" err="1"/>
              <a:t>TeCoA</a:t>
            </a:r>
            <a:r>
              <a:rPr lang="en-US" altLang="zh-CN" dirty="0"/>
              <a:t>, </a:t>
            </a:r>
            <a:r>
              <a:rPr lang="zh-CN" altLang="en-US" dirty="0"/>
              <a:t>作者又提出了对于无标签图片的训练方式，这里的做法是先用</a:t>
            </a:r>
            <a:r>
              <a:rPr lang="en-US" altLang="zh-CN" dirty="0"/>
              <a:t>CLIP</a:t>
            </a:r>
            <a:r>
              <a:rPr lang="zh-CN" altLang="en-US" dirty="0"/>
              <a:t>本身的图片</a:t>
            </a:r>
            <a:r>
              <a:rPr lang="en-US" altLang="zh-CN" dirty="0"/>
              <a:t>-</a:t>
            </a:r>
            <a:r>
              <a:rPr lang="zh-CN" altLang="en-US" dirty="0"/>
              <a:t>文本对齐能力，对所有可能的分类标签都去计算一个相似度，然后取相似度最高的标签作为伪标签训练，生成伪标签的方式和有标签的训练能够达到相当的性能，说明标签在本文提出的</a:t>
            </a:r>
            <a:r>
              <a:rPr lang="en-US" altLang="zh-CN" dirty="0" err="1"/>
              <a:t>TeCoA</a:t>
            </a:r>
            <a:r>
              <a:rPr lang="zh-CN" altLang="en-US" dirty="0"/>
              <a:t>框架中也不是必需的</a:t>
            </a:r>
          </a:p>
        </p:txBody>
      </p:sp>
      <p:sp>
        <p:nvSpPr>
          <p:cNvPr id="4" name="灯片编号占位符 3"/>
          <p:cNvSpPr>
            <a:spLocks noGrp="1"/>
          </p:cNvSpPr>
          <p:nvPr>
            <p:ph type="sldNum" sz="quarter" idx="5"/>
          </p:nvPr>
        </p:nvSpPr>
        <p:spPr/>
        <p:txBody>
          <a:bodyPr/>
          <a:lstStyle/>
          <a:p>
            <a:fld id="{7F7E79DF-809F-4178-A075-EB187E12ADE0}" type="slidenum">
              <a:rPr lang="zh-CN" altLang="en-US" smtClean="0"/>
              <a:t>10</a:t>
            </a:fld>
            <a:endParaRPr lang="zh-CN" altLang="en-US"/>
          </a:p>
        </p:txBody>
      </p:sp>
    </p:spTree>
    <p:extLst>
      <p:ext uri="{BB962C8B-B14F-4D97-AF65-F5344CB8AC3E}">
        <p14:creationId xmlns:p14="http://schemas.microsoft.com/office/powerpoint/2010/main" val="2808110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通过</a:t>
            </a:r>
            <a:r>
              <a:rPr lang="zh-CN" altLang="en-US" dirty="0"/>
              <a:t>权重插值的方式来缓解这种</a:t>
            </a:r>
            <a:r>
              <a:rPr lang="en-US" altLang="zh-CN" dirty="0"/>
              <a:t>trade-off</a:t>
            </a:r>
            <a:r>
              <a:rPr lang="zh-CN" altLang="en-US" dirty="0"/>
              <a:t>，经过插值发现在合理的插值点，可以使得模型的</a:t>
            </a:r>
            <a:r>
              <a:rPr lang="en-US" altLang="zh-CN" dirty="0"/>
              <a:t>robust accuracy</a:t>
            </a:r>
            <a:r>
              <a:rPr lang="zh-CN" altLang="en-US" dirty="0"/>
              <a:t>和</a:t>
            </a:r>
            <a:r>
              <a:rPr lang="en-US" altLang="zh-CN" dirty="0"/>
              <a:t>clean accuracy</a:t>
            </a:r>
            <a:r>
              <a:rPr lang="zh-CN" altLang="en-US" dirty="0"/>
              <a:t>都有一定程度的改善，在一定程度上缓解了这个</a:t>
            </a:r>
            <a:r>
              <a:rPr lang="en-US" altLang="zh-CN" dirty="0"/>
              <a:t>trade-off</a:t>
            </a:r>
            <a:r>
              <a:rPr lang="zh-CN" altLang="en-US" dirty="0"/>
              <a:t>的问题</a:t>
            </a:r>
          </a:p>
        </p:txBody>
      </p:sp>
      <p:sp>
        <p:nvSpPr>
          <p:cNvPr id="4" name="灯片编号占位符 3"/>
          <p:cNvSpPr>
            <a:spLocks noGrp="1"/>
          </p:cNvSpPr>
          <p:nvPr>
            <p:ph type="sldNum" sz="quarter" idx="5"/>
          </p:nvPr>
        </p:nvSpPr>
        <p:spPr/>
        <p:txBody>
          <a:bodyPr/>
          <a:lstStyle/>
          <a:p>
            <a:fld id="{7F7E79DF-809F-4178-A075-EB187E12ADE0}" type="slidenum">
              <a:rPr lang="zh-CN" altLang="en-US" smtClean="0"/>
              <a:t>11</a:t>
            </a:fld>
            <a:endParaRPr lang="zh-CN" altLang="en-US"/>
          </a:p>
        </p:txBody>
      </p:sp>
    </p:spTree>
    <p:extLst>
      <p:ext uri="{BB962C8B-B14F-4D97-AF65-F5344CB8AC3E}">
        <p14:creationId xmlns:p14="http://schemas.microsoft.com/office/powerpoint/2010/main" val="644628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7E79DF-809F-4178-A075-EB187E12ADE0}" type="slidenum">
              <a:rPr lang="zh-CN" altLang="en-US" smtClean="0"/>
              <a:t>12</a:t>
            </a:fld>
            <a:endParaRPr lang="zh-CN" altLang="en-US"/>
          </a:p>
        </p:txBody>
      </p:sp>
    </p:spTree>
    <p:extLst>
      <p:ext uri="{BB962C8B-B14F-4D97-AF65-F5344CB8AC3E}">
        <p14:creationId xmlns:p14="http://schemas.microsoft.com/office/powerpoint/2010/main" val="4152203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介绍背景，引出本文研究问题</a:t>
            </a:r>
          </a:p>
        </p:txBody>
      </p:sp>
      <p:sp>
        <p:nvSpPr>
          <p:cNvPr id="4" name="灯片编号占位符 3"/>
          <p:cNvSpPr>
            <a:spLocks noGrp="1"/>
          </p:cNvSpPr>
          <p:nvPr>
            <p:ph type="sldNum" sz="quarter" idx="5"/>
          </p:nvPr>
        </p:nvSpPr>
        <p:spPr/>
        <p:txBody>
          <a:bodyPr/>
          <a:lstStyle/>
          <a:p>
            <a:fld id="{7F7E79DF-809F-4178-A075-EB187E12ADE0}" type="slidenum">
              <a:rPr lang="zh-CN" altLang="en-US" smtClean="0"/>
              <a:t>14</a:t>
            </a:fld>
            <a:endParaRPr lang="zh-CN" altLang="en-US"/>
          </a:p>
        </p:txBody>
      </p:sp>
    </p:spTree>
    <p:extLst>
      <p:ext uri="{BB962C8B-B14F-4D97-AF65-F5344CB8AC3E}">
        <p14:creationId xmlns:p14="http://schemas.microsoft.com/office/powerpoint/2010/main" val="25703569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研究问题存在的困难，本研究的目标</a:t>
            </a:r>
          </a:p>
        </p:txBody>
      </p:sp>
      <p:sp>
        <p:nvSpPr>
          <p:cNvPr id="4" name="灯片编号占位符 3"/>
          <p:cNvSpPr>
            <a:spLocks noGrp="1"/>
          </p:cNvSpPr>
          <p:nvPr>
            <p:ph type="sldNum" sz="quarter" idx="5"/>
          </p:nvPr>
        </p:nvSpPr>
        <p:spPr/>
        <p:txBody>
          <a:bodyPr/>
          <a:lstStyle/>
          <a:p>
            <a:fld id="{7F7E79DF-809F-4178-A075-EB187E12ADE0}" type="slidenum">
              <a:rPr lang="zh-CN" altLang="en-US" smtClean="0"/>
              <a:t>15</a:t>
            </a:fld>
            <a:endParaRPr lang="zh-CN" altLang="en-US"/>
          </a:p>
        </p:txBody>
      </p:sp>
    </p:spTree>
    <p:extLst>
      <p:ext uri="{BB962C8B-B14F-4D97-AF65-F5344CB8AC3E}">
        <p14:creationId xmlns:p14="http://schemas.microsoft.com/office/powerpoint/2010/main" val="3687161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a:t>
            </a:r>
            <a:r>
              <a:rPr lang="en-US" altLang="zh-CN" dirty="0"/>
              <a:t>CLIP</a:t>
            </a:r>
            <a:r>
              <a:rPr lang="zh-CN" altLang="en-US" dirty="0"/>
              <a:t>为实验对象，观察到的实验现象，引出后面本文方法的必要性</a:t>
            </a:r>
          </a:p>
        </p:txBody>
      </p:sp>
      <p:sp>
        <p:nvSpPr>
          <p:cNvPr id="4" name="灯片编号占位符 3"/>
          <p:cNvSpPr>
            <a:spLocks noGrp="1"/>
          </p:cNvSpPr>
          <p:nvPr>
            <p:ph type="sldNum" sz="quarter" idx="5"/>
          </p:nvPr>
        </p:nvSpPr>
        <p:spPr/>
        <p:txBody>
          <a:bodyPr/>
          <a:lstStyle/>
          <a:p>
            <a:fld id="{7F7E79DF-809F-4178-A075-EB187E12ADE0}" type="slidenum">
              <a:rPr lang="zh-CN" altLang="en-US" smtClean="0"/>
              <a:t>16</a:t>
            </a:fld>
            <a:endParaRPr lang="zh-CN" altLang="en-US"/>
          </a:p>
        </p:txBody>
      </p:sp>
    </p:spTree>
    <p:extLst>
      <p:ext uri="{BB962C8B-B14F-4D97-AF65-F5344CB8AC3E}">
        <p14:creationId xmlns:p14="http://schemas.microsoft.com/office/powerpoint/2010/main" val="4049462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7E79DF-809F-4178-A075-EB187E12ADE0}" type="slidenum">
              <a:rPr lang="zh-CN" altLang="en-US" smtClean="0"/>
              <a:t>17</a:t>
            </a:fld>
            <a:endParaRPr lang="zh-CN" altLang="en-US"/>
          </a:p>
        </p:txBody>
      </p:sp>
    </p:spTree>
    <p:extLst>
      <p:ext uri="{BB962C8B-B14F-4D97-AF65-F5344CB8AC3E}">
        <p14:creationId xmlns:p14="http://schemas.microsoft.com/office/powerpoint/2010/main" val="2333822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本文的研究是开创性的 ，为</a:t>
            </a:r>
            <a:r>
              <a:rPr lang="zh-CN" altLang="en-US" dirty="0"/>
              <a:t>后面</a:t>
            </a:r>
            <a:r>
              <a:rPr lang="zh-CN" altLang="en-US"/>
              <a:t>的研究提出</a:t>
            </a:r>
            <a:r>
              <a:rPr lang="zh-CN" altLang="en-US" dirty="0"/>
              <a:t>了一个新的</a:t>
            </a:r>
            <a:r>
              <a:rPr lang="en-US" altLang="zh-CN" dirty="0"/>
              <a:t>benchmark</a:t>
            </a:r>
            <a:r>
              <a:rPr lang="zh-CN" altLang="en-US" dirty="0"/>
              <a:t>，</a:t>
            </a:r>
          </a:p>
        </p:txBody>
      </p:sp>
      <p:sp>
        <p:nvSpPr>
          <p:cNvPr id="4" name="灯片编号占位符 3"/>
          <p:cNvSpPr>
            <a:spLocks noGrp="1"/>
          </p:cNvSpPr>
          <p:nvPr>
            <p:ph type="sldNum" sz="quarter" idx="5"/>
          </p:nvPr>
        </p:nvSpPr>
        <p:spPr/>
        <p:txBody>
          <a:bodyPr/>
          <a:lstStyle/>
          <a:p>
            <a:fld id="{7F7E79DF-809F-4178-A075-EB187E12ADE0}" type="slidenum">
              <a:rPr lang="zh-CN" altLang="en-US" smtClean="0"/>
              <a:t>18</a:t>
            </a:fld>
            <a:endParaRPr lang="zh-CN" altLang="en-US"/>
          </a:p>
        </p:txBody>
      </p:sp>
    </p:spTree>
    <p:extLst>
      <p:ext uri="{BB962C8B-B14F-4D97-AF65-F5344CB8AC3E}">
        <p14:creationId xmlns:p14="http://schemas.microsoft.com/office/powerpoint/2010/main" val="1644283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A38089-28AE-C104-171C-D4817AD1E05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6DE51C2-04D0-F8DE-8832-D2DC7359F4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BCBCBF9-FF09-3DCE-5FD9-A649784FAB9C}"/>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7F531C83-DF22-B329-34C0-88A81C1377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FDAA457-DF06-BEAD-19CA-545015F04BF1}"/>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3523328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4765BF-BA2C-0B8C-361D-6FE6866D95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225ADDF-E547-B6E6-9E23-1523554DE9D0}"/>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7F224E2-21FF-FFAE-17E7-F72DF00829D4}"/>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6197792D-EC84-BD4F-A77D-DCD90998E9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AEB10F-A438-C828-317D-76EBB8480BD3}"/>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2215927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2C449B-4BE2-B3FC-C245-ED4A2D2A990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46912ED-4DF2-25E9-CB89-F57CE912C8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C51CCC6-B1E4-91CF-7967-A73AB2EE71B1}"/>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42352F9D-B5F4-1823-87D0-42E966FDAC0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9FD5DA-731D-2F71-726C-959A93277EA8}"/>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2492301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1D51EB-6AB7-3F59-8FB7-01DB93D7507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2E85DAE-D2DE-0C60-B2E3-29DEE0CA24B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49B3EE8-29CC-5CFC-347E-0AFD573954A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01ABAD4-A18B-C26B-8AA2-97B0F3E4E669}"/>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FC3B191E-40EE-262F-83C1-FD4A6470FC7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209EEE1-0CBE-57FA-564C-13A70AEAA5D1}"/>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16787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4DE76D-CBCC-1219-323E-DF2C4A973BA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D8DFF0E-2941-301D-07BE-45CD381F85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AC7C4F3-D743-FD92-E85E-F09CA2AF5E8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FC9F7E2-3E5A-5779-F1EA-CA6D53B0B6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1A185F8-0D7D-AB01-F201-0B74393C991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6C75253-8CF9-873D-C0BD-0E07E2EF40CE}"/>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8" name="页脚占位符 7">
            <a:extLst>
              <a:ext uri="{FF2B5EF4-FFF2-40B4-BE49-F238E27FC236}">
                <a16:creationId xmlns:a16="http://schemas.microsoft.com/office/drawing/2014/main" id="{E6217778-71B5-BDBF-3381-A3BBB72733D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8D1CA69-D226-0351-8007-B3DB5B5F875D}"/>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3546286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6C1D6F-814C-C627-9B95-E26FF4316C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25F3A8D-70F9-B32D-8407-10AE77FCEFC5}"/>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4" name="页脚占位符 3">
            <a:extLst>
              <a:ext uri="{FF2B5EF4-FFF2-40B4-BE49-F238E27FC236}">
                <a16:creationId xmlns:a16="http://schemas.microsoft.com/office/drawing/2014/main" id="{D4A9CD8A-8BB4-3817-0AAF-698864AB8E9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E596E1E-F616-80FE-1C2D-6CC5E52BF537}"/>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3344421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772DF1D-DE2D-9D81-44E4-B85D1ABAD596}"/>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3" name="页脚占位符 2">
            <a:extLst>
              <a:ext uri="{FF2B5EF4-FFF2-40B4-BE49-F238E27FC236}">
                <a16:creationId xmlns:a16="http://schemas.microsoft.com/office/drawing/2014/main" id="{8C26DFA3-3C4A-0D9D-B30F-632FD1CC939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A7541BD-23F4-5ADC-8463-B563E739B863}"/>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2406183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41425F-0021-7523-818D-9348DD686B7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4EC15A1-B26D-4F7F-4076-2DA82797E6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BE19555-6EAD-BB90-4877-831B1D7CA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0AB55B8-384E-F3CF-5436-1873171635A0}"/>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68F8F14B-BAD8-2ACB-DA2A-FC91609B467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EB485F-65D6-0296-6142-232308EBA901}"/>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308753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B1607-AC02-4C5E-401B-39DE63940B8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A1ED1E4-1827-5927-1808-9820A358AF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99332F5-01F6-D294-D580-F67E7B4ED3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3CF4100-364C-BFBC-A03B-EFA81338CFC4}"/>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6" name="页脚占位符 5">
            <a:extLst>
              <a:ext uri="{FF2B5EF4-FFF2-40B4-BE49-F238E27FC236}">
                <a16:creationId xmlns:a16="http://schemas.microsoft.com/office/drawing/2014/main" id="{92185C51-8164-6B71-16D5-8559A03DFAB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51F36A1-7420-DABC-177F-8B87885C25F1}"/>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3079152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502974-E1FB-74FC-6801-77770A1E96D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4C92CFF-EF03-90F0-41C3-92FCE5A0A5D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AB1A49-5EB8-3088-4BC0-F31157EF225A}"/>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46400302-430F-94A4-665D-C06D8211677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504697-2C0A-848B-6505-B77C2DCCD461}"/>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137444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BDFDC66-4734-38C8-36EB-FCE158B3A4C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6406153-310B-AA59-652A-6D7970FDBC1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410FD2-DB07-A978-452E-E0AEBCD1803E}"/>
              </a:ext>
            </a:extLst>
          </p:cNvPr>
          <p:cNvSpPr>
            <a:spLocks noGrp="1"/>
          </p:cNvSpPr>
          <p:nvPr>
            <p:ph type="dt" sz="half" idx="10"/>
          </p:nvPr>
        </p:nvSpPr>
        <p:spPr/>
        <p:txBody>
          <a:bodyPr/>
          <a:lstStyle/>
          <a:p>
            <a:fld id="{6ABF8254-D804-42A7-AF05-C99C15621567}"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EB151406-9A6F-B31D-67DA-663382AD84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5706A52-9F16-1D44-3BDE-48E10078FC16}"/>
              </a:ext>
            </a:extLst>
          </p:cNvPr>
          <p:cNvSpPr>
            <a:spLocks noGrp="1"/>
          </p:cNvSpPr>
          <p:nvPr>
            <p:ph type="sldNum" sz="quarter" idx="12"/>
          </p:nvPr>
        </p:nvSpPr>
        <p:spPr/>
        <p:txBody>
          <a:body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2939591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77B10F7-12E0-14B8-F2CB-53039D0D60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062051D-5F5B-FC26-0518-8D40AAC1B7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F4402C-2C12-889D-BF1C-B255E6BF45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BF8254-D804-42A7-AF05-C99C15621567}" type="datetimeFigureOut">
              <a:rPr lang="zh-CN" altLang="en-US" smtClean="0"/>
              <a:t>2024/4/7</a:t>
            </a:fld>
            <a:endParaRPr lang="zh-CN" altLang="en-US"/>
          </a:p>
        </p:txBody>
      </p:sp>
      <p:sp>
        <p:nvSpPr>
          <p:cNvPr id="5" name="页脚占位符 4">
            <a:extLst>
              <a:ext uri="{FF2B5EF4-FFF2-40B4-BE49-F238E27FC236}">
                <a16:creationId xmlns:a16="http://schemas.microsoft.com/office/drawing/2014/main" id="{E1E7DFAD-DFEA-DD8C-8FF8-8D30D1FFF3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DCB9178-B74B-0A22-94E0-86840DC818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B2B596-F721-46CC-9BBC-88B98B6BE76D}" type="slidenum">
              <a:rPr lang="zh-CN" altLang="en-US" smtClean="0"/>
              <a:t>‹#›</a:t>
            </a:fld>
            <a:endParaRPr lang="zh-CN" altLang="en-US"/>
          </a:p>
        </p:txBody>
      </p:sp>
    </p:spTree>
    <p:extLst>
      <p:ext uri="{BB962C8B-B14F-4D97-AF65-F5344CB8AC3E}">
        <p14:creationId xmlns:p14="http://schemas.microsoft.com/office/powerpoint/2010/main" val="2312567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0C818C-5E0C-4BAE-2DBD-04AB9324DB42}"/>
              </a:ext>
            </a:extLst>
          </p:cNvPr>
          <p:cNvSpPr>
            <a:spLocks noGrp="1"/>
          </p:cNvSpPr>
          <p:nvPr>
            <p:ph type="ctrTitle"/>
          </p:nvPr>
        </p:nvSpPr>
        <p:spPr>
          <a:xfrm>
            <a:off x="1524000" y="1404996"/>
            <a:ext cx="9144000" cy="2387600"/>
          </a:xfrm>
        </p:spPr>
        <p:txBody>
          <a:bodyPr>
            <a:noAutofit/>
          </a:bodyPr>
          <a:lstStyle/>
          <a:p>
            <a:r>
              <a:rPr lang="en-US" altLang="zh-CN" sz="4800" dirty="0"/>
              <a:t>Understanding Zero-Shot Adversarial Robustness for Large-Scale Models</a:t>
            </a:r>
            <a:endParaRPr lang="zh-CN" altLang="en-US" sz="4800" dirty="0"/>
          </a:p>
        </p:txBody>
      </p:sp>
      <p:sp>
        <p:nvSpPr>
          <p:cNvPr id="3" name="副标题 2">
            <a:extLst>
              <a:ext uri="{FF2B5EF4-FFF2-40B4-BE49-F238E27FC236}">
                <a16:creationId xmlns:a16="http://schemas.microsoft.com/office/drawing/2014/main" id="{D7F20571-0ED5-B0A1-C049-BA3DED14ACD4}"/>
              </a:ext>
            </a:extLst>
          </p:cNvPr>
          <p:cNvSpPr>
            <a:spLocks noGrp="1"/>
          </p:cNvSpPr>
          <p:nvPr>
            <p:ph type="subTitle" idx="1"/>
          </p:nvPr>
        </p:nvSpPr>
        <p:spPr>
          <a:xfrm>
            <a:off x="1524000" y="5031673"/>
            <a:ext cx="9144000" cy="1655762"/>
          </a:xfrm>
        </p:spPr>
        <p:txBody>
          <a:bodyPr>
            <a:normAutofit/>
          </a:bodyPr>
          <a:lstStyle/>
          <a:p>
            <a:pPr algn="l"/>
            <a:r>
              <a:rPr lang="en-US" altLang="zh-CN" sz="2000" dirty="0"/>
              <a:t>Chengzhi Mao</a:t>
            </a:r>
            <a:r>
              <a:rPr lang="en-US" altLang="zh-CN" sz="2000" baseline="30000" dirty="0"/>
              <a:t>1∗  </a:t>
            </a:r>
            <a:r>
              <a:rPr lang="en-US" altLang="zh-CN" sz="2000" dirty="0"/>
              <a:t>Scott Geng</a:t>
            </a:r>
            <a:r>
              <a:rPr lang="en-US" altLang="zh-CN" sz="2000" baseline="30000" dirty="0"/>
              <a:t>1∗   </a:t>
            </a:r>
            <a:r>
              <a:rPr lang="en-US" altLang="zh-CN" sz="2000" dirty="0" err="1"/>
              <a:t>Junfeng</a:t>
            </a:r>
            <a:r>
              <a:rPr lang="en-US" altLang="zh-CN" sz="2000" dirty="0"/>
              <a:t> Yang</a:t>
            </a:r>
            <a:r>
              <a:rPr lang="en-US" altLang="zh-CN" sz="2000" baseline="30000" dirty="0"/>
              <a:t>1</a:t>
            </a:r>
            <a:r>
              <a:rPr lang="en-US" altLang="zh-CN" sz="2000" dirty="0"/>
              <a:t>  Xin Wang</a:t>
            </a:r>
            <a:r>
              <a:rPr lang="en-US" altLang="zh-CN" sz="2000" baseline="30000" dirty="0"/>
              <a:t>2</a:t>
            </a:r>
            <a:r>
              <a:rPr lang="en-US" altLang="zh-CN" sz="2000" dirty="0"/>
              <a:t>  Carl Vondrick</a:t>
            </a:r>
            <a:r>
              <a:rPr lang="en-US" altLang="zh-CN" sz="2000" baseline="30000" dirty="0"/>
              <a:t>1</a:t>
            </a:r>
            <a:r>
              <a:rPr lang="en-US" altLang="zh-CN" sz="2000" dirty="0"/>
              <a:t> </a:t>
            </a:r>
          </a:p>
          <a:p>
            <a:pPr algn="l"/>
            <a:r>
              <a:rPr lang="en-US" altLang="zh-CN" sz="2000" dirty="0"/>
              <a:t>Columbia University</a:t>
            </a:r>
            <a:r>
              <a:rPr lang="en-US" altLang="zh-CN" sz="2000" baseline="30000" dirty="0"/>
              <a:t>1</a:t>
            </a:r>
            <a:r>
              <a:rPr lang="en-US" altLang="zh-CN" sz="2000" dirty="0"/>
              <a:t>, Microsoft Research</a:t>
            </a:r>
            <a:r>
              <a:rPr lang="en-US" altLang="zh-CN" sz="2000" baseline="30000" dirty="0"/>
              <a:t>2</a:t>
            </a:r>
            <a:endParaRPr lang="zh-CN" altLang="en-US" sz="2000" baseline="30000" dirty="0"/>
          </a:p>
        </p:txBody>
      </p:sp>
      <p:sp>
        <p:nvSpPr>
          <p:cNvPr id="4" name="文本框 3">
            <a:extLst>
              <a:ext uri="{FF2B5EF4-FFF2-40B4-BE49-F238E27FC236}">
                <a16:creationId xmlns:a16="http://schemas.microsoft.com/office/drawing/2014/main" id="{33137634-FAB6-6A8D-21EF-734581C0F654}"/>
              </a:ext>
            </a:extLst>
          </p:cNvPr>
          <p:cNvSpPr txBox="1"/>
          <p:nvPr/>
        </p:nvSpPr>
        <p:spPr>
          <a:xfrm>
            <a:off x="5344031" y="4181302"/>
            <a:ext cx="1503938" cy="461665"/>
          </a:xfrm>
          <a:prstGeom prst="rect">
            <a:avLst/>
          </a:prstGeom>
          <a:noFill/>
        </p:spPr>
        <p:txBody>
          <a:bodyPr wrap="none" rtlCol="0">
            <a:spAutoFit/>
          </a:bodyPr>
          <a:lstStyle/>
          <a:p>
            <a:r>
              <a:rPr lang="en-US" altLang="zh-CN" sz="2400" dirty="0"/>
              <a:t>ICLR 2023</a:t>
            </a:r>
            <a:endParaRPr lang="zh-CN" altLang="en-US" sz="2400" dirty="0"/>
          </a:p>
        </p:txBody>
      </p:sp>
    </p:spTree>
    <p:extLst>
      <p:ext uri="{BB962C8B-B14F-4D97-AF65-F5344CB8AC3E}">
        <p14:creationId xmlns:p14="http://schemas.microsoft.com/office/powerpoint/2010/main" val="2979220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7A24B-6260-0805-CB2C-6F8C3ECBD0AA}"/>
              </a:ext>
            </a:extLst>
          </p:cNvPr>
          <p:cNvSpPr>
            <a:spLocks noGrp="1"/>
          </p:cNvSpPr>
          <p:nvPr>
            <p:ph type="title"/>
          </p:nvPr>
        </p:nvSpPr>
        <p:spPr/>
        <p:txBody>
          <a:bodyPr/>
          <a:lstStyle/>
          <a:p>
            <a:r>
              <a:rPr lang="en-US" altLang="zh-CN" dirty="0"/>
              <a:t>Problem Setup</a:t>
            </a:r>
            <a:endParaRPr lang="zh-CN" altLang="en-US" dirty="0"/>
          </a:p>
        </p:txBody>
      </p:sp>
      <p:sp>
        <p:nvSpPr>
          <p:cNvPr id="3" name="内容占位符 2">
            <a:extLst>
              <a:ext uri="{FF2B5EF4-FFF2-40B4-BE49-F238E27FC236}">
                <a16:creationId xmlns:a16="http://schemas.microsoft.com/office/drawing/2014/main" id="{C3E05398-2B52-BDF4-411F-EB7BF3FEBA0F}"/>
              </a:ext>
            </a:extLst>
          </p:cNvPr>
          <p:cNvSpPr>
            <a:spLocks noGrp="1"/>
          </p:cNvSpPr>
          <p:nvPr>
            <p:ph idx="1"/>
          </p:nvPr>
        </p:nvSpPr>
        <p:spPr>
          <a:xfrm>
            <a:off x="838200" y="1690688"/>
            <a:ext cx="10515600" cy="4802187"/>
          </a:xfrm>
        </p:spPr>
        <p:txBody>
          <a:bodyPr>
            <a:normAutofit fontScale="92500" lnSpcReduction="10000"/>
          </a:bodyPr>
          <a:lstStyle/>
          <a:p>
            <a:r>
              <a:rPr lang="en-US" altLang="zh-CN" i="1" dirty="0"/>
              <a:t>Can we achieve zero-shot transferability for adversarial robustness, even if the model has never been trained on the unknown tasks?</a:t>
            </a:r>
          </a:p>
          <a:p>
            <a:endParaRPr lang="en-US" altLang="zh-CN" dirty="0"/>
          </a:p>
          <a:p>
            <a:r>
              <a:rPr lang="en-US" altLang="zh-CN" dirty="0"/>
              <a:t>Adaptation</a:t>
            </a:r>
          </a:p>
          <a:p>
            <a:r>
              <a:rPr lang="en-US" altLang="zh-CN" dirty="0"/>
              <a:t>Zero-shot</a:t>
            </a:r>
          </a:p>
          <a:p>
            <a:r>
              <a:rPr lang="en-US" altLang="zh-CN" dirty="0"/>
              <a:t>Adversarial Robustness</a:t>
            </a:r>
          </a:p>
          <a:p>
            <a:endParaRPr lang="en-US" altLang="zh-CN" dirty="0"/>
          </a:p>
          <a:p>
            <a:endParaRPr lang="en-US" altLang="zh-CN" dirty="0"/>
          </a:p>
          <a:p>
            <a:r>
              <a:rPr lang="en-US" altLang="zh-CN" dirty="0"/>
              <a:t>two key factors: </a:t>
            </a:r>
          </a:p>
          <a:p>
            <a:pPr lvl="1"/>
            <a:r>
              <a:rPr lang="en-US" altLang="zh-CN" sz="2800" dirty="0"/>
              <a:t>Adaptation Method </a:t>
            </a:r>
          </a:p>
          <a:p>
            <a:pPr lvl="1"/>
            <a:r>
              <a:rPr lang="en-US" altLang="zh-CN" sz="2800" dirty="0"/>
              <a:t>Training Objectives</a:t>
            </a:r>
            <a:endParaRPr lang="zh-CN" altLang="en-US" sz="2800" dirty="0"/>
          </a:p>
        </p:txBody>
      </p:sp>
      <p:pic>
        <p:nvPicPr>
          <p:cNvPr id="5" name="图片 4">
            <a:extLst>
              <a:ext uri="{FF2B5EF4-FFF2-40B4-BE49-F238E27FC236}">
                <a16:creationId xmlns:a16="http://schemas.microsoft.com/office/drawing/2014/main" id="{DDE6DF18-BE69-D996-A0D7-47C9791DB2F1}"/>
              </a:ext>
            </a:extLst>
          </p:cNvPr>
          <p:cNvPicPr>
            <a:picLocks noChangeAspect="1"/>
          </p:cNvPicPr>
          <p:nvPr/>
        </p:nvPicPr>
        <p:blipFill>
          <a:blip r:embed="rId3"/>
          <a:stretch>
            <a:fillRect/>
          </a:stretch>
        </p:blipFill>
        <p:spPr>
          <a:xfrm>
            <a:off x="1036983" y="2366818"/>
            <a:ext cx="9449286" cy="2800494"/>
          </a:xfrm>
          <a:prstGeom prst="rect">
            <a:avLst/>
          </a:prstGeom>
        </p:spPr>
      </p:pic>
    </p:spTree>
    <p:extLst>
      <p:ext uri="{BB962C8B-B14F-4D97-AF65-F5344CB8AC3E}">
        <p14:creationId xmlns:p14="http://schemas.microsoft.com/office/powerpoint/2010/main" val="387242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7C503E-C500-D0E9-ACEB-5C69FFFECBBE}"/>
              </a:ext>
            </a:extLst>
          </p:cNvPr>
          <p:cNvSpPr>
            <a:spLocks noGrp="1"/>
          </p:cNvSpPr>
          <p:nvPr>
            <p:ph type="title"/>
          </p:nvPr>
        </p:nvSpPr>
        <p:spPr/>
        <p:txBody>
          <a:bodyPr/>
          <a:lstStyle/>
          <a:p>
            <a:r>
              <a:rPr lang="en-US" altLang="zh-CN" dirty="0"/>
              <a:t>Adaptation Method</a:t>
            </a:r>
            <a:endParaRPr lang="zh-CN" altLang="en-US" dirty="0"/>
          </a:p>
        </p:txBody>
      </p:sp>
      <p:sp>
        <p:nvSpPr>
          <p:cNvPr id="3" name="内容占位符 2">
            <a:extLst>
              <a:ext uri="{FF2B5EF4-FFF2-40B4-BE49-F238E27FC236}">
                <a16:creationId xmlns:a16="http://schemas.microsoft.com/office/drawing/2014/main" id="{AD5C14DD-583F-3B72-44E2-3199EAED48CF}"/>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DB6E7BD1-C652-6C05-060E-66B22EB6220B}"/>
              </a:ext>
            </a:extLst>
          </p:cNvPr>
          <p:cNvPicPr>
            <a:picLocks noChangeAspect="1"/>
          </p:cNvPicPr>
          <p:nvPr/>
        </p:nvPicPr>
        <p:blipFill>
          <a:blip r:embed="rId3"/>
          <a:stretch>
            <a:fillRect/>
          </a:stretch>
        </p:blipFill>
        <p:spPr>
          <a:xfrm>
            <a:off x="838200" y="1434922"/>
            <a:ext cx="10043444" cy="4742041"/>
          </a:xfrm>
          <a:prstGeom prst="rect">
            <a:avLst/>
          </a:prstGeom>
        </p:spPr>
      </p:pic>
      <p:sp>
        <p:nvSpPr>
          <p:cNvPr id="6" name="文本框 5">
            <a:extLst>
              <a:ext uri="{FF2B5EF4-FFF2-40B4-BE49-F238E27FC236}">
                <a16:creationId xmlns:a16="http://schemas.microsoft.com/office/drawing/2014/main" id="{61721028-10E1-3D20-F74A-BE87C1A4CCD7}"/>
              </a:ext>
            </a:extLst>
          </p:cNvPr>
          <p:cNvSpPr txBox="1"/>
          <p:nvPr/>
        </p:nvSpPr>
        <p:spPr>
          <a:xfrm>
            <a:off x="4098174" y="5993758"/>
            <a:ext cx="453970" cy="400110"/>
          </a:xfrm>
          <a:prstGeom prst="rect">
            <a:avLst/>
          </a:prstGeom>
          <a:noFill/>
        </p:spPr>
        <p:txBody>
          <a:bodyPr wrap="none" rtlCol="0">
            <a:spAutoFit/>
          </a:bodyPr>
          <a:lstStyle/>
          <a:p>
            <a:r>
              <a:rPr lang="en-US" altLang="zh-CN" sz="2000" b="1" dirty="0"/>
              <a:t>FT</a:t>
            </a:r>
            <a:endParaRPr lang="zh-CN" altLang="en-US" sz="2000" b="1" dirty="0"/>
          </a:p>
        </p:txBody>
      </p:sp>
      <p:sp>
        <p:nvSpPr>
          <p:cNvPr id="7" name="文本框 6">
            <a:extLst>
              <a:ext uri="{FF2B5EF4-FFF2-40B4-BE49-F238E27FC236}">
                <a16:creationId xmlns:a16="http://schemas.microsoft.com/office/drawing/2014/main" id="{A19B3608-B086-C4CD-396F-5DD551D5023F}"/>
              </a:ext>
            </a:extLst>
          </p:cNvPr>
          <p:cNvSpPr txBox="1"/>
          <p:nvPr/>
        </p:nvSpPr>
        <p:spPr>
          <a:xfrm>
            <a:off x="7265323" y="5992297"/>
            <a:ext cx="593432" cy="369332"/>
          </a:xfrm>
          <a:prstGeom prst="rect">
            <a:avLst/>
          </a:prstGeom>
          <a:noFill/>
        </p:spPr>
        <p:txBody>
          <a:bodyPr wrap="none" rtlCol="0">
            <a:spAutoFit/>
          </a:bodyPr>
          <a:lstStyle/>
          <a:p>
            <a:r>
              <a:rPr lang="en-US" altLang="zh-CN" b="1" dirty="0"/>
              <a:t>VPT</a:t>
            </a:r>
            <a:endParaRPr lang="zh-CN" altLang="en-US" b="1" dirty="0"/>
          </a:p>
        </p:txBody>
      </p:sp>
      <p:sp>
        <p:nvSpPr>
          <p:cNvPr id="9" name="左大括号 8">
            <a:extLst>
              <a:ext uri="{FF2B5EF4-FFF2-40B4-BE49-F238E27FC236}">
                <a16:creationId xmlns:a16="http://schemas.microsoft.com/office/drawing/2014/main" id="{8B43A2E8-D1AE-0C06-199E-DD2DE5960FAB}"/>
              </a:ext>
            </a:extLst>
          </p:cNvPr>
          <p:cNvSpPr/>
          <p:nvPr/>
        </p:nvSpPr>
        <p:spPr>
          <a:xfrm rot="16200000">
            <a:off x="7451110" y="4736738"/>
            <a:ext cx="221858" cy="2204363"/>
          </a:xfrm>
          <a:prstGeom prst="leftBrace">
            <a:avLst>
              <a:gd name="adj1" fmla="val 27614"/>
              <a:gd name="adj2" fmla="val 50000"/>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2">
                  <a:lumMod val="75000"/>
                </a:schemeClr>
              </a:solidFill>
            </a:endParaRPr>
          </a:p>
        </p:txBody>
      </p:sp>
      <p:sp>
        <p:nvSpPr>
          <p:cNvPr id="11" name="左大括号 10">
            <a:extLst>
              <a:ext uri="{FF2B5EF4-FFF2-40B4-BE49-F238E27FC236}">
                <a16:creationId xmlns:a16="http://schemas.microsoft.com/office/drawing/2014/main" id="{8B43A2E8-D1AE-0C06-199E-DD2DE5960FAB}"/>
              </a:ext>
            </a:extLst>
          </p:cNvPr>
          <p:cNvSpPr/>
          <p:nvPr/>
        </p:nvSpPr>
        <p:spPr>
          <a:xfrm rot="16200000">
            <a:off x="4214230" y="4739389"/>
            <a:ext cx="221858" cy="2204363"/>
          </a:xfrm>
          <a:prstGeom prst="leftBrace">
            <a:avLst>
              <a:gd name="adj1" fmla="val 27614"/>
              <a:gd name="adj2" fmla="val 50000"/>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2">
                  <a:lumMod val="75000"/>
                </a:schemeClr>
              </a:solidFill>
            </a:endParaRPr>
          </a:p>
        </p:txBody>
      </p:sp>
    </p:spTree>
    <p:extLst>
      <p:ext uri="{BB962C8B-B14F-4D97-AF65-F5344CB8AC3E}">
        <p14:creationId xmlns:p14="http://schemas.microsoft.com/office/powerpoint/2010/main" val="2556423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2F4F9D-7B34-FD80-DB7C-3A6BD6165450}"/>
              </a:ext>
            </a:extLst>
          </p:cNvPr>
          <p:cNvSpPr>
            <a:spLocks noGrp="1"/>
          </p:cNvSpPr>
          <p:nvPr>
            <p:ph type="title"/>
          </p:nvPr>
        </p:nvSpPr>
        <p:spPr/>
        <p:txBody>
          <a:bodyPr/>
          <a:lstStyle/>
          <a:p>
            <a:r>
              <a:rPr lang="en-US" altLang="zh-CN" dirty="0"/>
              <a:t>Training Objective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2A7EA39-40F1-FA02-8592-6B3C7F2283A3}"/>
                  </a:ext>
                </a:extLst>
              </p:cNvPr>
              <p:cNvSpPr>
                <a:spLocks noGrp="1"/>
              </p:cNvSpPr>
              <p:nvPr>
                <p:ph idx="1"/>
              </p:nvPr>
            </p:nvSpPr>
            <p:spPr/>
            <p:txBody>
              <a:bodyPr>
                <a:normAutofit lnSpcReduction="10000"/>
              </a:bodyPr>
              <a:lstStyle/>
              <a:p>
                <a:r>
                  <a:rPr lang="en-US" altLang="zh-CN" dirty="0"/>
                  <a:t>Standard Adversarial Training</a:t>
                </a:r>
              </a:p>
              <a:p>
                <a:endParaRPr lang="en-US" altLang="zh-CN" dirty="0"/>
              </a:p>
              <a:p>
                <a:endParaRPr lang="en-US" altLang="zh-CN" dirty="0"/>
              </a:p>
              <a:p>
                <a:endParaRPr lang="en-US" altLang="zh-CN" dirty="0"/>
              </a:p>
              <a:p>
                <a:pPr marL="0" indent="0">
                  <a:buNone/>
                </a:pPr>
                <a:endParaRPr lang="en-US" altLang="zh-CN" dirty="0"/>
              </a:p>
              <a:p>
                <a:endParaRPr lang="en-US" altLang="zh-CN" dirty="0"/>
              </a:p>
              <a:p>
                <a:r>
                  <a:rPr lang="en-US" altLang="zh-CN" dirty="0"/>
                  <a:t>AT on CLIP</a:t>
                </a:r>
              </a:p>
              <a:p>
                <a:pPr lvl="1"/>
                <a:r>
                  <a:rPr lang="en-US" altLang="zh-CN" dirty="0"/>
                  <a:t>linear classification head </a:t>
                </a:r>
                <a14:m>
                  <m:oMath xmlns:m="http://schemas.openxmlformats.org/officeDocument/2006/math">
                    <m:sSub>
                      <m:sSubPr>
                        <m:ctrlPr>
                          <a:rPr lang="en-US" altLang="zh-CN" b="0" i="1" dirty="0" smtClean="0">
                            <a:latin typeface="Cambria Math" panose="02040503050406030204" pitchFamily="18" charset="0"/>
                          </a:rPr>
                        </m:ctrlPr>
                      </m:sSubPr>
                      <m:e>
                        <m:r>
                          <a:rPr lang="es-ES" altLang="zh-CN" i="1" dirty="0" smtClean="0">
                            <a:latin typeface="Cambria Math" panose="02040503050406030204" pitchFamily="18" charset="0"/>
                          </a:rPr>
                          <m:t>𝐶</m:t>
                        </m:r>
                      </m:e>
                      <m:sub>
                        <m:r>
                          <a:rPr lang="en-US" altLang="zh-CN" b="0" i="1" dirty="0" smtClean="0">
                            <a:latin typeface="Cambria Math" panose="02040503050406030204" pitchFamily="18" charset="0"/>
                          </a:rPr>
                          <m:t>𝜙</m:t>
                        </m:r>
                      </m:sub>
                    </m:sSub>
                  </m:oMath>
                </a14:m>
                <a:endParaRPr lang="en-US" altLang="zh-CN" dirty="0"/>
              </a:p>
              <a:p>
                <a:pPr lvl="1"/>
                <a14:m>
                  <m:oMath xmlns:m="http://schemas.openxmlformats.org/officeDocument/2006/math">
                    <m:r>
                      <a:rPr lang="es-ES" altLang="zh-CN" i="1" dirty="0" smtClean="0">
                        <a:latin typeface="Cambria Math" panose="02040503050406030204" pitchFamily="18" charset="0"/>
                      </a:rPr>
                      <m:t>𝐿</m:t>
                    </m:r>
                    <m:r>
                      <a:rPr lang="es-E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s-ES" altLang="zh-CN" i="1" dirty="0" smtClean="0">
                            <a:latin typeface="Cambria Math" panose="02040503050406030204" pitchFamily="18" charset="0"/>
                          </a:rPr>
                          <m:t>𝐶</m:t>
                        </m:r>
                      </m:e>
                      <m:sub>
                        <m:r>
                          <a:rPr lang="en-US" altLang="zh-CN" b="0" i="1" dirty="0" smtClean="0">
                            <a:latin typeface="Cambria Math" panose="02040503050406030204" pitchFamily="18" charset="0"/>
                          </a:rPr>
                          <m:t>𝜙</m:t>
                        </m:r>
                      </m:sub>
                    </m:sSub>
                    <m:r>
                      <a:rPr lang="es-E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s-ES" altLang="zh-CN" i="1" dirty="0" smtClean="0">
                            <a:latin typeface="Cambria Math" panose="02040503050406030204" pitchFamily="18" charset="0"/>
                          </a:rPr>
                          <m:t>𝐹</m:t>
                        </m:r>
                      </m:e>
                      <m:sub>
                        <m:r>
                          <a:rPr lang="es-ES" altLang="zh-CN" i="1" dirty="0" smtClean="0">
                            <a:latin typeface="Cambria Math" panose="02040503050406030204" pitchFamily="18" charset="0"/>
                          </a:rPr>
                          <m:t>𝜃</m:t>
                        </m:r>
                      </m:sub>
                    </m:sSub>
                    <m:r>
                      <a:rPr lang="es-ES" altLang="zh-CN"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s-ES" altLang="zh-CN" b="1" i="1" dirty="0" smtClean="0">
                            <a:latin typeface="Cambria Math" panose="02040503050406030204" pitchFamily="18" charset="0"/>
                          </a:rPr>
                          <m:t>𝒙</m:t>
                        </m:r>
                      </m:e>
                      <m:sub>
                        <m:r>
                          <a:rPr lang="es-ES" altLang="zh-CN" b="1" i="1" dirty="0" smtClean="0">
                            <a:latin typeface="Cambria Math" panose="02040503050406030204" pitchFamily="18" charset="0"/>
                          </a:rPr>
                          <m:t>𝒂</m:t>
                        </m:r>
                      </m:sub>
                    </m:sSub>
                    <m:r>
                      <a:rPr lang="es-ES" altLang="zh-CN" i="1" dirty="0" smtClean="0">
                        <a:latin typeface="Cambria Math" panose="02040503050406030204" pitchFamily="18" charset="0"/>
                      </a:rPr>
                      <m:t>)), </m:t>
                    </m:r>
                    <m:r>
                      <a:rPr lang="es-ES" altLang="zh-CN" i="1" dirty="0" smtClean="0">
                        <a:latin typeface="Cambria Math" panose="02040503050406030204" pitchFamily="18" charset="0"/>
                      </a:rPr>
                      <m:t>𝑦</m:t>
                    </m:r>
                    <m:r>
                      <a:rPr lang="es-ES" altLang="zh-CN" i="1" dirty="0" smtClean="0">
                        <a:latin typeface="Cambria Math" panose="02040503050406030204" pitchFamily="18" charset="0"/>
                      </a:rPr>
                      <m:t>)</m:t>
                    </m:r>
                  </m:oMath>
                </a14:m>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42A7EA39-40F1-FA02-8592-6B3C7F2283A3}"/>
                  </a:ext>
                </a:extLst>
              </p:cNvPr>
              <p:cNvSpPr>
                <a:spLocks noGrp="1" noRot="1" noChangeAspect="1" noMove="1" noResize="1" noEditPoints="1" noAdjustHandles="1" noChangeArrowheads="1" noChangeShapeType="1" noTextEdit="1"/>
              </p:cNvSpPr>
              <p:nvPr>
                <p:ph idx="1"/>
              </p:nvPr>
            </p:nvSpPr>
            <p:spPr>
              <a:blipFill>
                <a:blip r:embed="rId3"/>
                <a:stretch>
                  <a:fillRect l="-1043" t="-3221"/>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B04B9562-969E-91CD-E8A3-D9415BBB1A1A}"/>
              </a:ext>
            </a:extLst>
          </p:cNvPr>
          <p:cNvPicPr>
            <a:picLocks noChangeAspect="1"/>
          </p:cNvPicPr>
          <p:nvPr/>
        </p:nvPicPr>
        <p:blipFill>
          <a:blip r:embed="rId4"/>
          <a:stretch>
            <a:fillRect/>
          </a:stretch>
        </p:blipFill>
        <p:spPr>
          <a:xfrm>
            <a:off x="3434382" y="2731755"/>
            <a:ext cx="4865224" cy="697245"/>
          </a:xfrm>
          <a:prstGeom prst="rect">
            <a:avLst/>
          </a:prstGeom>
        </p:spPr>
      </p:pic>
      <p:pic>
        <p:nvPicPr>
          <p:cNvPr id="7" name="图片 6">
            <a:extLst>
              <a:ext uri="{FF2B5EF4-FFF2-40B4-BE49-F238E27FC236}">
                <a16:creationId xmlns:a16="http://schemas.microsoft.com/office/drawing/2014/main" id="{EC051DDC-A716-2A2C-476C-BA71D30D6FC5}"/>
              </a:ext>
            </a:extLst>
          </p:cNvPr>
          <p:cNvPicPr>
            <a:picLocks noChangeAspect="1"/>
          </p:cNvPicPr>
          <p:nvPr/>
        </p:nvPicPr>
        <p:blipFill>
          <a:blip r:embed="rId5"/>
          <a:stretch>
            <a:fillRect/>
          </a:stretch>
        </p:blipFill>
        <p:spPr>
          <a:xfrm>
            <a:off x="4501915" y="3665914"/>
            <a:ext cx="2730158" cy="720359"/>
          </a:xfrm>
          <a:prstGeom prst="rect">
            <a:avLst/>
          </a:prstGeom>
        </p:spPr>
      </p:pic>
    </p:spTree>
    <p:extLst>
      <p:ext uri="{BB962C8B-B14F-4D97-AF65-F5344CB8AC3E}">
        <p14:creationId xmlns:p14="http://schemas.microsoft.com/office/powerpoint/2010/main" val="4184699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A0B23C-71AF-1285-A46C-533932A1A1B9}"/>
              </a:ext>
            </a:extLst>
          </p:cNvPr>
          <p:cNvSpPr>
            <a:spLocks noGrp="1"/>
          </p:cNvSpPr>
          <p:nvPr>
            <p:ph type="title"/>
          </p:nvPr>
        </p:nvSpPr>
        <p:spPr/>
        <p:txBody>
          <a:bodyPr/>
          <a:lstStyle/>
          <a:p>
            <a:r>
              <a:rPr lang="en-US" altLang="zh-CN" dirty="0"/>
              <a:t>Training Objective</a:t>
            </a:r>
            <a:endParaRPr lang="zh-CN" altLang="en-US" dirty="0"/>
          </a:p>
        </p:txBody>
      </p:sp>
      <p:sp>
        <p:nvSpPr>
          <p:cNvPr id="3" name="内容占位符 2">
            <a:extLst>
              <a:ext uri="{FF2B5EF4-FFF2-40B4-BE49-F238E27FC236}">
                <a16:creationId xmlns:a16="http://schemas.microsoft.com/office/drawing/2014/main" id="{C30A2E07-5165-6964-A679-67BE00EDB1A8}"/>
              </a:ext>
            </a:extLst>
          </p:cNvPr>
          <p:cNvSpPr>
            <a:spLocks noGrp="1"/>
          </p:cNvSpPr>
          <p:nvPr>
            <p:ph idx="1"/>
          </p:nvPr>
        </p:nvSpPr>
        <p:spPr>
          <a:xfrm>
            <a:off x="838200" y="1690688"/>
            <a:ext cx="10515600" cy="4351338"/>
          </a:xfrm>
        </p:spPr>
        <p:txBody>
          <a:bodyPr/>
          <a:lstStyle/>
          <a:p>
            <a:r>
              <a:rPr lang="en-US" altLang="zh-CN" dirty="0"/>
              <a:t>Text-guided Contrastive Adversarial Training (</a:t>
            </a:r>
            <a:r>
              <a:rPr lang="en-US" altLang="zh-CN" dirty="0" err="1"/>
              <a:t>TeCoA</a:t>
            </a:r>
            <a:r>
              <a:rPr lang="en-US" altLang="zh-CN" dirty="0"/>
              <a:t>)</a:t>
            </a:r>
            <a:endParaRPr lang="zh-CN" altLang="en-US" dirty="0"/>
          </a:p>
        </p:txBody>
      </p:sp>
      <p:pic>
        <p:nvPicPr>
          <p:cNvPr id="5" name="图片 4">
            <a:extLst>
              <a:ext uri="{FF2B5EF4-FFF2-40B4-BE49-F238E27FC236}">
                <a16:creationId xmlns:a16="http://schemas.microsoft.com/office/drawing/2014/main" id="{21EA2F11-C814-BB0A-E828-9275F6FC0070}"/>
              </a:ext>
            </a:extLst>
          </p:cNvPr>
          <p:cNvPicPr>
            <a:picLocks noChangeAspect="1"/>
          </p:cNvPicPr>
          <p:nvPr/>
        </p:nvPicPr>
        <p:blipFill>
          <a:blip r:embed="rId3"/>
          <a:stretch>
            <a:fillRect/>
          </a:stretch>
        </p:blipFill>
        <p:spPr>
          <a:xfrm>
            <a:off x="838200" y="2434314"/>
            <a:ext cx="9435810" cy="2254064"/>
          </a:xfrm>
          <a:prstGeom prst="rect">
            <a:avLst/>
          </a:prstGeom>
        </p:spPr>
      </p:pic>
      <p:pic>
        <p:nvPicPr>
          <p:cNvPr id="14" name="图片 13">
            <a:extLst>
              <a:ext uri="{FF2B5EF4-FFF2-40B4-BE49-F238E27FC236}">
                <a16:creationId xmlns:a16="http://schemas.microsoft.com/office/drawing/2014/main" id="{2B1091E2-E66F-089A-F835-52EF86283CBF}"/>
              </a:ext>
            </a:extLst>
          </p:cNvPr>
          <p:cNvPicPr>
            <a:picLocks noChangeAspect="1"/>
          </p:cNvPicPr>
          <p:nvPr/>
        </p:nvPicPr>
        <p:blipFill>
          <a:blip r:embed="rId4"/>
          <a:stretch>
            <a:fillRect/>
          </a:stretch>
        </p:blipFill>
        <p:spPr>
          <a:xfrm>
            <a:off x="2295326" y="4823401"/>
            <a:ext cx="7753748" cy="1962251"/>
          </a:xfrm>
          <a:prstGeom prst="rect">
            <a:avLst/>
          </a:prstGeom>
        </p:spPr>
      </p:pic>
    </p:spTree>
    <p:extLst>
      <p:ext uri="{BB962C8B-B14F-4D97-AF65-F5344CB8AC3E}">
        <p14:creationId xmlns:p14="http://schemas.microsoft.com/office/powerpoint/2010/main" val="1524588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C8BFEB-83C6-8AF5-8210-9AF381D57E14}"/>
              </a:ext>
            </a:extLst>
          </p:cNvPr>
          <p:cNvSpPr>
            <a:spLocks noGrp="1"/>
          </p:cNvSpPr>
          <p:nvPr>
            <p:ph type="title"/>
          </p:nvPr>
        </p:nvSpPr>
        <p:spPr/>
        <p:txBody>
          <a:bodyPr/>
          <a:lstStyle/>
          <a:p>
            <a:r>
              <a:rPr lang="en-US" altLang="zh-CN" dirty="0"/>
              <a:t>Training Objective</a:t>
            </a:r>
            <a:endParaRPr lang="zh-CN" altLang="en-US" dirty="0"/>
          </a:p>
        </p:txBody>
      </p:sp>
      <p:sp>
        <p:nvSpPr>
          <p:cNvPr id="3" name="内容占位符 2">
            <a:extLst>
              <a:ext uri="{FF2B5EF4-FFF2-40B4-BE49-F238E27FC236}">
                <a16:creationId xmlns:a16="http://schemas.microsoft.com/office/drawing/2014/main" id="{50F2BCC4-3A34-9C74-8150-752226D798BE}"/>
              </a:ext>
            </a:extLst>
          </p:cNvPr>
          <p:cNvSpPr>
            <a:spLocks noGrp="1"/>
          </p:cNvSpPr>
          <p:nvPr>
            <p:ph idx="1"/>
          </p:nvPr>
        </p:nvSpPr>
        <p:spPr>
          <a:xfrm>
            <a:off x="838200" y="1690688"/>
            <a:ext cx="10515600" cy="4486275"/>
          </a:xfrm>
        </p:spPr>
        <p:txBody>
          <a:bodyPr/>
          <a:lstStyle/>
          <a:p>
            <a:r>
              <a:rPr lang="en-US" altLang="zh-CN" dirty="0"/>
              <a:t>Contrastive Adversarial Training Loss (</a:t>
            </a:r>
            <a:r>
              <a:rPr lang="en-US" altLang="zh-CN" dirty="0" err="1"/>
              <a:t>CoAdv</a:t>
            </a:r>
            <a:r>
              <a:rPr lang="en-US" altLang="zh-CN" dirty="0"/>
              <a:t>.)</a:t>
            </a:r>
            <a:endParaRPr lang="zh-CN" altLang="en-US" dirty="0"/>
          </a:p>
        </p:txBody>
      </p:sp>
      <p:pic>
        <p:nvPicPr>
          <p:cNvPr id="4" name="图片 3">
            <a:extLst>
              <a:ext uri="{FF2B5EF4-FFF2-40B4-BE49-F238E27FC236}">
                <a16:creationId xmlns:a16="http://schemas.microsoft.com/office/drawing/2014/main" id="{A454ACFD-0565-7DEC-F116-AAA677CF986E}"/>
              </a:ext>
            </a:extLst>
          </p:cNvPr>
          <p:cNvPicPr>
            <a:picLocks noChangeAspect="1"/>
          </p:cNvPicPr>
          <p:nvPr/>
        </p:nvPicPr>
        <p:blipFill rotWithShape="1">
          <a:blip r:embed="rId3"/>
          <a:srcRect r="35892"/>
          <a:stretch/>
        </p:blipFill>
        <p:spPr>
          <a:xfrm>
            <a:off x="838200" y="2284684"/>
            <a:ext cx="6584553" cy="2453569"/>
          </a:xfrm>
          <a:prstGeom prst="rect">
            <a:avLst/>
          </a:prstGeom>
        </p:spPr>
      </p:pic>
      <p:sp>
        <p:nvSpPr>
          <p:cNvPr id="5" name="文本框 4">
            <a:extLst>
              <a:ext uri="{FF2B5EF4-FFF2-40B4-BE49-F238E27FC236}">
                <a16:creationId xmlns:a16="http://schemas.microsoft.com/office/drawing/2014/main" id="{AD198B2D-D6F5-0B28-A658-CEA2AEFB5E56}"/>
              </a:ext>
            </a:extLst>
          </p:cNvPr>
          <p:cNvSpPr txBox="1"/>
          <p:nvPr/>
        </p:nvSpPr>
        <p:spPr>
          <a:xfrm>
            <a:off x="9151364" y="3092143"/>
            <a:ext cx="1633451" cy="646331"/>
          </a:xfrm>
          <a:prstGeom prst="rect">
            <a:avLst/>
          </a:prstGeom>
          <a:noFill/>
          <a:ln>
            <a:solidFill>
              <a:schemeClr val="bg2">
                <a:lumMod val="10000"/>
              </a:schemeClr>
            </a:solidFill>
          </a:ln>
        </p:spPr>
        <p:txBody>
          <a:bodyPr wrap="square" rtlCol="0">
            <a:spAutoFit/>
          </a:bodyPr>
          <a:lstStyle/>
          <a:p>
            <a:r>
              <a:rPr lang="en-US" altLang="zh-CN" dirty="0"/>
              <a:t>class:</a:t>
            </a:r>
          </a:p>
          <a:p>
            <a:r>
              <a:rPr lang="en-US" altLang="zh-CN" b="1" dirty="0"/>
              <a:t>hummingbird</a:t>
            </a:r>
            <a:endParaRPr lang="zh-CN" altLang="en-US" b="1" dirty="0"/>
          </a:p>
        </p:txBody>
      </p:sp>
      <p:sp>
        <p:nvSpPr>
          <p:cNvPr id="6" name="矩形 5">
            <a:extLst>
              <a:ext uri="{FF2B5EF4-FFF2-40B4-BE49-F238E27FC236}">
                <a16:creationId xmlns:a16="http://schemas.microsoft.com/office/drawing/2014/main" id="{E48136C1-32CA-5558-24D7-A280B6872357}"/>
              </a:ext>
            </a:extLst>
          </p:cNvPr>
          <p:cNvSpPr/>
          <p:nvPr/>
        </p:nvSpPr>
        <p:spPr>
          <a:xfrm>
            <a:off x="6848620" y="2456597"/>
            <a:ext cx="604613" cy="1562793"/>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altLang="zh-CN" sz="1600" dirty="0"/>
              <a:t>representation</a:t>
            </a:r>
            <a:endParaRPr lang="zh-CN" altLang="en-US" sz="1600" dirty="0"/>
          </a:p>
        </p:txBody>
      </p:sp>
      <p:sp>
        <p:nvSpPr>
          <p:cNvPr id="7" name="箭头: 左 6">
            <a:extLst>
              <a:ext uri="{FF2B5EF4-FFF2-40B4-BE49-F238E27FC236}">
                <a16:creationId xmlns:a16="http://schemas.microsoft.com/office/drawing/2014/main" id="{79ACD596-F42D-38A2-0B4E-7799B53E330B}"/>
              </a:ext>
            </a:extLst>
          </p:cNvPr>
          <p:cNvSpPr/>
          <p:nvPr/>
        </p:nvSpPr>
        <p:spPr>
          <a:xfrm>
            <a:off x="7726404" y="3369590"/>
            <a:ext cx="985969" cy="45719"/>
          </a:xfrm>
          <a:prstGeom prst="leftArrow">
            <a:avLst/>
          </a:prstGeom>
          <a:solidFill>
            <a:schemeClr val="tx1">
              <a:lumMod val="95000"/>
              <a:lumOff val="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6746013E-7AF0-19EE-CDE2-C8C05CBFE81E}"/>
              </a:ext>
            </a:extLst>
          </p:cNvPr>
          <p:cNvSpPr txBox="1"/>
          <p:nvPr/>
        </p:nvSpPr>
        <p:spPr>
          <a:xfrm>
            <a:off x="7625027" y="2649854"/>
            <a:ext cx="2761409" cy="646331"/>
          </a:xfrm>
          <a:prstGeom prst="rect">
            <a:avLst/>
          </a:prstGeom>
          <a:noFill/>
        </p:spPr>
        <p:txBody>
          <a:bodyPr wrap="square" rtlCol="0">
            <a:spAutoFit/>
          </a:bodyPr>
          <a:lstStyle/>
          <a:p>
            <a:r>
              <a:rPr lang="en-US" altLang="zh-CN" dirty="0"/>
              <a:t>Random embedding initialization</a:t>
            </a:r>
            <a:endParaRPr lang="zh-CN" altLang="en-US" dirty="0"/>
          </a:p>
        </p:txBody>
      </p:sp>
      <p:pic>
        <p:nvPicPr>
          <p:cNvPr id="10" name="图片 9">
            <a:extLst>
              <a:ext uri="{FF2B5EF4-FFF2-40B4-BE49-F238E27FC236}">
                <a16:creationId xmlns:a16="http://schemas.microsoft.com/office/drawing/2014/main" id="{76657142-7FCC-1694-8F0B-3627FD5FFC4C}"/>
              </a:ext>
            </a:extLst>
          </p:cNvPr>
          <p:cNvPicPr>
            <a:picLocks noChangeAspect="1"/>
          </p:cNvPicPr>
          <p:nvPr/>
        </p:nvPicPr>
        <p:blipFill>
          <a:blip r:embed="rId4"/>
          <a:stretch>
            <a:fillRect/>
          </a:stretch>
        </p:blipFill>
        <p:spPr>
          <a:xfrm>
            <a:off x="2296653" y="4864762"/>
            <a:ext cx="7462490" cy="1993238"/>
          </a:xfrm>
          <a:prstGeom prst="rect">
            <a:avLst/>
          </a:prstGeom>
        </p:spPr>
      </p:pic>
    </p:spTree>
    <p:extLst>
      <p:ext uri="{BB962C8B-B14F-4D97-AF65-F5344CB8AC3E}">
        <p14:creationId xmlns:p14="http://schemas.microsoft.com/office/powerpoint/2010/main" val="4099456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C8BFEB-83C6-8AF5-8210-9AF381D57E14}"/>
              </a:ext>
            </a:extLst>
          </p:cNvPr>
          <p:cNvSpPr>
            <a:spLocks noGrp="1"/>
          </p:cNvSpPr>
          <p:nvPr>
            <p:ph type="title"/>
          </p:nvPr>
        </p:nvSpPr>
        <p:spPr/>
        <p:txBody>
          <a:bodyPr/>
          <a:lstStyle/>
          <a:p>
            <a:r>
              <a:rPr lang="en-US" altLang="zh-CN" dirty="0"/>
              <a:t>Training Objective</a:t>
            </a:r>
            <a:endParaRPr lang="zh-CN" altLang="en-US" dirty="0"/>
          </a:p>
        </p:txBody>
      </p:sp>
      <p:sp>
        <p:nvSpPr>
          <p:cNvPr id="3" name="内容占位符 2">
            <a:extLst>
              <a:ext uri="{FF2B5EF4-FFF2-40B4-BE49-F238E27FC236}">
                <a16:creationId xmlns:a16="http://schemas.microsoft.com/office/drawing/2014/main" id="{50F2BCC4-3A34-9C74-8150-752226D798BE}"/>
              </a:ext>
            </a:extLst>
          </p:cNvPr>
          <p:cNvSpPr>
            <a:spLocks noGrp="1"/>
          </p:cNvSpPr>
          <p:nvPr>
            <p:ph idx="1"/>
          </p:nvPr>
        </p:nvSpPr>
        <p:spPr>
          <a:xfrm>
            <a:off x="838200" y="1690688"/>
            <a:ext cx="10515600" cy="4486275"/>
          </a:xfrm>
        </p:spPr>
        <p:txBody>
          <a:bodyPr/>
          <a:lstStyle/>
          <a:p>
            <a:r>
              <a:rPr lang="en-US" altLang="zh-CN" dirty="0"/>
              <a:t>Contrastive Adversarial Training over images (</a:t>
            </a:r>
            <a:r>
              <a:rPr lang="en-US" altLang="zh-CN" dirty="0" err="1"/>
              <a:t>ImgCoAdv</a:t>
            </a:r>
            <a:r>
              <a:rPr lang="en-US" altLang="zh-CN" dirty="0"/>
              <a:t>.)</a:t>
            </a:r>
            <a:endParaRPr lang="zh-CN" altLang="en-US" dirty="0"/>
          </a:p>
        </p:txBody>
      </p:sp>
      <p:pic>
        <p:nvPicPr>
          <p:cNvPr id="4" name="图片 3">
            <a:extLst>
              <a:ext uri="{FF2B5EF4-FFF2-40B4-BE49-F238E27FC236}">
                <a16:creationId xmlns:a16="http://schemas.microsoft.com/office/drawing/2014/main" id="{A454ACFD-0565-7DEC-F116-AAA677CF986E}"/>
              </a:ext>
            </a:extLst>
          </p:cNvPr>
          <p:cNvPicPr>
            <a:picLocks noChangeAspect="1"/>
          </p:cNvPicPr>
          <p:nvPr/>
        </p:nvPicPr>
        <p:blipFill rotWithShape="1">
          <a:blip r:embed="rId3"/>
          <a:srcRect t="15011" r="50967"/>
          <a:stretch/>
        </p:blipFill>
        <p:spPr>
          <a:xfrm>
            <a:off x="899160" y="2129442"/>
            <a:ext cx="5036127" cy="2085270"/>
          </a:xfrm>
          <a:prstGeom prst="rect">
            <a:avLst/>
          </a:prstGeom>
        </p:spPr>
      </p:pic>
      <p:pic>
        <p:nvPicPr>
          <p:cNvPr id="10" name="图片 9">
            <a:extLst>
              <a:ext uri="{FF2B5EF4-FFF2-40B4-BE49-F238E27FC236}">
                <a16:creationId xmlns:a16="http://schemas.microsoft.com/office/drawing/2014/main" id="{D34B7048-5C12-ABC8-3401-E7D2CE36B85E}"/>
              </a:ext>
            </a:extLst>
          </p:cNvPr>
          <p:cNvPicPr>
            <a:picLocks noChangeAspect="1"/>
          </p:cNvPicPr>
          <p:nvPr/>
        </p:nvPicPr>
        <p:blipFill>
          <a:blip r:embed="rId4"/>
          <a:stretch>
            <a:fillRect/>
          </a:stretch>
        </p:blipFill>
        <p:spPr>
          <a:xfrm>
            <a:off x="2244527" y="4895749"/>
            <a:ext cx="7702946" cy="1962251"/>
          </a:xfrm>
          <a:prstGeom prst="rect">
            <a:avLst/>
          </a:prstGeom>
        </p:spPr>
      </p:pic>
      <p:pic>
        <p:nvPicPr>
          <p:cNvPr id="11" name="图片 10">
            <a:extLst>
              <a:ext uri="{FF2B5EF4-FFF2-40B4-BE49-F238E27FC236}">
                <a16:creationId xmlns:a16="http://schemas.microsoft.com/office/drawing/2014/main" id="{E15793AB-B8F3-FE67-6D0E-F7CEFF5D24E2}"/>
              </a:ext>
            </a:extLst>
          </p:cNvPr>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20000" contrast="20000"/>
                    </a14:imgEffect>
                  </a14:imgLayer>
                </a14:imgProps>
              </a:ext>
            </a:extLst>
          </a:blip>
          <a:srcRect l="20625" t="30596" r="69455" b="30006"/>
          <a:stretch/>
        </p:blipFill>
        <p:spPr>
          <a:xfrm>
            <a:off x="2968731" y="3857897"/>
            <a:ext cx="1183146" cy="1122473"/>
          </a:xfrm>
          <a:prstGeom prst="rect">
            <a:avLst/>
          </a:prstGeom>
        </p:spPr>
      </p:pic>
      <p:sp>
        <p:nvSpPr>
          <p:cNvPr id="12" name="文本框 11">
            <a:extLst>
              <a:ext uri="{FF2B5EF4-FFF2-40B4-BE49-F238E27FC236}">
                <a16:creationId xmlns:a16="http://schemas.microsoft.com/office/drawing/2014/main" id="{497FC536-AEC7-94A7-9EAD-0317D61733AD}"/>
              </a:ext>
            </a:extLst>
          </p:cNvPr>
          <p:cNvSpPr txBox="1"/>
          <p:nvPr/>
        </p:nvSpPr>
        <p:spPr>
          <a:xfrm>
            <a:off x="1322126" y="4419133"/>
            <a:ext cx="1646605" cy="369332"/>
          </a:xfrm>
          <a:prstGeom prst="rect">
            <a:avLst/>
          </a:prstGeom>
          <a:noFill/>
        </p:spPr>
        <p:txBody>
          <a:bodyPr wrap="none" rtlCol="0">
            <a:spAutoFit/>
          </a:bodyPr>
          <a:lstStyle/>
          <a:p>
            <a:r>
              <a:rPr lang="en-US" altLang="zh-CN" dirty="0"/>
              <a:t>transformation</a:t>
            </a:r>
            <a:endParaRPr lang="zh-CN" altLang="en-US" dirty="0"/>
          </a:p>
        </p:txBody>
      </p:sp>
      <p:sp>
        <p:nvSpPr>
          <p:cNvPr id="28" name="箭头: 上 27">
            <a:extLst>
              <a:ext uri="{FF2B5EF4-FFF2-40B4-BE49-F238E27FC236}">
                <a16:creationId xmlns:a16="http://schemas.microsoft.com/office/drawing/2014/main" id="{C19AC2F9-5BCA-4A83-52E3-5AFCF20005E3}"/>
              </a:ext>
            </a:extLst>
          </p:cNvPr>
          <p:cNvSpPr/>
          <p:nvPr/>
        </p:nvSpPr>
        <p:spPr>
          <a:xfrm rot="2125075">
            <a:off x="4346170" y="3298856"/>
            <a:ext cx="45719" cy="685112"/>
          </a:xfrm>
          <a:prstGeom prst="up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右 28">
            <a:extLst>
              <a:ext uri="{FF2B5EF4-FFF2-40B4-BE49-F238E27FC236}">
                <a16:creationId xmlns:a16="http://schemas.microsoft.com/office/drawing/2014/main" id="{4118848C-98A0-2779-932E-C53FDC7E8987}"/>
              </a:ext>
            </a:extLst>
          </p:cNvPr>
          <p:cNvSpPr/>
          <p:nvPr/>
        </p:nvSpPr>
        <p:spPr>
          <a:xfrm>
            <a:off x="5695406" y="3152503"/>
            <a:ext cx="239881" cy="78377"/>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99E8729F-6411-3785-21FA-3B03D32B322C}"/>
              </a:ext>
            </a:extLst>
          </p:cNvPr>
          <p:cNvSpPr/>
          <p:nvPr/>
        </p:nvSpPr>
        <p:spPr>
          <a:xfrm>
            <a:off x="6096000" y="2672246"/>
            <a:ext cx="1057696" cy="2730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I</a:t>
            </a:r>
            <a:endParaRPr lang="zh-CN" altLang="en-US" dirty="0"/>
          </a:p>
        </p:txBody>
      </p:sp>
      <p:sp>
        <p:nvSpPr>
          <p:cNvPr id="32" name="矩形 31">
            <a:extLst>
              <a:ext uri="{FF2B5EF4-FFF2-40B4-BE49-F238E27FC236}">
                <a16:creationId xmlns:a16="http://schemas.microsoft.com/office/drawing/2014/main" id="{9AF4A8CB-2FCD-8AE7-5371-0EBC335E9FD8}"/>
              </a:ext>
            </a:extLst>
          </p:cNvPr>
          <p:cNvSpPr/>
          <p:nvPr/>
        </p:nvSpPr>
        <p:spPr>
          <a:xfrm>
            <a:off x="6096000" y="3075948"/>
            <a:ext cx="1057696" cy="273051"/>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I’</a:t>
            </a:r>
            <a:endParaRPr lang="zh-CN" altLang="en-US" dirty="0"/>
          </a:p>
        </p:txBody>
      </p:sp>
      <p:cxnSp>
        <p:nvCxnSpPr>
          <p:cNvPr id="36" name="连接符: 曲线 35">
            <a:extLst>
              <a:ext uri="{FF2B5EF4-FFF2-40B4-BE49-F238E27FC236}">
                <a16:creationId xmlns:a16="http://schemas.microsoft.com/office/drawing/2014/main" id="{63E57BE7-D048-87B5-E782-0B568E6CE374}"/>
              </a:ext>
            </a:extLst>
          </p:cNvPr>
          <p:cNvCxnSpPr>
            <a:cxnSpLocks/>
          </p:cNvCxnSpPr>
          <p:nvPr/>
        </p:nvCxnSpPr>
        <p:spPr>
          <a:xfrm>
            <a:off x="7232073" y="2814400"/>
            <a:ext cx="12700" cy="403702"/>
          </a:xfrm>
          <a:prstGeom prst="curvedConnector3">
            <a:avLst>
              <a:gd name="adj1" fmla="val 2691425"/>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33208F0E-9D30-F2B0-30FF-561A377B654A}"/>
                  </a:ext>
                </a:extLst>
              </p:cNvPr>
              <p:cNvSpPr txBox="1"/>
              <p:nvPr/>
            </p:nvSpPr>
            <p:spPr>
              <a:xfrm>
                <a:off x="7614441" y="2808771"/>
                <a:ext cx="3753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𝐿</m:t>
                      </m:r>
                    </m:oMath>
                  </m:oMathPara>
                </a14:m>
                <a:endParaRPr lang="zh-CN" altLang="en-US" dirty="0"/>
              </a:p>
            </p:txBody>
          </p:sp>
        </mc:Choice>
        <mc:Fallback xmlns="">
          <p:sp>
            <p:nvSpPr>
              <p:cNvPr id="38" name="文本框 37">
                <a:extLst>
                  <a:ext uri="{FF2B5EF4-FFF2-40B4-BE49-F238E27FC236}">
                    <a16:creationId xmlns:a16="http://schemas.microsoft.com/office/drawing/2014/main" id="{33208F0E-9D30-F2B0-30FF-561A377B654A}"/>
                  </a:ext>
                </a:extLst>
              </p:cNvPr>
              <p:cNvSpPr txBox="1">
                <a:spLocks noRot="1" noChangeAspect="1" noMove="1" noResize="1" noEditPoints="1" noAdjustHandles="1" noChangeArrowheads="1" noChangeShapeType="1" noTextEdit="1"/>
              </p:cNvSpPr>
              <p:nvPr/>
            </p:nvSpPr>
            <p:spPr>
              <a:xfrm>
                <a:off x="7614441" y="2808771"/>
                <a:ext cx="375359" cy="369332"/>
              </a:xfrm>
              <a:prstGeom prst="rect">
                <a:avLst/>
              </a:prstGeom>
              <a:blipFill>
                <a:blip r:embed="rId7"/>
                <a:stretch>
                  <a:fillRect/>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B82D97C2-93FE-EF4D-4A4E-5445867F6DC7}"/>
              </a:ext>
            </a:extLst>
          </p:cNvPr>
          <p:cNvPicPr>
            <a:picLocks noChangeAspect="1"/>
          </p:cNvPicPr>
          <p:nvPr/>
        </p:nvPicPr>
        <p:blipFill rotWithShape="1">
          <a:blip r:embed="rId8">
            <a:extLst>
              <a:ext uri="{BEBA8EAE-BF5A-486C-A8C5-ECC9F3942E4B}">
                <a14:imgProps xmlns:a14="http://schemas.microsoft.com/office/drawing/2010/main">
                  <a14:imgLayer r:embed="rId6">
                    <a14:imgEffect>
                      <a14:brightnessContrast contrast="-20000"/>
                    </a14:imgEffect>
                  </a14:imgLayer>
                </a14:imgProps>
              </a:ext>
            </a:extLst>
          </a:blip>
          <a:srcRect l="20625" t="30596" r="69455" b="30006"/>
          <a:stretch/>
        </p:blipFill>
        <p:spPr>
          <a:xfrm flipH="1">
            <a:off x="2968729" y="2394905"/>
            <a:ext cx="1183146" cy="1122473"/>
          </a:xfrm>
          <a:prstGeom prst="rect">
            <a:avLst/>
          </a:prstGeom>
        </p:spPr>
      </p:pic>
      <p:sp>
        <p:nvSpPr>
          <p:cNvPr id="6" name="矩形 5">
            <a:extLst>
              <a:ext uri="{FF2B5EF4-FFF2-40B4-BE49-F238E27FC236}">
                <a16:creationId xmlns:a16="http://schemas.microsoft.com/office/drawing/2014/main" id="{526C5B8B-D255-198E-3627-85E0377DCBCC}"/>
              </a:ext>
            </a:extLst>
          </p:cNvPr>
          <p:cNvSpPr/>
          <p:nvPr/>
        </p:nvSpPr>
        <p:spPr>
          <a:xfrm>
            <a:off x="2900827" y="3543117"/>
            <a:ext cx="1183146" cy="22071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0157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8DDF8B-6ADC-58CD-6DDA-87E54588EAAE}"/>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887D1970-5556-33CE-1290-E215025DD403}"/>
              </a:ext>
            </a:extLst>
          </p:cNvPr>
          <p:cNvSpPr>
            <a:spLocks noGrp="1"/>
          </p:cNvSpPr>
          <p:nvPr>
            <p:ph idx="1"/>
          </p:nvPr>
        </p:nvSpPr>
        <p:spPr>
          <a:xfrm>
            <a:off x="838200" y="1616619"/>
            <a:ext cx="10515600" cy="4351338"/>
          </a:xfrm>
        </p:spPr>
        <p:txBody>
          <a:bodyPr>
            <a:normAutofit/>
          </a:bodyPr>
          <a:lstStyle/>
          <a:p>
            <a:r>
              <a:rPr lang="en-US" altLang="zh-CN" sz="2400" dirty="0"/>
              <a:t>PGD, 100step, 1/255</a:t>
            </a:r>
            <a:endParaRPr lang="zh-CN" altLang="en-US" sz="2400" dirty="0"/>
          </a:p>
        </p:txBody>
      </p:sp>
      <p:pic>
        <p:nvPicPr>
          <p:cNvPr id="5" name="图片 4">
            <a:extLst>
              <a:ext uri="{FF2B5EF4-FFF2-40B4-BE49-F238E27FC236}">
                <a16:creationId xmlns:a16="http://schemas.microsoft.com/office/drawing/2014/main" id="{4478D23A-4080-ACF6-3F36-937B76858A1A}"/>
              </a:ext>
            </a:extLst>
          </p:cNvPr>
          <p:cNvPicPr>
            <a:picLocks noChangeAspect="1"/>
          </p:cNvPicPr>
          <p:nvPr/>
        </p:nvPicPr>
        <p:blipFill>
          <a:blip r:embed="rId3"/>
          <a:stretch>
            <a:fillRect/>
          </a:stretch>
        </p:blipFill>
        <p:spPr>
          <a:xfrm>
            <a:off x="1085470" y="2022550"/>
            <a:ext cx="9678324" cy="4043247"/>
          </a:xfrm>
          <a:prstGeom prst="rect">
            <a:avLst/>
          </a:prstGeom>
        </p:spPr>
      </p:pic>
      <p:sp>
        <p:nvSpPr>
          <p:cNvPr id="7" name="文本框 6">
            <a:extLst>
              <a:ext uri="{FF2B5EF4-FFF2-40B4-BE49-F238E27FC236}">
                <a16:creationId xmlns:a16="http://schemas.microsoft.com/office/drawing/2014/main" id="{83E3C198-3450-0067-8549-59910ED52A0C}"/>
              </a:ext>
            </a:extLst>
          </p:cNvPr>
          <p:cNvSpPr txBox="1"/>
          <p:nvPr/>
        </p:nvSpPr>
        <p:spPr>
          <a:xfrm>
            <a:off x="7863840" y="1228611"/>
            <a:ext cx="4110421" cy="646331"/>
          </a:xfrm>
          <a:prstGeom prst="rect">
            <a:avLst/>
          </a:prstGeom>
          <a:noFill/>
        </p:spPr>
        <p:txBody>
          <a:bodyPr wrap="none" rtlCol="0">
            <a:spAutoFit/>
          </a:bodyPr>
          <a:lstStyle/>
          <a:p>
            <a:pPr marL="285750" indent="-285750">
              <a:buFont typeface="Arial" panose="020B0604020202020204" pitchFamily="34" charset="0"/>
              <a:buChar char="•"/>
            </a:pPr>
            <a:r>
              <a:rPr lang="en-US" altLang="zh-CN" dirty="0"/>
              <a:t>Contrastive Learning </a:t>
            </a:r>
            <a:r>
              <a:rPr lang="en-US" altLang="zh-CN" dirty="0" err="1"/>
              <a:t>v.s</a:t>
            </a:r>
            <a:r>
              <a:rPr lang="en-US" altLang="zh-CN" dirty="0"/>
              <a:t>. Text guided</a:t>
            </a:r>
          </a:p>
          <a:p>
            <a:pPr marL="285750" indent="-285750">
              <a:buFont typeface="Arial" panose="020B0604020202020204" pitchFamily="34" charset="0"/>
              <a:buChar char="•"/>
            </a:pPr>
            <a:r>
              <a:rPr lang="en-US" altLang="zh-CN" dirty="0"/>
              <a:t>FT </a:t>
            </a:r>
            <a:r>
              <a:rPr lang="en-US" altLang="zh-CN" dirty="0" err="1"/>
              <a:t>v.s</a:t>
            </a:r>
            <a:r>
              <a:rPr lang="en-US" altLang="zh-CN" dirty="0"/>
              <a:t>. VPT</a:t>
            </a:r>
            <a:endParaRPr lang="zh-CN" altLang="en-US" dirty="0"/>
          </a:p>
        </p:txBody>
      </p:sp>
      <p:sp>
        <p:nvSpPr>
          <p:cNvPr id="4" name="矩形 3">
            <a:extLst>
              <a:ext uri="{FF2B5EF4-FFF2-40B4-BE49-F238E27FC236}">
                <a16:creationId xmlns:a16="http://schemas.microsoft.com/office/drawing/2014/main" id="{2A3A2CA5-6E8A-5E89-5944-600AE0106AAF}"/>
              </a:ext>
            </a:extLst>
          </p:cNvPr>
          <p:cNvSpPr/>
          <p:nvPr/>
        </p:nvSpPr>
        <p:spPr>
          <a:xfrm>
            <a:off x="1203748" y="4894774"/>
            <a:ext cx="9441768" cy="178392"/>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A7E40CA2-82E7-23CB-52C4-80FFA673A8D1}"/>
              </a:ext>
            </a:extLst>
          </p:cNvPr>
          <p:cNvSpPr/>
          <p:nvPr/>
        </p:nvSpPr>
        <p:spPr>
          <a:xfrm>
            <a:off x="1203747" y="5702897"/>
            <a:ext cx="9441769" cy="209320"/>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ECB4DDA-61AC-CBF4-79E3-98D3D6DB8AC3}"/>
              </a:ext>
            </a:extLst>
          </p:cNvPr>
          <p:cNvSpPr/>
          <p:nvPr/>
        </p:nvSpPr>
        <p:spPr>
          <a:xfrm>
            <a:off x="1220372" y="4492743"/>
            <a:ext cx="9441769" cy="393718"/>
          </a:xfrm>
          <a:prstGeom prst="rect">
            <a:avLst/>
          </a:prstGeom>
          <a:solidFill>
            <a:srgbClr val="0033CC">
              <a:alpha val="902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11" name="矩形 10">
            <a:extLst>
              <a:ext uri="{FF2B5EF4-FFF2-40B4-BE49-F238E27FC236}">
                <a16:creationId xmlns:a16="http://schemas.microsoft.com/office/drawing/2014/main" id="{958D9AB4-893E-52B5-99AB-C80EEC7DA485}"/>
              </a:ext>
            </a:extLst>
          </p:cNvPr>
          <p:cNvSpPr/>
          <p:nvPr/>
        </p:nvSpPr>
        <p:spPr>
          <a:xfrm>
            <a:off x="1203746" y="5309179"/>
            <a:ext cx="9441769" cy="393718"/>
          </a:xfrm>
          <a:prstGeom prst="rect">
            <a:avLst/>
          </a:prstGeom>
          <a:solidFill>
            <a:srgbClr val="0033CC">
              <a:alpha val="902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Tree>
    <p:extLst>
      <p:ext uri="{BB962C8B-B14F-4D97-AF65-F5344CB8AC3E}">
        <p14:creationId xmlns:p14="http://schemas.microsoft.com/office/powerpoint/2010/main" val="1980662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57C68D-4779-60BF-8192-B207BFE77C90}"/>
              </a:ext>
            </a:extLst>
          </p:cNvPr>
          <p:cNvSpPr>
            <a:spLocks noGrp="1"/>
          </p:cNvSpPr>
          <p:nvPr>
            <p:ph type="title"/>
          </p:nvPr>
        </p:nvSpPr>
        <p:spPr/>
        <p:txBody>
          <a:bodyPr/>
          <a:lstStyle/>
          <a:p>
            <a:r>
              <a:rPr lang="en-US" altLang="zh-CN" dirty="0"/>
              <a:t>Experiments</a:t>
            </a:r>
            <a:endParaRPr lang="zh-CN" altLang="en-US" dirty="0"/>
          </a:p>
        </p:txBody>
      </p:sp>
      <p:pic>
        <p:nvPicPr>
          <p:cNvPr id="5" name="内容占位符 4">
            <a:extLst>
              <a:ext uri="{FF2B5EF4-FFF2-40B4-BE49-F238E27FC236}">
                <a16:creationId xmlns:a16="http://schemas.microsoft.com/office/drawing/2014/main" id="{8C6D2456-950B-16E9-1E2A-02B0117D6C31}"/>
              </a:ext>
            </a:extLst>
          </p:cNvPr>
          <p:cNvPicPr>
            <a:picLocks noGrp="1" noChangeAspect="1"/>
          </p:cNvPicPr>
          <p:nvPr>
            <p:ph idx="1"/>
          </p:nvPr>
        </p:nvPicPr>
        <p:blipFill>
          <a:blip r:embed="rId3"/>
          <a:stretch>
            <a:fillRect/>
          </a:stretch>
        </p:blipFill>
        <p:spPr>
          <a:xfrm>
            <a:off x="1085875" y="2506310"/>
            <a:ext cx="10020250" cy="2507231"/>
          </a:xfrm>
        </p:spPr>
      </p:pic>
      <p:sp>
        <p:nvSpPr>
          <p:cNvPr id="7" name="文本框 6">
            <a:extLst>
              <a:ext uri="{FF2B5EF4-FFF2-40B4-BE49-F238E27FC236}">
                <a16:creationId xmlns:a16="http://schemas.microsoft.com/office/drawing/2014/main" id="{25606BE8-FB8F-F4E6-624E-0DC79A62D3B1}"/>
              </a:ext>
            </a:extLst>
          </p:cNvPr>
          <p:cNvSpPr txBox="1"/>
          <p:nvPr/>
        </p:nvSpPr>
        <p:spPr>
          <a:xfrm>
            <a:off x="6343675" y="5182832"/>
            <a:ext cx="5010125" cy="646331"/>
          </a:xfrm>
          <a:prstGeom prst="rect">
            <a:avLst/>
          </a:prstGeom>
          <a:noFill/>
        </p:spPr>
        <p:txBody>
          <a:bodyPr wrap="square">
            <a:spAutoFit/>
          </a:bodyPr>
          <a:lstStyle/>
          <a:p>
            <a:r>
              <a:rPr lang="zh-CN" altLang="en-US" dirty="0"/>
              <a:t>optimize the same amount of parameters in partial finetuning and VP</a:t>
            </a:r>
          </a:p>
        </p:txBody>
      </p:sp>
      <p:sp>
        <p:nvSpPr>
          <p:cNvPr id="9" name="文本框 8">
            <a:extLst>
              <a:ext uri="{FF2B5EF4-FFF2-40B4-BE49-F238E27FC236}">
                <a16:creationId xmlns:a16="http://schemas.microsoft.com/office/drawing/2014/main" id="{5B8E5093-E337-5262-B448-D39F67238A09}"/>
              </a:ext>
            </a:extLst>
          </p:cNvPr>
          <p:cNvSpPr txBox="1"/>
          <p:nvPr/>
        </p:nvSpPr>
        <p:spPr>
          <a:xfrm>
            <a:off x="1085875" y="5182832"/>
            <a:ext cx="5155475" cy="646331"/>
          </a:xfrm>
          <a:prstGeom prst="rect">
            <a:avLst/>
          </a:prstGeom>
          <a:noFill/>
        </p:spPr>
        <p:txBody>
          <a:bodyPr wrap="square">
            <a:spAutoFit/>
          </a:bodyPr>
          <a:lstStyle/>
          <a:p>
            <a:r>
              <a:rPr lang="zh-CN" altLang="en-US" dirty="0"/>
              <a:t>add visual prompt to the input image </a:t>
            </a:r>
            <a:r>
              <a:rPr lang="en-US" altLang="zh-CN" dirty="0" err="1"/>
              <a:t>v.s</a:t>
            </a:r>
            <a:r>
              <a:rPr lang="en-US" altLang="zh-CN" dirty="0"/>
              <a:t>. </a:t>
            </a:r>
          </a:p>
          <a:p>
            <a:r>
              <a:rPr lang="zh-CN" altLang="en-US" dirty="0"/>
              <a:t>append prompt token to the input sequence</a:t>
            </a:r>
          </a:p>
        </p:txBody>
      </p:sp>
    </p:spTree>
    <p:extLst>
      <p:ext uri="{BB962C8B-B14F-4D97-AF65-F5344CB8AC3E}">
        <p14:creationId xmlns:p14="http://schemas.microsoft.com/office/powerpoint/2010/main" val="1214706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63C3F1-DF0A-2A24-19AE-535EA8E396C8}"/>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F2D0DB5C-C0B1-BDCB-6F31-966A33AC82C1}"/>
              </a:ext>
            </a:extLst>
          </p:cNvPr>
          <p:cNvSpPr>
            <a:spLocks noGrp="1"/>
          </p:cNvSpPr>
          <p:nvPr>
            <p:ph idx="1"/>
          </p:nvPr>
        </p:nvSpPr>
        <p:spPr/>
        <p:txBody>
          <a:bodyPr/>
          <a:lstStyle/>
          <a:p>
            <a:r>
              <a:rPr lang="en-US" altLang="zh-CN" dirty="0"/>
              <a:t>pseudo text label</a:t>
            </a:r>
            <a:endParaRPr lang="zh-CN" altLang="en-US" dirty="0"/>
          </a:p>
        </p:txBody>
      </p:sp>
      <p:pic>
        <p:nvPicPr>
          <p:cNvPr id="5" name="图片 4">
            <a:extLst>
              <a:ext uri="{FF2B5EF4-FFF2-40B4-BE49-F238E27FC236}">
                <a16:creationId xmlns:a16="http://schemas.microsoft.com/office/drawing/2014/main" id="{FB78051C-1868-7C0A-5BE9-4918E28DFF92}"/>
              </a:ext>
            </a:extLst>
          </p:cNvPr>
          <p:cNvPicPr>
            <a:picLocks noChangeAspect="1"/>
          </p:cNvPicPr>
          <p:nvPr/>
        </p:nvPicPr>
        <p:blipFill>
          <a:blip r:embed="rId3"/>
          <a:stretch>
            <a:fillRect/>
          </a:stretch>
        </p:blipFill>
        <p:spPr>
          <a:xfrm>
            <a:off x="1290026" y="2495975"/>
            <a:ext cx="9611948" cy="3550359"/>
          </a:xfrm>
          <a:prstGeom prst="rect">
            <a:avLst/>
          </a:prstGeom>
        </p:spPr>
      </p:pic>
    </p:spTree>
    <p:extLst>
      <p:ext uri="{BB962C8B-B14F-4D97-AF65-F5344CB8AC3E}">
        <p14:creationId xmlns:p14="http://schemas.microsoft.com/office/powerpoint/2010/main" val="2024653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171D74-3C2F-D6C8-D431-C6AD997F885A}"/>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9AEC168C-73F2-0DCB-5394-A7A8511A8738}"/>
              </a:ext>
            </a:extLst>
          </p:cNvPr>
          <p:cNvSpPr>
            <a:spLocks noGrp="1"/>
          </p:cNvSpPr>
          <p:nvPr>
            <p:ph idx="1"/>
          </p:nvPr>
        </p:nvSpPr>
        <p:spPr/>
        <p:txBody>
          <a:bodyPr/>
          <a:lstStyle/>
          <a:p>
            <a:r>
              <a:rPr lang="en-US" altLang="zh-CN" dirty="0"/>
              <a:t>Balancing model </a:t>
            </a:r>
            <a:r>
              <a:rPr lang="en-US" altLang="zh-CN" b="1" dirty="0"/>
              <a:t>robustness</a:t>
            </a:r>
            <a:r>
              <a:rPr lang="en-US" altLang="zh-CN" dirty="0"/>
              <a:t> and </a:t>
            </a:r>
            <a:r>
              <a:rPr lang="en-US" altLang="zh-CN" b="1" dirty="0"/>
              <a:t>clean accuracy </a:t>
            </a:r>
            <a:r>
              <a:rPr lang="en-US" altLang="zh-CN" dirty="0"/>
              <a:t>via weight interpolation</a:t>
            </a:r>
            <a:endParaRPr lang="zh-CN" altLang="en-US" dirty="0"/>
          </a:p>
        </p:txBody>
      </p:sp>
      <p:pic>
        <p:nvPicPr>
          <p:cNvPr id="5" name="图片 4">
            <a:extLst>
              <a:ext uri="{FF2B5EF4-FFF2-40B4-BE49-F238E27FC236}">
                <a16:creationId xmlns:a16="http://schemas.microsoft.com/office/drawing/2014/main" id="{6CA54D63-988D-C376-686B-BAC5CFE7A505}"/>
              </a:ext>
            </a:extLst>
          </p:cNvPr>
          <p:cNvPicPr>
            <a:picLocks noChangeAspect="1"/>
          </p:cNvPicPr>
          <p:nvPr/>
        </p:nvPicPr>
        <p:blipFill>
          <a:blip r:embed="rId3"/>
          <a:stretch>
            <a:fillRect/>
          </a:stretch>
        </p:blipFill>
        <p:spPr>
          <a:xfrm>
            <a:off x="726759" y="2772356"/>
            <a:ext cx="10627041" cy="2766295"/>
          </a:xfrm>
          <a:prstGeom prst="rect">
            <a:avLst/>
          </a:prstGeom>
        </p:spPr>
      </p:pic>
    </p:spTree>
    <p:extLst>
      <p:ext uri="{BB962C8B-B14F-4D97-AF65-F5344CB8AC3E}">
        <p14:creationId xmlns:p14="http://schemas.microsoft.com/office/powerpoint/2010/main" val="3711538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422E8-D8AD-7AF1-7020-2E3708C9BAD2}"/>
              </a:ext>
            </a:extLst>
          </p:cNvPr>
          <p:cNvSpPr>
            <a:spLocks noGrp="1"/>
          </p:cNvSpPr>
          <p:nvPr>
            <p:ph type="title"/>
          </p:nvPr>
        </p:nvSpPr>
        <p:spPr>
          <a:xfrm>
            <a:off x="838199" y="257695"/>
            <a:ext cx="10515600" cy="1325563"/>
          </a:xfrm>
        </p:spPr>
        <p:txBody>
          <a:bodyPr/>
          <a:lstStyle/>
          <a:p>
            <a:r>
              <a:rPr lang="en-US" altLang="zh-CN" dirty="0"/>
              <a:t>Abstract(1/2)</a:t>
            </a:r>
            <a:endParaRPr lang="zh-CN" altLang="en-US" dirty="0"/>
          </a:p>
        </p:txBody>
      </p:sp>
      <p:sp>
        <p:nvSpPr>
          <p:cNvPr id="3" name="内容占位符 2">
            <a:extLst>
              <a:ext uri="{FF2B5EF4-FFF2-40B4-BE49-F238E27FC236}">
                <a16:creationId xmlns:a16="http://schemas.microsoft.com/office/drawing/2014/main" id="{B8D072F8-A687-78E0-91B3-7016BA95E4C2}"/>
              </a:ext>
            </a:extLst>
          </p:cNvPr>
          <p:cNvSpPr>
            <a:spLocks noGrp="1"/>
          </p:cNvSpPr>
          <p:nvPr>
            <p:ph idx="1"/>
          </p:nvPr>
        </p:nvSpPr>
        <p:spPr>
          <a:xfrm>
            <a:off x="838199" y="1417637"/>
            <a:ext cx="10716491" cy="4442836"/>
          </a:xfrm>
        </p:spPr>
        <p:txBody>
          <a:bodyPr>
            <a:noAutofit/>
          </a:bodyPr>
          <a:lstStyle/>
          <a:p>
            <a:pPr marL="0" indent="0">
              <a:lnSpc>
                <a:spcPct val="200000"/>
              </a:lnSpc>
              <a:buNone/>
            </a:pPr>
            <a:r>
              <a:rPr lang="en-US" altLang="zh-CN" sz="2000" dirty="0"/>
              <a:t>Pretrained large-scale vision-language models like CLIP have exhibited strong generalization over unseen tasks. </a:t>
            </a:r>
            <a:r>
              <a:rPr lang="en-US" altLang="zh-CN" sz="2000" b="1" dirty="0">
                <a:solidFill>
                  <a:schemeClr val="accent1">
                    <a:lumMod val="75000"/>
                  </a:schemeClr>
                </a:solidFill>
              </a:rPr>
              <a:t>Yet imperceptible adversarial perturbations can significantly reduce CLIP’s performance on new tasks</a:t>
            </a:r>
            <a:r>
              <a:rPr lang="en-US" altLang="zh-CN" sz="2000" dirty="0"/>
              <a:t>. In this work, we identify and explore the problem of </a:t>
            </a:r>
            <a:r>
              <a:rPr lang="en-US" altLang="zh-CN" sz="2000" b="1" dirty="0">
                <a:solidFill>
                  <a:srgbClr val="C00000"/>
                </a:solidFill>
              </a:rPr>
              <a:t>adapting large-scale models for zero-shot adversarial robustness</a:t>
            </a:r>
            <a:r>
              <a:rPr lang="en-US" altLang="zh-CN" sz="2000" dirty="0"/>
              <a:t>. We first identify two key factors during model adaption—</a:t>
            </a:r>
            <a:r>
              <a:rPr lang="en-US" altLang="zh-CN" sz="2000" b="1" dirty="0">
                <a:solidFill>
                  <a:schemeClr val="accent6">
                    <a:lumMod val="50000"/>
                  </a:schemeClr>
                </a:solidFill>
              </a:rPr>
              <a:t>training losses </a:t>
            </a:r>
            <a:r>
              <a:rPr lang="en-US" altLang="zh-CN" sz="2000" dirty="0"/>
              <a:t>and </a:t>
            </a:r>
            <a:r>
              <a:rPr lang="en-US" altLang="zh-CN" sz="2000" b="1" dirty="0">
                <a:solidFill>
                  <a:schemeClr val="accent6">
                    <a:lumMod val="50000"/>
                  </a:schemeClr>
                </a:solidFill>
              </a:rPr>
              <a:t>adaptation methods</a:t>
            </a:r>
            <a:r>
              <a:rPr lang="en-US" altLang="zh-CN" sz="2000" dirty="0"/>
              <a:t>—that affect the model’s zero-shot adversarial robustness. </a:t>
            </a:r>
            <a:endParaRPr lang="zh-CN" altLang="en-US" sz="2000" dirty="0"/>
          </a:p>
        </p:txBody>
      </p:sp>
      <p:sp>
        <p:nvSpPr>
          <p:cNvPr id="6" name="对话气泡: 圆角矩形 5">
            <a:extLst>
              <a:ext uri="{FF2B5EF4-FFF2-40B4-BE49-F238E27FC236}">
                <a16:creationId xmlns:a16="http://schemas.microsoft.com/office/drawing/2014/main" id="{F69FFE1C-DA0B-C356-A6B6-811607738907}"/>
              </a:ext>
            </a:extLst>
          </p:cNvPr>
          <p:cNvSpPr/>
          <p:nvPr/>
        </p:nvSpPr>
        <p:spPr>
          <a:xfrm>
            <a:off x="10720646" y="2585259"/>
            <a:ext cx="1404851" cy="523701"/>
          </a:xfrm>
          <a:prstGeom prst="wedgeRoundRectCallout">
            <a:avLst>
              <a:gd name="adj1" fmla="val -76911"/>
              <a:gd name="adj2" fmla="val -522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动机</a:t>
            </a:r>
          </a:p>
        </p:txBody>
      </p:sp>
      <p:sp>
        <p:nvSpPr>
          <p:cNvPr id="7" name="对话气泡: 圆角矩形 6">
            <a:extLst>
              <a:ext uri="{FF2B5EF4-FFF2-40B4-BE49-F238E27FC236}">
                <a16:creationId xmlns:a16="http://schemas.microsoft.com/office/drawing/2014/main" id="{3B210FE4-4875-8201-D3FE-17F671562032}"/>
              </a:ext>
            </a:extLst>
          </p:cNvPr>
          <p:cNvSpPr/>
          <p:nvPr/>
        </p:nvSpPr>
        <p:spPr>
          <a:xfrm>
            <a:off x="3017520" y="3854823"/>
            <a:ext cx="2818504" cy="318165"/>
          </a:xfrm>
          <a:prstGeom prst="wedgeRoundRectCallout">
            <a:avLst>
              <a:gd name="adj1" fmla="val 7679"/>
              <a:gd name="adj2" fmla="val -56400"/>
              <a:gd name="adj3" fmla="val 16667"/>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零样本分类</a:t>
            </a:r>
            <a:r>
              <a:rPr lang="en-US" altLang="zh-CN" dirty="0"/>
              <a:t>, </a:t>
            </a:r>
            <a:r>
              <a:rPr lang="zh-CN" altLang="en-US" dirty="0"/>
              <a:t>对抗鲁棒性</a:t>
            </a:r>
          </a:p>
        </p:txBody>
      </p:sp>
      <p:sp>
        <p:nvSpPr>
          <p:cNvPr id="8" name="对话气泡: 圆角矩形 7">
            <a:extLst>
              <a:ext uri="{FF2B5EF4-FFF2-40B4-BE49-F238E27FC236}">
                <a16:creationId xmlns:a16="http://schemas.microsoft.com/office/drawing/2014/main" id="{C66E9327-8FED-09B9-398E-85A312BFCC6A}"/>
              </a:ext>
            </a:extLst>
          </p:cNvPr>
          <p:cNvSpPr/>
          <p:nvPr/>
        </p:nvSpPr>
        <p:spPr>
          <a:xfrm>
            <a:off x="6254633" y="4516580"/>
            <a:ext cx="4659978" cy="451658"/>
          </a:xfrm>
          <a:prstGeom prst="wedgeRoundRectCallout">
            <a:avLst>
              <a:gd name="adj1" fmla="val -51223"/>
              <a:gd name="adj2" fmla="val -63305"/>
              <a:gd name="adj3" fmla="val 16667"/>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两个重点方面：损失函数和适配方法</a:t>
            </a:r>
          </a:p>
        </p:txBody>
      </p:sp>
    </p:spTree>
    <p:extLst>
      <p:ext uri="{BB962C8B-B14F-4D97-AF65-F5344CB8AC3E}">
        <p14:creationId xmlns:p14="http://schemas.microsoft.com/office/powerpoint/2010/main" val="1617430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964DBE-1BA5-C98D-9F5E-5AF8A36B991D}"/>
              </a:ext>
            </a:extLst>
          </p:cNvPr>
          <p:cNvSpPr>
            <a:spLocks noGrp="1"/>
          </p:cNvSpPr>
          <p:nvPr>
            <p:ph type="title"/>
          </p:nvPr>
        </p:nvSpPr>
        <p:spPr>
          <a:xfrm>
            <a:off x="838200" y="340186"/>
            <a:ext cx="10515600" cy="1325563"/>
          </a:xfrm>
        </p:spPr>
        <p:txBody>
          <a:bodyPr/>
          <a:lstStyle/>
          <a:p>
            <a:r>
              <a:rPr lang="en-US" altLang="zh-CN" dirty="0"/>
              <a:t>Abstract(2/2)</a:t>
            </a:r>
            <a:endParaRPr lang="zh-CN" altLang="en-US" dirty="0"/>
          </a:p>
        </p:txBody>
      </p:sp>
      <p:sp>
        <p:nvSpPr>
          <p:cNvPr id="5" name="文本框 4">
            <a:extLst>
              <a:ext uri="{FF2B5EF4-FFF2-40B4-BE49-F238E27FC236}">
                <a16:creationId xmlns:a16="http://schemas.microsoft.com/office/drawing/2014/main" id="{DF76C061-04BF-4C9C-4061-C9ED6CE9711A}"/>
              </a:ext>
            </a:extLst>
          </p:cNvPr>
          <p:cNvSpPr txBox="1"/>
          <p:nvPr/>
        </p:nvSpPr>
        <p:spPr>
          <a:xfrm>
            <a:off x="838200" y="1396538"/>
            <a:ext cx="10515600" cy="5187142"/>
          </a:xfrm>
          <a:prstGeom prst="rect">
            <a:avLst/>
          </a:prstGeom>
        </p:spPr>
        <p:txBody>
          <a:bodyPr vert="horz" lIns="91440" tIns="45720" rIns="91440" bIns="45720" rtlCol="0">
            <a:noAutofit/>
          </a:bodyPr>
          <a:lstStyle>
            <a:lvl1pPr indent="0">
              <a:lnSpc>
                <a:spcPct val="200000"/>
              </a:lnSpc>
              <a:spcBef>
                <a:spcPts val="1000"/>
              </a:spcBef>
              <a:buFont typeface="Arial" panose="020B0604020202020204" pitchFamily="34" charset="0"/>
              <a:buNone/>
              <a:defRPr sz="20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We then propose a </a:t>
            </a:r>
            <a:r>
              <a:rPr lang="en-US" altLang="zh-CN" b="1" dirty="0">
                <a:solidFill>
                  <a:srgbClr val="C00000"/>
                </a:solidFill>
              </a:rPr>
              <a:t>text-guided contrastive adversarial training loss</a:t>
            </a:r>
            <a:r>
              <a:rPr lang="en-US" altLang="zh-CN" dirty="0"/>
              <a:t>, which aligns the text embeddings and the adversarial visual features with contrastive learning on a small set of training data. We apply this training loss to two adaption methods, </a:t>
            </a:r>
            <a:r>
              <a:rPr lang="en-US" altLang="zh-CN" b="1" dirty="0">
                <a:solidFill>
                  <a:schemeClr val="accent6">
                    <a:lumMod val="75000"/>
                  </a:schemeClr>
                </a:solidFill>
              </a:rPr>
              <a:t>model finetuning </a:t>
            </a:r>
            <a:r>
              <a:rPr lang="en-US" altLang="zh-CN" dirty="0"/>
              <a:t>and </a:t>
            </a:r>
            <a:r>
              <a:rPr lang="en-US" altLang="zh-CN" b="1" dirty="0">
                <a:solidFill>
                  <a:schemeClr val="accent6">
                    <a:lumMod val="75000"/>
                  </a:schemeClr>
                </a:solidFill>
              </a:rPr>
              <a:t>visual prompt tuning</a:t>
            </a:r>
            <a:r>
              <a:rPr lang="en-US" altLang="zh-CN" dirty="0"/>
              <a:t>. We find that visual prompt tuning is more effective in the absence of texts, while finetuning wins in the existence of text guidance. </a:t>
            </a:r>
            <a:r>
              <a:rPr lang="en-US" altLang="zh-CN" dirty="0">
                <a:solidFill>
                  <a:schemeClr val="accent1">
                    <a:lumMod val="75000"/>
                  </a:schemeClr>
                </a:solidFill>
              </a:rPr>
              <a:t>Overall, our approach significantly improves the zero-shot adversarial robustness over CLIP, seeing an average improvement of 31 points over ImageNet and 15 zero-shot datasets. </a:t>
            </a:r>
            <a:r>
              <a:rPr lang="en-US" altLang="zh-CN" dirty="0"/>
              <a:t>Our code and model is available at github.com/</a:t>
            </a:r>
            <a:r>
              <a:rPr lang="en-US" altLang="zh-CN" dirty="0" err="1"/>
              <a:t>cvlab-columbia</a:t>
            </a:r>
            <a:r>
              <a:rPr lang="en-US" altLang="zh-CN" dirty="0"/>
              <a:t>/ZSRobust4FoundationModel.</a:t>
            </a:r>
            <a:endParaRPr lang="zh-CN" altLang="en-US" dirty="0"/>
          </a:p>
        </p:txBody>
      </p:sp>
      <p:sp>
        <p:nvSpPr>
          <p:cNvPr id="6" name="对话气泡: 圆角矩形 5">
            <a:extLst>
              <a:ext uri="{FF2B5EF4-FFF2-40B4-BE49-F238E27FC236}">
                <a16:creationId xmlns:a16="http://schemas.microsoft.com/office/drawing/2014/main" id="{B7B27E2F-4C4B-0318-7805-73E31380A0D8}"/>
              </a:ext>
            </a:extLst>
          </p:cNvPr>
          <p:cNvSpPr/>
          <p:nvPr/>
        </p:nvSpPr>
        <p:spPr>
          <a:xfrm>
            <a:off x="6774873" y="1113907"/>
            <a:ext cx="3616035" cy="415636"/>
          </a:xfrm>
          <a:prstGeom prst="wedgeRoundRectCallout">
            <a:avLst>
              <a:gd name="adj1" fmla="val -39235"/>
              <a:gd name="adj2" fmla="val 69553"/>
              <a:gd name="adj3" fmla="val 16667"/>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主要方法：文本引导的对比学习对抗训练</a:t>
            </a:r>
          </a:p>
        </p:txBody>
      </p:sp>
      <p:sp>
        <p:nvSpPr>
          <p:cNvPr id="7" name="对话气泡: 圆角矩形 6">
            <a:extLst>
              <a:ext uri="{FF2B5EF4-FFF2-40B4-BE49-F238E27FC236}">
                <a16:creationId xmlns:a16="http://schemas.microsoft.com/office/drawing/2014/main" id="{1D1D4052-257C-2F24-581F-42384558FA7D}"/>
              </a:ext>
            </a:extLst>
          </p:cNvPr>
          <p:cNvSpPr/>
          <p:nvPr/>
        </p:nvSpPr>
        <p:spPr>
          <a:xfrm>
            <a:off x="10751126" y="2319568"/>
            <a:ext cx="1460269" cy="1109432"/>
          </a:xfrm>
          <a:prstGeom prst="wedgeRoundRectCallout">
            <a:avLst>
              <a:gd name="adj1" fmla="val -65472"/>
              <a:gd name="adj2" fmla="val -5629"/>
              <a:gd name="adj3" fmla="val 16667"/>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t>两种适配方法：模型微调和视觉</a:t>
            </a:r>
            <a:r>
              <a:rPr lang="en-US" altLang="zh-CN" sz="1400" dirty="0"/>
              <a:t>prompt</a:t>
            </a:r>
            <a:r>
              <a:rPr lang="zh-CN" altLang="en-US" sz="1400" dirty="0"/>
              <a:t>微调</a:t>
            </a:r>
          </a:p>
        </p:txBody>
      </p:sp>
      <p:sp>
        <p:nvSpPr>
          <p:cNvPr id="8" name="对话气泡: 圆角矩形 7">
            <a:extLst>
              <a:ext uri="{FF2B5EF4-FFF2-40B4-BE49-F238E27FC236}">
                <a16:creationId xmlns:a16="http://schemas.microsoft.com/office/drawing/2014/main" id="{A676A9BF-EC14-CE1F-00F1-8466F98CF7C5}"/>
              </a:ext>
            </a:extLst>
          </p:cNvPr>
          <p:cNvSpPr/>
          <p:nvPr/>
        </p:nvSpPr>
        <p:spPr>
          <a:xfrm>
            <a:off x="10731731" y="4736018"/>
            <a:ext cx="1479664" cy="440574"/>
          </a:xfrm>
          <a:prstGeom prst="wedgeRoundRectCallout">
            <a:avLst>
              <a:gd name="adj1" fmla="val -61406"/>
              <a:gd name="adj2" fmla="val -4482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效果</a:t>
            </a:r>
          </a:p>
        </p:txBody>
      </p:sp>
    </p:spTree>
    <p:extLst>
      <p:ext uri="{BB962C8B-B14F-4D97-AF65-F5344CB8AC3E}">
        <p14:creationId xmlns:p14="http://schemas.microsoft.com/office/powerpoint/2010/main" val="346189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0F13BE-3902-6F44-E9B4-3D3C24C7BB23}"/>
              </a:ext>
            </a:extLst>
          </p:cNvPr>
          <p:cNvSpPr>
            <a:spLocks noGrp="1"/>
          </p:cNvSpPr>
          <p:nvPr>
            <p:ph type="title"/>
          </p:nvPr>
        </p:nvSpPr>
        <p:spPr/>
        <p:txBody>
          <a:bodyPr/>
          <a:lstStyle/>
          <a:p>
            <a:r>
              <a:rPr lang="en-US" altLang="zh-CN" dirty="0"/>
              <a:t>Introduction(1/5)</a:t>
            </a:r>
            <a:endParaRPr lang="zh-CN" altLang="en-US" dirty="0"/>
          </a:p>
        </p:txBody>
      </p:sp>
      <p:sp>
        <p:nvSpPr>
          <p:cNvPr id="3" name="内容占位符 2">
            <a:extLst>
              <a:ext uri="{FF2B5EF4-FFF2-40B4-BE49-F238E27FC236}">
                <a16:creationId xmlns:a16="http://schemas.microsoft.com/office/drawing/2014/main" id="{E72D2BE4-B740-CB79-323D-7145190E9077}"/>
              </a:ext>
            </a:extLst>
          </p:cNvPr>
          <p:cNvSpPr>
            <a:spLocks noGrp="1"/>
          </p:cNvSpPr>
          <p:nvPr>
            <p:ph idx="1"/>
          </p:nvPr>
        </p:nvSpPr>
        <p:spPr>
          <a:xfrm>
            <a:off x="838200" y="1599248"/>
            <a:ext cx="9228513" cy="4799619"/>
          </a:xfrm>
        </p:spPr>
        <p:txBody>
          <a:bodyPr>
            <a:normAutofit lnSpcReduction="10000"/>
          </a:bodyPr>
          <a:lstStyle/>
          <a:p>
            <a:pPr algn="just">
              <a:lnSpc>
                <a:spcPct val="150000"/>
              </a:lnSpc>
            </a:pPr>
            <a:r>
              <a:rPr lang="en-US" altLang="zh-CN" sz="2000" dirty="0">
                <a:solidFill>
                  <a:schemeClr val="accent1">
                    <a:lumMod val="75000"/>
                  </a:schemeClr>
                </a:solidFill>
              </a:rPr>
              <a:t>Large-scale models trained on vision and language data—also known as foundation models— have emerged as a universal backbone for tackling many recognition problems in computer vision, graphics and robotics. </a:t>
            </a:r>
            <a:r>
              <a:rPr lang="en-US" altLang="zh-CN" sz="2000" b="1" dirty="0">
                <a:solidFill>
                  <a:schemeClr val="accent1">
                    <a:lumMod val="75000"/>
                  </a:schemeClr>
                </a:solidFill>
              </a:rPr>
              <a:t>One of the key advantages of foundation models is zero-shot generalization, where the models use just a single textual description to recognize new visual categories with high accuracy.</a:t>
            </a:r>
            <a:r>
              <a:rPr lang="en-US" altLang="zh-CN" sz="2000" dirty="0"/>
              <a:t> Since those large-scale models are powerful, they will continue to be used in many critical applications, where it is important to make them reliable. </a:t>
            </a:r>
            <a:r>
              <a:rPr lang="en-US" altLang="zh-CN" sz="2000" dirty="0">
                <a:solidFill>
                  <a:schemeClr val="accent6">
                    <a:lumMod val="75000"/>
                  </a:schemeClr>
                </a:solidFill>
              </a:rPr>
              <a:t>However, </a:t>
            </a:r>
            <a:r>
              <a:rPr lang="en-US" altLang="zh-CN" sz="2000" b="1" dirty="0">
                <a:solidFill>
                  <a:schemeClr val="accent6">
                    <a:lumMod val="75000"/>
                  </a:schemeClr>
                </a:solidFill>
              </a:rPr>
              <a:t>robustness under adversarial examples remains a challenge</a:t>
            </a:r>
            <a:r>
              <a:rPr lang="en-US" altLang="zh-CN" sz="2000" dirty="0">
                <a:solidFill>
                  <a:schemeClr val="accent6">
                    <a:lumMod val="75000"/>
                  </a:schemeClr>
                </a:solidFill>
              </a:rPr>
              <a:t>, where an imperceptible pattern can be combined with the image to cause recognition failures, where attack on foundation models can consequently corrupt the downstream applications.</a:t>
            </a:r>
            <a:endParaRPr lang="zh-CN" altLang="en-US" sz="2000" dirty="0">
              <a:solidFill>
                <a:schemeClr val="accent6">
                  <a:lumMod val="75000"/>
                </a:schemeClr>
              </a:solidFill>
            </a:endParaRPr>
          </a:p>
        </p:txBody>
      </p:sp>
      <p:sp>
        <p:nvSpPr>
          <p:cNvPr id="4" name="文本框 3">
            <a:extLst>
              <a:ext uri="{FF2B5EF4-FFF2-40B4-BE49-F238E27FC236}">
                <a16:creationId xmlns:a16="http://schemas.microsoft.com/office/drawing/2014/main" id="{60AC6861-C1D6-FEE4-F6CB-AB3CD4180B02}"/>
              </a:ext>
            </a:extLst>
          </p:cNvPr>
          <p:cNvSpPr txBox="1"/>
          <p:nvPr/>
        </p:nvSpPr>
        <p:spPr>
          <a:xfrm>
            <a:off x="10332719" y="1690733"/>
            <a:ext cx="1737360" cy="2308324"/>
          </a:xfrm>
          <a:prstGeom prst="rect">
            <a:avLst/>
          </a:prstGeom>
          <a:noFill/>
        </p:spPr>
        <p:txBody>
          <a:bodyPr wrap="square" rtlCol="0">
            <a:spAutoFit/>
          </a:bodyPr>
          <a:lstStyle/>
          <a:p>
            <a:r>
              <a:rPr lang="zh-CN" altLang="en-US" dirty="0">
                <a:solidFill>
                  <a:schemeClr val="accent1">
                    <a:lumMod val="75000"/>
                  </a:schemeClr>
                </a:solidFill>
              </a:rPr>
              <a:t>视觉</a:t>
            </a:r>
            <a:r>
              <a:rPr lang="en-US" altLang="zh-CN" dirty="0">
                <a:solidFill>
                  <a:schemeClr val="accent1">
                    <a:lumMod val="75000"/>
                  </a:schemeClr>
                </a:solidFill>
              </a:rPr>
              <a:t>-</a:t>
            </a:r>
            <a:r>
              <a:rPr lang="zh-CN" altLang="en-US" dirty="0">
                <a:solidFill>
                  <a:schemeClr val="accent1">
                    <a:lumMod val="75000"/>
                  </a:schemeClr>
                </a:solidFill>
              </a:rPr>
              <a:t>语言基础模型的被广泛作为骨干网络应用</a:t>
            </a:r>
            <a:endParaRPr lang="en-US" altLang="zh-CN" dirty="0">
              <a:solidFill>
                <a:schemeClr val="accent1">
                  <a:lumMod val="75000"/>
                </a:schemeClr>
              </a:solidFill>
            </a:endParaRPr>
          </a:p>
          <a:p>
            <a:endParaRPr lang="en-US" altLang="zh-CN" dirty="0">
              <a:solidFill>
                <a:schemeClr val="accent1">
                  <a:lumMod val="75000"/>
                </a:schemeClr>
              </a:solidFill>
            </a:endParaRPr>
          </a:p>
          <a:p>
            <a:endParaRPr lang="en-US" altLang="zh-CN" dirty="0">
              <a:solidFill>
                <a:schemeClr val="accent1">
                  <a:lumMod val="75000"/>
                </a:schemeClr>
              </a:solidFill>
            </a:endParaRPr>
          </a:p>
          <a:p>
            <a:r>
              <a:rPr lang="zh-CN" altLang="en-US" dirty="0">
                <a:solidFill>
                  <a:schemeClr val="accent1">
                    <a:lumMod val="75000"/>
                  </a:schemeClr>
                </a:solidFill>
              </a:rPr>
              <a:t>零样本泛化能力</a:t>
            </a:r>
            <a:endParaRPr lang="en-US" altLang="zh-CN" dirty="0">
              <a:solidFill>
                <a:schemeClr val="accent1">
                  <a:lumMod val="75000"/>
                </a:schemeClr>
              </a:solidFill>
            </a:endParaRPr>
          </a:p>
        </p:txBody>
      </p:sp>
      <p:sp>
        <p:nvSpPr>
          <p:cNvPr id="5" name="文本框 4">
            <a:extLst>
              <a:ext uri="{FF2B5EF4-FFF2-40B4-BE49-F238E27FC236}">
                <a16:creationId xmlns:a16="http://schemas.microsoft.com/office/drawing/2014/main" id="{8BB1643C-67F4-4731-E479-07B8AD96D464}"/>
              </a:ext>
            </a:extLst>
          </p:cNvPr>
          <p:cNvSpPr txBox="1"/>
          <p:nvPr/>
        </p:nvSpPr>
        <p:spPr>
          <a:xfrm>
            <a:off x="10332719" y="4713317"/>
            <a:ext cx="1579418" cy="923330"/>
          </a:xfrm>
          <a:prstGeom prst="rect">
            <a:avLst/>
          </a:prstGeom>
          <a:noFill/>
        </p:spPr>
        <p:txBody>
          <a:bodyPr wrap="square" rtlCol="0">
            <a:spAutoFit/>
          </a:bodyPr>
          <a:lstStyle/>
          <a:p>
            <a:r>
              <a:rPr lang="zh-CN" altLang="en-US" dirty="0">
                <a:solidFill>
                  <a:schemeClr val="accent6">
                    <a:lumMod val="75000"/>
                  </a:schemeClr>
                </a:solidFill>
              </a:rPr>
              <a:t>在对抗样本下的鲁棒性仍是问题</a:t>
            </a:r>
          </a:p>
        </p:txBody>
      </p:sp>
    </p:spTree>
    <p:extLst>
      <p:ext uri="{BB962C8B-B14F-4D97-AF65-F5344CB8AC3E}">
        <p14:creationId xmlns:p14="http://schemas.microsoft.com/office/powerpoint/2010/main" val="18112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10EEB6-F2BA-2F33-5A67-C0A95A3F3CCF}"/>
              </a:ext>
            </a:extLst>
          </p:cNvPr>
          <p:cNvSpPr>
            <a:spLocks noGrp="1"/>
          </p:cNvSpPr>
          <p:nvPr>
            <p:ph type="title"/>
          </p:nvPr>
        </p:nvSpPr>
        <p:spPr/>
        <p:txBody>
          <a:bodyPr/>
          <a:lstStyle/>
          <a:p>
            <a:r>
              <a:rPr lang="en-US" altLang="zh-CN" dirty="0"/>
              <a:t>Introduction(2/5)</a:t>
            </a:r>
            <a:endParaRPr lang="zh-CN" altLang="en-US" dirty="0"/>
          </a:p>
        </p:txBody>
      </p:sp>
      <p:sp>
        <p:nvSpPr>
          <p:cNvPr id="3" name="内容占位符 2">
            <a:extLst>
              <a:ext uri="{FF2B5EF4-FFF2-40B4-BE49-F238E27FC236}">
                <a16:creationId xmlns:a16="http://schemas.microsoft.com/office/drawing/2014/main" id="{2800ADAC-F6F1-1D75-7452-E329C8164E55}"/>
              </a:ext>
            </a:extLst>
          </p:cNvPr>
          <p:cNvSpPr>
            <a:spLocks noGrp="1"/>
          </p:cNvSpPr>
          <p:nvPr>
            <p:ph idx="1"/>
          </p:nvPr>
        </p:nvSpPr>
        <p:spPr>
          <a:xfrm>
            <a:off x="838200" y="1554480"/>
            <a:ext cx="9319953" cy="4821382"/>
          </a:xfrm>
        </p:spPr>
        <p:txBody>
          <a:bodyPr>
            <a:normAutofit/>
          </a:bodyPr>
          <a:lstStyle/>
          <a:p>
            <a:pPr algn="just">
              <a:lnSpc>
                <a:spcPct val="150000"/>
              </a:lnSpc>
            </a:pPr>
            <a:r>
              <a:rPr lang="en-US" altLang="zh-CN" sz="2000" dirty="0"/>
              <a:t>Due to the importance of this problem, there is a large literature that investigates adversarial robustness for neural networks. The most common approach for adversarial defense is to learn the model through </a:t>
            </a:r>
            <a:r>
              <a:rPr lang="en-US" altLang="zh-CN" sz="2000" b="1" dirty="0">
                <a:solidFill>
                  <a:srgbClr val="C00000"/>
                </a:solidFill>
              </a:rPr>
              <a:t>adversarial training</a:t>
            </a:r>
            <a:r>
              <a:rPr lang="en-US" altLang="zh-CN" sz="2000" dirty="0"/>
              <a:t>, which involves augmenting the training set with mined adversarial examples that fool the image classifier. Adversarial training has been validated to improve robustness on the task that the mined examples come from, </a:t>
            </a:r>
            <a:r>
              <a:rPr lang="en-US" altLang="zh-CN" sz="2000" dirty="0">
                <a:solidFill>
                  <a:srgbClr val="C00000"/>
                </a:solidFill>
              </a:rPr>
              <a:t>but it often comes at a cost of generalization</a:t>
            </a:r>
            <a:r>
              <a:rPr lang="en-US" altLang="zh-CN" sz="2000" dirty="0"/>
              <a:t>. However, our world is vast and naturally open, and only evaluating adversarial robustness on the learned tasks is limited. </a:t>
            </a:r>
            <a:r>
              <a:rPr lang="en-US" altLang="zh-CN" sz="2000" i="1" dirty="0"/>
              <a:t>Can we achieve zero-shot transferability for adversarial robustness, even if the model has never been trained on the unknown tasks?</a:t>
            </a:r>
            <a:endParaRPr lang="zh-CN" altLang="en-US" sz="2000" i="1" dirty="0"/>
          </a:p>
        </p:txBody>
      </p:sp>
      <p:sp>
        <p:nvSpPr>
          <p:cNvPr id="4" name="文本框 3">
            <a:extLst>
              <a:ext uri="{FF2B5EF4-FFF2-40B4-BE49-F238E27FC236}">
                <a16:creationId xmlns:a16="http://schemas.microsoft.com/office/drawing/2014/main" id="{92E6958C-22D7-BE4D-BD4A-4E0AC8CC5AC4}"/>
              </a:ext>
            </a:extLst>
          </p:cNvPr>
          <p:cNvSpPr txBox="1"/>
          <p:nvPr/>
        </p:nvSpPr>
        <p:spPr>
          <a:xfrm>
            <a:off x="10299471" y="2593572"/>
            <a:ext cx="1512916" cy="1200329"/>
          </a:xfrm>
          <a:prstGeom prst="rect">
            <a:avLst/>
          </a:prstGeom>
          <a:noFill/>
        </p:spPr>
        <p:txBody>
          <a:bodyPr wrap="square" rtlCol="0">
            <a:spAutoFit/>
          </a:bodyPr>
          <a:lstStyle/>
          <a:p>
            <a:r>
              <a:rPr lang="zh-CN" altLang="en-US" dirty="0">
                <a:solidFill>
                  <a:srgbClr val="C00000"/>
                </a:solidFill>
              </a:rPr>
              <a:t>对抗性训练存在鲁棒性</a:t>
            </a:r>
            <a:r>
              <a:rPr lang="en-US" altLang="zh-CN" dirty="0">
                <a:solidFill>
                  <a:srgbClr val="C00000"/>
                </a:solidFill>
              </a:rPr>
              <a:t>-</a:t>
            </a:r>
            <a:r>
              <a:rPr lang="zh-CN" altLang="en-US" dirty="0">
                <a:solidFill>
                  <a:srgbClr val="C00000"/>
                </a:solidFill>
              </a:rPr>
              <a:t>泛化能力的</a:t>
            </a:r>
            <a:r>
              <a:rPr lang="en-US" altLang="zh-CN" dirty="0">
                <a:solidFill>
                  <a:srgbClr val="C00000"/>
                </a:solidFill>
              </a:rPr>
              <a:t>trade-off</a:t>
            </a:r>
            <a:endParaRPr lang="zh-CN" altLang="en-US" dirty="0">
              <a:solidFill>
                <a:srgbClr val="C00000"/>
              </a:solidFill>
            </a:endParaRPr>
          </a:p>
        </p:txBody>
      </p:sp>
      <p:sp>
        <p:nvSpPr>
          <p:cNvPr id="5" name="文本框 4">
            <a:extLst>
              <a:ext uri="{FF2B5EF4-FFF2-40B4-BE49-F238E27FC236}">
                <a16:creationId xmlns:a16="http://schemas.microsoft.com/office/drawing/2014/main" id="{D23D3032-5513-5343-1AE3-6A95AC3BFE7F}"/>
              </a:ext>
            </a:extLst>
          </p:cNvPr>
          <p:cNvSpPr txBox="1"/>
          <p:nvPr/>
        </p:nvSpPr>
        <p:spPr>
          <a:xfrm>
            <a:off x="10299471" y="4536961"/>
            <a:ext cx="1673993" cy="1477328"/>
          </a:xfrm>
          <a:prstGeom prst="rect">
            <a:avLst/>
          </a:prstGeom>
          <a:noFill/>
        </p:spPr>
        <p:txBody>
          <a:bodyPr wrap="square" rtlCol="0">
            <a:spAutoFit/>
          </a:bodyPr>
          <a:lstStyle/>
          <a:p>
            <a:r>
              <a:rPr lang="zh-CN" altLang="en-US" dirty="0"/>
              <a:t>本文的目标，提升对抗样本鲁棒性的同时保持模型的泛化能力</a:t>
            </a:r>
          </a:p>
        </p:txBody>
      </p:sp>
    </p:spTree>
    <p:extLst>
      <p:ext uri="{BB962C8B-B14F-4D97-AF65-F5344CB8AC3E}">
        <p14:creationId xmlns:p14="http://schemas.microsoft.com/office/powerpoint/2010/main" val="2275410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36DB0E-BD98-4C6A-5539-C5CA5D4819A4}"/>
              </a:ext>
            </a:extLst>
          </p:cNvPr>
          <p:cNvSpPr>
            <a:spLocks noGrp="1"/>
          </p:cNvSpPr>
          <p:nvPr>
            <p:ph type="title"/>
          </p:nvPr>
        </p:nvSpPr>
        <p:spPr/>
        <p:txBody>
          <a:bodyPr/>
          <a:lstStyle/>
          <a:p>
            <a:r>
              <a:rPr lang="en-US" altLang="zh-CN" dirty="0"/>
              <a:t>Introduction(3/5)</a:t>
            </a:r>
            <a:endParaRPr lang="zh-CN" altLang="en-US" dirty="0"/>
          </a:p>
        </p:txBody>
      </p:sp>
      <p:sp>
        <p:nvSpPr>
          <p:cNvPr id="3" name="内容占位符 2">
            <a:extLst>
              <a:ext uri="{FF2B5EF4-FFF2-40B4-BE49-F238E27FC236}">
                <a16:creationId xmlns:a16="http://schemas.microsoft.com/office/drawing/2014/main" id="{F18E1B2B-4347-4259-ADF9-1D24E83B722D}"/>
              </a:ext>
            </a:extLst>
          </p:cNvPr>
          <p:cNvSpPr>
            <a:spLocks noGrp="1"/>
          </p:cNvSpPr>
          <p:nvPr>
            <p:ph idx="1"/>
          </p:nvPr>
        </p:nvSpPr>
        <p:spPr>
          <a:xfrm>
            <a:off x="838200" y="1579103"/>
            <a:ext cx="8995913" cy="4913771"/>
          </a:xfrm>
        </p:spPr>
        <p:txBody>
          <a:bodyPr>
            <a:normAutofit lnSpcReduction="10000"/>
          </a:bodyPr>
          <a:lstStyle/>
          <a:p>
            <a:pPr algn="just">
              <a:lnSpc>
                <a:spcPct val="150000"/>
              </a:lnSpc>
            </a:pPr>
            <a:r>
              <a:rPr lang="en-US" altLang="zh-CN" sz="2000" dirty="0"/>
              <a:t>In this paper, we study this important yet under-explored problem, zero-shot adversarial robustness of large-scale vision-language models. We start our investigation with the state-of-the-art CLIP model, which has been shown to be effective in zero-shot recognition tasks. </a:t>
            </a:r>
            <a:r>
              <a:rPr lang="en-US" altLang="zh-CN" sz="2000" b="1" dirty="0">
                <a:solidFill>
                  <a:schemeClr val="accent1">
                    <a:lumMod val="75000"/>
                  </a:schemeClr>
                </a:solidFill>
              </a:rPr>
              <a:t>We find that simply adding an imperceptible vector to the image (≤ 1/255) can subvert CLIP’s prediction </a:t>
            </a:r>
            <a:r>
              <a:rPr lang="en-US" altLang="zh-CN" sz="2000" dirty="0"/>
              <a:t>(see Figure 1a). If we follow the standard adversarial training defense paradigm to finetune CLIP on the ImageNet training set, we observe that the adapted CLIP has improved adversarial robustness on the ImageNet validation set</a:t>
            </a:r>
            <a:r>
              <a:rPr lang="en-US" altLang="zh-CN" sz="2000" b="1" dirty="0">
                <a:solidFill>
                  <a:srgbClr val="C00000"/>
                </a:solidFill>
              </a:rPr>
              <a:t>, but comes at the cost of significantly reduced accuracy on unseen datasets and classes </a:t>
            </a:r>
            <a:r>
              <a:rPr lang="en-US" altLang="zh-CN" sz="2000" dirty="0"/>
              <a:t>(Figure 1b). Standard adversarial training backfires on CLIP as it fails to retain the model’s zero-shot generalization ability.</a:t>
            </a:r>
            <a:endParaRPr lang="zh-CN" altLang="en-US" sz="2000" dirty="0"/>
          </a:p>
        </p:txBody>
      </p:sp>
      <p:sp>
        <p:nvSpPr>
          <p:cNvPr id="4" name="文本框 3">
            <a:extLst>
              <a:ext uri="{FF2B5EF4-FFF2-40B4-BE49-F238E27FC236}">
                <a16:creationId xmlns:a16="http://schemas.microsoft.com/office/drawing/2014/main" id="{548E6582-6AC1-21C3-2787-932E3CD42E2F}"/>
              </a:ext>
            </a:extLst>
          </p:cNvPr>
          <p:cNvSpPr txBox="1"/>
          <p:nvPr/>
        </p:nvSpPr>
        <p:spPr>
          <a:xfrm>
            <a:off x="9975272" y="4548002"/>
            <a:ext cx="2066791" cy="923330"/>
          </a:xfrm>
          <a:prstGeom prst="rect">
            <a:avLst/>
          </a:prstGeom>
          <a:noFill/>
        </p:spPr>
        <p:txBody>
          <a:bodyPr wrap="square" rtlCol="0">
            <a:spAutoFit/>
          </a:bodyPr>
          <a:lstStyle/>
          <a:p>
            <a:r>
              <a:rPr lang="zh-CN" altLang="en-US" dirty="0"/>
              <a:t>观察到</a:t>
            </a:r>
            <a:r>
              <a:rPr lang="en-US" altLang="zh-CN" dirty="0"/>
              <a:t>CLIP</a:t>
            </a:r>
            <a:r>
              <a:rPr lang="zh-CN" altLang="en-US" dirty="0"/>
              <a:t>经过标准的对抗性训练后泛化能力大大降低</a:t>
            </a:r>
          </a:p>
        </p:txBody>
      </p:sp>
      <p:sp>
        <p:nvSpPr>
          <p:cNvPr id="5" name="文本框 4">
            <a:extLst>
              <a:ext uri="{FF2B5EF4-FFF2-40B4-BE49-F238E27FC236}">
                <a16:creationId xmlns:a16="http://schemas.microsoft.com/office/drawing/2014/main" id="{D375909C-7B20-2974-75CE-827AD76721E1}"/>
              </a:ext>
            </a:extLst>
          </p:cNvPr>
          <p:cNvSpPr txBox="1"/>
          <p:nvPr/>
        </p:nvSpPr>
        <p:spPr>
          <a:xfrm>
            <a:off x="9975272" y="2926079"/>
            <a:ext cx="1867285" cy="646331"/>
          </a:xfrm>
          <a:prstGeom prst="rect">
            <a:avLst/>
          </a:prstGeom>
          <a:noFill/>
        </p:spPr>
        <p:txBody>
          <a:bodyPr wrap="square" rtlCol="0">
            <a:spAutoFit/>
          </a:bodyPr>
          <a:lstStyle/>
          <a:p>
            <a:r>
              <a:rPr lang="en-US" altLang="zh-CN" dirty="0"/>
              <a:t>CLIP</a:t>
            </a:r>
            <a:r>
              <a:rPr lang="zh-CN" altLang="en-US" dirty="0"/>
              <a:t>易受对抗性攻击影响</a:t>
            </a:r>
          </a:p>
        </p:txBody>
      </p:sp>
    </p:spTree>
    <p:extLst>
      <p:ext uri="{BB962C8B-B14F-4D97-AF65-F5344CB8AC3E}">
        <p14:creationId xmlns:p14="http://schemas.microsoft.com/office/powerpoint/2010/main" val="166157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EE5950-A3DC-C8D8-5032-660E9F32097C}"/>
              </a:ext>
            </a:extLst>
          </p:cNvPr>
          <p:cNvSpPr>
            <a:spLocks noGrp="1"/>
          </p:cNvSpPr>
          <p:nvPr>
            <p:ph type="title"/>
          </p:nvPr>
        </p:nvSpPr>
        <p:spPr/>
        <p:txBody>
          <a:bodyPr/>
          <a:lstStyle/>
          <a:p>
            <a:r>
              <a:rPr lang="en-US" altLang="zh-CN" dirty="0"/>
              <a:t>Introduction(4/5)</a:t>
            </a:r>
            <a:endParaRPr lang="zh-CN" altLang="en-US" dirty="0"/>
          </a:p>
        </p:txBody>
      </p:sp>
      <p:sp>
        <p:nvSpPr>
          <p:cNvPr id="3" name="内容占位符 2">
            <a:extLst>
              <a:ext uri="{FF2B5EF4-FFF2-40B4-BE49-F238E27FC236}">
                <a16:creationId xmlns:a16="http://schemas.microsoft.com/office/drawing/2014/main" id="{D2A3B32F-2E48-B9C4-F215-E815C23F17EE}"/>
              </a:ext>
            </a:extLst>
          </p:cNvPr>
          <p:cNvSpPr>
            <a:spLocks noGrp="1"/>
          </p:cNvSpPr>
          <p:nvPr>
            <p:ph idx="1"/>
          </p:nvPr>
        </p:nvSpPr>
        <p:spPr>
          <a:xfrm>
            <a:off x="838201" y="1371600"/>
            <a:ext cx="8987444" cy="5378334"/>
          </a:xfrm>
        </p:spPr>
        <p:txBody>
          <a:bodyPr>
            <a:normAutofit lnSpcReduction="10000"/>
          </a:bodyPr>
          <a:lstStyle/>
          <a:p>
            <a:pPr algn="just">
              <a:lnSpc>
                <a:spcPct val="110000"/>
              </a:lnSpc>
            </a:pPr>
            <a:r>
              <a:rPr lang="en-US" altLang="zh-CN" sz="2000" b="1" dirty="0">
                <a:solidFill>
                  <a:schemeClr val="accent6">
                    <a:lumMod val="75000"/>
                  </a:schemeClr>
                </a:solidFill>
              </a:rPr>
              <a:t>Adaptation methods</a:t>
            </a:r>
            <a:r>
              <a:rPr lang="en-US" altLang="zh-CN" sz="2000" dirty="0"/>
              <a:t> and </a:t>
            </a:r>
            <a:r>
              <a:rPr lang="en-US" altLang="zh-CN" sz="2000" b="1" dirty="0">
                <a:solidFill>
                  <a:schemeClr val="accent6">
                    <a:lumMod val="75000"/>
                  </a:schemeClr>
                </a:solidFill>
              </a:rPr>
              <a:t>training objectives</a:t>
            </a:r>
            <a:r>
              <a:rPr lang="en-US" altLang="zh-CN" sz="2000" dirty="0"/>
              <a:t> are the two major factors for adapting a large-scale model. </a:t>
            </a:r>
            <a:r>
              <a:rPr lang="en-US" altLang="zh-CN" sz="2000" u="sng" dirty="0"/>
              <a:t>First,</a:t>
            </a:r>
            <a:r>
              <a:rPr lang="en-US" altLang="zh-CN" sz="2000" dirty="0"/>
              <a:t> besides finetuning the whole model, we seek an alternative adaptation method—</a:t>
            </a:r>
            <a:r>
              <a:rPr lang="en-US" altLang="zh-CN" sz="2000" b="1" dirty="0"/>
              <a:t>visual prompt tuning</a:t>
            </a:r>
            <a:r>
              <a:rPr lang="en-US" altLang="zh-CN" sz="2000" dirty="0"/>
              <a:t>—which adapts the inputs instead of the parameters of the model. Visual prompt tuning (VPT) is an emerging light-weight adaptation method that learns a visual prompt which is added to the input image, where we use visual prompt to instruct the model to be robust against adversaries. </a:t>
            </a:r>
            <a:r>
              <a:rPr lang="en-US" altLang="zh-CN" sz="2000" u="sng" dirty="0"/>
              <a:t>Second</a:t>
            </a:r>
            <a:r>
              <a:rPr lang="en-US" altLang="zh-CN" sz="2000" dirty="0"/>
              <a:t>, we find that the </a:t>
            </a:r>
            <a:r>
              <a:rPr lang="en-US" altLang="zh-CN" sz="2000" b="1" dirty="0">
                <a:solidFill>
                  <a:srgbClr val="C00000"/>
                </a:solidFill>
              </a:rPr>
              <a:t>standard adversarial training objective ignores the visual-language alignment in CLIP’s pretrained representation space</a:t>
            </a:r>
            <a:r>
              <a:rPr lang="en-US" altLang="zh-CN" sz="2000" dirty="0"/>
              <a:t>, causing the model to lose zero-shot capability. We then propose a </a:t>
            </a:r>
            <a:r>
              <a:rPr lang="en-US" altLang="zh-CN" sz="2000" b="1" dirty="0"/>
              <a:t>text-guided contrastive adversarial training (</a:t>
            </a:r>
            <a:r>
              <a:rPr lang="en-US" altLang="zh-CN" sz="2000" b="1" dirty="0" err="1"/>
              <a:t>TeCoA</a:t>
            </a:r>
            <a:r>
              <a:rPr lang="en-US" altLang="zh-CN" sz="2000" b="1" dirty="0"/>
              <a:t>) loss</a:t>
            </a:r>
            <a:r>
              <a:rPr lang="en-US" altLang="zh-CN" sz="2000" dirty="0"/>
              <a:t>, dubbed as Tekoa (</a:t>
            </a:r>
            <a:r>
              <a:rPr lang="en-US" altLang="zh-CN" sz="2000" dirty="0" err="1"/>
              <a:t>tee·kow</a:t>
            </a:r>
            <a:r>
              <a:rPr lang="en-US" altLang="zh-CN" sz="2000" dirty="0"/>
              <a:t>), which maximizes the similarity of the adversarial visual features and the correct text embeddings with contrastive learning. Since the adapted visual features continue to align well with the text features, the model adapted with </a:t>
            </a:r>
            <a:r>
              <a:rPr lang="en-US" altLang="zh-CN" sz="2000" b="1" dirty="0" err="1"/>
              <a:t>TeCoA</a:t>
            </a:r>
            <a:r>
              <a:rPr lang="en-US" altLang="zh-CN" sz="2000" b="1" dirty="0"/>
              <a:t> can maximally retain the original zero-shot generalization of CLIP while enjoying improved adversarial robustness.</a:t>
            </a:r>
            <a:endParaRPr lang="zh-CN" altLang="en-US" sz="2000" b="1" dirty="0"/>
          </a:p>
        </p:txBody>
      </p:sp>
      <p:sp>
        <p:nvSpPr>
          <p:cNvPr id="4" name="文本框 3">
            <a:extLst>
              <a:ext uri="{FF2B5EF4-FFF2-40B4-BE49-F238E27FC236}">
                <a16:creationId xmlns:a16="http://schemas.microsoft.com/office/drawing/2014/main" id="{A046B69D-7EBB-45FB-E049-A1EFA44A4C02}"/>
              </a:ext>
            </a:extLst>
          </p:cNvPr>
          <p:cNvSpPr txBox="1"/>
          <p:nvPr/>
        </p:nvSpPr>
        <p:spPr>
          <a:xfrm>
            <a:off x="9984330" y="1432769"/>
            <a:ext cx="2133547" cy="3416320"/>
          </a:xfrm>
          <a:prstGeom prst="rect">
            <a:avLst/>
          </a:prstGeom>
          <a:noFill/>
        </p:spPr>
        <p:txBody>
          <a:bodyPr wrap="square" rtlCol="0">
            <a:spAutoFit/>
          </a:bodyPr>
          <a:lstStyle/>
          <a:p>
            <a:r>
              <a:rPr lang="zh-CN" altLang="en-US" dirty="0">
                <a:solidFill>
                  <a:schemeClr val="accent6">
                    <a:lumMod val="75000"/>
                  </a:schemeClr>
                </a:solidFill>
              </a:rPr>
              <a:t>在微调方式和损失函数两方面的创新：</a:t>
            </a:r>
            <a:endParaRPr lang="en-US" altLang="zh-CN" dirty="0">
              <a:solidFill>
                <a:schemeClr val="accent6">
                  <a:lumMod val="75000"/>
                </a:schemeClr>
              </a:solidFill>
            </a:endParaRPr>
          </a:p>
          <a:p>
            <a:endParaRPr lang="en-US" altLang="zh-CN" dirty="0"/>
          </a:p>
          <a:p>
            <a:r>
              <a:rPr lang="en-US" altLang="zh-CN" dirty="0"/>
              <a:t>VPT</a:t>
            </a:r>
            <a:r>
              <a:rPr lang="zh-CN" altLang="en-US" dirty="0"/>
              <a:t>（视觉</a:t>
            </a:r>
            <a:r>
              <a:rPr lang="en-US" altLang="zh-CN" dirty="0"/>
              <a:t>prompt</a:t>
            </a:r>
            <a:r>
              <a:rPr lang="zh-CN" altLang="en-US" dirty="0"/>
              <a:t>微调）</a:t>
            </a:r>
            <a:endParaRPr lang="en-US" altLang="zh-CN" dirty="0"/>
          </a:p>
          <a:p>
            <a:endParaRPr lang="en-US" altLang="zh-CN" dirty="0"/>
          </a:p>
          <a:p>
            <a:endParaRPr lang="en-US" altLang="zh-CN" dirty="0"/>
          </a:p>
          <a:p>
            <a:r>
              <a:rPr lang="zh-CN" altLang="en-US" dirty="0"/>
              <a:t>标准对抗性训练的问题</a:t>
            </a:r>
            <a:endParaRPr lang="en-US" altLang="zh-CN" dirty="0"/>
          </a:p>
          <a:p>
            <a:endParaRPr lang="en-US" altLang="zh-CN" dirty="0"/>
          </a:p>
          <a:p>
            <a:r>
              <a:rPr lang="zh-CN" altLang="en-US" dirty="0"/>
              <a:t>文本指导的对比对抗性训练（</a:t>
            </a:r>
            <a:r>
              <a:rPr lang="en-US" altLang="zh-CN" dirty="0" err="1"/>
              <a:t>TeCoA</a:t>
            </a:r>
            <a:r>
              <a:rPr lang="en-US" altLang="zh-CN" dirty="0"/>
              <a:t>)</a:t>
            </a:r>
          </a:p>
        </p:txBody>
      </p:sp>
      <p:sp>
        <p:nvSpPr>
          <p:cNvPr id="5" name="箭头: 下 4">
            <a:extLst>
              <a:ext uri="{FF2B5EF4-FFF2-40B4-BE49-F238E27FC236}">
                <a16:creationId xmlns:a16="http://schemas.microsoft.com/office/drawing/2014/main" id="{4087422A-12A8-4D64-517F-14813C1D34D9}"/>
              </a:ext>
            </a:extLst>
          </p:cNvPr>
          <p:cNvSpPr/>
          <p:nvPr/>
        </p:nvSpPr>
        <p:spPr>
          <a:xfrm>
            <a:off x="10802471" y="3926541"/>
            <a:ext cx="224117" cy="19722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91511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C16FBF-4D3E-7913-879F-4A62AC47B0A3}"/>
              </a:ext>
            </a:extLst>
          </p:cNvPr>
          <p:cNvSpPr>
            <a:spLocks noGrp="1"/>
          </p:cNvSpPr>
          <p:nvPr>
            <p:ph type="title"/>
          </p:nvPr>
        </p:nvSpPr>
        <p:spPr/>
        <p:txBody>
          <a:bodyPr/>
          <a:lstStyle/>
          <a:p>
            <a:r>
              <a:rPr lang="en-US" altLang="zh-CN" dirty="0"/>
              <a:t>Introduction(5/5)</a:t>
            </a:r>
            <a:endParaRPr lang="zh-CN" altLang="en-US" dirty="0"/>
          </a:p>
        </p:txBody>
      </p:sp>
      <p:sp>
        <p:nvSpPr>
          <p:cNvPr id="3" name="内容占位符 2">
            <a:extLst>
              <a:ext uri="{FF2B5EF4-FFF2-40B4-BE49-F238E27FC236}">
                <a16:creationId xmlns:a16="http://schemas.microsoft.com/office/drawing/2014/main" id="{A31542A0-D8D7-4EE4-6F85-456787A5DCB4}"/>
              </a:ext>
            </a:extLst>
          </p:cNvPr>
          <p:cNvSpPr>
            <a:spLocks noGrp="1"/>
          </p:cNvSpPr>
          <p:nvPr>
            <p:ph idx="1"/>
          </p:nvPr>
        </p:nvSpPr>
        <p:spPr>
          <a:xfrm>
            <a:off x="838200" y="1468177"/>
            <a:ext cx="8605058" cy="5256820"/>
          </a:xfrm>
        </p:spPr>
        <p:txBody>
          <a:bodyPr>
            <a:normAutofit/>
          </a:bodyPr>
          <a:lstStyle/>
          <a:p>
            <a:pPr algn="just">
              <a:lnSpc>
                <a:spcPct val="110000"/>
              </a:lnSpc>
            </a:pPr>
            <a:r>
              <a:rPr lang="en-US" altLang="zh-CN" sz="2000" dirty="0">
                <a:solidFill>
                  <a:srgbClr val="0070C0"/>
                </a:solidFill>
              </a:rPr>
              <a:t>We conduct an extensive evaluation on 15 zero-shot image datasets, offering a holistic study of the zero-shot adversarial robustness problem. </a:t>
            </a:r>
            <a:r>
              <a:rPr lang="en-US" altLang="zh-CN" sz="2000" dirty="0"/>
              <a:t>This is especially important given that large-scale vision models are emerging as infrastructure and are deploying to critical applications. We find that the lightweight VPT is noticeably more effective than model finetuning when textual information is unavailable. When texts are used during adaptation, both VPT and finetuning using our </a:t>
            </a:r>
            <a:r>
              <a:rPr lang="en-US" altLang="zh-CN" sz="2000" dirty="0" err="1"/>
              <a:t>TeCoA</a:t>
            </a:r>
            <a:r>
              <a:rPr lang="en-US" altLang="zh-CN" sz="2000" dirty="0"/>
              <a:t> loss have drastically improved zero-shot adversarial robustness compared to baselines. Finetuning has higher gains than VPT as more parameters are tuned. Our best performing model with the </a:t>
            </a:r>
            <a:r>
              <a:rPr lang="en-US" altLang="zh-CN" sz="2000" dirty="0" err="1"/>
              <a:t>TeCoA</a:t>
            </a:r>
            <a:r>
              <a:rPr lang="en-US" altLang="zh-CN" sz="2000" dirty="0"/>
              <a:t> loss can improve adversarial robustness over CLIP by an average of 31% across the datasets. </a:t>
            </a:r>
            <a:r>
              <a:rPr lang="en-US" altLang="zh-CN" sz="2000" dirty="0">
                <a:solidFill>
                  <a:schemeClr val="accent6">
                    <a:lumMod val="75000"/>
                  </a:schemeClr>
                </a:solidFill>
              </a:rPr>
              <a:t>Our method also works on unlabeled images, allowing for better robustness with a large amount of unlabeled data.</a:t>
            </a:r>
            <a:r>
              <a:rPr lang="en-US" altLang="zh-CN" sz="2000" dirty="0"/>
              <a:t> Our work establish a new and important benchmark, zero-shot adversarial robustness, for future work to evaluate on. We release all models and code.</a:t>
            </a:r>
            <a:endParaRPr lang="zh-CN" altLang="en-US" sz="2000" dirty="0"/>
          </a:p>
        </p:txBody>
      </p:sp>
      <p:sp>
        <p:nvSpPr>
          <p:cNvPr id="4" name="文本框 3">
            <a:extLst>
              <a:ext uri="{FF2B5EF4-FFF2-40B4-BE49-F238E27FC236}">
                <a16:creationId xmlns:a16="http://schemas.microsoft.com/office/drawing/2014/main" id="{B4F08392-BE28-64EF-F7A6-20A3BFE7ECCD}"/>
              </a:ext>
            </a:extLst>
          </p:cNvPr>
          <p:cNvSpPr txBox="1"/>
          <p:nvPr/>
        </p:nvSpPr>
        <p:spPr>
          <a:xfrm>
            <a:off x="9725892" y="1690688"/>
            <a:ext cx="2266604" cy="646331"/>
          </a:xfrm>
          <a:prstGeom prst="rect">
            <a:avLst/>
          </a:prstGeom>
          <a:noFill/>
        </p:spPr>
        <p:txBody>
          <a:bodyPr wrap="square" rtlCol="0">
            <a:spAutoFit/>
          </a:bodyPr>
          <a:lstStyle/>
          <a:p>
            <a:r>
              <a:rPr lang="en-US" altLang="zh-CN" dirty="0"/>
              <a:t>15</a:t>
            </a:r>
            <a:r>
              <a:rPr lang="zh-CN" altLang="en-US" dirty="0"/>
              <a:t>个图像分类数据集上做</a:t>
            </a:r>
            <a:r>
              <a:rPr lang="en-US" altLang="zh-CN" dirty="0"/>
              <a:t>zero-shot</a:t>
            </a:r>
            <a:r>
              <a:rPr lang="zh-CN" altLang="en-US" dirty="0"/>
              <a:t>评测</a:t>
            </a:r>
          </a:p>
        </p:txBody>
      </p:sp>
      <p:sp>
        <p:nvSpPr>
          <p:cNvPr id="5" name="文本框 4">
            <a:extLst>
              <a:ext uri="{FF2B5EF4-FFF2-40B4-BE49-F238E27FC236}">
                <a16:creationId xmlns:a16="http://schemas.microsoft.com/office/drawing/2014/main" id="{97329072-1570-EAE5-C952-4EDBE10511CA}"/>
              </a:ext>
            </a:extLst>
          </p:cNvPr>
          <p:cNvSpPr txBox="1"/>
          <p:nvPr/>
        </p:nvSpPr>
        <p:spPr>
          <a:xfrm>
            <a:off x="9639292" y="5167312"/>
            <a:ext cx="2262158" cy="369332"/>
          </a:xfrm>
          <a:prstGeom prst="rect">
            <a:avLst/>
          </a:prstGeom>
          <a:noFill/>
        </p:spPr>
        <p:txBody>
          <a:bodyPr wrap="none" rtlCol="0">
            <a:spAutoFit/>
          </a:bodyPr>
          <a:lstStyle/>
          <a:p>
            <a:r>
              <a:rPr lang="zh-CN" altLang="en-US" dirty="0"/>
              <a:t>无需标签的训练方式</a:t>
            </a:r>
          </a:p>
        </p:txBody>
      </p:sp>
      <p:sp>
        <p:nvSpPr>
          <p:cNvPr id="6" name="文本框 5">
            <a:extLst>
              <a:ext uri="{FF2B5EF4-FFF2-40B4-BE49-F238E27FC236}">
                <a16:creationId xmlns:a16="http://schemas.microsoft.com/office/drawing/2014/main" id="{936A9E09-EDD1-0398-A23B-1CBBC28F9FC7}"/>
              </a:ext>
            </a:extLst>
          </p:cNvPr>
          <p:cNvSpPr txBox="1"/>
          <p:nvPr/>
        </p:nvSpPr>
        <p:spPr>
          <a:xfrm>
            <a:off x="9639292" y="4275835"/>
            <a:ext cx="2439803" cy="646331"/>
          </a:xfrm>
          <a:prstGeom prst="rect">
            <a:avLst/>
          </a:prstGeom>
          <a:noFill/>
        </p:spPr>
        <p:txBody>
          <a:bodyPr wrap="square" rtlCol="0">
            <a:spAutoFit/>
          </a:bodyPr>
          <a:lstStyle/>
          <a:p>
            <a:r>
              <a:rPr lang="zh-CN" altLang="en-US" dirty="0"/>
              <a:t>效果：平均提升</a:t>
            </a:r>
            <a:r>
              <a:rPr lang="en-US" altLang="zh-CN" dirty="0"/>
              <a:t>31%</a:t>
            </a:r>
            <a:r>
              <a:rPr lang="zh-CN" altLang="en-US" dirty="0"/>
              <a:t>的鲁棒准确率</a:t>
            </a:r>
          </a:p>
        </p:txBody>
      </p:sp>
    </p:spTree>
    <p:extLst>
      <p:ext uri="{BB962C8B-B14F-4D97-AF65-F5344CB8AC3E}">
        <p14:creationId xmlns:p14="http://schemas.microsoft.com/office/powerpoint/2010/main" val="186435970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6672</TotalTime>
  <Words>1986</Words>
  <Application>Microsoft Office PowerPoint</Application>
  <PresentationFormat>宽屏</PresentationFormat>
  <Paragraphs>128</Paragraphs>
  <Slides>18</Slides>
  <Notes>17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18</vt:i4>
      </vt:variant>
    </vt:vector>
  </HeadingPairs>
  <TitlesOfParts>
    <vt:vector size="23" baseType="lpstr">
      <vt:lpstr>等线</vt:lpstr>
      <vt:lpstr>等线 Light</vt:lpstr>
      <vt:lpstr>Arial</vt:lpstr>
      <vt:lpstr>Cambria Math</vt:lpstr>
      <vt:lpstr>Office 主题​​</vt:lpstr>
      <vt:lpstr>Understanding Zero-Shot Adversarial Robustness for Large-Scale Models</vt:lpstr>
      <vt:lpstr>Problem Setup</vt:lpstr>
      <vt:lpstr>Adaptation Method</vt:lpstr>
      <vt:lpstr>Training Objective</vt:lpstr>
      <vt:lpstr>Training Objective</vt:lpstr>
      <vt:lpstr>Training Objective</vt:lpstr>
      <vt:lpstr>Training Objective</vt:lpstr>
      <vt:lpstr>Experiments</vt:lpstr>
      <vt:lpstr>Experiments</vt:lpstr>
      <vt:lpstr>Experiments</vt:lpstr>
      <vt:lpstr>Experiments</vt:lpstr>
      <vt:lpstr>Abstract(1/2)</vt:lpstr>
      <vt:lpstr>Abstract(2/2)</vt:lpstr>
      <vt:lpstr>Introduction(1/5)</vt:lpstr>
      <vt:lpstr>Introduction(2/5)</vt:lpstr>
      <vt:lpstr>Introduction(3/5)</vt:lpstr>
      <vt:lpstr>Introduction(4/5)</vt:lpstr>
      <vt:lpstr>Introduction(5/5)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Xueqing Yu</dc:creator>
  <cp:lastModifiedBy>Xueqing Yu</cp:lastModifiedBy>
  <cp:revision>2</cp:revision>
  <dcterms:created xsi:type="dcterms:W3CDTF">2024-03-31T09:19:44Z</dcterms:created>
  <dcterms:modified xsi:type="dcterms:W3CDTF">2024-04-07T07:40:58Z</dcterms:modified>
</cp:coreProperties>
</file>