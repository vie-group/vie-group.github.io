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60" r:id="rId3"/>
    <p:sldId id="257" r:id="rId4"/>
    <p:sldId id="258"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4"/>
  </p:normalViewPr>
  <p:slideViewPr>
    <p:cSldViewPr snapToGrid="0">
      <p:cViewPr varScale="1">
        <p:scale>
          <a:sx n="124" d="100"/>
          <a:sy n="124" d="100"/>
        </p:scale>
        <p:origin x="64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9E9EAC-1F5E-2547-B05B-0B1F2180F0D3}" type="datetimeFigureOut">
              <a:rPr kumimoji="1" lang="zh-CN" altLang="en-US" smtClean="0"/>
              <a:t>2024/2/29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8D8828-FBCC-EA4B-9D68-063A46FFFE16}" type="slidenum">
              <a:rPr kumimoji="1" lang="zh-CN" altLang="en-US" smtClean="0"/>
              <a:t>‹#›</a:t>
            </a:fld>
            <a:endParaRPr kumimoji="1" lang="zh-CN" altLang="en-US"/>
          </a:p>
        </p:txBody>
      </p:sp>
    </p:spTree>
    <p:extLst>
      <p:ext uri="{BB962C8B-B14F-4D97-AF65-F5344CB8AC3E}">
        <p14:creationId xmlns:p14="http://schemas.microsoft.com/office/powerpoint/2010/main" val="1039307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012725-D12D-DE7C-828D-067B457D8D2F}"/>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D91424DA-B7F6-CC91-4E67-2B1024C2F2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F7A4E8F3-82F0-C3E4-F653-0133EB5EAE5A}"/>
              </a:ext>
            </a:extLst>
          </p:cNvPr>
          <p:cNvSpPr>
            <a:spLocks noGrp="1"/>
          </p:cNvSpPr>
          <p:nvPr>
            <p:ph type="dt" sz="half" idx="10"/>
          </p:nvPr>
        </p:nvSpPr>
        <p:spPr/>
        <p:txBody>
          <a:bodyPr/>
          <a:lstStyle/>
          <a:p>
            <a:fld id="{9AC18CB2-D034-7E46-B46B-5041AE831B74}" type="datetime1">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1E932442-F5B0-C33C-8097-BE6B8E5EF3CF}"/>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B064367D-16D3-6590-6700-FF0500B07D49}"/>
              </a:ext>
            </a:extLst>
          </p:cNvPr>
          <p:cNvSpPr>
            <a:spLocks noGrp="1"/>
          </p:cNvSpPr>
          <p:nvPr>
            <p:ph type="sldNum" sz="quarter" idx="12"/>
          </p:nvPr>
        </p:nvSpPr>
        <p:spPr/>
        <p:txBody>
          <a:bodyPr/>
          <a:lstStyle/>
          <a:p>
            <a:fld id="{EC230444-A519-6845-9B10-810B3093520A}" type="slidenum">
              <a:rPr kumimoji="1" lang="zh-CN" altLang="en-US" smtClean="0"/>
              <a:t>‹#›</a:t>
            </a:fld>
            <a:endParaRPr kumimoji="1" lang="zh-CN" altLang="en-US"/>
          </a:p>
        </p:txBody>
      </p:sp>
    </p:spTree>
    <p:extLst>
      <p:ext uri="{BB962C8B-B14F-4D97-AF65-F5344CB8AC3E}">
        <p14:creationId xmlns:p14="http://schemas.microsoft.com/office/powerpoint/2010/main" val="3328039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4688DD-6A43-6FAD-80E1-837A0D5E89CB}"/>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9CC19B1-7784-4345-B3D6-CF4B8147B2EF}"/>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285FEAA-7420-BCEC-392B-ED7F8587D215}"/>
              </a:ext>
            </a:extLst>
          </p:cNvPr>
          <p:cNvSpPr>
            <a:spLocks noGrp="1"/>
          </p:cNvSpPr>
          <p:nvPr>
            <p:ph type="dt" sz="half" idx="10"/>
          </p:nvPr>
        </p:nvSpPr>
        <p:spPr/>
        <p:txBody>
          <a:bodyPr/>
          <a:lstStyle/>
          <a:p>
            <a:fld id="{BFD7AF6A-C99D-BC49-8E8D-80DD3BB70095}" type="datetime1">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E9982302-89F5-A7B4-646B-48B5E1419AE1}"/>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D5EB2F6A-1D0B-C7D4-B4FD-24AE8C5052D7}"/>
              </a:ext>
            </a:extLst>
          </p:cNvPr>
          <p:cNvSpPr>
            <a:spLocks noGrp="1"/>
          </p:cNvSpPr>
          <p:nvPr>
            <p:ph type="sldNum" sz="quarter" idx="12"/>
          </p:nvPr>
        </p:nvSpPr>
        <p:spPr/>
        <p:txBody>
          <a:bodyPr/>
          <a:lstStyle/>
          <a:p>
            <a:fld id="{EC230444-A519-6845-9B10-810B3093520A}" type="slidenum">
              <a:rPr kumimoji="1" lang="zh-CN" altLang="en-US" smtClean="0"/>
              <a:t>‹#›</a:t>
            </a:fld>
            <a:endParaRPr kumimoji="1" lang="zh-CN" altLang="en-US"/>
          </a:p>
        </p:txBody>
      </p:sp>
    </p:spTree>
    <p:extLst>
      <p:ext uri="{BB962C8B-B14F-4D97-AF65-F5344CB8AC3E}">
        <p14:creationId xmlns:p14="http://schemas.microsoft.com/office/powerpoint/2010/main" val="2865103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CB201D-278D-A117-31AE-C5D7F6051FA9}"/>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F4D54E1F-FD37-535B-9CE7-4408B5FD7D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C4D3D804-A27F-126E-8CC9-0DAF009FD76E}"/>
              </a:ext>
            </a:extLst>
          </p:cNvPr>
          <p:cNvSpPr>
            <a:spLocks noGrp="1"/>
          </p:cNvSpPr>
          <p:nvPr>
            <p:ph type="dt" sz="half" idx="10"/>
          </p:nvPr>
        </p:nvSpPr>
        <p:spPr/>
        <p:txBody>
          <a:bodyPr/>
          <a:lstStyle/>
          <a:p>
            <a:fld id="{64DC9CEC-248D-D44C-B041-C5CF94D34E1C}" type="datetime1">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8499E153-EB1B-285F-D401-1EEEC9D52D94}"/>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B29DA90A-31E2-176B-8597-2B156436DAFB}"/>
              </a:ext>
            </a:extLst>
          </p:cNvPr>
          <p:cNvSpPr>
            <a:spLocks noGrp="1"/>
          </p:cNvSpPr>
          <p:nvPr>
            <p:ph type="sldNum" sz="quarter" idx="12"/>
          </p:nvPr>
        </p:nvSpPr>
        <p:spPr/>
        <p:txBody>
          <a:bodyPr/>
          <a:lstStyle/>
          <a:p>
            <a:fld id="{EC230444-A519-6845-9B10-810B3093520A}" type="slidenum">
              <a:rPr kumimoji="1" lang="zh-CN" altLang="en-US" smtClean="0"/>
              <a:t>‹#›</a:t>
            </a:fld>
            <a:endParaRPr kumimoji="1" lang="zh-CN" altLang="en-US"/>
          </a:p>
        </p:txBody>
      </p:sp>
    </p:spTree>
    <p:extLst>
      <p:ext uri="{BB962C8B-B14F-4D97-AF65-F5344CB8AC3E}">
        <p14:creationId xmlns:p14="http://schemas.microsoft.com/office/powerpoint/2010/main" val="684396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4B49AD-6BB4-3D3C-BD2D-56A74CF784F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401EE19-75FF-2315-95B8-74AD0B1137A4}"/>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F5BEC758-3DA5-BC87-00E7-47F7B24C692E}"/>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DA54BAC9-0201-C2F3-DE16-D7D4FBA640C6}"/>
              </a:ext>
            </a:extLst>
          </p:cNvPr>
          <p:cNvSpPr>
            <a:spLocks noGrp="1"/>
          </p:cNvSpPr>
          <p:nvPr>
            <p:ph type="dt" sz="half" idx="10"/>
          </p:nvPr>
        </p:nvSpPr>
        <p:spPr/>
        <p:txBody>
          <a:bodyPr/>
          <a:lstStyle/>
          <a:p>
            <a:fld id="{AD37DC15-24B1-4440-B524-78AF90BBB4AE}" type="datetime1">
              <a:rPr kumimoji="1" lang="zh-CN" altLang="en-US" smtClean="0"/>
              <a:t>2024/2/29</a:t>
            </a:fld>
            <a:endParaRPr kumimoji="1" lang="zh-CN" altLang="en-US"/>
          </a:p>
        </p:txBody>
      </p:sp>
      <p:sp>
        <p:nvSpPr>
          <p:cNvPr id="6" name="页脚占位符 5">
            <a:extLst>
              <a:ext uri="{FF2B5EF4-FFF2-40B4-BE49-F238E27FC236}">
                <a16:creationId xmlns:a16="http://schemas.microsoft.com/office/drawing/2014/main" id="{C31265BD-943B-ABDA-5789-46679F22DC13}"/>
              </a:ext>
            </a:extLst>
          </p:cNvPr>
          <p:cNvSpPr>
            <a:spLocks noGrp="1"/>
          </p:cNvSpPr>
          <p:nvPr>
            <p:ph type="ftr" sz="quarter" idx="11"/>
          </p:nvPr>
        </p:nvSpPr>
        <p:spPr/>
        <p:txBody>
          <a:bodyPr/>
          <a:lstStyle/>
          <a:p>
            <a:r>
              <a:rPr kumimoji="1" lang="en" altLang="zh-CN"/>
              <a:t>YWN</a:t>
            </a:r>
            <a:endParaRPr kumimoji="1" lang="zh-CN" altLang="en-US"/>
          </a:p>
        </p:txBody>
      </p:sp>
      <p:sp>
        <p:nvSpPr>
          <p:cNvPr id="7" name="灯片编号占位符 6">
            <a:extLst>
              <a:ext uri="{FF2B5EF4-FFF2-40B4-BE49-F238E27FC236}">
                <a16:creationId xmlns:a16="http://schemas.microsoft.com/office/drawing/2014/main" id="{02C45FD3-DE74-0F6F-4CD7-E97F8C1F412C}"/>
              </a:ext>
            </a:extLst>
          </p:cNvPr>
          <p:cNvSpPr>
            <a:spLocks noGrp="1"/>
          </p:cNvSpPr>
          <p:nvPr>
            <p:ph type="sldNum" sz="quarter" idx="12"/>
          </p:nvPr>
        </p:nvSpPr>
        <p:spPr/>
        <p:txBody>
          <a:bodyPr/>
          <a:lstStyle/>
          <a:p>
            <a:fld id="{EC230444-A519-6845-9B10-810B3093520A}" type="slidenum">
              <a:rPr kumimoji="1" lang="zh-CN" altLang="en-US" smtClean="0"/>
              <a:t>‹#›</a:t>
            </a:fld>
            <a:endParaRPr kumimoji="1" lang="zh-CN" altLang="en-US"/>
          </a:p>
        </p:txBody>
      </p:sp>
    </p:spTree>
    <p:extLst>
      <p:ext uri="{BB962C8B-B14F-4D97-AF65-F5344CB8AC3E}">
        <p14:creationId xmlns:p14="http://schemas.microsoft.com/office/powerpoint/2010/main" val="3206156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0DA40A-0F26-EEC6-12A1-CB789723120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93860214-EDD6-4339-1294-A8E7B6E06A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874D14D-1AC2-3533-9FDF-919741D2CE3C}"/>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D3D996F-AD13-9855-ACF9-F066FA6B84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14E31E36-BAA2-CA12-93D8-89F11342142D}"/>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D9956E69-E79F-C46D-9CFC-BFE33C9CF19B}"/>
              </a:ext>
            </a:extLst>
          </p:cNvPr>
          <p:cNvSpPr>
            <a:spLocks noGrp="1"/>
          </p:cNvSpPr>
          <p:nvPr>
            <p:ph type="dt" sz="half" idx="10"/>
          </p:nvPr>
        </p:nvSpPr>
        <p:spPr/>
        <p:txBody>
          <a:bodyPr/>
          <a:lstStyle/>
          <a:p>
            <a:fld id="{A02F795C-7CCC-5046-B0AB-8BE37C2B01B3}" type="datetime1">
              <a:rPr kumimoji="1" lang="zh-CN" altLang="en-US" smtClean="0"/>
              <a:t>2024/2/29</a:t>
            </a:fld>
            <a:endParaRPr kumimoji="1" lang="zh-CN" altLang="en-US"/>
          </a:p>
        </p:txBody>
      </p:sp>
      <p:sp>
        <p:nvSpPr>
          <p:cNvPr id="8" name="页脚占位符 7">
            <a:extLst>
              <a:ext uri="{FF2B5EF4-FFF2-40B4-BE49-F238E27FC236}">
                <a16:creationId xmlns:a16="http://schemas.microsoft.com/office/drawing/2014/main" id="{263AE826-FAA6-2EE2-E91F-D1A10A1EC9FB}"/>
              </a:ext>
            </a:extLst>
          </p:cNvPr>
          <p:cNvSpPr>
            <a:spLocks noGrp="1"/>
          </p:cNvSpPr>
          <p:nvPr>
            <p:ph type="ftr" sz="quarter" idx="11"/>
          </p:nvPr>
        </p:nvSpPr>
        <p:spPr/>
        <p:txBody>
          <a:bodyPr/>
          <a:lstStyle/>
          <a:p>
            <a:r>
              <a:rPr kumimoji="1" lang="en" altLang="zh-CN"/>
              <a:t>YWN</a:t>
            </a:r>
            <a:endParaRPr kumimoji="1" lang="zh-CN" altLang="en-US"/>
          </a:p>
        </p:txBody>
      </p:sp>
      <p:sp>
        <p:nvSpPr>
          <p:cNvPr id="9" name="灯片编号占位符 8">
            <a:extLst>
              <a:ext uri="{FF2B5EF4-FFF2-40B4-BE49-F238E27FC236}">
                <a16:creationId xmlns:a16="http://schemas.microsoft.com/office/drawing/2014/main" id="{B6315B10-CEE8-ADC6-B537-04EF42F323A1}"/>
              </a:ext>
            </a:extLst>
          </p:cNvPr>
          <p:cNvSpPr>
            <a:spLocks noGrp="1"/>
          </p:cNvSpPr>
          <p:nvPr>
            <p:ph type="sldNum" sz="quarter" idx="12"/>
          </p:nvPr>
        </p:nvSpPr>
        <p:spPr/>
        <p:txBody>
          <a:bodyPr/>
          <a:lstStyle/>
          <a:p>
            <a:fld id="{EC230444-A519-6845-9B10-810B3093520A}" type="slidenum">
              <a:rPr kumimoji="1" lang="zh-CN" altLang="en-US" smtClean="0"/>
              <a:t>‹#›</a:t>
            </a:fld>
            <a:endParaRPr kumimoji="1" lang="zh-CN" altLang="en-US"/>
          </a:p>
        </p:txBody>
      </p:sp>
    </p:spTree>
    <p:extLst>
      <p:ext uri="{BB962C8B-B14F-4D97-AF65-F5344CB8AC3E}">
        <p14:creationId xmlns:p14="http://schemas.microsoft.com/office/powerpoint/2010/main" val="3092500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5C5E85-B4A8-DB9B-C4F2-FDB0625191B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905BA413-718E-9C08-B4CA-1B7144973DC1}"/>
              </a:ext>
            </a:extLst>
          </p:cNvPr>
          <p:cNvSpPr>
            <a:spLocks noGrp="1"/>
          </p:cNvSpPr>
          <p:nvPr>
            <p:ph type="dt" sz="half" idx="10"/>
          </p:nvPr>
        </p:nvSpPr>
        <p:spPr/>
        <p:txBody>
          <a:bodyPr/>
          <a:lstStyle/>
          <a:p>
            <a:fld id="{FD5FD17B-EE95-A649-9D93-7EB44F8DFDEB}" type="datetime1">
              <a:rPr kumimoji="1" lang="zh-CN" altLang="en-US" smtClean="0"/>
              <a:t>2024/2/29</a:t>
            </a:fld>
            <a:endParaRPr kumimoji="1" lang="zh-CN" altLang="en-US"/>
          </a:p>
        </p:txBody>
      </p:sp>
      <p:sp>
        <p:nvSpPr>
          <p:cNvPr id="4" name="页脚占位符 3">
            <a:extLst>
              <a:ext uri="{FF2B5EF4-FFF2-40B4-BE49-F238E27FC236}">
                <a16:creationId xmlns:a16="http://schemas.microsoft.com/office/drawing/2014/main" id="{704ABDCE-7F91-5A0C-A6C0-28EB612B777F}"/>
              </a:ext>
            </a:extLst>
          </p:cNvPr>
          <p:cNvSpPr>
            <a:spLocks noGrp="1"/>
          </p:cNvSpPr>
          <p:nvPr>
            <p:ph type="ftr" sz="quarter" idx="11"/>
          </p:nvPr>
        </p:nvSpPr>
        <p:spPr/>
        <p:txBody>
          <a:bodyPr/>
          <a:lstStyle/>
          <a:p>
            <a:r>
              <a:rPr kumimoji="1" lang="en" altLang="zh-CN"/>
              <a:t>YWN</a:t>
            </a:r>
            <a:endParaRPr kumimoji="1" lang="zh-CN" altLang="en-US"/>
          </a:p>
        </p:txBody>
      </p:sp>
      <p:sp>
        <p:nvSpPr>
          <p:cNvPr id="5" name="灯片编号占位符 4">
            <a:extLst>
              <a:ext uri="{FF2B5EF4-FFF2-40B4-BE49-F238E27FC236}">
                <a16:creationId xmlns:a16="http://schemas.microsoft.com/office/drawing/2014/main" id="{B2BB0772-73D1-3570-01AD-95158ED543E7}"/>
              </a:ext>
            </a:extLst>
          </p:cNvPr>
          <p:cNvSpPr>
            <a:spLocks noGrp="1"/>
          </p:cNvSpPr>
          <p:nvPr>
            <p:ph type="sldNum" sz="quarter" idx="12"/>
          </p:nvPr>
        </p:nvSpPr>
        <p:spPr/>
        <p:txBody>
          <a:bodyPr/>
          <a:lstStyle/>
          <a:p>
            <a:fld id="{EC230444-A519-6845-9B10-810B3093520A}" type="slidenum">
              <a:rPr kumimoji="1" lang="zh-CN" altLang="en-US" smtClean="0"/>
              <a:t>‹#›</a:t>
            </a:fld>
            <a:endParaRPr kumimoji="1" lang="zh-CN" altLang="en-US"/>
          </a:p>
        </p:txBody>
      </p:sp>
    </p:spTree>
    <p:extLst>
      <p:ext uri="{BB962C8B-B14F-4D97-AF65-F5344CB8AC3E}">
        <p14:creationId xmlns:p14="http://schemas.microsoft.com/office/powerpoint/2010/main" val="1770092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970FCE-FE39-60CA-B322-170F9CFFFF3A}"/>
              </a:ext>
            </a:extLst>
          </p:cNvPr>
          <p:cNvSpPr>
            <a:spLocks noGrp="1"/>
          </p:cNvSpPr>
          <p:nvPr>
            <p:ph type="dt" sz="half" idx="10"/>
          </p:nvPr>
        </p:nvSpPr>
        <p:spPr/>
        <p:txBody>
          <a:bodyPr/>
          <a:lstStyle/>
          <a:p>
            <a:fld id="{EDCA040B-EA2E-3E49-962C-E370C1B79BA0}" type="datetime1">
              <a:rPr kumimoji="1" lang="zh-CN" altLang="en-US" smtClean="0"/>
              <a:t>2024/2/29</a:t>
            </a:fld>
            <a:endParaRPr kumimoji="1" lang="zh-CN" altLang="en-US"/>
          </a:p>
        </p:txBody>
      </p:sp>
      <p:sp>
        <p:nvSpPr>
          <p:cNvPr id="3" name="页脚占位符 2">
            <a:extLst>
              <a:ext uri="{FF2B5EF4-FFF2-40B4-BE49-F238E27FC236}">
                <a16:creationId xmlns:a16="http://schemas.microsoft.com/office/drawing/2014/main" id="{4AB6457F-FAF4-873B-0BAF-5DAC863D76B1}"/>
              </a:ext>
            </a:extLst>
          </p:cNvPr>
          <p:cNvSpPr>
            <a:spLocks noGrp="1"/>
          </p:cNvSpPr>
          <p:nvPr>
            <p:ph type="ftr" sz="quarter" idx="11"/>
          </p:nvPr>
        </p:nvSpPr>
        <p:spPr/>
        <p:txBody>
          <a:bodyPr/>
          <a:lstStyle/>
          <a:p>
            <a:r>
              <a:rPr kumimoji="1" lang="en" altLang="zh-CN"/>
              <a:t>YWN</a:t>
            </a:r>
            <a:endParaRPr kumimoji="1" lang="zh-CN" altLang="en-US"/>
          </a:p>
        </p:txBody>
      </p:sp>
      <p:sp>
        <p:nvSpPr>
          <p:cNvPr id="4" name="灯片编号占位符 3">
            <a:extLst>
              <a:ext uri="{FF2B5EF4-FFF2-40B4-BE49-F238E27FC236}">
                <a16:creationId xmlns:a16="http://schemas.microsoft.com/office/drawing/2014/main" id="{50F8D2C6-D33A-6787-7724-5DDC113BE362}"/>
              </a:ext>
            </a:extLst>
          </p:cNvPr>
          <p:cNvSpPr>
            <a:spLocks noGrp="1"/>
          </p:cNvSpPr>
          <p:nvPr>
            <p:ph type="sldNum" sz="quarter" idx="12"/>
          </p:nvPr>
        </p:nvSpPr>
        <p:spPr/>
        <p:txBody>
          <a:bodyPr/>
          <a:lstStyle/>
          <a:p>
            <a:fld id="{EC230444-A519-6845-9B10-810B3093520A}" type="slidenum">
              <a:rPr kumimoji="1" lang="zh-CN" altLang="en-US" smtClean="0"/>
              <a:t>‹#›</a:t>
            </a:fld>
            <a:endParaRPr kumimoji="1" lang="zh-CN" altLang="en-US"/>
          </a:p>
        </p:txBody>
      </p:sp>
    </p:spTree>
    <p:extLst>
      <p:ext uri="{BB962C8B-B14F-4D97-AF65-F5344CB8AC3E}">
        <p14:creationId xmlns:p14="http://schemas.microsoft.com/office/powerpoint/2010/main" val="2166918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212AA3-7765-4C23-3C1F-E546C33FA2DE}"/>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217471C4-C7BE-3DB3-D3CD-B69CE77084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1A64FCF9-744E-722F-D650-861B6601F2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B5BD3974-FD5C-F60A-03C8-12942F243959}"/>
              </a:ext>
            </a:extLst>
          </p:cNvPr>
          <p:cNvSpPr>
            <a:spLocks noGrp="1"/>
          </p:cNvSpPr>
          <p:nvPr>
            <p:ph type="dt" sz="half" idx="10"/>
          </p:nvPr>
        </p:nvSpPr>
        <p:spPr/>
        <p:txBody>
          <a:bodyPr/>
          <a:lstStyle/>
          <a:p>
            <a:fld id="{43EFF336-72BF-814B-B199-BBB77DC93A1A}" type="datetime1">
              <a:rPr kumimoji="1" lang="zh-CN" altLang="en-US" smtClean="0"/>
              <a:t>2024/2/29</a:t>
            </a:fld>
            <a:endParaRPr kumimoji="1" lang="zh-CN" altLang="en-US"/>
          </a:p>
        </p:txBody>
      </p:sp>
      <p:sp>
        <p:nvSpPr>
          <p:cNvPr id="6" name="页脚占位符 5">
            <a:extLst>
              <a:ext uri="{FF2B5EF4-FFF2-40B4-BE49-F238E27FC236}">
                <a16:creationId xmlns:a16="http://schemas.microsoft.com/office/drawing/2014/main" id="{88B1DA0C-A9F6-DBD7-3BB6-800404BD6B6C}"/>
              </a:ext>
            </a:extLst>
          </p:cNvPr>
          <p:cNvSpPr>
            <a:spLocks noGrp="1"/>
          </p:cNvSpPr>
          <p:nvPr>
            <p:ph type="ftr" sz="quarter" idx="11"/>
          </p:nvPr>
        </p:nvSpPr>
        <p:spPr/>
        <p:txBody>
          <a:bodyPr/>
          <a:lstStyle/>
          <a:p>
            <a:r>
              <a:rPr kumimoji="1" lang="en" altLang="zh-CN"/>
              <a:t>YWN</a:t>
            </a:r>
            <a:endParaRPr kumimoji="1" lang="zh-CN" altLang="en-US"/>
          </a:p>
        </p:txBody>
      </p:sp>
      <p:sp>
        <p:nvSpPr>
          <p:cNvPr id="7" name="灯片编号占位符 6">
            <a:extLst>
              <a:ext uri="{FF2B5EF4-FFF2-40B4-BE49-F238E27FC236}">
                <a16:creationId xmlns:a16="http://schemas.microsoft.com/office/drawing/2014/main" id="{B86A2DAB-5390-6169-22E8-C046A5B6C4A9}"/>
              </a:ext>
            </a:extLst>
          </p:cNvPr>
          <p:cNvSpPr>
            <a:spLocks noGrp="1"/>
          </p:cNvSpPr>
          <p:nvPr>
            <p:ph type="sldNum" sz="quarter" idx="12"/>
          </p:nvPr>
        </p:nvSpPr>
        <p:spPr/>
        <p:txBody>
          <a:bodyPr/>
          <a:lstStyle/>
          <a:p>
            <a:fld id="{EC230444-A519-6845-9B10-810B3093520A}" type="slidenum">
              <a:rPr kumimoji="1" lang="zh-CN" altLang="en-US" smtClean="0"/>
              <a:t>‹#›</a:t>
            </a:fld>
            <a:endParaRPr kumimoji="1" lang="zh-CN" altLang="en-US"/>
          </a:p>
        </p:txBody>
      </p:sp>
    </p:spTree>
    <p:extLst>
      <p:ext uri="{BB962C8B-B14F-4D97-AF65-F5344CB8AC3E}">
        <p14:creationId xmlns:p14="http://schemas.microsoft.com/office/powerpoint/2010/main" val="4060214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AEFBA0-F760-BAD7-F1EB-84DFC49A086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0C39252A-771B-22FA-CA34-7DC5232760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13D6EAEA-8307-B357-1487-0790E6C5E9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F4B68A52-C05B-ACE7-6D4A-2E22B9F4613C}"/>
              </a:ext>
            </a:extLst>
          </p:cNvPr>
          <p:cNvSpPr>
            <a:spLocks noGrp="1"/>
          </p:cNvSpPr>
          <p:nvPr>
            <p:ph type="dt" sz="half" idx="10"/>
          </p:nvPr>
        </p:nvSpPr>
        <p:spPr/>
        <p:txBody>
          <a:bodyPr/>
          <a:lstStyle/>
          <a:p>
            <a:fld id="{CEE00EB5-0940-AD44-8B38-FD0393131D40}" type="datetime1">
              <a:rPr kumimoji="1" lang="zh-CN" altLang="en-US" smtClean="0"/>
              <a:t>2024/2/29</a:t>
            </a:fld>
            <a:endParaRPr kumimoji="1" lang="zh-CN" altLang="en-US"/>
          </a:p>
        </p:txBody>
      </p:sp>
      <p:sp>
        <p:nvSpPr>
          <p:cNvPr id="6" name="页脚占位符 5">
            <a:extLst>
              <a:ext uri="{FF2B5EF4-FFF2-40B4-BE49-F238E27FC236}">
                <a16:creationId xmlns:a16="http://schemas.microsoft.com/office/drawing/2014/main" id="{0A98F037-2CE0-9BB8-3CA3-20968D5090D8}"/>
              </a:ext>
            </a:extLst>
          </p:cNvPr>
          <p:cNvSpPr>
            <a:spLocks noGrp="1"/>
          </p:cNvSpPr>
          <p:nvPr>
            <p:ph type="ftr" sz="quarter" idx="11"/>
          </p:nvPr>
        </p:nvSpPr>
        <p:spPr/>
        <p:txBody>
          <a:bodyPr/>
          <a:lstStyle/>
          <a:p>
            <a:r>
              <a:rPr kumimoji="1" lang="en" altLang="zh-CN"/>
              <a:t>YWN</a:t>
            </a:r>
            <a:endParaRPr kumimoji="1" lang="zh-CN" altLang="en-US"/>
          </a:p>
        </p:txBody>
      </p:sp>
      <p:sp>
        <p:nvSpPr>
          <p:cNvPr id="7" name="灯片编号占位符 6">
            <a:extLst>
              <a:ext uri="{FF2B5EF4-FFF2-40B4-BE49-F238E27FC236}">
                <a16:creationId xmlns:a16="http://schemas.microsoft.com/office/drawing/2014/main" id="{CCE89060-DA52-4E7D-4DCD-0E1811AB373A}"/>
              </a:ext>
            </a:extLst>
          </p:cNvPr>
          <p:cNvSpPr>
            <a:spLocks noGrp="1"/>
          </p:cNvSpPr>
          <p:nvPr>
            <p:ph type="sldNum" sz="quarter" idx="12"/>
          </p:nvPr>
        </p:nvSpPr>
        <p:spPr/>
        <p:txBody>
          <a:bodyPr/>
          <a:lstStyle/>
          <a:p>
            <a:fld id="{EC230444-A519-6845-9B10-810B3093520A}" type="slidenum">
              <a:rPr kumimoji="1" lang="zh-CN" altLang="en-US" smtClean="0"/>
              <a:t>‹#›</a:t>
            </a:fld>
            <a:endParaRPr kumimoji="1" lang="zh-CN" altLang="en-US"/>
          </a:p>
        </p:txBody>
      </p:sp>
    </p:spTree>
    <p:extLst>
      <p:ext uri="{BB962C8B-B14F-4D97-AF65-F5344CB8AC3E}">
        <p14:creationId xmlns:p14="http://schemas.microsoft.com/office/powerpoint/2010/main" val="3909689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BDA6FB-E28A-0DFC-034F-9ED6521D1FE3}"/>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185BCEFC-2BE3-6239-09AE-1666F28E7EDA}"/>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88936A3-C7B4-32C8-0ED9-C13A6573B006}"/>
              </a:ext>
            </a:extLst>
          </p:cNvPr>
          <p:cNvSpPr>
            <a:spLocks noGrp="1"/>
          </p:cNvSpPr>
          <p:nvPr>
            <p:ph type="dt" sz="half" idx="10"/>
          </p:nvPr>
        </p:nvSpPr>
        <p:spPr/>
        <p:txBody>
          <a:bodyPr/>
          <a:lstStyle/>
          <a:p>
            <a:fld id="{24B4090A-97B6-9141-8A5D-B4EF3AE89372}" type="datetime1">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60CDB8A0-284E-CFA7-8CFD-4304561FADAE}"/>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E5E51558-8CBB-3B1E-9ABD-BE36C4AE04E2}"/>
              </a:ext>
            </a:extLst>
          </p:cNvPr>
          <p:cNvSpPr>
            <a:spLocks noGrp="1"/>
          </p:cNvSpPr>
          <p:nvPr>
            <p:ph type="sldNum" sz="quarter" idx="12"/>
          </p:nvPr>
        </p:nvSpPr>
        <p:spPr/>
        <p:txBody>
          <a:bodyPr/>
          <a:lstStyle/>
          <a:p>
            <a:fld id="{EC230444-A519-6845-9B10-810B3093520A}" type="slidenum">
              <a:rPr kumimoji="1" lang="zh-CN" altLang="en-US" smtClean="0"/>
              <a:t>‹#›</a:t>
            </a:fld>
            <a:endParaRPr kumimoji="1" lang="zh-CN" altLang="en-US"/>
          </a:p>
        </p:txBody>
      </p:sp>
    </p:spTree>
    <p:extLst>
      <p:ext uri="{BB962C8B-B14F-4D97-AF65-F5344CB8AC3E}">
        <p14:creationId xmlns:p14="http://schemas.microsoft.com/office/powerpoint/2010/main" val="611836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25795D7-4169-D264-88D8-03260733E603}"/>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302AA1B-73BE-2992-DE65-8A72E2103F27}"/>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3B487FF-279D-D5EB-0A39-AC98289CC875}"/>
              </a:ext>
            </a:extLst>
          </p:cNvPr>
          <p:cNvSpPr>
            <a:spLocks noGrp="1"/>
          </p:cNvSpPr>
          <p:nvPr>
            <p:ph type="dt" sz="half" idx="10"/>
          </p:nvPr>
        </p:nvSpPr>
        <p:spPr/>
        <p:txBody>
          <a:bodyPr/>
          <a:lstStyle/>
          <a:p>
            <a:fld id="{52B18EBB-58FA-C241-B4E9-16DA34F170AD}" type="datetime1">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EBC432D8-EDFC-93DD-7A00-E7106CD855A0}"/>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03A894F1-741F-EFDD-FBF1-875933E8BDB0}"/>
              </a:ext>
            </a:extLst>
          </p:cNvPr>
          <p:cNvSpPr>
            <a:spLocks noGrp="1"/>
          </p:cNvSpPr>
          <p:nvPr>
            <p:ph type="sldNum" sz="quarter" idx="12"/>
          </p:nvPr>
        </p:nvSpPr>
        <p:spPr/>
        <p:txBody>
          <a:bodyPr/>
          <a:lstStyle/>
          <a:p>
            <a:fld id="{EC230444-A519-6845-9B10-810B3093520A}" type="slidenum">
              <a:rPr kumimoji="1" lang="zh-CN" altLang="en-US" smtClean="0"/>
              <a:t>‹#›</a:t>
            </a:fld>
            <a:endParaRPr kumimoji="1" lang="zh-CN" altLang="en-US"/>
          </a:p>
        </p:txBody>
      </p:sp>
    </p:spTree>
    <p:extLst>
      <p:ext uri="{BB962C8B-B14F-4D97-AF65-F5344CB8AC3E}">
        <p14:creationId xmlns:p14="http://schemas.microsoft.com/office/powerpoint/2010/main" val="3057674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C8D5FC2-3A98-C4D5-85DD-7C03C44B9B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DB04000A-AE7B-B775-4CF1-EE366FBC63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32C5364-2CAF-BE3D-8BD9-B3FC9637EF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89E8D5-B8CB-3044-9511-69E71C47442A}" type="datetime1">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E01479F1-B63D-5286-B979-E86756C330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2A116A76-860F-CF65-6004-6C28B22ED8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230444-A519-6845-9B10-810B3093520A}" type="slidenum">
              <a:rPr kumimoji="1" lang="zh-CN" altLang="en-US" smtClean="0"/>
              <a:t>‹#›</a:t>
            </a:fld>
            <a:endParaRPr kumimoji="1" lang="zh-CN" altLang="en-US"/>
          </a:p>
        </p:txBody>
      </p:sp>
    </p:spTree>
    <p:extLst>
      <p:ext uri="{BB962C8B-B14F-4D97-AF65-F5344CB8AC3E}">
        <p14:creationId xmlns:p14="http://schemas.microsoft.com/office/powerpoint/2010/main" val="2210334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DF0F5-9E1F-C3E1-7F02-2D325B0E756D}"/>
              </a:ext>
            </a:extLst>
          </p:cNvPr>
          <p:cNvSpPr>
            <a:spLocks noGrp="1"/>
          </p:cNvSpPr>
          <p:nvPr>
            <p:ph type="ctrTitle"/>
          </p:nvPr>
        </p:nvSpPr>
        <p:spPr/>
        <p:txBody>
          <a:bodyPr/>
          <a:lstStyle/>
          <a:p>
            <a:endParaRPr kumimoji="1" lang="zh-CN" altLang="en-US"/>
          </a:p>
        </p:txBody>
      </p:sp>
      <p:sp>
        <p:nvSpPr>
          <p:cNvPr id="3" name="副标题 2">
            <a:extLst>
              <a:ext uri="{FF2B5EF4-FFF2-40B4-BE49-F238E27FC236}">
                <a16:creationId xmlns:a16="http://schemas.microsoft.com/office/drawing/2014/main" id="{27635165-942E-08E0-5D02-4B978FBECF81}"/>
              </a:ext>
            </a:extLst>
          </p:cNvPr>
          <p:cNvSpPr>
            <a:spLocks noGrp="1"/>
          </p:cNvSpPr>
          <p:nvPr>
            <p:ph type="subTitle" idx="1"/>
          </p:nvPr>
        </p:nvSpPr>
        <p:spPr/>
        <p:txBody>
          <a:bodyPr>
            <a:normAutofit lnSpcReduction="10000"/>
          </a:bodyPr>
          <a:lstStyle/>
          <a:p>
            <a:endParaRPr kumimoji="1" lang="en-US" altLang="zh-CN" dirty="0"/>
          </a:p>
          <a:p>
            <a:endParaRPr kumimoji="1" lang="en-US" altLang="zh-CN" dirty="0"/>
          </a:p>
          <a:p>
            <a:endParaRPr kumimoji="1" lang="en-US" altLang="zh-CN" dirty="0"/>
          </a:p>
          <a:p>
            <a:r>
              <a:rPr kumimoji="1" lang="en-US" altLang="zh-CN" dirty="0" err="1"/>
              <a:t>Arxiv</a:t>
            </a:r>
            <a:r>
              <a:rPr kumimoji="1" lang="en-US" altLang="zh-CN" dirty="0"/>
              <a:t> 2024</a:t>
            </a:r>
            <a:endParaRPr kumimoji="1" lang="zh-CN" altLang="en-US" dirty="0"/>
          </a:p>
        </p:txBody>
      </p:sp>
      <p:pic>
        <p:nvPicPr>
          <p:cNvPr id="5" name="图片 4">
            <a:extLst>
              <a:ext uri="{FF2B5EF4-FFF2-40B4-BE49-F238E27FC236}">
                <a16:creationId xmlns:a16="http://schemas.microsoft.com/office/drawing/2014/main" id="{59A2117D-00B2-92A9-CA2A-CB42DF289575}"/>
              </a:ext>
            </a:extLst>
          </p:cNvPr>
          <p:cNvPicPr>
            <a:picLocks noChangeAspect="1"/>
          </p:cNvPicPr>
          <p:nvPr/>
        </p:nvPicPr>
        <p:blipFill>
          <a:blip r:embed="rId2"/>
          <a:stretch>
            <a:fillRect/>
          </a:stretch>
        </p:blipFill>
        <p:spPr>
          <a:xfrm>
            <a:off x="2106203" y="773042"/>
            <a:ext cx="7772400" cy="3879223"/>
          </a:xfrm>
          <a:prstGeom prst="rect">
            <a:avLst/>
          </a:prstGeom>
        </p:spPr>
      </p:pic>
      <p:sp>
        <p:nvSpPr>
          <p:cNvPr id="6" name="日期占位符 5">
            <a:extLst>
              <a:ext uri="{FF2B5EF4-FFF2-40B4-BE49-F238E27FC236}">
                <a16:creationId xmlns:a16="http://schemas.microsoft.com/office/drawing/2014/main" id="{83429A22-E84F-E307-5509-FCC831265D47}"/>
              </a:ext>
            </a:extLst>
          </p:cNvPr>
          <p:cNvSpPr>
            <a:spLocks noGrp="1"/>
          </p:cNvSpPr>
          <p:nvPr>
            <p:ph type="dt" sz="half" idx="10"/>
          </p:nvPr>
        </p:nvSpPr>
        <p:spPr/>
        <p:txBody>
          <a:bodyPr/>
          <a:lstStyle/>
          <a:p>
            <a:fld id="{37D36753-92D6-1B40-86B5-49B28FDE79F1}" type="datetime1">
              <a:rPr kumimoji="1" lang="zh-CN" altLang="en-US" smtClean="0"/>
              <a:t>2024/2/29</a:t>
            </a:fld>
            <a:endParaRPr kumimoji="1" lang="zh-CN" altLang="en-US"/>
          </a:p>
        </p:txBody>
      </p:sp>
      <p:sp>
        <p:nvSpPr>
          <p:cNvPr id="7" name="灯片编号占位符 6">
            <a:extLst>
              <a:ext uri="{FF2B5EF4-FFF2-40B4-BE49-F238E27FC236}">
                <a16:creationId xmlns:a16="http://schemas.microsoft.com/office/drawing/2014/main" id="{F99BC86A-2141-DBFB-E96F-C66D1E645254}"/>
              </a:ext>
            </a:extLst>
          </p:cNvPr>
          <p:cNvSpPr>
            <a:spLocks noGrp="1"/>
          </p:cNvSpPr>
          <p:nvPr>
            <p:ph type="sldNum" sz="quarter" idx="12"/>
          </p:nvPr>
        </p:nvSpPr>
        <p:spPr/>
        <p:txBody>
          <a:bodyPr/>
          <a:lstStyle/>
          <a:p>
            <a:fld id="{EC230444-A519-6845-9B10-810B3093520A}" type="slidenum">
              <a:rPr kumimoji="1" lang="zh-CN" altLang="en-US" smtClean="0"/>
              <a:t>1</a:t>
            </a:fld>
            <a:endParaRPr kumimoji="1" lang="zh-CN" altLang="en-US"/>
          </a:p>
        </p:txBody>
      </p:sp>
      <p:sp>
        <p:nvSpPr>
          <p:cNvPr id="8" name="页脚占位符 7">
            <a:extLst>
              <a:ext uri="{FF2B5EF4-FFF2-40B4-BE49-F238E27FC236}">
                <a16:creationId xmlns:a16="http://schemas.microsoft.com/office/drawing/2014/main" id="{E2453313-7A8C-5A84-BE82-7C73B0E1F697}"/>
              </a:ext>
            </a:extLst>
          </p:cNvPr>
          <p:cNvSpPr>
            <a:spLocks noGrp="1"/>
          </p:cNvSpPr>
          <p:nvPr>
            <p:ph type="ftr" sz="quarter" idx="11"/>
          </p:nvPr>
        </p:nvSpPr>
        <p:spPr/>
        <p:txBody>
          <a:bodyPr/>
          <a:lstStyle/>
          <a:p>
            <a:r>
              <a:rPr kumimoji="1" lang="en" altLang="zh-CN"/>
              <a:t>YWN</a:t>
            </a:r>
            <a:endParaRPr kumimoji="1" lang="zh-CN" altLang="en-US"/>
          </a:p>
        </p:txBody>
      </p:sp>
    </p:spTree>
    <p:extLst>
      <p:ext uri="{BB962C8B-B14F-4D97-AF65-F5344CB8AC3E}">
        <p14:creationId xmlns:p14="http://schemas.microsoft.com/office/powerpoint/2010/main" val="4211156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09E346-0406-4353-FA88-49CD20BEEDDE}"/>
              </a:ext>
            </a:extLst>
          </p:cNvPr>
          <p:cNvSpPr>
            <a:spLocks noGrp="1"/>
          </p:cNvSpPr>
          <p:nvPr>
            <p:ph type="title"/>
          </p:nvPr>
        </p:nvSpPr>
        <p:spPr/>
        <p:txBody>
          <a:bodyPr/>
          <a:lstStyle/>
          <a:p>
            <a:r>
              <a:rPr kumimoji="1" lang="en-US" altLang="zh-CN" dirty="0"/>
              <a:t>Introduction</a:t>
            </a:r>
            <a:endParaRPr kumimoji="1" lang="zh-CN" altLang="en-US" dirty="0"/>
          </a:p>
        </p:txBody>
      </p:sp>
      <p:sp>
        <p:nvSpPr>
          <p:cNvPr id="3" name="内容占位符 2">
            <a:extLst>
              <a:ext uri="{FF2B5EF4-FFF2-40B4-BE49-F238E27FC236}">
                <a16:creationId xmlns:a16="http://schemas.microsoft.com/office/drawing/2014/main" id="{FFD306B9-C99F-2E78-24D3-4C970EA75109}"/>
              </a:ext>
            </a:extLst>
          </p:cNvPr>
          <p:cNvSpPr>
            <a:spLocks noGrp="1"/>
          </p:cNvSpPr>
          <p:nvPr>
            <p:ph idx="1"/>
          </p:nvPr>
        </p:nvSpPr>
        <p:spPr/>
        <p:txBody>
          <a:bodyPr/>
          <a:lstStyle/>
          <a:p>
            <a:r>
              <a:rPr kumimoji="1" lang="en-US" altLang="zh-CN" dirty="0"/>
              <a:t>Diffusion + </a:t>
            </a:r>
            <a:r>
              <a:rPr kumimoji="1" lang="en-US" altLang="zh-CN" dirty="0" err="1"/>
              <a:t>ViT</a:t>
            </a:r>
            <a:endParaRPr kumimoji="1" lang="en-US" altLang="zh-CN" dirty="0"/>
          </a:p>
          <a:p>
            <a:pPr lvl="1"/>
            <a:r>
              <a:rPr kumimoji="1" lang="en-US" altLang="zh-CN" dirty="0" err="1"/>
              <a:t>ViT</a:t>
            </a:r>
            <a:endParaRPr kumimoji="1" lang="en-US" altLang="zh-CN" dirty="0"/>
          </a:p>
          <a:p>
            <a:pPr lvl="2"/>
            <a:r>
              <a:rPr kumimoji="1" lang="en-US" altLang="zh-CN" dirty="0"/>
              <a:t>expressive and context-aware representation</a:t>
            </a:r>
          </a:p>
          <a:p>
            <a:pPr lvl="2"/>
            <a:r>
              <a:rPr kumimoji="1" lang="zh-CN" altLang="en-US" dirty="0"/>
              <a:t>多元输入</a:t>
            </a:r>
            <a:endParaRPr kumimoji="1" lang="en-US" altLang="zh-CN" dirty="0"/>
          </a:p>
          <a:p>
            <a:pPr lvl="1"/>
            <a:r>
              <a:rPr kumimoji="1" lang="en-US" altLang="zh-CN" dirty="0"/>
              <a:t>Diffusion</a:t>
            </a:r>
          </a:p>
          <a:p>
            <a:pPr lvl="2"/>
            <a:r>
              <a:rPr kumimoji="1" lang="en-US" altLang="zh-CN" dirty="0"/>
              <a:t>local intricacies and dependencies within data</a:t>
            </a:r>
          </a:p>
        </p:txBody>
      </p:sp>
      <p:sp>
        <p:nvSpPr>
          <p:cNvPr id="4" name="日期占位符 3">
            <a:extLst>
              <a:ext uri="{FF2B5EF4-FFF2-40B4-BE49-F238E27FC236}">
                <a16:creationId xmlns:a16="http://schemas.microsoft.com/office/drawing/2014/main" id="{B0DBC6E2-FA51-DE55-187A-B44808A532DC}"/>
              </a:ext>
            </a:extLst>
          </p:cNvPr>
          <p:cNvSpPr>
            <a:spLocks noGrp="1"/>
          </p:cNvSpPr>
          <p:nvPr>
            <p:ph type="dt" sz="half" idx="10"/>
          </p:nvPr>
        </p:nvSpPr>
        <p:spPr/>
        <p:txBody>
          <a:bodyPr/>
          <a:lstStyle/>
          <a:p>
            <a:fld id="{BFD7AF6A-C99D-BC49-8E8D-80DD3BB70095}" type="datetime1">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94388F16-14C8-0309-F6FA-61D0A8B65B68}"/>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81EAE9BF-8F94-BA43-B791-813EAF14FC1C}"/>
              </a:ext>
            </a:extLst>
          </p:cNvPr>
          <p:cNvSpPr>
            <a:spLocks noGrp="1"/>
          </p:cNvSpPr>
          <p:nvPr>
            <p:ph type="sldNum" sz="quarter" idx="12"/>
          </p:nvPr>
        </p:nvSpPr>
        <p:spPr/>
        <p:txBody>
          <a:bodyPr/>
          <a:lstStyle/>
          <a:p>
            <a:fld id="{EC230444-A519-6845-9B10-810B3093520A}" type="slidenum">
              <a:rPr kumimoji="1" lang="zh-CN" altLang="en-US" smtClean="0"/>
              <a:t>2</a:t>
            </a:fld>
            <a:endParaRPr kumimoji="1" lang="zh-CN" altLang="en-US"/>
          </a:p>
        </p:txBody>
      </p:sp>
    </p:spTree>
    <p:extLst>
      <p:ext uri="{BB962C8B-B14F-4D97-AF65-F5344CB8AC3E}">
        <p14:creationId xmlns:p14="http://schemas.microsoft.com/office/powerpoint/2010/main" val="4053543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EF3365-7EBA-86FD-E772-56DD8C87F15B}"/>
              </a:ext>
            </a:extLst>
          </p:cNvPr>
          <p:cNvSpPr>
            <a:spLocks noGrp="1"/>
          </p:cNvSpPr>
          <p:nvPr>
            <p:ph type="title"/>
          </p:nvPr>
        </p:nvSpPr>
        <p:spPr/>
        <p:txBody>
          <a:bodyPr/>
          <a:lstStyle/>
          <a:p>
            <a:r>
              <a:rPr kumimoji="1" lang="en-US" altLang="zh-CN" dirty="0" err="1"/>
              <a:t>DiffPoint</a:t>
            </a:r>
            <a:endParaRPr kumimoji="1" lang="zh-CN" altLang="en-US" dirty="0"/>
          </a:p>
        </p:txBody>
      </p:sp>
      <p:pic>
        <p:nvPicPr>
          <p:cNvPr id="8" name="内容占位符 7">
            <a:extLst>
              <a:ext uri="{FF2B5EF4-FFF2-40B4-BE49-F238E27FC236}">
                <a16:creationId xmlns:a16="http://schemas.microsoft.com/office/drawing/2014/main" id="{E37EA655-E81E-7159-87DF-CAA597710FB5}"/>
              </a:ext>
            </a:extLst>
          </p:cNvPr>
          <p:cNvPicPr>
            <a:picLocks noGrp="1" noChangeAspect="1"/>
          </p:cNvPicPr>
          <p:nvPr>
            <p:ph idx="1"/>
          </p:nvPr>
        </p:nvPicPr>
        <p:blipFill>
          <a:blip r:embed="rId2"/>
          <a:stretch>
            <a:fillRect/>
          </a:stretch>
        </p:blipFill>
        <p:spPr>
          <a:xfrm>
            <a:off x="2408284" y="1510962"/>
            <a:ext cx="7375432" cy="4696824"/>
          </a:xfrm>
        </p:spPr>
      </p:pic>
      <p:sp>
        <p:nvSpPr>
          <p:cNvPr id="4" name="日期占位符 3">
            <a:extLst>
              <a:ext uri="{FF2B5EF4-FFF2-40B4-BE49-F238E27FC236}">
                <a16:creationId xmlns:a16="http://schemas.microsoft.com/office/drawing/2014/main" id="{5621256F-F24C-C658-3CC9-7A1EFF0B4020}"/>
              </a:ext>
            </a:extLst>
          </p:cNvPr>
          <p:cNvSpPr>
            <a:spLocks noGrp="1"/>
          </p:cNvSpPr>
          <p:nvPr>
            <p:ph type="dt" sz="half" idx="10"/>
          </p:nvPr>
        </p:nvSpPr>
        <p:spPr/>
        <p:txBody>
          <a:bodyPr/>
          <a:lstStyle/>
          <a:p>
            <a:fld id="{BFD7AF6A-C99D-BC49-8E8D-80DD3BB70095}" type="datetime1">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8C860F5A-9E13-E6F9-3B96-2E651CDA69C4}"/>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C1950AA0-6B40-9D25-A4C3-A594357429ED}"/>
              </a:ext>
            </a:extLst>
          </p:cNvPr>
          <p:cNvSpPr>
            <a:spLocks noGrp="1"/>
          </p:cNvSpPr>
          <p:nvPr>
            <p:ph type="sldNum" sz="quarter" idx="12"/>
          </p:nvPr>
        </p:nvSpPr>
        <p:spPr/>
        <p:txBody>
          <a:bodyPr/>
          <a:lstStyle/>
          <a:p>
            <a:fld id="{EC230444-A519-6845-9B10-810B3093520A}" type="slidenum">
              <a:rPr kumimoji="1" lang="zh-CN" altLang="en-US" smtClean="0"/>
              <a:t>3</a:t>
            </a:fld>
            <a:endParaRPr kumimoji="1" lang="zh-CN" altLang="en-US"/>
          </a:p>
        </p:txBody>
      </p:sp>
    </p:spTree>
    <p:extLst>
      <p:ext uri="{BB962C8B-B14F-4D97-AF65-F5344CB8AC3E}">
        <p14:creationId xmlns:p14="http://schemas.microsoft.com/office/powerpoint/2010/main" val="1387966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DA5127-3577-2220-28A9-D4A420DD1EDA}"/>
              </a:ext>
            </a:extLst>
          </p:cNvPr>
          <p:cNvSpPr>
            <a:spLocks noGrp="1"/>
          </p:cNvSpPr>
          <p:nvPr>
            <p:ph type="title"/>
          </p:nvPr>
        </p:nvSpPr>
        <p:spPr/>
        <p:txBody>
          <a:bodyPr/>
          <a:lstStyle/>
          <a:p>
            <a:r>
              <a:rPr kumimoji="1" lang="en" altLang="zh-CN" dirty="0"/>
              <a:t>Point Cloud Splitting and Embedding</a:t>
            </a:r>
            <a:endParaRPr kumimoji="1" lang="zh-CN" altLang="en-US" dirty="0"/>
          </a:p>
        </p:txBody>
      </p:sp>
      <p:sp>
        <p:nvSpPr>
          <p:cNvPr id="3" name="内容占位符 2">
            <a:extLst>
              <a:ext uri="{FF2B5EF4-FFF2-40B4-BE49-F238E27FC236}">
                <a16:creationId xmlns:a16="http://schemas.microsoft.com/office/drawing/2014/main" id="{F1E6AB86-5FD4-2AF0-8231-ACFA58760D23}"/>
              </a:ext>
            </a:extLst>
          </p:cNvPr>
          <p:cNvSpPr>
            <a:spLocks noGrp="1"/>
          </p:cNvSpPr>
          <p:nvPr>
            <p:ph idx="1"/>
          </p:nvPr>
        </p:nvSpPr>
        <p:spPr/>
        <p:txBody>
          <a:bodyPr/>
          <a:lstStyle/>
          <a:p>
            <a:r>
              <a:rPr kumimoji="1" lang="en" altLang="zh-CN" dirty="0"/>
              <a:t>Farthest Point Sampling (FPS)</a:t>
            </a:r>
          </a:p>
          <a:p>
            <a:r>
              <a:rPr kumimoji="1" lang="en" altLang="zh-CN" dirty="0"/>
              <a:t>K-Nearest Neighborhood (KNN) algorithm</a:t>
            </a:r>
            <a:endParaRPr kumimoji="1" lang="zh-CN" altLang="en-US" dirty="0"/>
          </a:p>
        </p:txBody>
      </p:sp>
      <p:sp>
        <p:nvSpPr>
          <p:cNvPr id="4" name="日期占位符 3">
            <a:extLst>
              <a:ext uri="{FF2B5EF4-FFF2-40B4-BE49-F238E27FC236}">
                <a16:creationId xmlns:a16="http://schemas.microsoft.com/office/drawing/2014/main" id="{FAB1271D-151D-8730-E05E-5E37139DDAAB}"/>
              </a:ext>
            </a:extLst>
          </p:cNvPr>
          <p:cNvSpPr>
            <a:spLocks noGrp="1"/>
          </p:cNvSpPr>
          <p:nvPr>
            <p:ph type="dt" sz="half" idx="10"/>
          </p:nvPr>
        </p:nvSpPr>
        <p:spPr/>
        <p:txBody>
          <a:bodyPr/>
          <a:lstStyle/>
          <a:p>
            <a:fld id="{BFD7AF6A-C99D-BC49-8E8D-80DD3BB70095}" type="datetime1">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A381D175-9162-01AC-11FE-C10374AF7F74}"/>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D8D150E2-A4FC-5EA4-7800-691477964B28}"/>
              </a:ext>
            </a:extLst>
          </p:cNvPr>
          <p:cNvSpPr>
            <a:spLocks noGrp="1"/>
          </p:cNvSpPr>
          <p:nvPr>
            <p:ph type="sldNum" sz="quarter" idx="12"/>
          </p:nvPr>
        </p:nvSpPr>
        <p:spPr/>
        <p:txBody>
          <a:bodyPr/>
          <a:lstStyle/>
          <a:p>
            <a:fld id="{EC230444-A519-6845-9B10-810B3093520A}" type="slidenum">
              <a:rPr kumimoji="1" lang="zh-CN" altLang="en-US" smtClean="0"/>
              <a:t>4</a:t>
            </a:fld>
            <a:endParaRPr kumimoji="1" lang="zh-CN" altLang="en-US"/>
          </a:p>
        </p:txBody>
      </p:sp>
      <p:pic>
        <p:nvPicPr>
          <p:cNvPr id="8" name="图片 7">
            <a:extLst>
              <a:ext uri="{FF2B5EF4-FFF2-40B4-BE49-F238E27FC236}">
                <a16:creationId xmlns:a16="http://schemas.microsoft.com/office/drawing/2014/main" id="{C800D8B8-9B5A-9645-B12D-11AB4EC3685E}"/>
              </a:ext>
            </a:extLst>
          </p:cNvPr>
          <p:cNvPicPr>
            <a:picLocks noChangeAspect="1"/>
          </p:cNvPicPr>
          <p:nvPr/>
        </p:nvPicPr>
        <p:blipFill>
          <a:blip r:embed="rId2"/>
          <a:stretch>
            <a:fillRect/>
          </a:stretch>
        </p:blipFill>
        <p:spPr>
          <a:xfrm>
            <a:off x="3749139" y="3332414"/>
            <a:ext cx="3535238" cy="2844549"/>
          </a:xfrm>
          <a:prstGeom prst="rect">
            <a:avLst/>
          </a:prstGeom>
        </p:spPr>
      </p:pic>
      <p:sp>
        <p:nvSpPr>
          <p:cNvPr id="7" name="文本框 6">
            <a:extLst>
              <a:ext uri="{FF2B5EF4-FFF2-40B4-BE49-F238E27FC236}">
                <a16:creationId xmlns:a16="http://schemas.microsoft.com/office/drawing/2014/main" id="{638A473A-CE6F-240E-5904-B7D3D96251BA}"/>
              </a:ext>
            </a:extLst>
          </p:cNvPr>
          <p:cNvSpPr txBox="1"/>
          <p:nvPr/>
        </p:nvSpPr>
        <p:spPr>
          <a:xfrm>
            <a:off x="9246742" y="4664467"/>
            <a:ext cx="1749197" cy="646331"/>
          </a:xfrm>
          <a:prstGeom prst="rect">
            <a:avLst/>
          </a:prstGeom>
          <a:noFill/>
        </p:spPr>
        <p:txBody>
          <a:bodyPr wrap="none" rtlCol="0">
            <a:spAutoFit/>
          </a:bodyPr>
          <a:lstStyle/>
          <a:p>
            <a:r>
              <a:rPr kumimoji="1" lang="en-US" altLang="zh-CN" dirty="0"/>
              <a:t>64 patches</a:t>
            </a:r>
          </a:p>
          <a:p>
            <a:r>
              <a:rPr kumimoji="1" lang="en-US" altLang="zh-CN" dirty="0"/>
              <a:t>32 points/patch</a:t>
            </a:r>
            <a:endParaRPr kumimoji="1" lang="zh-CN" altLang="en-US" dirty="0"/>
          </a:p>
        </p:txBody>
      </p:sp>
    </p:spTree>
    <p:extLst>
      <p:ext uri="{BB962C8B-B14F-4D97-AF65-F5344CB8AC3E}">
        <p14:creationId xmlns:p14="http://schemas.microsoft.com/office/powerpoint/2010/main" val="3930549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9D03C7-B4AB-C375-F948-49E2CC255FCC}"/>
              </a:ext>
            </a:extLst>
          </p:cNvPr>
          <p:cNvSpPr>
            <a:spLocks noGrp="1"/>
          </p:cNvSpPr>
          <p:nvPr>
            <p:ph type="title"/>
          </p:nvPr>
        </p:nvSpPr>
        <p:spPr/>
        <p:txBody>
          <a:bodyPr/>
          <a:lstStyle/>
          <a:p>
            <a:r>
              <a:rPr kumimoji="1" lang="en" altLang="zh-CN" dirty="0"/>
              <a:t>Image Embedding and Feature Aggregation</a:t>
            </a:r>
            <a:endParaRPr kumimoji="1" lang="zh-CN" altLang="en-US" dirty="0"/>
          </a:p>
        </p:txBody>
      </p:sp>
      <p:pic>
        <p:nvPicPr>
          <p:cNvPr id="8" name="内容占位符 7">
            <a:extLst>
              <a:ext uri="{FF2B5EF4-FFF2-40B4-BE49-F238E27FC236}">
                <a16:creationId xmlns:a16="http://schemas.microsoft.com/office/drawing/2014/main" id="{984C3A9F-E3A8-D2C8-AFF2-9C169D9F49CD}"/>
              </a:ext>
            </a:extLst>
          </p:cNvPr>
          <p:cNvPicPr>
            <a:picLocks noGrp="1" noChangeAspect="1"/>
          </p:cNvPicPr>
          <p:nvPr>
            <p:ph idx="1"/>
          </p:nvPr>
        </p:nvPicPr>
        <p:blipFill>
          <a:blip r:embed="rId2"/>
          <a:stretch>
            <a:fillRect/>
          </a:stretch>
        </p:blipFill>
        <p:spPr>
          <a:xfrm>
            <a:off x="2634708" y="1825625"/>
            <a:ext cx="6922583" cy="4351338"/>
          </a:xfrm>
        </p:spPr>
      </p:pic>
      <p:sp>
        <p:nvSpPr>
          <p:cNvPr id="4" name="日期占位符 3">
            <a:extLst>
              <a:ext uri="{FF2B5EF4-FFF2-40B4-BE49-F238E27FC236}">
                <a16:creationId xmlns:a16="http://schemas.microsoft.com/office/drawing/2014/main" id="{F3E06D26-856E-2D20-E889-A08D630FB16C}"/>
              </a:ext>
            </a:extLst>
          </p:cNvPr>
          <p:cNvSpPr>
            <a:spLocks noGrp="1"/>
          </p:cNvSpPr>
          <p:nvPr>
            <p:ph type="dt" sz="half" idx="10"/>
          </p:nvPr>
        </p:nvSpPr>
        <p:spPr/>
        <p:txBody>
          <a:bodyPr/>
          <a:lstStyle/>
          <a:p>
            <a:fld id="{BFD7AF6A-C99D-BC49-8E8D-80DD3BB70095}" type="datetime1">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A8BF7104-C93B-381F-77BA-8A0DE08AFEDC}"/>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71C320DB-849D-6E98-3856-8AC4812A2AA1}"/>
              </a:ext>
            </a:extLst>
          </p:cNvPr>
          <p:cNvSpPr>
            <a:spLocks noGrp="1"/>
          </p:cNvSpPr>
          <p:nvPr>
            <p:ph type="sldNum" sz="quarter" idx="12"/>
          </p:nvPr>
        </p:nvSpPr>
        <p:spPr/>
        <p:txBody>
          <a:bodyPr/>
          <a:lstStyle/>
          <a:p>
            <a:fld id="{EC230444-A519-6845-9B10-810B3093520A}" type="slidenum">
              <a:rPr kumimoji="1" lang="zh-CN" altLang="en-US" smtClean="0"/>
              <a:t>5</a:t>
            </a:fld>
            <a:endParaRPr kumimoji="1" lang="zh-CN" altLang="en-US"/>
          </a:p>
        </p:txBody>
      </p:sp>
    </p:spTree>
    <p:extLst>
      <p:ext uri="{BB962C8B-B14F-4D97-AF65-F5344CB8AC3E}">
        <p14:creationId xmlns:p14="http://schemas.microsoft.com/office/powerpoint/2010/main" val="4039473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A27A24-EB44-05B3-45EB-C96C148BC0B9}"/>
              </a:ext>
            </a:extLst>
          </p:cNvPr>
          <p:cNvSpPr>
            <a:spLocks noGrp="1"/>
          </p:cNvSpPr>
          <p:nvPr>
            <p:ph type="title"/>
          </p:nvPr>
        </p:nvSpPr>
        <p:spPr/>
        <p:txBody>
          <a:bodyPr/>
          <a:lstStyle/>
          <a:p>
            <a:r>
              <a:rPr kumimoji="1" lang="en-US" altLang="zh-CN" dirty="0"/>
              <a:t>Single-view Reconstruction</a:t>
            </a:r>
            <a:endParaRPr kumimoji="1" lang="zh-CN" altLang="en-US" dirty="0"/>
          </a:p>
        </p:txBody>
      </p:sp>
      <p:pic>
        <p:nvPicPr>
          <p:cNvPr id="8" name="内容占位符 7">
            <a:extLst>
              <a:ext uri="{FF2B5EF4-FFF2-40B4-BE49-F238E27FC236}">
                <a16:creationId xmlns:a16="http://schemas.microsoft.com/office/drawing/2014/main" id="{76636329-0F79-B1F5-2B23-2947ED59B31A}"/>
              </a:ext>
            </a:extLst>
          </p:cNvPr>
          <p:cNvPicPr>
            <a:picLocks noGrp="1" noChangeAspect="1"/>
          </p:cNvPicPr>
          <p:nvPr>
            <p:ph idx="1"/>
          </p:nvPr>
        </p:nvPicPr>
        <p:blipFill>
          <a:blip r:embed="rId2"/>
          <a:stretch>
            <a:fillRect/>
          </a:stretch>
        </p:blipFill>
        <p:spPr>
          <a:xfrm>
            <a:off x="838200" y="2074666"/>
            <a:ext cx="10515600" cy="3853255"/>
          </a:xfrm>
        </p:spPr>
      </p:pic>
      <p:sp>
        <p:nvSpPr>
          <p:cNvPr id="4" name="日期占位符 3">
            <a:extLst>
              <a:ext uri="{FF2B5EF4-FFF2-40B4-BE49-F238E27FC236}">
                <a16:creationId xmlns:a16="http://schemas.microsoft.com/office/drawing/2014/main" id="{3E8EC6AE-1B01-057D-19BF-11F30027C76F}"/>
              </a:ext>
            </a:extLst>
          </p:cNvPr>
          <p:cNvSpPr>
            <a:spLocks noGrp="1"/>
          </p:cNvSpPr>
          <p:nvPr>
            <p:ph type="dt" sz="half" idx="10"/>
          </p:nvPr>
        </p:nvSpPr>
        <p:spPr/>
        <p:txBody>
          <a:bodyPr/>
          <a:lstStyle/>
          <a:p>
            <a:fld id="{BFD7AF6A-C99D-BC49-8E8D-80DD3BB70095}" type="datetime1">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A27E3384-5C09-F959-8D3D-E48CC4EABF5E}"/>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4E57EC02-7122-199C-3D6B-13CFE273C3A4}"/>
              </a:ext>
            </a:extLst>
          </p:cNvPr>
          <p:cNvSpPr>
            <a:spLocks noGrp="1"/>
          </p:cNvSpPr>
          <p:nvPr>
            <p:ph type="sldNum" sz="quarter" idx="12"/>
          </p:nvPr>
        </p:nvSpPr>
        <p:spPr/>
        <p:txBody>
          <a:bodyPr/>
          <a:lstStyle/>
          <a:p>
            <a:fld id="{EC230444-A519-6845-9B10-810B3093520A}" type="slidenum">
              <a:rPr kumimoji="1" lang="zh-CN" altLang="en-US" smtClean="0"/>
              <a:t>6</a:t>
            </a:fld>
            <a:endParaRPr kumimoji="1" lang="zh-CN" altLang="en-US"/>
          </a:p>
        </p:txBody>
      </p:sp>
    </p:spTree>
    <p:extLst>
      <p:ext uri="{BB962C8B-B14F-4D97-AF65-F5344CB8AC3E}">
        <p14:creationId xmlns:p14="http://schemas.microsoft.com/office/powerpoint/2010/main" val="690479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A177ACB8-D715-DFA9-68EF-2C27AFA44760}"/>
              </a:ext>
            </a:extLst>
          </p:cNvPr>
          <p:cNvSpPr>
            <a:spLocks noGrp="1"/>
          </p:cNvSpPr>
          <p:nvPr>
            <p:ph type="dt" sz="half" idx="10"/>
          </p:nvPr>
        </p:nvSpPr>
        <p:spPr/>
        <p:txBody>
          <a:bodyPr/>
          <a:lstStyle/>
          <a:p>
            <a:fld id="{BFD7AF6A-C99D-BC49-8E8D-80DD3BB70095}" type="datetime1">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75B48C6C-27EB-0FA1-946F-85AE82B3F8F7}"/>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83EAC464-07C1-9330-7DA4-17CF26D8591E}"/>
              </a:ext>
            </a:extLst>
          </p:cNvPr>
          <p:cNvSpPr>
            <a:spLocks noGrp="1"/>
          </p:cNvSpPr>
          <p:nvPr>
            <p:ph type="sldNum" sz="quarter" idx="12"/>
          </p:nvPr>
        </p:nvSpPr>
        <p:spPr/>
        <p:txBody>
          <a:bodyPr/>
          <a:lstStyle/>
          <a:p>
            <a:fld id="{EC230444-A519-6845-9B10-810B3093520A}" type="slidenum">
              <a:rPr kumimoji="1" lang="zh-CN" altLang="en-US" smtClean="0"/>
              <a:t>7</a:t>
            </a:fld>
            <a:endParaRPr kumimoji="1" lang="zh-CN" altLang="en-US"/>
          </a:p>
        </p:txBody>
      </p:sp>
      <p:pic>
        <p:nvPicPr>
          <p:cNvPr id="8" name="图片 7">
            <a:extLst>
              <a:ext uri="{FF2B5EF4-FFF2-40B4-BE49-F238E27FC236}">
                <a16:creationId xmlns:a16="http://schemas.microsoft.com/office/drawing/2014/main" id="{E1241A18-D8C3-D8A7-153C-2A982D4DC48D}"/>
              </a:ext>
            </a:extLst>
          </p:cNvPr>
          <p:cNvPicPr>
            <a:picLocks noChangeAspect="1"/>
          </p:cNvPicPr>
          <p:nvPr/>
        </p:nvPicPr>
        <p:blipFill>
          <a:blip r:embed="rId2"/>
          <a:stretch>
            <a:fillRect/>
          </a:stretch>
        </p:blipFill>
        <p:spPr>
          <a:xfrm>
            <a:off x="838200" y="505775"/>
            <a:ext cx="10185971" cy="5451015"/>
          </a:xfrm>
          <a:prstGeom prst="rect">
            <a:avLst/>
          </a:prstGeom>
        </p:spPr>
      </p:pic>
    </p:spTree>
    <p:extLst>
      <p:ext uri="{BB962C8B-B14F-4D97-AF65-F5344CB8AC3E}">
        <p14:creationId xmlns:p14="http://schemas.microsoft.com/office/powerpoint/2010/main" val="1348602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7BA93E88-871B-4805-F79C-5D7813F1E3C8}"/>
              </a:ext>
            </a:extLst>
          </p:cNvPr>
          <p:cNvSpPr>
            <a:spLocks noGrp="1"/>
          </p:cNvSpPr>
          <p:nvPr>
            <p:ph type="title"/>
          </p:nvPr>
        </p:nvSpPr>
        <p:spPr/>
        <p:txBody>
          <a:bodyPr/>
          <a:lstStyle/>
          <a:p>
            <a:r>
              <a:rPr lang="en-US" altLang="zh-CN" dirty="0"/>
              <a:t>Multi-view Reconstruction</a:t>
            </a:r>
            <a:endParaRPr lang="zh-CN" altLang="en-US" dirty="0"/>
          </a:p>
        </p:txBody>
      </p:sp>
      <p:sp>
        <p:nvSpPr>
          <p:cNvPr id="2" name="日期占位符 1">
            <a:extLst>
              <a:ext uri="{FF2B5EF4-FFF2-40B4-BE49-F238E27FC236}">
                <a16:creationId xmlns:a16="http://schemas.microsoft.com/office/drawing/2014/main" id="{E25D1D43-4241-F1C2-A45B-8683DBEA4D31}"/>
              </a:ext>
            </a:extLst>
          </p:cNvPr>
          <p:cNvSpPr>
            <a:spLocks noGrp="1"/>
          </p:cNvSpPr>
          <p:nvPr>
            <p:ph type="dt" sz="half" idx="10"/>
          </p:nvPr>
        </p:nvSpPr>
        <p:spPr/>
        <p:txBody>
          <a:bodyPr/>
          <a:lstStyle/>
          <a:p>
            <a:fld id="{EDCA040B-EA2E-3E49-962C-E370C1B79BA0}" type="datetime1">
              <a:rPr kumimoji="1" lang="zh-CN" altLang="en-US" smtClean="0"/>
              <a:t>2024/3/1</a:t>
            </a:fld>
            <a:endParaRPr kumimoji="1" lang="zh-CN" altLang="en-US"/>
          </a:p>
        </p:txBody>
      </p:sp>
      <p:sp>
        <p:nvSpPr>
          <p:cNvPr id="3" name="页脚占位符 2">
            <a:extLst>
              <a:ext uri="{FF2B5EF4-FFF2-40B4-BE49-F238E27FC236}">
                <a16:creationId xmlns:a16="http://schemas.microsoft.com/office/drawing/2014/main" id="{C55BC201-A2A5-EA7B-76EE-5B2C2AE9A7BB}"/>
              </a:ext>
            </a:extLst>
          </p:cNvPr>
          <p:cNvSpPr>
            <a:spLocks noGrp="1"/>
          </p:cNvSpPr>
          <p:nvPr>
            <p:ph type="ftr" sz="quarter" idx="11"/>
          </p:nvPr>
        </p:nvSpPr>
        <p:spPr/>
        <p:txBody>
          <a:bodyPr/>
          <a:lstStyle/>
          <a:p>
            <a:r>
              <a:rPr kumimoji="1" lang="en" altLang="zh-CN"/>
              <a:t>YWN</a:t>
            </a:r>
            <a:endParaRPr kumimoji="1" lang="zh-CN" altLang="en-US"/>
          </a:p>
        </p:txBody>
      </p:sp>
      <p:sp>
        <p:nvSpPr>
          <p:cNvPr id="4" name="灯片编号占位符 3">
            <a:extLst>
              <a:ext uri="{FF2B5EF4-FFF2-40B4-BE49-F238E27FC236}">
                <a16:creationId xmlns:a16="http://schemas.microsoft.com/office/drawing/2014/main" id="{AA34BB29-3DCE-B9EE-E78F-28DEE75686BE}"/>
              </a:ext>
            </a:extLst>
          </p:cNvPr>
          <p:cNvSpPr>
            <a:spLocks noGrp="1"/>
          </p:cNvSpPr>
          <p:nvPr>
            <p:ph type="sldNum" sz="quarter" idx="12"/>
          </p:nvPr>
        </p:nvSpPr>
        <p:spPr/>
        <p:txBody>
          <a:bodyPr/>
          <a:lstStyle/>
          <a:p>
            <a:fld id="{EC230444-A519-6845-9B10-810B3093520A}" type="slidenum">
              <a:rPr kumimoji="1" lang="zh-CN" altLang="en-US" smtClean="0"/>
              <a:t>8</a:t>
            </a:fld>
            <a:endParaRPr kumimoji="1" lang="zh-CN" altLang="en-US"/>
          </a:p>
        </p:txBody>
      </p:sp>
      <p:pic>
        <p:nvPicPr>
          <p:cNvPr id="6" name="图片 5">
            <a:extLst>
              <a:ext uri="{FF2B5EF4-FFF2-40B4-BE49-F238E27FC236}">
                <a16:creationId xmlns:a16="http://schemas.microsoft.com/office/drawing/2014/main" id="{72C651B1-E279-32EF-A211-BFE488353974}"/>
              </a:ext>
            </a:extLst>
          </p:cNvPr>
          <p:cNvPicPr>
            <a:picLocks noChangeAspect="1"/>
          </p:cNvPicPr>
          <p:nvPr/>
        </p:nvPicPr>
        <p:blipFill>
          <a:blip r:embed="rId2"/>
          <a:stretch>
            <a:fillRect/>
          </a:stretch>
        </p:blipFill>
        <p:spPr>
          <a:xfrm>
            <a:off x="572175" y="2148883"/>
            <a:ext cx="11047650" cy="3902596"/>
          </a:xfrm>
          <a:prstGeom prst="rect">
            <a:avLst/>
          </a:prstGeom>
        </p:spPr>
      </p:pic>
    </p:spTree>
    <p:extLst>
      <p:ext uri="{BB962C8B-B14F-4D97-AF65-F5344CB8AC3E}">
        <p14:creationId xmlns:p14="http://schemas.microsoft.com/office/powerpoint/2010/main" val="3936632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BEA0BD-D388-7E7E-0121-090BEE608681}"/>
              </a:ext>
            </a:extLst>
          </p:cNvPr>
          <p:cNvSpPr>
            <a:spLocks noGrp="1"/>
          </p:cNvSpPr>
          <p:nvPr>
            <p:ph type="title"/>
          </p:nvPr>
        </p:nvSpPr>
        <p:spPr/>
        <p:txBody>
          <a:bodyPr/>
          <a:lstStyle/>
          <a:p>
            <a:r>
              <a:rPr kumimoji="1" lang="en-US" altLang="zh-CN" dirty="0"/>
              <a:t>Ablation Study</a:t>
            </a:r>
            <a:endParaRPr kumimoji="1" lang="zh-CN" altLang="en-US" dirty="0"/>
          </a:p>
        </p:txBody>
      </p:sp>
      <p:pic>
        <p:nvPicPr>
          <p:cNvPr id="8" name="内容占位符 7">
            <a:extLst>
              <a:ext uri="{FF2B5EF4-FFF2-40B4-BE49-F238E27FC236}">
                <a16:creationId xmlns:a16="http://schemas.microsoft.com/office/drawing/2014/main" id="{A602CEB0-7F0B-9130-B470-7A1486AD0C43}"/>
              </a:ext>
            </a:extLst>
          </p:cNvPr>
          <p:cNvPicPr>
            <a:picLocks noGrp="1" noChangeAspect="1"/>
          </p:cNvPicPr>
          <p:nvPr>
            <p:ph idx="1"/>
          </p:nvPr>
        </p:nvPicPr>
        <p:blipFill>
          <a:blip r:embed="rId2"/>
          <a:stretch>
            <a:fillRect/>
          </a:stretch>
        </p:blipFill>
        <p:spPr>
          <a:xfrm>
            <a:off x="2546350" y="2680494"/>
            <a:ext cx="7099300" cy="2641600"/>
          </a:xfrm>
        </p:spPr>
      </p:pic>
      <p:sp>
        <p:nvSpPr>
          <p:cNvPr id="4" name="日期占位符 3">
            <a:extLst>
              <a:ext uri="{FF2B5EF4-FFF2-40B4-BE49-F238E27FC236}">
                <a16:creationId xmlns:a16="http://schemas.microsoft.com/office/drawing/2014/main" id="{7BEA8D62-8C8A-72F4-C458-14F2B471BED2}"/>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5707BFB3-063C-F0C1-EE55-3102DCF8B1ED}"/>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2C62C792-FDC7-518B-9631-D05CDEFD48A5}"/>
              </a:ext>
            </a:extLst>
          </p:cNvPr>
          <p:cNvSpPr>
            <a:spLocks noGrp="1"/>
          </p:cNvSpPr>
          <p:nvPr>
            <p:ph type="sldNum" sz="quarter" idx="12"/>
          </p:nvPr>
        </p:nvSpPr>
        <p:spPr/>
        <p:txBody>
          <a:bodyPr/>
          <a:lstStyle/>
          <a:p>
            <a:fld id="{EC230444-A519-6845-9B10-810B3093520A}" type="slidenum">
              <a:rPr kumimoji="1" lang="zh-CN" altLang="en-US" smtClean="0"/>
              <a:t>9</a:t>
            </a:fld>
            <a:endParaRPr kumimoji="1" lang="zh-CN" altLang="en-US"/>
          </a:p>
        </p:txBody>
      </p:sp>
    </p:spTree>
    <p:extLst>
      <p:ext uri="{BB962C8B-B14F-4D97-AF65-F5344CB8AC3E}">
        <p14:creationId xmlns:p14="http://schemas.microsoft.com/office/powerpoint/2010/main" val="2287561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C9FC40-D6FE-1F08-1406-CEA83DDA23A5}"/>
              </a:ext>
            </a:extLst>
          </p:cNvPr>
          <p:cNvSpPr>
            <a:spLocks noGrp="1"/>
          </p:cNvSpPr>
          <p:nvPr>
            <p:ph type="title"/>
          </p:nvPr>
        </p:nvSpPr>
        <p:spPr/>
        <p:txBody>
          <a:bodyPr/>
          <a:lstStyle/>
          <a:p>
            <a:r>
              <a:rPr kumimoji="1" lang="en-US" altLang="zh-CN" dirty="0"/>
              <a:t>Conclusion</a:t>
            </a:r>
            <a:endParaRPr kumimoji="1" lang="zh-CN" altLang="en-US" dirty="0"/>
          </a:p>
        </p:txBody>
      </p:sp>
      <p:sp>
        <p:nvSpPr>
          <p:cNvPr id="3" name="内容占位符 2">
            <a:extLst>
              <a:ext uri="{FF2B5EF4-FFF2-40B4-BE49-F238E27FC236}">
                <a16:creationId xmlns:a16="http://schemas.microsoft.com/office/drawing/2014/main" id="{151959E4-5B78-3AB7-ACCA-EAA7461AF019}"/>
              </a:ext>
            </a:extLst>
          </p:cNvPr>
          <p:cNvSpPr>
            <a:spLocks noGrp="1"/>
          </p:cNvSpPr>
          <p:nvPr>
            <p:ph idx="1"/>
          </p:nvPr>
        </p:nvSpPr>
        <p:spPr/>
        <p:txBody>
          <a:bodyPr/>
          <a:lstStyle/>
          <a:p>
            <a:r>
              <a:rPr kumimoji="1" lang="en-US" altLang="zh-CN" dirty="0"/>
              <a:t>Diffusion + </a:t>
            </a:r>
            <a:r>
              <a:rPr kumimoji="1" lang="en-US" altLang="zh-CN" dirty="0" err="1"/>
              <a:t>ViT</a:t>
            </a:r>
            <a:r>
              <a:rPr kumimoji="1" lang="en-US" altLang="zh-CN" dirty="0"/>
              <a:t> </a:t>
            </a:r>
            <a:r>
              <a:rPr kumimoji="1" lang="zh-CN" altLang="en-US" dirty="0"/>
              <a:t>三维重建的新思路</a:t>
            </a:r>
            <a:endParaRPr kumimoji="1" lang="en-US" altLang="zh-CN" dirty="0"/>
          </a:p>
          <a:p>
            <a:endParaRPr kumimoji="1" lang="en-US" altLang="zh-CN" dirty="0"/>
          </a:p>
          <a:p>
            <a:r>
              <a:rPr kumimoji="1" lang="en-US" altLang="zh-CN" dirty="0"/>
              <a:t>Multi </a:t>
            </a:r>
            <a:r>
              <a:rPr kumimoji="1" lang="zh-CN" altLang="en-US" dirty="0"/>
              <a:t>不如</a:t>
            </a:r>
            <a:r>
              <a:rPr kumimoji="1" lang="en-US" altLang="zh-CN" dirty="0"/>
              <a:t> Single?</a:t>
            </a:r>
          </a:p>
          <a:p>
            <a:r>
              <a:rPr kumimoji="1" lang="zh-CN" altLang="en-US" dirty="0"/>
              <a:t>实验有点少</a:t>
            </a:r>
            <a:endParaRPr kumimoji="1" lang="en-US" altLang="zh-CN" dirty="0"/>
          </a:p>
          <a:p>
            <a:endParaRPr kumimoji="1" lang="zh-CN" altLang="en-US" dirty="0"/>
          </a:p>
        </p:txBody>
      </p:sp>
      <p:sp>
        <p:nvSpPr>
          <p:cNvPr id="4" name="日期占位符 3">
            <a:extLst>
              <a:ext uri="{FF2B5EF4-FFF2-40B4-BE49-F238E27FC236}">
                <a16:creationId xmlns:a16="http://schemas.microsoft.com/office/drawing/2014/main" id="{F63A45E8-B6C4-F49E-32D4-03FDD5C199EE}"/>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7EF0FDF1-FB01-019C-7E20-F85BE34817F2}"/>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6119F04D-5D69-ED81-1BF7-F84BA4499CC7}"/>
              </a:ext>
            </a:extLst>
          </p:cNvPr>
          <p:cNvSpPr>
            <a:spLocks noGrp="1"/>
          </p:cNvSpPr>
          <p:nvPr>
            <p:ph type="sldNum" sz="quarter" idx="12"/>
          </p:nvPr>
        </p:nvSpPr>
        <p:spPr/>
        <p:txBody>
          <a:bodyPr/>
          <a:lstStyle/>
          <a:p>
            <a:fld id="{EC230444-A519-6845-9B10-810B3093520A}" type="slidenum">
              <a:rPr kumimoji="1" lang="zh-CN" altLang="en-US" smtClean="0"/>
              <a:t>10</a:t>
            </a:fld>
            <a:endParaRPr kumimoji="1" lang="zh-CN" altLang="en-US"/>
          </a:p>
        </p:txBody>
      </p:sp>
    </p:spTree>
    <p:extLst>
      <p:ext uri="{BB962C8B-B14F-4D97-AF65-F5344CB8AC3E}">
        <p14:creationId xmlns:p14="http://schemas.microsoft.com/office/powerpoint/2010/main" val="2343568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4AEAF007-F5EF-A496-CACB-8E1124642E14}"/>
              </a:ext>
            </a:extLst>
          </p:cNvPr>
          <p:cNvSpPr>
            <a:spLocks noGrp="1"/>
          </p:cNvSpPr>
          <p:nvPr>
            <p:ph type="title"/>
          </p:nvPr>
        </p:nvSpPr>
        <p:spPr/>
        <p:txBody>
          <a:bodyPr/>
          <a:lstStyle/>
          <a:p>
            <a:r>
              <a:rPr lang="en-US" altLang="zh-CN" dirty="0"/>
              <a:t>Abstract</a:t>
            </a:r>
            <a:endParaRPr lang="zh-CN" altLang="en-US" dirty="0"/>
          </a:p>
        </p:txBody>
      </p:sp>
      <p:sp>
        <p:nvSpPr>
          <p:cNvPr id="8" name="内容占位符 7">
            <a:extLst>
              <a:ext uri="{FF2B5EF4-FFF2-40B4-BE49-F238E27FC236}">
                <a16:creationId xmlns:a16="http://schemas.microsoft.com/office/drawing/2014/main" id="{FDF84481-0308-1471-31DF-3FE73AE7733C}"/>
              </a:ext>
            </a:extLst>
          </p:cNvPr>
          <p:cNvSpPr>
            <a:spLocks noGrp="1"/>
          </p:cNvSpPr>
          <p:nvPr>
            <p:ph sz="half" idx="1"/>
          </p:nvPr>
        </p:nvSpPr>
        <p:spPr>
          <a:xfrm>
            <a:off x="4767208" y="450279"/>
            <a:ext cx="7222734" cy="5906071"/>
          </a:xfrm>
        </p:spPr>
        <p:txBody>
          <a:bodyPr>
            <a:noAutofit/>
          </a:bodyPr>
          <a:lstStyle/>
          <a:p>
            <a:pPr marL="0" indent="0">
              <a:lnSpc>
                <a:spcPct val="170000"/>
              </a:lnSpc>
              <a:buNone/>
            </a:pPr>
            <a:r>
              <a:rPr lang="en" altLang="zh-CN" sz="1400" dirty="0"/>
              <a:t>As the task of 2D-to-3D reconstruction has gained significant attention in various real-world scenarios, it becomes crucial to be able to generate high-quality point clouds. Despite the recent success of deep learning models in generating point clouds, there are still challenges in producing high-fidelity results due to the disparities between images and point clouds. </a:t>
            </a:r>
            <a:r>
              <a:rPr lang="en" altLang="zh-CN" sz="1400" dirty="0">
                <a:solidFill>
                  <a:schemeClr val="bg1">
                    <a:lumMod val="85000"/>
                  </a:schemeClr>
                </a:solidFill>
              </a:rPr>
              <a:t>While vision transformers (</a:t>
            </a:r>
            <a:r>
              <a:rPr lang="en" altLang="zh-CN" sz="1400" dirty="0" err="1">
                <a:solidFill>
                  <a:schemeClr val="bg1">
                    <a:lumMod val="85000"/>
                  </a:schemeClr>
                </a:solidFill>
              </a:rPr>
              <a:t>ViT</a:t>
            </a:r>
            <a:r>
              <a:rPr lang="en" altLang="zh-CN" sz="1400" dirty="0">
                <a:solidFill>
                  <a:schemeClr val="bg1">
                    <a:lumMod val="85000"/>
                  </a:schemeClr>
                </a:solidFill>
              </a:rPr>
              <a:t>) and diffusion models have shown promise in various vision tasks, their benefits for reconstructing point clouds from images have not been demonstrated yet. In this paper, we first propose a neat and powerful architecture called </a:t>
            </a:r>
            <a:r>
              <a:rPr lang="en" altLang="zh-CN" sz="1400" dirty="0" err="1">
                <a:solidFill>
                  <a:schemeClr val="bg1">
                    <a:lumMod val="85000"/>
                  </a:schemeClr>
                </a:solidFill>
              </a:rPr>
              <a:t>DiffPoint</a:t>
            </a:r>
            <a:r>
              <a:rPr lang="en" altLang="zh-CN" sz="1400" dirty="0">
                <a:solidFill>
                  <a:schemeClr val="bg1">
                    <a:lumMod val="85000"/>
                  </a:schemeClr>
                </a:solidFill>
              </a:rPr>
              <a:t> that combines </a:t>
            </a:r>
            <a:r>
              <a:rPr lang="en" altLang="zh-CN" sz="1400" dirty="0" err="1">
                <a:solidFill>
                  <a:schemeClr val="bg1">
                    <a:lumMod val="85000"/>
                  </a:schemeClr>
                </a:solidFill>
              </a:rPr>
              <a:t>ViT</a:t>
            </a:r>
            <a:r>
              <a:rPr lang="en" altLang="zh-CN" sz="1400" dirty="0">
                <a:solidFill>
                  <a:schemeClr val="bg1">
                    <a:lumMod val="85000"/>
                  </a:schemeClr>
                </a:solidFill>
              </a:rPr>
              <a:t> and diffusion models for the task of point cloud reconstruction. At each diffusion step, we divide the noisy point clouds into irregular patches. Then, using a standard </a:t>
            </a:r>
            <a:r>
              <a:rPr lang="en" altLang="zh-CN" sz="1400" dirty="0" err="1">
                <a:solidFill>
                  <a:schemeClr val="bg1">
                    <a:lumMod val="85000"/>
                  </a:schemeClr>
                </a:solidFill>
              </a:rPr>
              <a:t>ViT</a:t>
            </a:r>
            <a:r>
              <a:rPr lang="en" altLang="zh-CN" sz="1400" dirty="0">
                <a:solidFill>
                  <a:schemeClr val="bg1">
                    <a:lumMod val="85000"/>
                  </a:schemeClr>
                </a:solidFill>
              </a:rPr>
              <a:t> backbone that treats all inputs as tokens (including time information, image embeddings, and noisy patches), we train our model to predict target points based on input images. We evaluate </a:t>
            </a:r>
            <a:r>
              <a:rPr lang="en" altLang="zh-CN" sz="1400" dirty="0" err="1">
                <a:solidFill>
                  <a:schemeClr val="bg1">
                    <a:lumMod val="85000"/>
                  </a:schemeClr>
                </a:solidFill>
              </a:rPr>
              <a:t>DiffPoint</a:t>
            </a:r>
            <a:r>
              <a:rPr lang="en" altLang="zh-CN" sz="1400" dirty="0">
                <a:solidFill>
                  <a:schemeClr val="bg1">
                    <a:lumMod val="85000"/>
                  </a:schemeClr>
                </a:solidFill>
              </a:rPr>
              <a:t> on both single-view and multi-view reconstruction tasks and achieve state-of- the-art results. Additionally, we introduce a unified and flexible feature fusion module for aggregating image features from single or multiple input images. Furthermore, our work demonstrates the feasibility of applying unified architectures across languages and images to improve 3D reconstruction tasks.</a:t>
            </a:r>
            <a:endParaRPr lang="zh-CN" altLang="en-US" sz="1400" dirty="0">
              <a:solidFill>
                <a:schemeClr val="bg1">
                  <a:lumMod val="85000"/>
                </a:schemeClr>
              </a:solidFill>
            </a:endParaRPr>
          </a:p>
        </p:txBody>
      </p:sp>
      <p:sp>
        <p:nvSpPr>
          <p:cNvPr id="4" name="日期占位符 3">
            <a:extLst>
              <a:ext uri="{FF2B5EF4-FFF2-40B4-BE49-F238E27FC236}">
                <a16:creationId xmlns:a16="http://schemas.microsoft.com/office/drawing/2014/main" id="{738CF999-6727-C5A9-AB77-BFD897114D26}"/>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8997637B-5140-E642-1351-9BCE78F4AB7F}"/>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772D9BEF-C549-98EF-4606-280B6C80257D}"/>
              </a:ext>
            </a:extLst>
          </p:cNvPr>
          <p:cNvSpPr>
            <a:spLocks noGrp="1"/>
          </p:cNvSpPr>
          <p:nvPr>
            <p:ph type="sldNum" sz="quarter" idx="12"/>
          </p:nvPr>
        </p:nvSpPr>
        <p:spPr/>
        <p:txBody>
          <a:bodyPr/>
          <a:lstStyle/>
          <a:p>
            <a:fld id="{EC230444-A519-6845-9B10-810B3093520A}" type="slidenum">
              <a:rPr kumimoji="1" lang="zh-CN" altLang="en-US" smtClean="0"/>
              <a:t>11</a:t>
            </a:fld>
            <a:endParaRPr kumimoji="1" lang="zh-CN" altLang="en-US"/>
          </a:p>
        </p:txBody>
      </p:sp>
      <p:sp>
        <p:nvSpPr>
          <p:cNvPr id="10" name="文本框 9">
            <a:extLst>
              <a:ext uri="{FF2B5EF4-FFF2-40B4-BE49-F238E27FC236}">
                <a16:creationId xmlns:a16="http://schemas.microsoft.com/office/drawing/2014/main" id="{D79E8696-CBFB-84F3-48BB-E44EFA660153}"/>
              </a:ext>
            </a:extLst>
          </p:cNvPr>
          <p:cNvSpPr txBox="1"/>
          <p:nvPr/>
        </p:nvSpPr>
        <p:spPr>
          <a:xfrm>
            <a:off x="1780425" y="2897313"/>
            <a:ext cx="2393879" cy="646331"/>
          </a:xfrm>
          <a:prstGeom prst="rect">
            <a:avLst/>
          </a:prstGeom>
          <a:noFill/>
        </p:spPr>
        <p:txBody>
          <a:bodyPr wrap="square" rtlCol="0">
            <a:spAutoFit/>
          </a:bodyPr>
          <a:lstStyle/>
          <a:p>
            <a:r>
              <a:rPr kumimoji="1" lang="zh-CN" altLang="en-US" dirty="0"/>
              <a:t>点云生成的重要性以及充满挑战</a:t>
            </a:r>
          </a:p>
        </p:txBody>
      </p:sp>
    </p:spTree>
    <p:extLst>
      <p:ext uri="{BB962C8B-B14F-4D97-AF65-F5344CB8AC3E}">
        <p14:creationId xmlns:p14="http://schemas.microsoft.com/office/powerpoint/2010/main" val="613900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4AEAF007-F5EF-A496-CACB-8E1124642E14}"/>
              </a:ext>
            </a:extLst>
          </p:cNvPr>
          <p:cNvSpPr>
            <a:spLocks noGrp="1"/>
          </p:cNvSpPr>
          <p:nvPr>
            <p:ph type="title"/>
          </p:nvPr>
        </p:nvSpPr>
        <p:spPr/>
        <p:txBody>
          <a:bodyPr/>
          <a:lstStyle/>
          <a:p>
            <a:r>
              <a:rPr lang="en-US" altLang="zh-CN" dirty="0"/>
              <a:t>Abstract</a:t>
            </a:r>
            <a:endParaRPr lang="zh-CN" altLang="en-US" dirty="0"/>
          </a:p>
        </p:txBody>
      </p:sp>
      <p:sp>
        <p:nvSpPr>
          <p:cNvPr id="8" name="内容占位符 7">
            <a:extLst>
              <a:ext uri="{FF2B5EF4-FFF2-40B4-BE49-F238E27FC236}">
                <a16:creationId xmlns:a16="http://schemas.microsoft.com/office/drawing/2014/main" id="{FDF84481-0308-1471-31DF-3FE73AE7733C}"/>
              </a:ext>
            </a:extLst>
          </p:cNvPr>
          <p:cNvSpPr>
            <a:spLocks noGrp="1"/>
          </p:cNvSpPr>
          <p:nvPr>
            <p:ph sz="half" idx="1"/>
          </p:nvPr>
        </p:nvSpPr>
        <p:spPr>
          <a:xfrm>
            <a:off x="4767208" y="450279"/>
            <a:ext cx="7222734" cy="5906071"/>
          </a:xfrm>
        </p:spPr>
        <p:txBody>
          <a:bodyPr>
            <a:noAutofit/>
          </a:bodyPr>
          <a:lstStyle/>
          <a:p>
            <a:pPr marL="0" indent="0">
              <a:lnSpc>
                <a:spcPct val="170000"/>
              </a:lnSpc>
              <a:buNone/>
            </a:pPr>
            <a:r>
              <a:rPr lang="en" altLang="zh-CN" sz="1400" dirty="0">
                <a:solidFill>
                  <a:schemeClr val="bg1">
                    <a:lumMod val="85000"/>
                  </a:schemeClr>
                </a:solidFill>
              </a:rPr>
              <a:t>As the task of 2D-to-3D reconstruction has gained significant attention in various real-world scenarios, it becomes crucial to be able to generate high-quality point clouds. Despite the recent success of deep learning models in generating point clouds, there are still challenges in producing high-fidelity results due to the disparities between images and point clouds. </a:t>
            </a:r>
            <a:r>
              <a:rPr lang="en" altLang="zh-CN" sz="1400" dirty="0"/>
              <a:t>While vision transformers (</a:t>
            </a:r>
            <a:r>
              <a:rPr lang="en" altLang="zh-CN" sz="1400" dirty="0" err="1"/>
              <a:t>ViT</a:t>
            </a:r>
            <a:r>
              <a:rPr lang="en" altLang="zh-CN" sz="1400" dirty="0"/>
              <a:t>) and diffusion models have shown promise in various vision tasks, their benefits for reconstructing point clouds from images have not been demonstrated yet. </a:t>
            </a:r>
            <a:r>
              <a:rPr lang="en" altLang="zh-CN" sz="1400" dirty="0">
                <a:solidFill>
                  <a:schemeClr val="bg1">
                    <a:lumMod val="85000"/>
                  </a:schemeClr>
                </a:solidFill>
              </a:rPr>
              <a:t>In this paper, we first propose a neat and powerful architecture called </a:t>
            </a:r>
            <a:r>
              <a:rPr lang="en" altLang="zh-CN" sz="1400" dirty="0" err="1">
                <a:solidFill>
                  <a:schemeClr val="bg1">
                    <a:lumMod val="85000"/>
                  </a:schemeClr>
                </a:solidFill>
              </a:rPr>
              <a:t>DiffPoint</a:t>
            </a:r>
            <a:r>
              <a:rPr lang="en" altLang="zh-CN" sz="1400" dirty="0">
                <a:solidFill>
                  <a:schemeClr val="bg1">
                    <a:lumMod val="85000"/>
                  </a:schemeClr>
                </a:solidFill>
              </a:rPr>
              <a:t> that combines </a:t>
            </a:r>
            <a:r>
              <a:rPr lang="en" altLang="zh-CN" sz="1400" dirty="0" err="1">
                <a:solidFill>
                  <a:schemeClr val="bg1">
                    <a:lumMod val="85000"/>
                  </a:schemeClr>
                </a:solidFill>
              </a:rPr>
              <a:t>ViT</a:t>
            </a:r>
            <a:r>
              <a:rPr lang="en" altLang="zh-CN" sz="1400" dirty="0">
                <a:solidFill>
                  <a:schemeClr val="bg1">
                    <a:lumMod val="85000"/>
                  </a:schemeClr>
                </a:solidFill>
              </a:rPr>
              <a:t> and diffusion models for the task of point cloud reconstruction. At each diffusion step, we divide the noisy point clouds into irregular patches. Then, using a standard </a:t>
            </a:r>
            <a:r>
              <a:rPr lang="en" altLang="zh-CN" sz="1400" dirty="0" err="1">
                <a:solidFill>
                  <a:schemeClr val="bg1">
                    <a:lumMod val="85000"/>
                  </a:schemeClr>
                </a:solidFill>
              </a:rPr>
              <a:t>ViT</a:t>
            </a:r>
            <a:r>
              <a:rPr lang="en" altLang="zh-CN" sz="1400" dirty="0">
                <a:solidFill>
                  <a:schemeClr val="bg1">
                    <a:lumMod val="85000"/>
                  </a:schemeClr>
                </a:solidFill>
              </a:rPr>
              <a:t> backbone that treats all inputs as tokens (including time information, image embeddings, and noisy patches), we train our model to predict target points based on input images. We evaluate </a:t>
            </a:r>
            <a:r>
              <a:rPr lang="en" altLang="zh-CN" sz="1400" dirty="0" err="1">
                <a:solidFill>
                  <a:schemeClr val="bg1">
                    <a:lumMod val="85000"/>
                  </a:schemeClr>
                </a:solidFill>
              </a:rPr>
              <a:t>DiffPoint</a:t>
            </a:r>
            <a:r>
              <a:rPr lang="en" altLang="zh-CN" sz="1400" dirty="0">
                <a:solidFill>
                  <a:schemeClr val="bg1">
                    <a:lumMod val="85000"/>
                  </a:schemeClr>
                </a:solidFill>
              </a:rPr>
              <a:t> on both single-view and multi-view reconstruction tasks and achieve state-of- the-art results. Additionally, we introduce a unified and flexible feature fusion module for aggregating image features from single or multiple input images. Furthermore, our work demonstrates the feasibility of applying unified architectures across languages and images to improve 3D reconstruction tasks.</a:t>
            </a:r>
            <a:endParaRPr lang="zh-CN" altLang="en-US" sz="1400" dirty="0">
              <a:solidFill>
                <a:schemeClr val="bg1">
                  <a:lumMod val="85000"/>
                </a:schemeClr>
              </a:solidFill>
            </a:endParaRPr>
          </a:p>
        </p:txBody>
      </p:sp>
      <p:sp>
        <p:nvSpPr>
          <p:cNvPr id="4" name="日期占位符 3">
            <a:extLst>
              <a:ext uri="{FF2B5EF4-FFF2-40B4-BE49-F238E27FC236}">
                <a16:creationId xmlns:a16="http://schemas.microsoft.com/office/drawing/2014/main" id="{738CF999-6727-C5A9-AB77-BFD897114D26}"/>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8997637B-5140-E642-1351-9BCE78F4AB7F}"/>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772D9BEF-C549-98EF-4606-280B6C80257D}"/>
              </a:ext>
            </a:extLst>
          </p:cNvPr>
          <p:cNvSpPr>
            <a:spLocks noGrp="1"/>
          </p:cNvSpPr>
          <p:nvPr>
            <p:ph type="sldNum" sz="quarter" idx="12"/>
          </p:nvPr>
        </p:nvSpPr>
        <p:spPr/>
        <p:txBody>
          <a:bodyPr/>
          <a:lstStyle/>
          <a:p>
            <a:fld id="{EC230444-A519-6845-9B10-810B3093520A}" type="slidenum">
              <a:rPr kumimoji="1" lang="zh-CN" altLang="en-US" smtClean="0"/>
              <a:t>12</a:t>
            </a:fld>
            <a:endParaRPr kumimoji="1" lang="zh-CN" altLang="en-US"/>
          </a:p>
        </p:txBody>
      </p:sp>
      <p:sp>
        <p:nvSpPr>
          <p:cNvPr id="10" name="文本框 9">
            <a:extLst>
              <a:ext uri="{FF2B5EF4-FFF2-40B4-BE49-F238E27FC236}">
                <a16:creationId xmlns:a16="http://schemas.microsoft.com/office/drawing/2014/main" id="{D79E8696-CBFB-84F3-48BB-E44EFA660153}"/>
              </a:ext>
            </a:extLst>
          </p:cNvPr>
          <p:cNvSpPr txBox="1"/>
          <p:nvPr/>
        </p:nvSpPr>
        <p:spPr>
          <a:xfrm>
            <a:off x="1780425" y="2897313"/>
            <a:ext cx="2393879" cy="923330"/>
          </a:xfrm>
          <a:prstGeom prst="rect">
            <a:avLst/>
          </a:prstGeom>
          <a:noFill/>
        </p:spPr>
        <p:txBody>
          <a:bodyPr wrap="square" rtlCol="0">
            <a:spAutoFit/>
          </a:bodyPr>
          <a:lstStyle/>
          <a:p>
            <a:r>
              <a:rPr kumimoji="1" lang="en-US" altLang="zh-CN" dirty="0" err="1"/>
              <a:t>ViT</a:t>
            </a:r>
            <a:r>
              <a:rPr kumimoji="1" lang="en-US" altLang="zh-CN" dirty="0"/>
              <a:t>, Diffusion</a:t>
            </a:r>
            <a:r>
              <a:rPr kumimoji="1" lang="zh-CN" altLang="en-US" dirty="0"/>
              <a:t>很成功</a:t>
            </a:r>
            <a:r>
              <a:rPr kumimoji="1" lang="en-US" altLang="zh-CN" dirty="0"/>
              <a:t>,</a:t>
            </a:r>
            <a:r>
              <a:rPr kumimoji="1" lang="zh-CN" altLang="en-US" dirty="0"/>
              <a:t>但没有被用到</a:t>
            </a:r>
            <a:r>
              <a:rPr kumimoji="1" lang="en-US" altLang="zh-CN" dirty="0"/>
              <a:t>2D</a:t>
            </a:r>
            <a:r>
              <a:rPr kumimoji="1" lang="zh-CN" altLang="en-US" dirty="0"/>
              <a:t>生成</a:t>
            </a:r>
            <a:r>
              <a:rPr kumimoji="1" lang="en-US" altLang="zh-CN" dirty="0"/>
              <a:t>3D</a:t>
            </a:r>
            <a:r>
              <a:rPr kumimoji="1" lang="zh-CN" altLang="en-US" dirty="0"/>
              <a:t>点云中</a:t>
            </a:r>
          </a:p>
        </p:txBody>
      </p:sp>
    </p:spTree>
    <p:extLst>
      <p:ext uri="{BB962C8B-B14F-4D97-AF65-F5344CB8AC3E}">
        <p14:creationId xmlns:p14="http://schemas.microsoft.com/office/powerpoint/2010/main" val="1564853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4AEAF007-F5EF-A496-CACB-8E1124642E14}"/>
              </a:ext>
            </a:extLst>
          </p:cNvPr>
          <p:cNvSpPr>
            <a:spLocks noGrp="1"/>
          </p:cNvSpPr>
          <p:nvPr>
            <p:ph type="title"/>
          </p:nvPr>
        </p:nvSpPr>
        <p:spPr/>
        <p:txBody>
          <a:bodyPr/>
          <a:lstStyle/>
          <a:p>
            <a:r>
              <a:rPr lang="en-US" altLang="zh-CN" dirty="0"/>
              <a:t>Abstract</a:t>
            </a:r>
            <a:endParaRPr lang="zh-CN" altLang="en-US" dirty="0"/>
          </a:p>
        </p:txBody>
      </p:sp>
      <p:sp>
        <p:nvSpPr>
          <p:cNvPr id="8" name="内容占位符 7">
            <a:extLst>
              <a:ext uri="{FF2B5EF4-FFF2-40B4-BE49-F238E27FC236}">
                <a16:creationId xmlns:a16="http://schemas.microsoft.com/office/drawing/2014/main" id="{FDF84481-0308-1471-31DF-3FE73AE7733C}"/>
              </a:ext>
            </a:extLst>
          </p:cNvPr>
          <p:cNvSpPr>
            <a:spLocks noGrp="1"/>
          </p:cNvSpPr>
          <p:nvPr>
            <p:ph sz="half" idx="1"/>
          </p:nvPr>
        </p:nvSpPr>
        <p:spPr>
          <a:xfrm>
            <a:off x="4767208" y="450279"/>
            <a:ext cx="7222734" cy="5906071"/>
          </a:xfrm>
        </p:spPr>
        <p:txBody>
          <a:bodyPr>
            <a:noAutofit/>
          </a:bodyPr>
          <a:lstStyle/>
          <a:p>
            <a:pPr marL="0" indent="0">
              <a:lnSpc>
                <a:spcPct val="170000"/>
              </a:lnSpc>
              <a:buNone/>
            </a:pPr>
            <a:r>
              <a:rPr lang="en" altLang="zh-CN" sz="1400" dirty="0">
                <a:solidFill>
                  <a:schemeClr val="bg1">
                    <a:lumMod val="85000"/>
                  </a:schemeClr>
                </a:solidFill>
              </a:rPr>
              <a:t>As the task of 2D-to-3D reconstruction has gained significant attention in various real-world scenarios, it becomes crucial to be able to generate high-quality point clouds. Despite the recent success of deep learning models in generating point clouds, there are still challenges in producing high-fidelity results due to the disparities between images and point clouds. While vision transformers (</a:t>
            </a:r>
            <a:r>
              <a:rPr lang="en" altLang="zh-CN" sz="1400" dirty="0" err="1">
                <a:solidFill>
                  <a:schemeClr val="bg1">
                    <a:lumMod val="85000"/>
                  </a:schemeClr>
                </a:solidFill>
              </a:rPr>
              <a:t>ViT</a:t>
            </a:r>
            <a:r>
              <a:rPr lang="en" altLang="zh-CN" sz="1400" dirty="0">
                <a:solidFill>
                  <a:schemeClr val="bg1">
                    <a:lumMod val="85000"/>
                  </a:schemeClr>
                </a:solidFill>
              </a:rPr>
              <a:t>) and diffusion models have shown promise in various vision tasks, their benefits for reconstructing point clouds from images have not been demonstrated yet. </a:t>
            </a:r>
            <a:r>
              <a:rPr lang="en" altLang="zh-CN" sz="1400" dirty="0"/>
              <a:t>In this paper, we first propose a neat and powerful architecture called </a:t>
            </a:r>
            <a:r>
              <a:rPr lang="en" altLang="zh-CN" sz="1400" dirty="0" err="1"/>
              <a:t>DiffPoint</a:t>
            </a:r>
            <a:r>
              <a:rPr lang="en" altLang="zh-CN" sz="1400" dirty="0"/>
              <a:t> that combines </a:t>
            </a:r>
            <a:r>
              <a:rPr lang="en" altLang="zh-CN" sz="1400" dirty="0" err="1"/>
              <a:t>ViT</a:t>
            </a:r>
            <a:r>
              <a:rPr lang="en" altLang="zh-CN" sz="1400" dirty="0"/>
              <a:t> and diffusion models for the task of point cloud reconstruction. </a:t>
            </a:r>
            <a:r>
              <a:rPr lang="en" altLang="zh-CN" sz="1400" dirty="0">
                <a:solidFill>
                  <a:schemeClr val="bg1">
                    <a:lumMod val="85000"/>
                  </a:schemeClr>
                </a:solidFill>
              </a:rPr>
              <a:t>At each diffusion step, we divide the noisy point clouds into irregular patches. Then, using a standard </a:t>
            </a:r>
            <a:r>
              <a:rPr lang="en" altLang="zh-CN" sz="1400" dirty="0" err="1">
                <a:solidFill>
                  <a:schemeClr val="bg1">
                    <a:lumMod val="85000"/>
                  </a:schemeClr>
                </a:solidFill>
              </a:rPr>
              <a:t>ViT</a:t>
            </a:r>
            <a:r>
              <a:rPr lang="en" altLang="zh-CN" sz="1400" dirty="0">
                <a:solidFill>
                  <a:schemeClr val="bg1">
                    <a:lumMod val="85000"/>
                  </a:schemeClr>
                </a:solidFill>
              </a:rPr>
              <a:t> backbone that treats all inputs as tokens (including time information, image embeddings, and noisy patches), we train our model to predict target points based on input images. We evaluate </a:t>
            </a:r>
            <a:r>
              <a:rPr lang="en" altLang="zh-CN" sz="1400" dirty="0" err="1">
                <a:solidFill>
                  <a:schemeClr val="bg1">
                    <a:lumMod val="85000"/>
                  </a:schemeClr>
                </a:solidFill>
              </a:rPr>
              <a:t>DiffPoint</a:t>
            </a:r>
            <a:r>
              <a:rPr lang="en" altLang="zh-CN" sz="1400" dirty="0">
                <a:solidFill>
                  <a:schemeClr val="bg1">
                    <a:lumMod val="85000"/>
                  </a:schemeClr>
                </a:solidFill>
              </a:rPr>
              <a:t> on both single-view and multi-view reconstruction tasks and achieve state-of- the-art results. Additionally, we introduce a unified and flexible feature fusion module for aggregating image features from single or multiple input images. Furthermore, our work demonstrates the feasibility of applying unified architectures across languages and images to improve 3D reconstruction tasks.</a:t>
            </a:r>
            <a:endParaRPr lang="zh-CN" altLang="en-US" sz="1400" dirty="0">
              <a:solidFill>
                <a:schemeClr val="bg1">
                  <a:lumMod val="85000"/>
                </a:schemeClr>
              </a:solidFill>
            </a:endParaRPr>
          </a:p>
        </p:txBody>
      </p:sp>
      <p:sp>
        <p:nvSpPr>
          <p:cNvPr id="4" name="日期占位符 3">
            <a:extLst>
              <a:ext uri="{FF2B5EF4-FFF2-40B4-BE49-F238E27FC236}">
                <a16:creationId xmlns:a16="http://schemas.microsoft.com/office/drawing/2014/main" id="{738CF999-6727-C5A9-AB77-BFD897114D26}"/>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8997637B-5140-E642-1351-9BCE78F4AB7F}"/>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772D9BEF-C549-98EF-4606-280B6C80257D}"/>
              </a:ext>
            </a:extLst>
          </p:cNvPr>
          <p:cNvSpPr>
            <a:spLocks noGrp="1"/>
          </p:cNvSpPr>
          <p:nvPr>
            <p:ph type="sldNum" sz="quarter" idx="12"/>
          </p:nvPr>
        </p:nvSpPr>
        <p:spPr/>
        <p:txBody>
          <a:bodyPr/>
          <a:lstStyle/>
          <a:p>
            <a:fld id="{EC230444-A519-6845-9B10-810B3093520A}" type="slidenum">
              <a:rPr kumimoji="1" lang="zh-CN" altLang="en-US" smtClean="0"/>
              <a:t>13</a:t>
            </a:fld>
            <a:endParaRPr kumimoji="1" lang="zh-CN" altLang="en-US"/>
          </a:p>
        </p:txBody>
      </p:sp>
      <p:sp>
        <p:nvSpPr>
          <p:cNvPr id="10" name="文本框 9">
            <a:extLst>
              <a:ext uri="{FF2B5EF4-FFF2-40B4-BE49-F238E27FC236}">
                <a16:creationId xmlns:a16="http://schemas.microsoft.com/office/drawing/2014/main" id="{D79E8696-CBFB-84F3-48BB-E44EFA660153}"/>
              </a:ext>
            </a:extLst>
          </p:cNvPr>
          <p:cNvSpPr txBox="1"/>
          <p:nvPr/>
        </p:nvSpPr>
        <p:spPr>
          <a:xfrm>
            <a:off x="1780425" y="2897313"/>
            <a:ext cx="2393879" cy="369332"/>
          </a:xfrm>
          <a:prstGeom prst="rect">
            <a:avLst/>
          </a:prstGeom>
          <a:noFill/>
        </p:spPr>
        <p:txBody>
          <a:bodyPr wrap="square" rtlCol="0">
            <a:spAutoFit/>
          </a:bodyPr>
          <a:lstStyle/>
          <a:p>
            <a:r>
              <a:rPr kumimoji="1" lang="zh-CN" altLang="en-US" dirty="0"/>
              <a:t>本文提出</a:t>
            </a:r>
            <a:r>
              <a:rPr kumimoji="1" lang="en-US" altLang="zh-CN" dirty="0" err="1"/>
              <a:t>DiffPoint</a:t>
            </a:r>
            <a:endParaRPr kumimoji="1" lang="zh-CN" altLang="en-US" dirty="0"/>
          </a:p>
        </p:txBody>
      </p:sp>
    </p:spTree>
    <p:extLst>
      <p:ext uri="{BB962C8B-B14F-4D97-AF65-F5344CB8AC3E}">
        <p14:creationId xmlns:p14="http://schemas.microsoft.com/office/powerpoint/2010/main" val="2518705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4AEAF007-F5EF-A496-CACB-8E1124642E14}"/>
              </a:ext>
            </a:extLst>
          </p:cNvPr>
          <p:cNvSpPr>
            <a:spLocks noGrp="1"/>
          </p:cNvSpPr>
          <p:nvPr>
            <p:ph type="title"/>
          </p:nvPr>
        </p:nvSpPr>
        <p:spPr/>
        <p:txBody>
          <a:bodyPr/>
          <a:lstStyle/>
          <a:p>
            <a:r>
              <a:rPr lang="en-US" altLang="zh-CN" dirty="0"/>
              <a:t>Abstract</a:t>
            </a:r>
            <a:endParaRPr lang="zh-CN" altLang="en-US" dirty="0"/>
          </a:p>
        </p:txBody>
      </p:sp>
      <p:sp>
        <p:nvSpPr>
          <p:cNvPr id="8" name="内容占位符 7">
            <a:extLst>
              <a:ext uri="{FF2B5EF4-FFF2-40B4-BE49-F238E27FC236}">
                <a16:creationId xmlns:a16="http://schemas.microsoft.com/office/drawing/2014/main" id="{FDF84481-0308-1471-31DF-3FE73AE7733C}"/>
              </a:ext>
            </a:extLst>
          </p:cNvPr>
          <p:cNvSpPr>
            <a:spLocks noGrp="1"/>
          </p:cNvSpPr>
          <p:nvPr>
            <p:ph sz="half" idx="1"/>
          </p:nvPr>
        </p:nvSpPr>
        <p:spPr>
          <a:xfrm>
            <a:off x="4767208" y="450279"/>
            <a:ext cx="7222734" cy="5906071"/>
          </a:xfrm>
        </p:spPr>
        <p:txBody>
          <a:bodyPr>
            <a:noAutofit/>
          </a:bodyPr>
          <a:lstStyle/>
          <a:p>
            <a:pPr marL="0" indent="0">
              <a:lnSpc>
                <a:spcPct val="170000"/>
              </a:lnSpc>
              <a:buNone/>
            </a:pPr>
            <a:r>
              <a:rPr lang="en" altLang="zh-CN" sz="1400" dirty="0">
                <a:solidFill>
                  <a:schemeClr val="bg1">
                    <a:lumMod val="85000"/>
                  </a:schemeClr>
                </a:solidFill>
              </a:rPr>
              <a:t>As the task of 2D-to-3D reconstruction has gained significant attention in various real-world scenarios, it becomes crucial to be able to generate high-quality point clouds. Despite the recent success of deep learning models in generating point clouds, there are still challenges in producing high-fidelity results due to the disparities between images and point clouds. While vision transformers (</a:t>
            </a:r>
            <a:r>
              <a:rPr lang="en" altLang="zh-CN" sz="1400" dirty="0" err="1">
                <a:solidFill>
                  <a:schemeClr val="bg1">
                    <a:lumMod val="85000"/>
                  </a:schemeClr>
                </a:solidFill>
              </a:rPr>
              <a:t>ViT</a:t>
            </a:r>
            <a:r>
              <a:rPr lang="en" altLang="zh-CN" sz="1400" dirty="0">
                <a:solidFill>
                  <a:schemeClr val="bg1">
                    <a:lumMod val="85000"/>
                  </a:schemeClr>
                </a:solidFill>
              </a:rPr>
              <a:t>) and diffusion models have shown promise in various vision tasks, their benefits for reconstructing point clouds from images have not been demonstrated yet. In this paper, we first propose a neat and powerful architecture called </a:t>
            </a:r>
            <a:r>
              <a:rPr lang="en" altLang="zh-CN" sz="1400" dirty="0" err="1">
                <a:solidFill>
                  <a:schemeClr val="bg1">
                    <a:lumMod val="85000"/>
                  </a:schemeClr>
                </a:solidFill>
              </a:rPr>
              <a:t>DiffPoint</a:t>
            </a:r>
            <a:r>
              <a:rPr lang="en" altLang="zh-CN" sz="1400" dirty="0">
                <a:solidFill>
                  <a:schemeClr val="bg1">
                    <a:lumMod val="85000"/>
                  </a:schemeClr>
                </a:solidFill>
              </a:rPr>
              <a:t> that combines </a:t>
            </a:r>
            <a:r>
              <a:rPr lang="en" altLang="zh-CN" sz="1400" dirty="0" err="1">
                <a:solidFill>
                  <a:schemeClr val="bg1">
                    <a:lumMod val="85000"/>
                  </a:schemeClr>
                </a:solidFill>
              </a:rPr>
              <a:t>ViT</a:t>
            </a:r>
            <a:r>
              <a:rPr lang="en" altLang="zh-CN" sz="1400" dirty="0">
                <a:solidFill>
                  <a:schemeClr val="bg1">
                    <a:lumMod val="85000"/>
                  </a:schemeClr>
                </a:solidFill>
              </a:rPr>
              <a:t> and diffusion models for the task of point cloud reconstruction. </a:t>
            </a:r>
            <a:r>
              <a:rPr lang="en" altLang="zh-CN" sz="1400" dirty="0"/>
              <a:t>At each diffusion step, we divide the noisy point clouds into irregular patches. Then, using a standard </a:t>
            </a:r>
            <a:r>
              <a:rPr lang="en" altLang="zh-CN" sz="1400" dirty="0" err="1"/>
              <a:t>ViT</a:t>
            </a:r>
            <a:r>
              <a:rPr lang="en" altLang="zh-CN" sz="1400" dirty="0"/>
              <a:t> backbone that treats all inputs as tokens (including time information, image embeddings, and noisy patches), we train our model to predict target points based on input images. </a:t>
            </a:r>
            <a:r>
              <a:rPr lang="en" altLang="zh-CN" sz="1400" dirty="0">
                <a:solidFill>
                  <a:schemeClr val="bg1">
                    <a:lumMod val="85000"/>
                  </a:schemeClr>
                </a:solidFill>
              </a:rPr>
              <a:t>We evaluate </a:t>
            </a:r>
            <a:r>
              <a:rPr lang="en" altLang="zh-CN" sz="1400" dirty="0" err="1">
                <a:solidFill>
                  <a:schemeClr val="bg1">
                    <a:lumMod val="85000"/>
                  </a:schemeClr>
                </a:solidFill>
              </a:rPr>
              <a:t>DiffPoint</a:t>
            </a:r>
            <a:r>
              <a:rPr lang="en" altLang="zh-CN" sz="1400" dirty="0">
                <a:solidFill>
                  <a:schemeClr val="bg1">
                    <a:lumMod val="85000"/>
                  </a:schemeClr>
                </a:solidFill>
              </a:rPr>
              <a:t> on both single-view and multi-view reconstruction tasks and achieve state-of- the-art results. Additionally, we introduce a unified and flexible feature fusion module for aggregating image features from single or multiple input images. Furthermore, our work demonstrates the feasibility of applying unified architectures across languages and images to improve 3D reconstruction tasks.</a:t>
            </a:r>
            <a:endParaRPr lang="zh-CN" altLang="en-US" sz="1400" dirty="0">
              <a:solidFill>
                <a:schemeClr val="bg1">
                  <a:lumMod val="85000"/>
                </a:schemeClr>
              </a:solidFill>
            </a:endParaRPr>
          </a:p>
        </p:txBody>
      </p:sp>
      <p:sp>
        <p:nvSpPr>
          <p:cNvPr id="4" name="日期占位符 3">
            <a:extLst>
              <a:ext uri="{FF2B5EF4-FFF2-40B4-BE49-F238E27FC236}">
                <a16:creationId xmlns:a16="http://schemas.microsoft.com/office/drawing/2014/main" id="{738CF999-6727-C5A9-AB77-BFD897114D26}"/>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8997637B-5140-E642-1351-9BCE78F4AB7F}"/>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772D9BEF-C549-98EF-4606-280B6C80257D}"/>
              </a:ext>
            </a:extLst>
          </p:cNvPr>
          <p:cNvSpPr>
            <a:spLocks noGrp="1"/>
          </p:cNvSpPr>
          <p:nvPr>
            <p:ph type="sldNum" sz="quarter" idx="12"/>
          </p:nvPr>
        </p:nvSpPr>
        <p:spPr/>
        <p:txBody>
          <a:bodyPr/>
          <a:lstStyle/>
          <a:p>
            <a:fld id="{EC230444-A519-6845-9B10-810B3093520A}" type="slidenum">
              <a:rPr kumimoji="1" lang="zh-CN" altLang="en-US" smtClean="0"/>
              <a:t>14</a:t>
            </a:fld>
            <a:endParaRPr kumimoji="1" lang="zh-CN" altLang="en-US"/>
          </a:p>
        </p:txBody>
      </p:sp>
      <p:sp>
        <p:nvSpPr>
          <p:cNvPr id="10" name="文本框 9">
            <a:extLst>
              <a:ext uri="{FF2B5EF4-FFF2-40B4-BE49-F238E27FC236}">
                <a16:creationId xmlns:a16="http://schemas.microsoft.com/office/drawing/2014/main" id="{D79E8696-CBFB-84F3-48BB-E44EFA660153}"/>
              </a:ext>
            </a:extLst>
          </p:cNvPr>
          <p:cNvSpPr txBox="1"/>
          <p:nvPr/>
        </p:nvSpPr>
        <p:spPr>
          <a:xfrm>
            <a:off x="1780425" y="2897313"/>
            <a:ext cx="2393879" cy="369332"/>
          </a:xfrm>
          <a:prstGeom prst="rect">
            <a:avLst/>
          </a:prstGeom>
          <a:noFill/>
        </p:spPr>
        <p:txBody>
          <a:bodyPr wrap="square" rtlCol="0">
            <a:spAutoFit/>
          </a:bodyPr>
          <a:lstStyle/>
          <a:p>
            <a:r>
              <a:rPr kumimoji="1" lang="zh-CN" altLang="en-US" dirty="0"/>
              <a:t>具体做法</a:t>
            </a:r>
          </a:p>
        </p:txBody>
      </p:sp>
    </p:spTree>
    <p:extLst>
      <p:ext uri="{BB962C8B-B14F-4D97-AF65-F5344CB8AC3E}">
        <p14:creationId xmlns:p14="http://schemas.microsoft.com/office/powerpoint/2010/main" val="938143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4AEAF007-F5EF-A496-CACB-8E1124642E14}"/>
              </a:ext>
            </a:extLst>
          </p:cNvPr>
          <p:cNvSpPr>
            <a:spLocks noGrp="1"/>
          </p:cNvSpPr>
          <p:nvPr>
            <p:ph type="title"/>
          </p:nvPr>
        </p:nvSpPr>
        <p:spPr/>
        <p:txBody>
          <a:bodyPr/>
          <a:lstStyle/>
          <a:p>
            <a:r>
              <a:rPr lang="en-US" altLang="zh-CN" dirty="0"/>
              <a:t>Abstract</a:t>
            </a:r>
            <a:endParaRPr lang="zh-CN" altLang="en-US" dirty="0"/>
          </a:p>
        </p:txBody>
      </p:sp>
      <p:sp>
        <p:nvSpPr>
          <p:cNvPr id="8" name="内容占位符 7">
            <a:extLst>
              <a:ext uri="{FF2B5EF4-FFF2-40B4-BE49-F238E27FC236}">
                <a16:creationId xmlns:a16="http://schemas.microsoft.com/office/drawing/2014/main" id="{FDF84481-0308-1471-31DF-3FE73AE7733C}"/>
              </a:ext>
            </a:extLst>
          </p:cNvPr>
          <p:cNvSpPr>
            <a:spLocks noGrp="1"/>
          </p:cNvSpPr>
          <p:nvPr>
            <p:ph sz="half" idx="1"/>
          </p:nvPr>
        </p:nvSpPr>
        <p:spPr>
          <a:xfrm>
            <a:off x="4767208" y="450279"/>
            <a:ext cx="7222734" cy="5906071"/>
          </a:xfrm>
        </p:spPr>
        <p:txBody>
          <a:bodyPr>
            <a:noAutofit/>
          </a:bodyPr>
          <a:lstStyle/>
          <a:p>
            <a:pPr marL="0" indent="0">
              <a:lnSpc>
                <a:spcPct val="170000"/>
              </a:lnSpc>
              <a:buNone/>
            </a:pPr>
            <a:r>
              <a:rPr lang="en" altLang="zh-CN" sz="1400" dirty="0">
                <a:solidFill>
                  <a:schemeClr val="bg1">
                    <a:lumMod val="85000"/>
                  </a:schemeClr>
                </a:solidFill>
              </a:rPr>
              <a:t>As the task of 2D-to-3D reconstruction has gained significant attention in various real-world scenarios, it becomes crucial to be able to generate high-quality point clouds. Despite the recent success of deep learning models in generating point clouds, there are still challenges in producing high-fidelity results due to the disparities between images and point clouds. While vision transformers (</a:t>
            </a:r>
            <a:r>
              <a:rPr lang="en" altLang="zh-CN" sz="1400" dirty="0" err="1">
                <a:solidFill>
                  <a:schemeClr val="bg1">
                    <a:lumMod val="85000"/>
                  </a:schemeClr>
                </a:solidFill>
              </a:rPr>
              <a:t>ViT</a:t>
            </a:r>
            <a:r>
              <a:rPr lang="en" altLang="zh-CN" sz="1400" dirty="0">
                <a:solidFill>
                  <a:schemeClr val="bg1">
                    <a:lumMod val="85000"/>
                  </a:schemeClr>
                </a:solidFill>
              </a:rPr>
              <a:t>) and diffusion models have shown promise in various vision tasks, their benefits for reconstructing point clouds from images have not been demonstrated yet. In this paper, we first propose a neat and powerful architecture called </a:t>
            </a:r>
            <a:r>
              <a:rPr lang="en" altLang="zh-CN" sz="1400" dirty="0" err="1">
                <a:solidFill>
                  <a:schemeClr val="bg1">
                    <a:lumMod val="85000"/>
                  </a:schemeClr>
                </a:solidFill>
              </a:rPr>
              <a:t>DiffPoint</a:t>
            </a:r>
            <a:r>
              <a:rPr lang="en" altLang="zh-CN" sz="1400" dirty="0">
                <a:solidFill>
                  <a:schemeClr val="bg1">
                    <a:lumMod val="85000"/>
                  </a:schemeClr>
                </a:solidFill>
              </a:rPr>
              <a:t> that combines </a:t>
            </a:r>
            <a:r>
              <a:rPr lang="en" altLang="zh-CN" sz="1400" dirty="0" err="1">
                <a:solidFill>
                  <a:schemeClr val="bg1">
                    <a:lumMod val="85000"/>
                  </a:schemeClr>
                </a:solidFill>
              </a:rPr>
              <a:t>ViT</a:t>
            </a:r>
            <a:r>
              <a:rPr lang="en" altLang="zh-CN" sz="1400" dirty="0">
                <a:solidFill>
                  <a:schemeClr val="bg1">
                    <a:lumMod val="85000"/>
                  </a:schemeClr>
                </a:solidFill>
              </a:rPr>
              <a:t> and diffusion models for the task of point cloud reconstruction. At each diffusion step, we divide the noisy point clouds into irregular patches. Then, using a standard </a:t>
            </a:r>
            <a:r>
              <a:rPr lang="en" altLang="zh-CN" sz="1400" dirty="0" err="1">
                <a:solidFill>
                  <a:schemeClr val="bg1">
                    <a:lumMod val="85000"/>
                  </a:schemeClr>
                </a:solidFill>
              </a:rPr>
              <a:t>ViT</a:t>
            </a:r>
            <a:r>
              <a:rPr lang="en" altLang="zh-CN" sz="1400" dirty="0">
                <a:solidFill>
                  <a:schemeClr val="bg1">
                    <a:lumMod val="85000"/>
                  </a:schemeClr>
                </a:solidFill>
              </a:rPr>
              <a:t> backbone that treats all inputs as tokens (including time information, image embeddings, and noisy patches), we train our model to predict target points based on input images. </a:t>
            </a:r>
            <a:r>
              <a:rPr lang="en" altLang="zh-CN" sz="1400" dirty="0"/>
              <a:t>We evaluate </a:t>
            </a:r>
            <a:r>
              <a:rPr lang="en" altLang="zh-CN" sz="1400" dirty="0" err="1"/>
              <a:t>DiffPoint</a:t>
            </a:r>
            <a:r>
              <a:rPr lang="en" altLang="zh-CN" sz="1400" dirty="0"/>
              <a:t> on both single-view and multi-view reconstruction tasks and achieve state-of- the-art results. </a:t>
            </a:r>
            <a:r>
              <a:rPr lang="en" altLang="zh-CN" sz="1400" dirty="0">
                <a:solidFill>
                  <a:schemeClr val="bg1">
                    <a:lumMod val="85000"/>
                  </a:schemeClr>
                </a:solidFill>
              </a:rPr>
              <a:t>Additionally, we introduce a unified and flexible feature fusion module for aggregating image features from single or multiple input images. Furthermore, our work demonstrates the feasibility of applying unified architectures across languages and images to improve 3D reconstruction tasks.</a:t>
            </a:r>
            <a:endParaRPr lang="zh-CN" altLang="en-US" sz="1400" dirty="0">
              <a:solidFill>
                <a:schemeClr val="bg1">
                  <a:lumMod val="85000"/>
                </a:schemeClr>
              </a:solidFill>
            </a:endParaRPr>
          </a:p>
        </p:txBody>
      </p:sp>
      <p:sp>
        <p:nvSpPr>
          <p:cNvPr id="4" name="日期占位符 3">
            <a:extLst>
              <a:ext uri="{FF2B5EF4-FFF2-40B4-BE49-F238E27FC236}">
                <a16:creationId xmlns:a16="http://schemas.microsoft.com/office/drawing/2014/main" id="{738CF999-6727-C5A9-AB77-BFD897114D26}"/>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8997637B-5140-E642-1351-9BCE78F4AB7F}"/>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772D9BEF-C549-98EF-4606-280B6C80257D}"/>
              </a:ext>
            </a:extLst>
          </p:cNvPr>
          <p:cNvSpPr>
            <a:spLocks noGrp="1"/>
          </p:cNvSpPr>
          <p:nvPr>
            <p:ph type="sldNum" sz="quarter" idx="12"/>
          </p:nvPr>
        </p:nvSpPr>
        <p:spPr/>
        <p:txBody>
          <a:bodyPr/>
          <a:lstStyle/>
          <a:p>
            <a:fld id="{EC230444-A519-6845-9B10-810B3093520A}" type="slidenum">
              <a:rPr kumimoji="1" lang="zh-CN" altLang="en-US" smtClean="0"/>
              <a:t>15</a:t>
            </a:fld>
            <a:endParaRPr kumimoji="1" lang="zh-CN" altLang="en-US"/>
          </a:p>
        </p:txBody>
      </p:sp>
      <p:sp>
        <p:nvSpPr>
          <p:cNvPr id="10" name="文本框 9">
            <a:extLst>
              <a:ext uri="{FF2B5EF4-FFF2-40B4-BE49-F238E27FC236}">
                <a16:creationId xmlns:a16="http://schemas.microsoft.com/office/drawing/2014/main" id="{D79E8696-CBFB-84F3-48BB-E44EFA660153}"/>
              </a:ext>
            </a:extLst>
          </p:cNvPr>
          <p:cNvSpPr txBox="1"/>
          <p:nvPr/>
        </p:nvSpPr>
        <p:spPr>
          <a:xfrm>
            <a:off x="1780425" y="2897313"/>
            <a:ext cx="2393879" cy="646331"/>
          </a:xfrm>
          <a:prstGeom prst="rect">
            <a:avLst/>
          </a:prstGeom>
          <a:noFill/>
        </p:spPr>
        <p:txBody>
          <a:bodyPr wrap="square" rtlCol="0">
            <a:spAutoFit/>
          </a:bodyPr>
          <a:lstStyle/>
          <a:p>
            <a:r>
              <a:rPr kumimoji="1" lang="zh-CN" altLang="en-US" dirty="0"/>
              <a:t>在单视角和多视角中都获得了</a:t>
            </a:r>
            <a:r>
              <a:rPr kumimoji="1" lang="en-US" altLang="zh-CN" dirty="0"/>
              <a:t>SOTA</a:t>
            </a:r>
            <a:endParaRPr kumimoji="1" lang="zh-CN" altLang="en-US" dirty="0"/>
          </a:p>
        </p:txBody>
      </p:sp>
    </p:spTree>
    <p:extLst>
      <p:ext uri="{BB962C8B-B14F-4D97-AF65-F5344CB8AC3E}">
        <p14:creationId xmlns:p14="http://schemas.microsoft.com/office/powerpoint/2010/main" val="1078921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4AEAF007-F5EF-A496-CACB-8E1124642E14}"/>
              </a:ext>
            </a:extLst>
          </p:cNvPr>
          <p:cNvSpPr>
            <a:spLocks noGrp="1"/>
          </p:cNvSpPr>
          <p:nvPr>
            <p:ph type="title"/>
          </p:nvPr>
        </p:nvSpPr>
        <p:spPr/>
        <p:txBody>
          <a:bodyPr/>
          <a:lstStyle/>
          <a:p>
            <a:r>
              <a:rPr lang="en-US" altLang="zh-CN" dirty="0"/>
              <a:t>Abstract</a:t>
            </a:r>
            <a:endParaRPr lang="zh-CN" altLang="en-US" dirty="0"/>
          </a:p>
        </p:txBody>
      </p:sp>
      <p:sp>
        <p:nvSpPr>
          <p:cNvPr id="8" name="内容占位符 7">
            <a:extLst>
              <a:ext uri="{FF2B5EF4-FFF2-40B4-BE49-F238E27FC236}">
                <a16:creationId xmlns:a16="http://schemas.microsoft.com/office/drawing/2014/main" id="{FDF84481-0308-1471-31DF-3FE73AE7733C}"/>
              </a:ext>
            </a:extLst>
          </p:cNvPr>
          <p:cNvSpPr>
            <a:spLocks noGrp="1"/>
          </p:cNvSpPr>
          <p:nvPr>
            <p:ph sz="half" idx="1"/>
          </p:nvPr>
        </p:nvSpPr>
        <p:spPr>
          <a:xfrm>
            <a:off x="4767208" y="450279"/>
            <a:ext cx="7222734" cy="5906071"/>
          </a:xfrm>
        </p:spPr>
        <p:txBody>
          <a:bodyPr>
            <a:noAutofit/>
          </a:bodyPr>
          <a:lstStyle/>
          <a:p>
            <a:pPr marL="0" indent="0">
              <a:lnSpc>
                <a:spcPct val="170000"/>
              </a:lnSpc>
              <a:buNone/>
            </a:pPr>
            <a:r>
              <a:rPr lang="en" altLang="zh-CN" sz="1400" dirty="0">
                <a:solidFill>
                  <a:schemeClr val="bg1">
                    <a:lumMod val="85000"/>
                  </a:schemeClr>
                </a:solidFill>
              </a:rPr>
              <a:t>As the task of 2D-to-3D reconstruction has gained significant attention in various real-world scenarios, it becomes crucial to be able to generate high-quality point clouds. Despite the recent success of deep learning models in generating point clouds, there are still challenges in producing high-fidelity results due to the disparities between images and point clouds. While vision transformers (</a:t>
            </a:r>
            <a:r>
              <a:rPr lang="en" altLang="zh-CN" sz="1400" dirty="0" err="1">
                <a:solidFill>
                  <a:schemeClr val="bg1">
                    <a:lumMod val="85000"/>
                  </a:schemeClr>
                </a:solidFill>
              </a:rPr>
              <a:t>ViT</a:t>
            </a:r>
            <a:r>
              <a:rPr lang="en" altLang="zh-CN" sz="1400" dirty="0">
                <a:solidFill>
                  <a:schemeClr val="bg1">
                    <a:lumMod val="85000"/>
                  </a:schemeClr>
                </a:solidFill>
              </a:rPr>
              <a:t>) and diffusion models have shown promise in various vision tasks, their benefits for reconstructing point clouds from images have not been demonstrated yet. In this paper, we first propose a neat and powerful architecture called </a:t>
            </a:r>
            <a:r>
              <a:rPr lang="en" altLang="zh-CN" sz="1400" dirty="0" err="1">
                <a:solidFill>
                  <a:schemeClr val="bg1">
                    <a:lumMod val="85000"/>
                  </a:schemeClr>
                </a:solidFill>
              </a:rPr>
              <a:t>DiffPoint</a:t>
            </a:r>
            <a:r>
              <a:rPr lang="en" altLang="zh-CN" sz="1400" dirty="0">
                <a:solidFill>
                  <a:schemeClr val="bg1">
                    <a:lumMod val="85000"/>
                  </a:schemeClr>
                </a:solidFill>
              </a:rPr>
              <a:t> that combines </a:t>
            </a:r>
            <a:r>
              <a:rPr lang="en" altLang="zh-CN" sz="1400" dirty="0" err="1">
                <a:solidFill>
                  <a:schemeClr val="bg1">
                    <a:lumMod val="85000"/>
                  </a:schemeClr>
                </a:solidFill>
              </a:rPr>
              <a:t>ViT</a:t>
            </a:r>
            <a:r>
              <a:rPr lang="en" altLang="zh-CN" sz="1400" dirty="0">
                <a:solidFill>
                  <a:schemeClr val="bg1">
                    <a:lumMod val="85000"/>
                  </a:schemeClr>
                </a:solidFill>
              </a:rPr>
              <a:t> and diffusion models for the task of point cloud reconstruction. At each diffusion step, we divide the noisy point clouds into irregular patches. Then, using a standard </a:t>
            </a:r>
            <a:r>
              <a:rPr lang="en" altLang="zh-CN" sz="1400" dirty="0" err="1">
                <a:solidFill>
                  <a:schemeClr val="bg1">
                    <a:lumMod val="85000"/>
                  </a:schemeClr>
                </a:solidFill>
              </a:rPr>
              <a:t>ViT</a:t>
            </a:r>
            <a:r>
              <a:rPr lang="en" altLang="zh-CN" sz="1400" dirty="0">
                <a:solidFill>
                  <a:schemeClr val="bg1">
                    <a:lumMod val="85000"/>
                  </a:schemeClr>
                </a:solidFill>
              </a:rPr>
              <a:t> backbone that treats all inputs as tokens (including time information, image embeddings, and noisy patches), we train our model to predict target points based on input images. We evaluate </a:t>
            </a:r>
            <a:r>
              <a:rPr lang="en" altLang="zh-CN" sz="1400" dirty="0" err="1">
                <a:solidFill>
                  <a:schemeClr val="bg1">
                    <a:lumMod val="85000"/>
                  </a:schemeClr>
                </a:solidFill>
              </a:rPr>
              <a:t>DiffPoint</a:t>
            </a:r>
            <a:r>
              <a:rPr lang="en" altLang="zh-CN" sz="1400" dirty="0">
                <a:solidFill>
                  <a:schemeClr val="bg1">
                    <a:lumMod val="85000"/>
                  </a:schemeClr>
                </a:solidFill>
              </a:rPr>
              <a:t> on both single-view and multi-view reconstruction tasks and achieve state-of- the-art results. </a:t>
            </a:r>
            <a:r>
              <a:rPr lang="en" altLang="zh-CN" sz="1400" dirty="0"/>
              <a:t>Additionally, we introduce a unified and flexible feature fusion module for aggregating image features from single or multiple input images.</a:t>
            </a:r>
            <a:r>
              <a:rPr lang="en" altLang="zh-CN" sz="1400" dirty="0">
                <a:solidFill>
                  <a:schemeClr val="bg1">
                    <a:lumMod val="85000"/>
                  </a:schemeClr>
                </a:solidFill>
              </a:rPr>
              <a:t> Furthermore, our work demonstrates the feasibility of applying unified architectures across languages and images to improve 3D reconstruction tasks.</a:t>
            </a:r>
            <a:endParaRPr lang="zh-CN" altLang="en-US" sz="1400" dirty="0">
              <a:solidFill>
                <a:schemeClr val="bg1">
                  <a:lumMod val="85000"/>
                </a:schemeClr>
              </a:solidFill>
            </a:endParaRPr>
          </a:p>
        </p:txBody>
      </p:sp>
      <p:sp>
        <p:nvSpPr>
          <p:cNvPr id="4" name="日期占位符 3">
            <a:extLst>
              <a:ext uri="{FF2B5EF4-FFF2-40B4-BE49-F238E27FC236}">
                <a16:creationId xmlns:a16="http://schemas.microsoft.com/office/drawing/2014/main" id="{738CF999-6727-C5A9-AB77-BFD897114D26}"/>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8997637B-5140-E642-1351-9BCE78F4AB7F}"/>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772D9BEF-C549-98EF-4606-280B6C80257D}"/>
              </a:ext>
            </a:extLst>
          </p:cNvPr>
          <p:cNvSpPr>
            <a:spLocks noGrp="1"/>
          </p:cNvSpPr>
          <p:nvPr>
            <p:ph type="sldNum" sz="quarter" idx="12"/>
          </p:nvPr>
        </p:nvSpPr>
        <p:spPr/>
        <p:txBody>
          <a:bodyPr/>
          <a:lstStyle/>
          <a:p>
            <a:fld id="{EC230444-A519-6845-9B10-810B3093520A}" type="slidenum">
              <a:rPr kumimoji="1" lang="zh-CN" altLang="en-US" smtClean="0"/>
              <a:t>16</a:t>
            </a:fld>
            <a:endParaRPr kumimoji="1" lang="zh-CN" altLang="en-US"/>
          </a:p>
        </p:txBody>
      </p:sp>
      <p:sp>
        <p:nvSpPr>
          <p:cNvPr id="10" name="文本框 9">
            <a:extLst>
              <a:ext uri="{FF2B5EF4-FFF2-40B4-BE49-F238E27FC236}">
                <a16:creationId xmlns:a16="http://schemas.microsoft.com/office/drawing/2014/main" id="{D79E8696-CBFB-84F3-48BB-E44EFA660153}"/>
              </a:ext>
            </a:extLst>
          </p:cNvPr>
          <p:cNvSpPr txBox="1"/>
          <p:nvPr/>
        </p:nvSpPr>
        <p:spPr>
          <a:xfrm>
            <a:off x="1780425" y="2897313"/>
            <a:ext cx="2393879" cy="923330"/>
          </a:xfrm>
          <a:prstGeom prst="rect">
            <a:avLst/>
          </a:prstGeom>
          <a:noFill/>
        </p:spPr>
        <p:txBody>
          <a:bodyPr wrap="square" rtlCol="0">
            <a:spAutoFit/>
          </a:bodyPr>
          <a:lstStyle/>
          <a:p>
            <a:r>
              <a:rPr kumimoji="1" lang="zh-CN" altLang="en-US" dirty="0"/>
              <a:t>用</a:t>
            </a:r>
            <a:r>
              <a:rPr kumimoji="1" lang="en-US" altLang="zh-CN" dirty="0"/>
              <a:t>feature</a:t>
            </a:r>
            <a:r>
              <a:rPr kumimoji="1" lang="zh-CN" altLang="en-US" dirty="0"/>
              <a:t> </a:t>
            </a:r>
            <a:r>
              <a:rPr kumimoji="1" lang="en-US" altLang="zh-CN" dirty="0"/>
              <a:t>fusion</a:t>
            </a:r>
            <a:r>
              <a:rPr kumimoji="1" lang="zh-CN" altLang="en-US" dirty="0"/>
              <a:t> </a:t>
            </a:r>
            <a:r>
              <a:rPr kumimoji="1" lang="en-US" altLang="zh-CN" dirty="0"/>
              <a:t>module</a:t>
            </a:r>
            <a:r>
              <a:rPr kumimoji="1" lang="zh-CN" altLang="en-US" dirty="0"/>
              <a:t>融合多视角图片</a:t>
            </a:r>
          </a:p>
        </p:txBody>
      </p:sp>
    </p:spTree>
    <p:extLst>
      <p:ext uri="{BB962C8B-B14F-4D97-AF65-F5344CB8AC3E}">
        <p14:creationId xmlns:p14="http://schemas.microsoft.com/office/powerpoint/2010/main" val="960972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4AEAF007-F5EF-A496-CACB-8E1124642E14}"/>
              </a:ext>
            </a:extLst>
          </p:cNvPr>
          <p:cNvSpPr>
            <a:spLocks noGrp="1"/>
          </p:cNvSpPr>
          <p:nvPr>
            <p:ph type="title"/>
          </p:nvPr>
        </p:nvSpPr>
        <p:spPr/>
        <p:txBody>
          <a:bodyPr/>
          <a:lstStyle/>
          <a:p>
            <a:r>
              <a:rPr lang="en-US" altLang="zh-CN" dirty="0"/>
              <a:t>Abstract</a:t>
            </a:r>
            <a:endParaRPr lang="zh-CN" altLang="en-US" dirty="0"/>
          </a:p>
        </p:txBody>
      </p:sp>
      <p:sp>
        <p:nvSpPr>
          <p:cNvPr id="8" name="内容占位符 7">
            <a:extLst>
              <a:ext uri="{FF2B5EF4-FFF2-40B4-BE49-F238E27FC236}">
                <a16:creationId xmlns:a16="http://schemas.microsoft.com/office/drawing/2014/main" id="{FDF84481-0308-1471-31DF-3FE73AE7733C}"/>
              </a:ext>
            </a:extLst>
          </p:cNvPr>
          <p:cNvSpPr>
            <a:spLocks noGrp="1"/>
          </p:cNvSpPr>
          <p:nvPr>
            <p:ph sz="half" idx="1"/>
          </p:nvPr>
        </p:nvSpPr>
        <p:spPr>
          <a:xfrm>
            <a:off x="4767208" y="450279"/>
            <a:ext cx="7222734" cy="5906071"/>
          </a:xfrm>
        </p:spPr>
        <p:txBody>
          <a:bodyPr>
            <a:noAutofit/>
          </a:bodyPr>
          <a:lstStyle/>
          <a:p>
            <a:pPr marL="0" indent="0">
              <a:lnSpc>
                <a:spcPct val="170000"/>
              </a:lnSpc>
              <a:buNone/>
            </a:pPr>
            <a:r>
              <a:rPr lang="en" altLang="zh-CN" sz="1400" dirty="0">
                <a:solidFill>
                  <a:schemeClr val="bg1">
                    <a:lumMod val="85000"/>
                  </a:schemeClr>
                </a:solidFill>
              </a:rPr>
              <a:t>As the task of 2D-to-3D reconstruction has gained significant attention in various real-world scenarios, it becomes crucial to be able to generate high-quality point clouds. Despite the recent success of deep learning models in generating point clouds, there are still challenges in producing high-fidelity results due to the disparities between images and point clouds. While vision transformers (</a:t>
            </a:r>
            <a:r>
              <a:rPr lang="en" altLang="zh-CN" sz="1400" dirty="0" err="1">
                <a:solidFill>
                  <a:schemeClr val="bg1">
                    <a:lumMod val="85000"/>
                  </a:schemeClr>
                </a:solidFill>
              </a:rPr>
              <a:t>ViT</a:t>
            </a:r>
            <a:r>
              <a:rPr lang="en" altLang="zh-CN" sz="1400" dirty="0">
                <a:solidFill>
                  <a:schemeClr val="bg1">
                    <a:lumMod val="85000"/>
                  </a:schemeClr>
                </a:solidFill>
              </a:rPr>
              <a:t>) and diffusion models have shown promise in various vision tasks, their benefits for reconstructing point clouds from images have not been demonstrated yet. In this paper, we first propose a neat and powerful architecture called </a:t>
            </a:r>
            <a:r>
              <a:rPr lang="en" altLang="zh-CN" sz="1400" dirty="0" err="1">
                <a:solidFill>
                  <a:schemeClr val="bg1">
                    <a:lumMod val="85000"/>
                  </a:schemeClr>
                </a:solidFill>
              </a:rPr>
              <a:t>DiffPoint</a:t>
            </a:r>
            <a:r>
              <a:rPr lang="en" altLang="zh-CN" sz="1400" dirty="0">
                <a:solidFill>
                  <a:schemeClr val="bg1">
                    <a:lumMod val="85000"/>
                  </a:schemeClr>
                </a:solidFill>
              </a:rPr>
              <a:t> that combines </a:t>
            </a:r>
            <a:r>
              <a:rPr lang="en" altLang="zh-CN" sz="1400" dirty="0" err="1">
                <a:solidFill>
                  <a:schemeClr val="bg1">
                    <a:lumMod val="85000"/>
                  </a:schemeClr>
                </a:solidFill>
              </a:rPr>
              <a:t>ViT</a:t>
            </a:r>
            <a:r>
              <a:rPr lang="en" altLang="zh-CN" sz="1400" dirty="0">
                <a:solidFill>
                  <a:schemeClr val="bg1">
                    <a:lumMod val="85000"/>
                  </a:schemeClr>
                </a:solidFill>
              </a:rPr>
              <a:t> and diffusion models for the task of point cloud reconstruction. At each diffusion step, we divide the noisy point clouds into irregular patches. Then, using a standard </a:t>
            </a:r>
            <a:r>
              <a:rPr lang="en" altLang="zh-CN" sz="1400" dirty="0" err="1">
                <a:solidFill>
                  <a:schemeClr val="bg1">
                    <a:lumMod val="85000"/>
                  </a:schemeClr>
                </a:solidFill>
              </a:rPr>
              <a:t>ViT</a:t>
            </a:r>
            <a:r>
              <a:rPr lang="en" altLang="zh-CN" sz="1400" dirty="0">
                <a:solidFill>
                  <a:schemeClr val="bg1">
                    <a:lumMod val="85000"/>
                  </a:schemeClr>
                </a:solidFill>
              </a:rPr>
              <a:t> backbone that treats all inputs as tokens (including time information, image embeddings, and noisy patches), we train our model to predict target points based on input images. We evaluate </a:t>
            </a:r>
            <a:r>
              <a:rPr lang="en" altLang="zh-CN" sz="1400" dirty="0" err="1">
                <a:solidFill>
                  <a:schemeClr val="bg1">
                    <a:lumMod val="85000"/>
                  </a:schemeClr>
                </a:solidFill>
              </a:rPr>
              <a:t>DiffPoint</a:t>
            </a:r>
            <a:r>
              <a:rPr lang="en" altLang="zh-CN" sz="1400" dirty="0">
                <a:solidFill>
                  <a:schemeClr val="bg1">
                    <a:lumMod val="85000"/>
                  </a:schemeClr>
                </a:solidFill>
              </a:rPr>
              <a:t> on both single-view and multi-view reconstruction tasks and achieve state-of- the-art results. Additionally, we introduce a unified and flexible feature fusion module for aggregating image features from single or multiple input images. </a:t>
            </a:r>
            <a:r>
              <a:rPr lang="en" altLang="zh-CN" sz="1400" dirty="0"/>
              <a:t>Furthermore, our work demonstrates the feasibility of applying unified architectures across languages and images to improve 3D reconstruction tasks.</a:t>
            </a:r>
            <a:endParaRPr lang="zh-CN" altLang="en-US" sz="1400" dirty="0"/>
          </a:p>
        </p:txBody>
      </p:sp>
      <p:sp>
        <p:nvSpPr>
          <p:cNvPr id="4" name="日期占位符 3">
            <a:extLst>
              <a:ext uri="{FF2B5EF4-FFF2-40B4-BE49-F238E27FC236}">
                <a16:creationId xmlns:a16="http://schemas.microsoft.com/office/drawing/2014/main" id="{738CF999-6727-C5A9-AB77-BFD897114D26}"/>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8997637B-5140-E642-1351-9BCE78F4AB7F}"/>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772D9BEF-C549-98EF-4606-280B6C80257D}"/>
              </a:ext>
            </a:extLst>
          </p:cNvPr>
          <p:cNvSpPr>
            <a:spLocks noGrp="1"/>
          </p:cNvSpPr>
          <p:nvPr>
            <p:ph type="sldNum" sz="quarter" idx="12"/>
          </p:nvPr>
        </p:nvSpPr>
        <p:spPr/>
        <p:txBody>
          <a:bodyPr/>
          <a:lstStyle/>
          <a:p>
            <a:fld id="{EC230444-A519-6845-9B10-810B3093520A}" type="slidenum">
              <a:rPr kumimoji="1" lang="zh-CN" altLang="en-US" smtClean="0"/>
              <a:t>17</a:t>
            </a:fld>
            <a:endParaRPr kumimoji="1" lang="zh-CN" altLang="en-US"/>
          </a:p>
        </p:txBody>
      </p:sp>
      <p:sp>
        <p:nvSpPr>
          <p:cNvPr id="10" name="文本框 9">
            <a:extLst>
              <a:ext uri="{FF2B5EF4-FFF2-40B4-BE49-F238E27FC236}">
                <a16:creationId xmlns:a16="http://schemas.microsoft.com/office/drawing/2014/main" id="{D79E8696-CBFB-84F3-48BB-E44EFA660153}"/>
              </a:ext>
            </a:extLst>
          </p:cNvPr>
          <p:cNvSpPr txBox="1"/>
          <p:nvPr/>
        </p:nvSpPr>
        <p:spPr>
          <a:xfrm>
            <a:off x="1780425" y="2897313"/>
            <a:ext cx="2393879" cy="646331"/>
          </a:xfrm>
          <a:prstGeom prst="rect">
            <a:avLst/>
          </a:prstGeom>
          <a:noFill/>
        </p:spPr>
        <p:txBody>
          <a:bodyPr wrap="square" rtlCol="0">
            <a:spAutoFit/>
          </a:bodyPr>
          <a:lstStyle/>
          <a:p>
            <a:r>
              <a:rPr kumimoji="1" lang="zh-CN" altLang="en-US" dirty="0"/>
              <a:t>利用多模态大模型提高重建性能</a:t>
            </a:r>
          </a:p>
        </p:txBody>
      </p:sp>
    </p:spTree>
    <p:extLst>
      <p:ext uri="{BB962C8B-B14F-4D97-AF65-F5344CB8AC3E}">
        <p14:creationId xmlns:p14="http://schemas.microsoft.com/office/powerpoint/2010/main" val="159837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21C56A-DFB6-A249-70C8-E13ADD69E579}"/>
              </a:ext>
            </a:extLst>
          </p:cNvPr>
          <p:cNvSpPr>
            <a:spLocks noGrp="1"/>
          </p:cNvSpPr>
          <p:nvPr>
            <p:ph type="title"/>
          </p:nvPr>
        </p:nvSpPr>
        <p:spPr/>
        <p:txBody>
          <a:bodyPr/>
          <a:lstStyle/>
          <a:p>
            <a:r>
              <a:rPr kumimoji="1" lang="en-US" altLang="zh-CN" dirty="0"/>
              <a:t>Introduction</a:t>
            </a:r>
            <a:r>
              <a:rPr kumimoji="1" lang="zh-CN" altLang="en-US" dirty="0"/>
              <a:t> </a:t>
            </a:r>
            <a:r>
              <a:rPr kumimoji="1" lang="en-US" altLang="zh-CN" dirty="0"/>
              <a:t>1</a:t>
            </a:r>
            <a:endParaRPr kumimoji="1" lang="zh-CN" altLang="en-US" dirty="0"/>
          </a:p>
        </p:txBody>
      </p:sp>
      <p:sp>
        <p:nvSpPr>
          <p:cNvPr id="8" name="内容占位符 7">
            <a:extLst>
              <a:ext uri="{FF2B5EF4-FFF2-40B4-BE49-F238E27FC236}">
                <a16:creationId xmlns:a16="http://schemas.microsoft.com/office/drawing/2014/main" id="{8538AEB3-7CCD-728F-CBF1-884102FAD74A}"/>
              </a:ext>
            </a:extLst>
          </p:cNvPr>
          <p:cNvSpPr>
            <a:spLocks noGrp="1"/>
          </p:cNvSpPr>
          <p:nvPr>
            <p:ph idx="1"/>
          </p:nvPr>
        </p:nvSpPr>
        <p:spPr>
          <a:xfrm>
            <a:off x="4715838" y="536825"/>
            <a:ext cx="7208178" cy="5784350"/>
          </a:xfrm>
        </p:spPr>
        <p:txBody>
          <a:bodyPr>
            <a:noAutofit/>
          </a:bodyPr>
          <a:lstStyle/>
          <a:p>
            <a:pPr marL="0" indent="0">
              <a:lnSpc>
                <a:spcPct val="170000"/>
              </a:lnSpc>
              <a:buNone/>
            </a:pPr>
            <a:r>
              <a:rPr lang="en" altLang="zh-CN" sz="1400" dirty="0"/>
              <a:t>In recent years, the field of 3D computer vision has seen a surge of interest in converting 2D images into 3D models, a process known as 2D-to-3D reconstruction. This technique aims to generate a three-dimensional representation of an object from one or more two-dimensional images. Its applications are widespread, including robotics [27], autonomous driving [17, 20], virtual reality [25]. </a:t>
            </a:r>
            <a:r>
              <a:rPr lang="en" altLang="zh-CN" sz="1400" dirty="0">
                <a:solidFill>
                  <a:schemeClr val="accent1">
                    <a:lumMod val="75000"/>
                  </a:schemeClr>
                </a:solidFill>
              </a:rPr>
              <a:t>However, the main challenge of this task lies in establishing accurate feature matching between the 2D images and the 3D output, primarily due to their inherent differences. To address this challenge, deep learning models for 3D reconstruction have made significant advancements in terms of quality and flexibility. </a:t>
            </a:r>
            <a:r>
              <a:rPr lang="en" altLang="zh-CN" sz="1400" dirty="0">
                <a:solidFill>
                  <a:schemeClr val="accent2">
                    <a:lumMod val="75000"/>
                  </a:schemeClr>
                </a:solidFill>
              </a:rPr>
              <a:t>Existing models can be broadly categorized into three types based on the explicit representation of 3D data: voxel- based models [7, 57–59], mesh-based models [33, 50, 53], and point-based models [13, 54]. While voxel-based </a:t>
            </a:r>
            <a:r>
              <a:rPr lang="en" altLang="zh-CN" sz="1400" dirty="0" err="1">
                <a:solidFill>
                  <a:schemeClr val="accent2">
                    <a:lumMod val="75000"/>
                  </a:schemeClr>
                </a:solidFill>
              </a:rPr>
              <a:t>reresentations</a:t>
            </a:r>
            <a:r>
              <a:rPr lang="en" altLang="zh-CN" sz="1400" dirty="0">
                <a:solidFill>
                  <a:schemeClr val="accent2">
                    <a:lumMod val="75000"/>
                  </a:schemeClr>
                </a:solidFill>
              </a:rPr>
              <a:t> suffer from high memory costs at high resolutions and meshes struggle to model inner or irregular structures, point clouds offer lightweight storage consumption and are capable of representing various complex shapes. In this paper, we focus on point-based reconstruction.</a:t>
            </a:r>
          </a:p>
        </p:txBody>
      </p:sp>
      <p:sp>
        <p:nvSpPr>
          <p:cNvPr id="5" name="日期占位符 4">
            <a:extLst>
              <a:ext uri="{FF2B5EF4-FFF2-40B4-BE49-F238E27FC236}">
                <a16:creationId xmlns:a16="http://schemas.microsoft.com/office/drawing/2014/main" id="{95A90028-92AC-D698-0300-EEA83017DF03}"/>
              </a:ext>
            </a:extLst>
          </p:cNvPr>
          <p:cNvSpPr>
            <a:spLocks noGrp="1"/>
          </p:cNvSpPr>
          <p:nvPr>
            <p:ph type="dt" sz="half" idx="10"/>
          </p:nvPr>
        </p:nvSpPr>
        <p:spPr/>
        <p:txBody>
          <a:bodyPr/>
          <a:lstStyle/>
          <a:p>
            <a:fld id="{AD37DC15-24B1-4440-B524-78AF90BBB4AE}" type="datetime1">
              <a:rPr kumimoji="1" lang="zh-CN" altLang="en-US" smtClean="0"/>
              <a:t>2024/3/1</a:t>
            </a:fld>
            <a:endParaRPr kumimoji="1" lang="zh-CN" altLang="en-US"/>
          </a:p>
        </p:txBody>
      </p:sp>
      <p:sp>
        <p:nvSpPr>
          <p:cNvPr id="6" name="页脚占位符 5">
            <a:extLst>
              <a:ext uri="{FF2B5EF4-FFF2-40B4-BE49-F238E27FC236}">
                <a16:creationId xmlns:a16="http://schemas.microsoft.com/office/drawing/2014/main" id="{B150FAFE-909C-6E88-B1B9-85209D335064}"/>
              </a:ext>
            </a:extLst>
          </p:cNvPr>
          <p:cNvSpPr>
            <a:spLocks noGrp="1"/>
          </p:cNvSpPr>
          <p:nvPr>
            <p:ph type="ftr" sz="quarter" idx="11"/>
          </p:nvPr>
        </p:nvSpPr>
        <p:spPr/>
        <p:txBody>
          <a:bodyPr/>
          <a:lstStyle/>
          <a:p>
            <a:r>
              <a:rPr kumimoji="1" lang="en" altLang="zh-CN"/>
              <a:t>YWN</a:t>
            </a:r>
            <a:endParaRPr kumimoji="1" lang="zh-CN" altLang="en-US"/>
          </a:p>
        </p:txBody>
      </p:sp>
      <p:sp>
        <p:nvSpPr>
          <p:cNvPr id="7" name="灯片编号占位符 6">
            <a:extLst>
              <a:ext uri="{FF2B5EF4-FFF2-40B4-BE49-F238E27FC236}">
                <a16:creationId xmlns:a16="http://schemas.microsoft.com/office/drawing/2014/main" id="{A6607EA3-85A4-0460-EC21-7AF3228719D5}"/>
              </a:ext>
            </a:extLst>
          </p:cNvPr>
          <p:cNvSpPr>
            <a:spLocks noGrp="1"/>
          </p:cNvSpPr>
          <p:nvPr>
            <p:ph type="sldNum" sz="quarter" idx="12"/>
          </p:nvPr>
        </p:nvSpPr>
        <p:spPr/>
        <p:txBody>
          <a:bodyPr/>
          <a:lstStyle/>
          <a:p>
            <a:fld id="{EC230444-A519-6845-9B10-810B3093520A}" type="slidenum">
              <a:rPr kumimoji="1" lang="zh-CN" altLang="en-US" smtClean="0"/>
              <a:t>18</a:t>
            </a:fld>
            <a:endParaRPr kumimoji="1" lang="zh-CN" altLang="en-US"/>
          </a:p>
        </p:txBody>
      </p:sp>
      <p:sp>
        <p:nvSpPr>
          <p:cNvPr id="9" name="文本框 8">
            <a:extLst>
              <a:ext uri="{FF2B5EF4-FFF2-40B4-BE49-F238E27FC236}">
                <a16:creationId xmlns:a16="http://schemas.microsoft.com/office/drawing/2014/main" id="{3E50E949-21CD-A437-B6EC-9878EEAA45F6}"/>
              </a:ext>
            </a:extLst>
          </p:cNvPr>
          <p:cNvSpPr txBox="1"/>
          <p:nvPr/>
        </p:nvSpPr>
        <p:spPr>
          <a:xfrm>
            <a:off x="1183037" y="2690336"/>
            <a:ext cx="3249608" cy="1477328"/>
          </a:xfrm>
          <a:prstGeom prst="rect">
            <a:avLst/>
          </a:prstGeom>
          <a:noFill/>
        </p:spPr>
        <p:txBody>
          <a:bodyPr wrap="none" rtlCol="0">
            <a:spAutoFit/>
          </a:bodyPr>
          <a:lstStyle/>
          <a:p>
            <a:r>
              <a:rPr kumimoji="1" lang="en-US" altLang="zh-CN" dirty="0"/>
              <a:t>2D</a:t>
            </a:r>
            <a:r>
              <a:rPr kumimoji="1" lang="en-US" altLang="zh-CN" dirty="0">
                <a:sym typeface="Wingdings" pitchFamily="2" charset="2"/>
              </a:rPr>
              <a:t>3D</a:t>
            </a:r>
            <a:r>
              <a:rPr kumimoji="1" lang="zh-CN" altLang="en-US" dirty="0">
                <a:sym typeface="Wingdings" pitchFamily="2" charset="2"/>
              </a:rPr>
              <a:t>的重要性以及应用</a:t>
            </a:r>
            <a:endParaRPr kumimoji="1" lang="en-US" altLang="zh-CN" dirty="0">
              <a:sym typeface="Wingdings" pitchFamily="2" charset="2"/>
            </a:endParaRPr>
          </a:p>
          <a:p>
            <a:endParaRPr kumimoji="1" lang="en-US" altLang="zh-CN" dirty="0">
              <a:solidFill>
                <a:schemeClr val="accent1">
                  <a:lumMod val="75000"/>
                </a:schemeClr>
              </a:solidFill>
              <a:sym typeface="Wingdings" pitchFamily="2" charset="2"/>
            </a:endParaRPr>
          </a:p>
          <a:p>
            <a:r>
              <a:rPr kumimoji="1" lang="zh-CN" altLang="en-US" dirty="0">
                <a:solidFill>
                  <a:schemeClr val="accent1">
                    <a:lumMod val="75000"/>
                  </a:schemeClr>
                </a:solidFill>
                <a:sym typeface="Wingdings" pitchFamily="2" charset="2"/>
              </a:rPr>
              <a:t>任务的挑战性</a:t>
            </a:r>
            <a:endParaRPr kumimoji="1" lang="en-US" altLang="zh-CN" dirty="0">
              <a:solidFill>
                <a:schemeClr val="accent1">
                  <a:lumMod val="75000"/>
                </a:schemeClr>
              </a:solidFill>
              <a:sym typeface="Wingdings" pitchFamily="2" charset="2"/>
            </a:endParaRPr>
          </a:p>
          <a:p>
            <a:endParaRPr kumimoji="1" lang="en-US" altLang="zh-CN" dirty="0">
              <a:solidFill>
                <a:schemeClr val="accent1">
                  <a:lumMod val="75000"/>
                </a:schemeClr>
              </a:solidFill>
            </a:endParaRPr>
          </a:p>
          <a:p>
            <a:r>
              <a:rPr kumimoji="1" lang="zh-CN" altLang="en-US" dirty="0">
                <a:solidFill>
                  <a:schemeClr val="accent2">
                    <a:lumMod val="75000"/>
                  </a:schemeClr>
                </a:solidFill>
              </a:rPr>
              <a:t>已有重建方法按</a:t>
            </a:r>
            <a:r>
              <a:rPr kumimoji="1" lang="en-US" altLang="zh-CN" dirty="0">
                <a:solidFill>
                  <a:schemeClr val="accent2">
                    <a:lumMod val="75000"/>
                  </a:schemeClr>
                </a:solidFill>
              </a:rPr>
              <a:t>3D</a:t>
            </a:r>
            <a:r>
              <a:rPr kumimoji="1" lang="zh-CN" altLang="en-US" dirty="0">
                <a:solidFill>
                  <a:schemeClr val="accent2">
                    <a:lumMod val="75000"/>
                  </a:schemeClr>
                </a:solidFill>
              </a:rPr>
              <a:t>表示的分类</a:t>
            </a:r>
          </a:p>
        </p:txBody>
      </p:sp>
    </p:spTree>
    <p:extLst>
      <p:ext uri="{BB962C8B-B14F-4D97-AF65-F5344CB8AC3E}">
        <p14:creationId xmlns:p14="http://schemas.microsoft.com/office/powerpoint/2010/main" val="3173916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C622AD-7AB2-AAA9-3138-D49F2190FF13}"/>
              </a:ext>
            </a:extLst>
          </p:cNvPr>
          <p:cNvSpPr>
            <a:spLocks noGrp="1"/>
          </p:cNvSpPr>
          <p:nvPr>
            <p:ph type="title"/>
          </p:nvPr>
        </p:nvSpPr>
        <p:spPr/>
        <p:txBody>
          <a:bodyPr/>
          <a:lstStyle/>
          <a:p>
            <a:r>
              <a:rPr kumimoji="1" lang="en-US" altLang="zh-CN" dirty="0"/>
              <a:t>Introduction 2-1</a:t>
            </a:r>
            <a:endParaRPr kumimoji="1" lang="zh-CN" altLang="en-US" dirty="0"/>
          </a:p>
        </p:txBody>
      </p:sp>
      <p:sp>
        <p:nvSpPr>
          <p:cNvPr id="3" name="内容占位符 2">
            <a:extLst>
              <a:ext uri="{FF2B5EF4-FFF2-40B4-BE49-F238E27FC236}">
                <a16:creationId xmlns:a16="http://schemas.microsoft.com/office/drawing/2014/main" id="{34A4E4A8-A271-E519-F033-A8090F38BB22}"/>
              </a:ext>
            </a:extLst>
          </p:cNvPr>
          <p:cNvSpPr>
            <a:spLocks noGrp="1"/>
          </p:cNvSpPr>
          <p:nvPr>
            <p:ph idx="1"/>
          </p:nvPr>
        </p:nvSpPr>
        <p:spPr>
          <a:xfrm>
            <a:off x="5322012" y="1051415"/>
            <a:ext cx="6390527" cy="5010828"/>
          </a:xfrm>
        </p:spPr>
        <p:txBody>
          <a:bodyPr>
            <a:noAutofit/>
          </a:bodyPr>
          <a:lstStyle/>
          <a:p>
            <a:pPr marL="0" indent="0">
              <a:lnSpc>
                <a:spcPct val="170000"/>
              </a:lnSpc>
              <a:buNone/>
            </a:pPr>
            <a:r>
              <a:rPr kumimoji="1" lang="en" altLang="zh-CN" sz="1400" dirty="0"/>
              <a:t>Though these methods achieve some success to some extent, the 2D-to-3D reconstruction task is still suffering from the following problem: how to find an effective way to reduce the disparities between images and 3D shapes for reconstructing accurate results. </a:t>
            </a:r>
            <a:r>
              <a:rPr kumimoji="1" lang="en" altLang="zh-CN" sz="1400" dirty="0">
                <a:solidFill>
                  <a:schemeClr val="accent1">
                    <a:lumMod val="75000"/>
                  </a:schemeClr>
                </a:solidFill>
              </a:rPr>
              <a:t>Most previous methods follow the standard encoder-decoder structure, in which image features are treated as additional information and limited semantic information can be conveyed to the 3D decoder. As a result, these methods fail to reconstruct satisfactory results.</a:t>
            </a:r>
            <a:r>
              <a:rPr kumimoji="1" lang="en" altLang="zh-CN" sz="1400" dirty="0"/>
              <a:t> </a:t>
            </a:r>
            <a:r>
              <a:rPr kumimoji="1" lang="en" altLang="zh-CN" sz="1400" dirty="0">
                <a:solidFill>
                  <a:schemeClr val="accent2">
                    <a:lumMod val="75000"/>
                  </a:schemeClr>
                </a:solidFill>
              </a:rPr>
              <a:t>Driven by scaling models on large datasets, diffusion models have shown great success in various tasks. Diffusion models have emerged as highly effective generative models, showcasing exceptional performance in not only image synthesis but also the generation of 3D shapes based on point clouds. Diffusion models show potential to be adopted for 3D reconstruction. </a:t>
            </a:r>
            <a:endParaRPr kumimoji="1" lang="zh-CN" altLang="en-US" sz="1400" dirty="0"/>
          </a:p>
        </p:txBody>
      </p:sp>
      <p:sp>
        <p:nvSpPr>
          <p:cNvPr id="4" name="日期占位符 3">
            <a:extLst>
              <a:ext uri="{FF2B5EF4-FFF2-40B4-BE49-F238E27FC236}">
                <a16:creationId xmlns:a16="http://schemas.microsoft.com/office/drawing/2014/main" id="{EEB3B561-4610-58FA-1CA9-9B101ACFC8D0}"/>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DFD7430D-EB01-E8E8-F804-229C7255B499}"/>
              </a:ext>
            </a:extLst>
          </p:cNvPr>
          <p:cNvSpPr>
            <a:spLocks noGrp="1"/>
          </p:cNvSpPr>
          <p:nvPr>
            <p:ph type="ftr" sz="quarter" idx="11"/>
          </p:nvPr>
        </p:nvSpPr>
        <p:spPr/>
        <p:txBody>
          <a:bodyPr/>
          <a:lstStyle/>
          <a:p>
            <a:r>
              <a:rPr kumimoji="1" lang="en" altLang="zh-CN" dirty="0"/>
              <a:t>YWN</a:t>
            </a:r>
            <a:endParaRPr kumimoji="1" lang="zh-CN" altLang="en-US" dirty="0"/>
          </a:p>
        </p:txBody>
      </p:sp>
      <p:sp>
        <p:nvSpPr>
          <p:cNvPr id="6" name="灯片编号占位符 5">
            <a:extLst>
              <a:ext uri="{FF2B5EF4-FFF2-40B4-BE49-F238E27FC236}">
                <a16:creationId xmlns:a16="http://schemas.microsoft.com/office/drawing/2014/main" id="{783037AA-7B6F-EE27-0BE8-7FA8522F37AA}"/>
              </a:ext>
            </a:extLst>
          </p:cNvPr>
          <p:cNvSpPr>
            <a:spLocks noGrp="1"/>
          </p:cNvSpPr>
          <p:nvPr>
            <p:ph type="sldNum" sz="quarter" idx="12"/>
          </p:nvPr>
        </p:nvSpPr>
        <p:spPr/>
        <p:txBody>
          <a:bodyPr/>
          <a:lstStyle/>
          <a:p>
            <a:fld id="{EC230444-A519-6845-9B10-810B3093520A}" type="slidenum">
              <a:rPr kumimoji="1" lang="zh-CN" altLang="en-US" smtClean="0"/>
              <a:t>19</a:t>
            </a:fld>
            <a:endParaRPr kumimoji="1" lang="zh-CN" altLang="en-US" dirty="0"/>
          </a:p>
        </p:txBody>
      </p:sp>
      <p:sp>
        <p:nvSpPr>
          <p:cNvPr id="7" name="文本框 6">
            <a:extLst>
              <a:ext uri="{FF2B5EF4-FFF2-40B4-BE49-F238E27FC236}">
                <a16:creationId xmlns:a16="http://schemas.microsoft.com/office/drawing/2014/main" id="{553736A4-B0EA-8D6E-E865-A0DD6CB54F2B}"/>
              </a:ext>
            </a:extLst>
          </p:cNvPr>
          <p:cNvSpPr txBox="1"/>
          <p:nvPr/>
        </p:nvSpPr>
        <p:spPr>
          <a:xfrm>
            <a:off x="1055226" y="2178122"/>
            <a:ext cx="2939281" cy="3139321"/>
          </a:xfrm>
          <a:prstGeom prst="rect">
            <a:avLst/>
          </a:prstGeom>
          <a:noFill/>
        </p:spPr>
        <p:txBody>
          <a:bodyPr wrap="square" rtlCol="0">
            <a:spAutoFit/>
          </a:bodyPr>
          <a:lstStyle/>
          <a:p>
            <a:r>
              <a:rPr kumimoji="1" lang="zh-CN" altLang="en-US" dirty="0"/>
              <a:t>目前</a:t>
            </a:r>
            <a:r>
              <a:rPr kumimoji="1" lang="en-US" altLang="zh-CN" dirty="0"/>
              <a:t>2D-3D</a:t>
            </a:r>
            <a:r>
              <a:rPr kumimoji="1" lang="zh-CN" altLang="en-US" dirty="0"/>
              <a:t>方法的主要问题是如何减小</a:t>
            </a:r>
            <a:r>
              <a:rPr kumimoji="1" lang="en-US" altLang="zh-CN" dirty="0"/>
              <a:t>2D</a:t>
            </a:r>
            <a:r>
              <a:rPr kumimoji="1" lang="zh-CN" altLang="en-US" dirty="0"/>
              <a:t>和</a:t>
            </a:r>
            <a:r>
              <a:rPr kumimoji="1" lang="en-US" altLang="zh-CN" dirty="0"/>
              <a:t>3D</a:t>
            </a:r>
            <a:r>
              <a:rPr kumimoji="1" lang="zh-CN" altLang="en-US" dirty="0"/>
              <a:t>之间的不一致</a:t>
            </a:r>
            <a:endParaRPr kumimoji="1" lang="en-US" altLang="zh-CN" dirty="0"/>
          </a:p>
          <a:p>
            <a:endParaRPr kumimoji="1" lang="en-US" altLang="zh-CN" dirty="0"/>
          </a:p>
          <a:p>
            <a:r>
              <a:rPr kumimoji="1" lang="zh-CN" altLang="en-US" dirty="0">
                <a:solidFill>
                  <a:schemeClr val="accent1">
                    <a:lumMod val="75000"/>
                  </a:schemeClr>
                </a:solidFill>
              </a:rPr>
              <a:t>已有方法大多都是用</a:t>
            </a:r>
            <a:r>
              <a:rPr kumimoji="1" lang="en-US" altLang="zh-CN" dirty="0">
                <a:solidFill>
                  <a:schemeClr val="accent1">
                    <a:lumMod val="75000"/>
                  </a:schemeClr>
                </a:solidFill>
              </a:rPr>
              <a:t>encoder-decoder</a:t>
            </a:r>
            <a:r>
              <a:rPr kumimoji="1" lang="zh-CN" altLang="en-US" dirty="0">
                <a:solidFill>
                  <a:schemeClr val="accent1">
                    <a:lumMod val="75000"/>
                  </a:schemeClr>
                </a:solidFill>
              </a:rPr>
              <a:t>方法，将</a:t>
            </a:r>
            <a:r>
              <a:rPr kumimoji="1" lang="en-US" altLang="zh-CN" dirty="0">
                <a:solidFill>
                  <a:schemeClr val="accent1">
                    <a:lumMod val="75000"/>
                  </a:schemeClr>
                </a:solidFill>
              </a:rPr>
              <a:t>image</a:t>
            </a:r>
            <a:r>
              <a:rPr kumimoji="1" lang="zh-CN" altLang="en-US" dirty="0">
                <a:solidFill>
                  <a:schemeClr val="accent1">
                    <a:lumMod val="75000"/>
                  </a:schemeClr>
                </a:solidFill>
              </a:rPr>
              <a:t> </a:t>
            </a:r>
            <a:r>
              <a:rPr kumimoji="1" lang="en-US" altLang="zh-CN" dirty="0">
                <a:solidFill>
                  <a:schemeClr val="accent1">
                    <a:lumMod val="75000"/>
                  </a:schemeClr>
                </a:solidFill>
              </a:rPr>
              <a:t>feature</a:t>
            </a:r>
            <a:r>
              <a:rPr kumimoji="1" lang="zh-CN" altLang="en-US" dirty="0">
                <a:solidFill>
                  <a:schemeClr val="accent1">
                    <a:lumMod val="75000"/>
                  </a:schemeClr>
                </a:solidFill>
              </a:rPr>
              <a:t> 输入到</a:t>
            </a:r>
            <a:r>
              <a:rPr kumimoji="1" lang="en-US" altLang="zh-CN" dirty="0">
                <a:solidFill>
                  <a:schemeClr val="accent1">
                    <a:lumMod val="75000"/>
                  </a:schemeClr>
                </a:solidFill>
              </a:rPr>
              <a:t>3D</a:t>
            </a:r>
            <a:r>
              <a:rPr kumimoji="1" lang="zh-CN" altLang="en-US" dirty="0">
                <a:solidFill>
                  <a:schemeClr val="accent1">
                    <a:lumMod val="75000"/>
                  </a:schemeClr>
                </a:solidFill>
              </a:rPr>
              <a:t> </a:t>
            </a:r>
            <a:r>
              <a:rPr kumimoji="1" lang="en-US" altLang="zh-CN" dirty="0">
                <a:solidFill>
                  <a:schemeClr val="accent1">
                    <a:lumMod val="75000"/>
                  </a:schemeClr>
                </a:solidFill>
              </a:rPr>
              <a:t>decoder</a:t>
            </a:r>
            <a:r>
              <a:rPr kumimoji="1" lang="zh-CN" altLang="en-US" dirty="0">
                <a:solidFill>
                  <a:schemeClr val="accent1">
                    <a:lumMod val="75000"/>
                  </a:schemeClr>
                </a:solidFill>
              </a:rPr>
              <a:t>中</a:t>
            </a:r>
            <a:endParaRPr kumimoji="1" lang="en-US" altLang="zh-CN" dirty="0">
              <a:solidFill>
                <a:schemeClr val="accent1">
                  <a:lumMod val="75000"/>
                </a:schemeClr>
              </a:solidFill>
            </a:endParaRPr>
          </a:p>
          <a:p>
            <a:endParaRPr kumimoji="1" lang="en-US" altLang="zh-CN" dirty="0">
              <a:solidFill>
                <a:schemeClr val="accent1">
                  <a:lumMod val="75000"/>
                </a:schemeClr>
              </a:solidFill>
            </a:endParaRPr>
          </a:p>
          <a:p>
            <a:r>
              <a:rPr kumimoji="1" lang="en-US" altLang="zh-CN" dirty="0">
                <a:solidFill>
                  <a:schemeClr val="accent2">
                    <a:lumMod val="75000"/>
                  </a:schemeClr>
                </a:solidFill>
              </a:rPr>
              <a:t>Diffusion</a:t>
            </a:r>
            <a:r>
              <a:rPr kumimoji="1" lang="zh-CN" altLang="en-US" dirty="0">
                <a:solidFill>
                  <a:schemeClr val="accent2">
                    <a:lumMod val="75000"/>
                  </a:schemeClr>
                </a:solidFill>
              </a:rPr>
              <a:t>的成功展示了他在</a:t>
            </a:r>
            <a:r>
              <a:rPr kumimoji="1" lang="en-US" altLang="zh-CN" dirty="0">
                <a:solidFill>
                  <a:schemeClr val="accent2">
                    <a:lumMod val="75000"/>
                  </a:schemeClr>
                </a:solidFill>
              </a:rPr>
              <a:t>3D</a:t>
            </a:r>
            <a:r>
              <a:rPr kumimoji="1" lang="zh-CN" altLang="en-US" dirty="0">
                <a:solidFill>
                  <a:schemeClr val="accent2">
                    <a:lumMod val="75000"/>
                  </a:schemeClr>
                </a:solidFill>
              </a:rPr>
              <a:t> 重建中的前景。</a:t>
            </a:r>
            <a:endParaRPr kumimoji="1" lang="en-US" altLang="zh-CN" dirty="0">
              <a:solidFill>
                <a:schemeClr val="accent2">
                  <a:lumMod val="75000"/>
                </a:schemeClr>
              </a:solidFill>
            </a:endParaRPr>
          </a:p>
        </p:txBody>
      </p:sp>
    </p:spTree>
    <p:extLst>
      <p:ext uri="{BB962C8B-B14F-4D97-AF65-F5344CB8AC3E}">
        <p14:creationId xmlns:p14="http://schemas.microsoft.com/office/powerpoint/2010/main" val="878463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C622AD-7AB2-AAA9-3138-D49F2190FF13}"/>
              </a:ext>
            </a:extLst>
          </p:cNvPr>
          <p:cNvSpPr>
            <a:spLocks noGrp="1"/>
          </p:cNvSpPr>
          <p:nvPr>
            <p:ph type="title"/>
          </p:nvPr>
        </p:nvSpPr>
        <p:spPr/>
        <p:txBody>
          <a:bodyPr/>
          <a:lstStyle/>
          <a:p>
            <a:r>
              <a:rPr kumimoji="1" lang="en-US" altLang="zh-CN" dirty="0"/>
              <a:t>Introduction 2-2</a:t>
            </a:r>
            <a:endParaRPr kumimoji="1" lang="zh-CN" altLang="en-US" dirty="0"/>
          </a:p>
        </p:txBody>
      </p:sp>
      <p:sp>
        <p:nvSpPr>
          <p:cNvPr id="3" name="内容占位符 2">
            <a:extLst>
              <a:ext uri="{FF2B5EF4-FFF2-40B4-BE49-F238E27FC236}">
                <a16:creationId xmlns:a16="http://schemas.microsoft.com/office/drawing/2014/main" id="{34A4E4A8-A271-E519-F033-A8090F38BB22}"/>
              </a:ext>
            </a:extLst>
          </p:cNvPr>
          <p:cNvSpPr>
            <a:spLocks noGrp="1"/>
          </p:cNvSpPr>
          <p:nvPr>
            <p:ph idx="1"/>
          </p:nvPr>
        </p:nvSpPr>
        <p:spPr>
          <a:xfrm>
            <a:off x="5358829" y="622371"/>
            <a:ext cx="6503542" cy="5572945"/>
          </a:xfrm>
        </p:spPr>
        <p:txBody>
          <a:bodyPr>
            <a:noAutofit/>
          </a:bodyPr>
          <a:lstStyle/>
          <a:p>
            <a:pPr marL="0" indent="0">
              <a:lnSpc>
                <a:spcPct val="170000"/>
              </a:lnSpc>
              <a:buNone/>
            </a:pPr>
            <a:r>
              <a:rPr kumimoji="1" lang="en" altLang="zh-CN" sz="1400" dirty="0"/>
              <a:t>However, existing point-based diffusion models cannot fully solve the problem above. These methods, implemented with MLP [26] and PVCNN [64, 65], also treat image embeddings as additional information and fail to fully explore visual information. Moreover, DPM based on MLP struggles to reconstruct complex structure shapes. For Point-Voxel CNN (PVCNN) based diffusion models [64, 65], they require huge memory and computation costs to implement voxel convolution operation. </a:t>
            </a:r>
            <a:r>
              <a:rPr kumimoji="1" lang="en" altLang="zh-CN" sz="1400" dirty="0">
                <a:solidFill>
                  <a:schemeClr val="accent1">
                    <a:lumMod val="75000"/>
                  </a:schemeClr>
                </a:solidFill>
              </a:rPr>
              <a:t>On the other hand, vision transformers (</a:t>
            </a:r>
            <a:r>
              <a:rPr kumimoji="1" lang="en" altLang="zh-CN" sz="1400" dirty="0" err="1">
                <a:solidFill>
                  <a:schemeClr val="accent1">
                    <a:lumMod val="75000"/>
                  </a:schemeClr>
                </a:solidFill>
              </a:rPr>
              <a:t>ViT</a:t>
            </a:r>
            <a:r>
              <a:rPr kumimoji="1" lang="en" altLang="zh-CN" sz="1400" dirty="0">
                <a:solidFill>
                  <a:schemeClr val="accent1">
                    <a:lumMod val="75000"/>
                  </a:schemeClr>
                </a:solidFill>
              </a:rPr>
              <a:t>) [11] have shown promise in various vision tasks due to their flexible backbone. </a:t>
            </a:r>
            <a:r>
              <a:rPr kumimoji="1" lang="en" altLang="zh-CN" sz="1400" dirty="0">
                <a:solidFill>
                  <a:schemeClr val="accent2">
                    <a:lumMod val="75000"/>
                  </a:schemeClr>
                </a:solidFill>
              </a:rPr>
              <a:t>However, directly applying </a:t>
            </a:r>
            <a:r>
              <a:rPr kumimoji="1" lang="en" altLang="zh-CN" sz="1400" dirty="0" err="1">
                <a:solidFill>
                  <a:schemeClr val="accent2">
                    <a:lumMod val="75000"/>
                  </a:schemeClr>
                </a:solidFill>
              </a:rPr>
              <a:t>ViT</a:t>
            </a:r>
            <a:r>
              <a:rPr kumimoji="1" lang="en" altLang="zh-CN" sz="1400" dirty="0">
                <a:solidFill>
                  <a:schemeClr val="accent2">
                    <a:lumMod val="75000"/>
                  </a:schemeClr>
                </a:solidFill>
              </a:rPr>
              <a:t> to point cloud reconstruction may also suffer from the following problem: while </a:t>
            </a:r>
            <a:r>
              <a:rPr kumimoji="1" lang="en" altLang="zh-CN" sz="1400" dirty="0" err="1">
                <a:solidFill>
                  <a:schemeClr val="accent2">
                    <a:lumMod val="75000"/>
                  </a:schemeClr>
                </a:solidFill>
              </a:rPr>
              <a:t>ViT</a:t>
            </a:r>
            <a:r>
              <a:rPr kumimoji="1" lang="en" altLang="zh-CN" sz="1400" dirty="0">
                <a:solidFill>
                  <a:schemeClr val="accent2">
                    <a:lumMod val="75000"/>
                  </a:schemeClr>
                </a:solidFill>
              </a:rPr>
              <a:t> is excellent at capturing global context, it may struggle with capturing fine-grained local details in images. Point cloud data demands a granular understanding of individual point positions and features, which the traditional attention mechanisms in </a:t>
            </a:r>
            <a:r>
              <a:rPr kumimoji="1" lang="en" altLang="zh-CN" sz="1400" dirty="0" err="1">
                <a:solidFill>
                  <a:schemeClr val="accent2">
                    <a:lumMod val="75000"/>
                  </a:schemeClr>
                </a:solidFill>
              </a:rPr>
              <a:t>ViT</a:t>
            </a:r>
            <a:r>
              <a:rPr kumimoji="1" lang="en" altLang="zh-CN" sz="1400" dirty="0">
                <a:solidFill>
                  <a:schemeClr val="accent2">
                    <a:lumMod val="75000"/>
                  </a:schemeClr>
                </a:solidFill>
              </a:rPr>
              <a:t>, optimized for grid-like image structures, might not adequately address. In a word, existing point-based diffusion models and </a:t>
            </a:r>
            <a:r>
              <a:rPr kumimoji="1" lang="en" altLang="zh-CN" sz="1400" dirty="0" err="1">
                <a:solidFill>
                  <a:schemeClr val="accent2">
                    <a:lumMod val="75000"/>
                  </a:schemeClr>
                </a:solidFill>
              </a:rPr>
              <a:t>ViT</a:t>
            </a:r>
            <a:r>
              <a:rPr kumimoji="1" lang="en" altLang="zh-CN" sz="1400" dirty="0">
                <a:solidFill>
                  <a:schemeClr val="accent2">
                    <a:lumMod val="75000"/>
                  </a:schemeClr>
                </a:solidFill>
              </a:rPr>
              <a:t> cannot be directly solve the problem above.</a:t>
            </a:r>
            <a:endParaRPr kumimoji="1" lang="zh-CN" altLang="en-US" sz="1400" dirty="0">
              <a:solidFill>
                <a:schemeClr val="accent2">
                  <a:lumMod val="75000"/>
                </a:schemeClr>
              </a:solidFill>
            </a:endParaRPr>
          </a:p>
        </p:txBody>
      </p:sp>
      <p:sp>
        <p:nvSpPr>
          <p:cNvPr id="4" name="日期占位符 3">
            <a:extLst>
              <a:ext uri="{FF2B5EF4-FFF2-40B4-BE49-F238E27FC236}">
                <a16:creationId xmlns:a16="http://schemas.microsoft.com/office/drawing/2014/main" id="{EEB3B561-4610-58FA-1CA9-9B101ACFC8D0}"/>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DFD7430D-EB01-E8E8-F804-229C7255B499}"/>
              </a:ext>
            </a:extLst>
          </p:cNvPr>
          <p:cNvSpPr>
            <a:spLocks noGrp="1"/>
          </p:cNvSpPr>
          <p:nvPr>
            <p:ph type="ftr" sz="quarter" idx="11"/>
          </p:nvPr>
        </p:nvSpPr>
        <p:spPr/>
        <p:txBody>
          <a:bodyPr/>
          <a:lstStyle/>
          <a:p>
            <a:r>
              <a:rPr kumimoji="1" lang="en" altLang="zh-CN" dirty="0"/>
              <a:t>YWN</a:t>
            </a:r>
            <a:endParaRPr kumimoji="1" lang="zh-CN" altLang="en-US" dirty="0"/>
          </a:p>
        </p:txBody>
      </p:sp>
      <p:sp>
        <p:nvSpPr>
          <p:cNvPr id="6" name="灯片编号占位符 5">
            <a:extLst>
              <a:ext uri="{FF2B5EF4-FFF2-40B4-BE49-F238E27FC236}">
                <a16:creationId xmlns:a16="http://schemas.microsoft.com/office/drawing/2014/main" id="{783037AA-7B6F-EE27-0BE8-7FA8522F37AA}"/>
              </a:ext>
            </a:extLst>
          </p:cNvPr>
          <p:cNvSpPr>
            <a:spLocks noGrp="1"/>
          </p:cNvSpPr>
          <p:nvPr>
            <p:ph type="sldNum" sz="quarter" idx="12"/>
          </p:nvPr>
        </p:nvSpPr>
        <p:spPr/>
        <p:txBody>
          <a:bodyPr/>
          <a:lstStyle/>
          <a:p>
            <a:fld id="{EC230444-A519-6845-9B10-810B3093520A}" type="slidenum">
              <a:rPr kumimoji="1" lang="zh-CN" altLang="en-US" smtClean="0"/>
              <a:t>20</a:t>
            </a:fld>
            <a:endParaRPr kumimoji="1" lang="zh-CN" altLang="en-US" dirty="0"/>
          </a:p>
        </p:txBody>
      </p:sp>
      <p:sp>
        <p:nvSpPr>
          <p:cNvPr id="7" name="文本框 6">
            <a:extLst>
              <a:ext uri="{FF2B5EF4-FFF2-40B4-BE49-F238E27FC236}">
                <a16:creationId xmlns:a16="http://schemas.microsoft.com/office/drawing/2014/main" id="{553736A4-B0EA-8D6E-E865-A0DD6CB54F2B}"/>
              </a:ext>
            </a:extLst>
          </p:cNvPr>
          <p:cNvSpPr txBox="1"/>
          <p:nvPr/>
        </p:nvSpPr>
        <p:spPr>
          <a:xfrm>
            <a:off x="1055226" y="2178122"/>
            <a:ext cx="2939281" cy="2862322"/>
          </a:xfrm>
          <a:prstGeom prst="rect">
            <a:avLst/>
          </a:prstGeom>
          <a:noFill/>
        </p:spPr>
        <p:txBody>
          <a:bodyPr wrap="square" rtlCol="0">
            <a:spAutoFit/>
          </a:bodyPr>
          <a:lstStyle/>
          <a:p>
            <a:r>
              <a:rPr kumimoji="1" lang="zh-CN" altLang="en-US" dirty="0"/>
              <a:t>已有</a:t>
            </a:r>
            <a:r>
              <a:rPr kumimoji="1" lang="en-US" altLang="zh-CN" dirty="0"/>
              <a:t>point-based</a:t>
            </a:r>
            <a:r>
              <a:rPr kumimoji="1" lang="zh-CN" altLang="en-US" dirty="0"/>
              <a:t> </a:t>
            </a:r>
            <a:r>
              <a:rPr kumimoji="1" lang="en-US" altLang="zh-CN" dirty="0"/>
              <a:t>diffusion</a:t>
            </a:r>
            <a:r>
              <a:rPr kumimoji="1" lang="zh-CN" altLang="en-US" dirty="0"/>
              <a:t>方法的问题</a:t>
            </a:r>
            <a:endParaRPr kumimoji="1" lang="en-US" altLang="zh-CN" dirty="0"/>
          </a:p>
          <a:p>
            <a:endParaRPr kumimoji="1" lang="en-US" altLang="zh-CN" dirty="0"/>
          </a:p>
          <a:p>
            <a:r>
              <a:rPr kumimoji="1" lang="zh-CN" altLang="en-US" dirty="0">
                <a:solidFill>
                  <a:schemeClr val="accent1">
                    <a:lumMod val="75000"/>
                  </a:schemeClr>
                </a:solidFill>
              </a:rPr>
              <a:t>另一方面，</a:t>
            </a:r>
            <a:r>
              <a:rPr kumimoji="1" lang="en-US" altLang="zh-CN" dirty="0" err="1">
                <a:solidFill>
                  <a:schemeClr val="accent1">
                    <a:lumMod val="75000"/>
                  </a:schemeClr>
                </a:solidFill>
              </a:rPr>
              <a:t>ViT</a:t>
            </a:r>
            <a:r>
              <a:rPr kumimoji="1" lang="zh-CN" altLang="en-US" dirty="0">
                <a:solidFill>
                  <a:schemeClr val="accent1">
                    <a:lumMod val="75000"/>
                  </a:schemeClr>
                </a:solidFill>
              </a:rPr>
              <a:t>在视觉任务中比较成功</a:t>
            </a:r>
            <a:endParaRPr kumimoji="1" lang="en-US" altLang="zh-CN" dirty="0">
              <a:solidFill>
                <a:schemeClr val="accent1">
                  <a:lumMod val="75000"/>
                </a:schemeClr>
              </a:solidFill>
            </a:endParaRPr>
          </a:p>
          <a:p>
            <a:endParaRPr kumimoji="1" lang="en-US" altLang="zh-CN" dirty="0">
              <a:solidFill>
                <a:schemeClr val="accent1">
                  <a:lumMod val="75000"/>
                </a:schemeClr>
              </a:solidFill>
            </a:endParaRPr>
          </a:p>
          <a:p>
            <a:r>
              <a:rPr kumimoji="1" lang="zh-CN" altLang="en-US" dirty="0">
                <a:solidFill>
                  <a:schemeClr val="accent2">
                    <a:lumMod val="75000"/>
                  </a:schemeClr>
                </a:solidFill>
              </a:rPr>
              <a:t>但不能直接利用</a:t>
            </a:r>
            <a:r>
              <a:rPr kumimoji="1" lang="en-US" altLang="zh-CN" dirty="0" err="1">
                <a:solidFill>
                  <a:schemeClr val="accent2">
                    <a:lumMod val="75000"/>
                  </a:schemeClr>
                </a:solidFill>
              </a:rPr>
              <a:t>ViT</a:t>
            </a:r>
            <a:r>
              <a:rPr kumimoji="1" lang="zh-CN" altLang="en-US" dirty="0">
                <a:solidFill>
                  <a:schemeClr val="accent2">
                    <a:lumMod val="75000"/>
                  </a:schemeClr>
                </a:solidFill>
              </a:rPr>
              <a:t>来重建，因为点云需要很多</a:t>
            </a:r>
            <a:r>
              <a:rPr kumimoji="1" lang="en-US" altLang="zh-CN" dirty="0">
                <a:solidFill>
                  <a:schemeClr val="accent2">
                    <a:lumMod val="75000"/>
                  </a:schemeClr>
                </a:solidFill>
              </a:rPr>
              <a:t>local</a:t>
            </a:r>
            <a:r>
              <a:rPr kumimoji="1" lang="zh-CN" altLang="en-US" dirty="0">
                <a:solidFill>
                  <a:schemeClr val="accent2">
                    <a:lumMod val="75000"/>
                  </a:schemeClr>
                </a:solidFill>
              </a:rPr>
              <a:t>的特征，而</a:t>
            </a:r>
            <a:r>
              <a:rPr kumimoji="1" lang="en-US" altLang="zh-CN" dirty="0" err="1">
                <a:solidFill>
                  <a:schemeClr val="accent2">
                    <a:lumMod val="75000"/>
                  </a:schemeClr>
                </a:solidFill>
              </a:rPr>
              <a:t>ViT</a:t>
            </a:r>
            <a:r>
              <a:rPr kumimoji="1" lang="zh-CN" altLang="en-US" dirty="0">
                <a:solidFill>
                  <a:schemeClr val="accent2">
                    <a:lumMod val="75000"/>
                  </a:schemeClr>
                </a:solidFill>
              </a:rPr>
              <a:t>更多关注于全局的上下文信息。</a:t>
            </a:r>
            <a:endParaRPr kumimoji="1" lang="en-US" altLang="zh-CN" dirty="0">
              <a:solidFill>
                <a:schemeClr val="accent2">
                  <a:lumMod val="75000"/>
                </a:schemeClr>
              </a:solidFill>
            </a:endParaRPr>
          </a:p>
        </p:txBody>
      </p:sp>
    </p:spTree>
    <p:extLst>
      <p:ext uri="{BB962C8B-B14F-4D97-AF65-F5344CB8AC3E}">
        <p14:creationId xmlns:p14="http://schemas.microsoft.com/office/powerpoint/2010/main" val="1193629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A770E3-3DBB-BC72-059A-BBE6AC65D276}"/>
              </a:ext>
            </a:extLst>
          </p:cNvPr>
          <p:cNvSpPr>
            <a:spLocks noGrp="1"/>
          </p:cNvSpPr>
          <p:nvPr>
            <p:ph type="title"/>
          </p:nvPr>
        </p:nvSpPr>
        <p:spPr/>
        <p:txBody>
          <a:bodyPr/>
          <a:lstStyle/>
          <a:p>
            <a:r>
              <a:rPr kumimoji="1" lang="en-US" altLang="zh-CN" dirty="0"/>
              <a:t>Introduction 3-1</a:t>
            </a:r>
            <a:endParaRPr kumimoji="1" lang="zh-CN" altLang="en-US" dirty="0"/>
          </a:p>
        </p:txBody>
      </p:sp>
      <p:sp>
        <p:nvSpPr>
          <p:cNvPr id="3" name="内容占位符 2">
            <a:extLst>
              <a:ext uri="{FF2B5EF4-FFF2-40B4-BE49-F238E27FC236}">
                <a16:creationId xmlns:a16="http://schemas.microsoft.com/office/drawing/2014/main" id="{E959E828-66B9-6CBA-1BE8-7BBD19767630}"/>
              </a:ext>
            </a:extLst>
          </p:cNvPr>
          <p:cNvSpPr>
            <a:spLocks noGrp="1"/>
          </p:cNvSpPr>
          <p:nvPr>
            <p:ph idx="1"/>
          </p:nvPr>
        </p:nvSpPr>
        <p:spPr>
          <a:xfrm>
            <a:off x="5342562" y="1002613"/>
            <a:ext cx="6329737" cy="4792012"/>
          </a:xfrm>
        </p:spPr>
        <p:txBody>
          <a:bodyPr>
            <a:noAutofit/>
          </a:bodyPr>
          <a:lstStyle/>
          <a:p>
            <a:pPr marL="0" indent="0">
              <a:lnSpc>
                <a:spcPct val="170000"/>
              </a:lnSpc>
              <a:buNone/>
            </a:pPr>
            <a:r>
              <a:rPr kumimoji="1" lang="en" altLang="zh-CN" sz="1400" dirty="0"/>
              <a:t>In this paper, we combine diffusion model and </a:t>
            </a:r>
            <a:r>
              <a:rPr kumimoji="1" lang="en" altLang="zh-CN" sz="1400" dirty="0" err="1"/>
              <a:t>ViT</a:t>
            </a:r>
            <a:r>
              <a:rPr kumimoji="1" lang="en" altLang="zh-CN" sz="1400" dirty="0"/>
              <a:t> to propose </a:t>
            </a:r>
            <a:r>
              <a:rPr kumimoji="1" lang="en" altLang="zh-CN" sz="1400" dirty="0" err="1"/>
              <a:t>DiffPoint</a:t>
            </a:r>
            <a:r>
              <a:rPr kumimoji="1" lang="en" altLang="zh-CN" sz="1400" dirty="0"/>
              <a:t>, a neat and flexible </a:t>
            </a:r>
            <a:r>
              <a:rPr kumimoji="1" lang="en" altLang="zh-CN" sz="1400" dirty="0" err="1"/>
              <a:t>ViT</a:t>
            </a:r>
            <a:r>
              <a:rPr kumimoji="1" lang="en" altLang="zh-CN" sz="1400" dirty="0"/>
              <a:t>-based diffusion architecture for point cloud reconstruction. The diffusion model excels in capturing local intricacies and dependencies within data, providing a complementary capability to </a:t>
            </a:r>
            <a:r>
              <a:rPr kumimoji="1" lang="en" altLang="zh-CN" sz="1400" dirty="0" err="1"/>
              <a:t>ViT’s</a:t>
            </a:r>
            <a:r>
              <a:rPr kumimoji="1" lang="en" altLang="zh-CN" sz="1400" dirty="0"/>
              <a:t> global context awareness. </a:t>
            </a:r>
            <a:r>
              <a:rPr kumimoji="1" lang="en" altLang="zh-CN" sz="1400" dirty="0">
                <a:solidFill>
                  <a:schemeClr val="accent1">
                    <a:lumMod val="75000"/>
                  </a:schemeClr>
                </a:solidFill>
              </a:rPr>
              <a:t>Directly extending </a:t>
            </a:r>
            <a:r>
              <a:rPr kumimoji="1" lang="en" altLang="zh-CN" sz="1400" dirty="0" err="1">
                <a:solidFill>
                  <a:schemeClr val="accent1">
                    <a:lumMod val="75000"/>
                  </a:schemeClr>
                </a:solidFill>
              </a:rPr>
              <a:t>ViT</a:t>
            </a:r>
            <a:r>
              <a:rPr kumimoji="1" lang="en" altLang="zh-CN" sz="1400" dirty="0">
                <a:solidFill>
                  <a:schemeClr val="accent1">
                    <a:lumMod val="75000"/>
                  </a:schemeClr>
                </a:solidFill>
              </a:rPr>
              <a:t> and diffusion models to point cloud is, however, technically highly nontrivial: unlike images, point clouds consist of discrete points in 3D space, making it impossible to divide them into patches directly. </a:t>
            </a:r>
            <a:r>
              <a:rPr kumimoji="1" lang="en" altLang="zh-CN" sz="1400" dirty="0">
                <a:solidFill>
                  <a:schemeClr val="accent2">
                    <a:lumMod val="75000"/>
                  </a:schemeClr>
                </a:solidFill>
              </a:rPr>
              <a:t>To address this issue, we follow the design methodology of </a:t>
            </a:r>
            <a:r>
              <a:rPr kumimoji="1" lang="en" altLang="zh-CN" sz="1400" dirty="0" err="1">
                <a:solidFill>
                  <a:schemeClr val="accent2">
                    <a:lumMod val="75000"/>
                  </a:schemeClr>
                </a:solidFill>
              </a:rPr>
              <a:t>PointMAE</a:t>
            </a:r>
            <a:r>
              <a:rPr kumimoji="1" lang="en" altLang="zh-CN" sz="1400" dirty="0">
                <a:solidFill>
                  <a:schemeClr val="accent2">
                    <a:lumMod val="75000"/>
                  </a:schemeClr>
                </a:solidFill>
              </a:rPr>
              <a:t> [34] and Point-BERT [62], where point cloud are divided into irregular patches through Farthest Point Sampling (FPS) and K-Nearest Neighborhood (KNN) algorithm. These divided patches are then encoded into token embeddings using a lightweight encoder called </a:t>
            </a:r>
            <a:r>
              <a:rPr kumimoji="1" lang="en" altLang="zh-CN" sz="1400" dirty="0" err="1">
                <a:solidFill>
                  <a:schemeClr val="accent2">
                    <a:lumMod val="75000"/>
                  </a:schemeClr>
                </a:solidFill>
              </a:rPr>
              <a:t>PointNet</a:t>
            </a:r>
            <a:r>
              <a:rPr kumimoji="1" lang="en" altLang="zh-CN" sz="1400" dirty="0">
                <a:solidFill>
                  <a:schemeClr val="accent2">
                    <a:lumMod val="75000"/>
                  </a:schemeClr>
                </a:solidFill>
              </a:rPr>
              <a:t> [38].</a:t>
            </a:r>
            <a:r>
              <a:rPr kumimoji="1" lang="en" altLang="zh-CN" sz="1400" dirty="0"/>
              <a:t> </a:t>
            </a:r>
            <a:endParaRPr kumimoji="1" lang="zh-CN" altLang="en-US" sz="1400" dirty="0"/>
          </a:p>
        </p:txBody>
      </p:sp>
      <p:sp>
        <p:nvSpPr>
          <p:cNvPr id="4" name="日期占位符 3">
            <a:extLst>
              <a:ext uri="{FF2B5EF4-FFF2-40B4-BE49-F238E27FC236}">
                <a16:creationId xmlns:a16="http://schemas.microsoft.com/office/drawing/2014/main" id="{68D75A12-30EA-8191-5FBF-5EFE411E2BFF}"/>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019166E4-430A-429A-F6FF-EA3B0AE43F1B}"/>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52B25DAB-E14C-D861-671D-3E095C66B823}"/>
              </a:ext>
            </a:extLst>
          </p:cNvPr>
          <p:cNvSpPr>
            <a:spLocks noGrp="1"/>
          </p:cNvSpPr>
          <p:nvPr>
            <p:ph type="sldNum" sz="quarter" idx="12"/>
          </p:nvPr>
        </p:nvSpPr>
        <p:spPr/>
        <p:txBody>
          <a:bodyPr/>
          <a:lstStyle/>
          <a:p>
            <a:fld id="{EC230444-A519-6845-9B10-810B3093520A}" type="slidenum">
              <a:rPr kumimoji="1" lang="zh-CN" altLang="en-US" smtClean="0"/>
              <a:t>21</a:t>
            </a:fld>
            <a:endParaRPr kumimoji="1" lang="zh-CN" altLang="en-US"/>
          </a:p>
        </p:txBody>
      </p:sp>
      <p:sp>
        <p:nvSpPr>
          <p:cNvPr id="7" name="文本框 6">
            <a:extLst>
              <a:ext uri="{FF2B5EF4-FFF2-40B4-BE49-F238E27FC236}">
                <a16:creationId xmlns:a16="http://schemas.microsoft.com/office/drawing/2014/main" id="{D4818CA3-6BA5-CE29-CA2C-F4572EB78532}"/>
              </a:ext>
            </a:extLst>
          </p:cNvPr>
          <p:cNvSpPr txBox="1"/>
          <p:nvPr/>
        </p:nvSpPr>
        <p:spPr>
          <a:xfrm>
            <a:off x="1374469" y="2153768"/>
            <a:ext cx="2970794" cy="2862322"/>
          </a:xfrm>
          <a:prstGeom prst="rect">
            <a:avLst/>
          </a:prstGeom>
          <a:noFill/>
        </p:spPr>
        <p:txBody>
          <a:bodyPr wrap="square" rtlCol="0">
            <a:spAutoFit/>
          </a:bodyPr>
          <a:lstStyle/>
          <a:p>
            <a:r>
              <a:rPr kumimoji="1" lang="zh-CN" altLang="en-US" dirty="0"/>
              <a:t>本文将</a:t>
            </a:r>
            <a:r>
              <a:rPr kumimoji="1" lang="en-US" altLang="zh-CN" dirty="0"/>
              <a:t>Diffusion</a:t>
            </a:r>
            <a:r>
              <a:rPr kumimoji="1" lang="zh-CN" altLang="en-US" dirty="0"/>
              <a:t>和</a:t>
            </a:r>
            <a:r>
              <a:rPr kumimoji="1" lang="en-US" altLang="zh-CN" dirty="0" err="1"/>
              <a:t>ViT</a:t>
            </a:r>
            <a:r>
              <a:rPr kumimoji="1" lang="zh-CN" altLang="en-US" dirty="0"/>
              <a:t>两者结合起来，</a:t>
            </a:r>
            <a:r>
              <a:rPr kumimoji="1" lang="en-US" altLang="zh-CN" dirty="0"/>
              <a:t>diffusion</a:t>
            </a:r>
            <a:r>
              <a:rPr kumimoji="1" lang="zh-CN" altLang="en-US" dirty="0"/>
              <a:t>可以补充</a:t>
            </a:r>
            <a:r>
              <a:rPr kumimoji="1" lang="en-US" altLang="zh-CN" dirty="0" err="1"/>
              <a:t>ViT</a:t>
            </a:r>
            <a:r>
              <a:rPr kumimoji="1" lang="zh-CN" altLang="en-US" dirty="0"/>
              <a:t>对</a:t>
            </a:r>
            <a:r>
              <a:rPr kumimoji="1" lang="en-US" altLang="zh-CN" dirty="0"/>
              <a:t>local</a:t>
            </a:r>
            <a:r>
              <a:rPr kumimoji="1" lang="zh-CN" altLang="en-US" dirty="0"/>
              <a:t>的缺失</a:t>
            </a:r>
            <a:endParaRPr kumimoji="1" lang="en-US" altLang="zh-CN" dirty="0"/>
          </a:p>
          <a:p>
            <a:endParaRPr kumimoji="1" lang="en-US" altLang="zh-CN" dirty="0"/>
          </a:p>
          <a:p>
            <a:r>
              <a:rPr kumimoji="1" lang="zh-CN" altLang="en-US" dirty="0">
                <a:solidFill>
                  <a:schemeClr val="accent1">
                    <a:lumMod val="75000"/>
                  </a:schemeClr>
                </a:solidFill>
              </a:rPr>
              <a:t>点云和</a:t>
            </a:r>
            <a:r>
              <a:rPr kumimoji="1" lang="en-US" altLang="zh-CN" dirty="0">
                <a:solidFill>
                  <a:schemeClr val="accent1">
                    <a:lumMod val="75000"/>
                  </a:schemeClr>
                </a:solidFill>
              </a:rPr>
              <a:t>image</a:t>
            </a:r>
            <a:r>
              <a:rPr kumimoji="1" lang="zh-CN" altLang="en-US" dirty="0">
                <a:solidFill>
                  <a:schemeClr val="accent1">
                    <a:lumMod val="75000"/>
                  </a:schemeClr>
                </a:solidFill>
              </a:rPr>
              <a:t>不同，很难直接分成</a:t>
            </a:r>
            <a:r>
              <a:rPr kumimoji="1" lang="en-US" altLang="zh-CN" dirty="0">
                <a:solidFill>
                  <a:schemeClr val="accent1">
                    <a:lumMod val="75000"/>
                  </a:schemeClr>
                </a:solidFill>
              </a:rPr>
              <a:t>patches</a:t>
            </a:r>
          </a:p>
          <a:p>
            <a:endParaRPr kumimoji="1" lang="en-US" altLang="zh-CN" dirty="0">
              <a:solidFill>
                <a:schemeClr val="accent1">
                  <a:lumMod val="75000"/>
                </a:schemeClr>
              </a:solidFill>
            </a:endParaRPr>
          </a:p>
          <a:p>
            <a:r>
              <a:rPr kumimoji="1" lang="zh-CN" altLang="en-US" dirty="0">
                <a:solidFill>
                  <a:schemeClr val="accent2">
                    <a:lumMod val="75000"/>
                  </a:schemeClr>
                </a:solidFill>
              </a:rPr>
              <a:t>用</a:t>
            </a:r>
            <a:r>
              <a:rPr kumimoji="1" lang="en-US" altLang="zh-CN" dirty="0">
                <a:solidFill>
                  <a:schemeClr val="accent2">
                    <a:lumMod val="75000"/>
                  </a:schemeClr>
                </a:solidFill>
              </a:rPr>
              <a:t>FPS</a:t>
            </a:r>
            <a:r>
              <a:rPr kumimoji="1" lang="zh-CN" altLang="en-US" dirty="0">
                <a:solidFill>
                  <a:schemeClr val="accent2">
                    <a:lumMod val="75000"/>
                  </a:schemeClr>
                </a:solidFill>
              </a:rPr>
              <a:t>和</a:t>
            </a:r>
            <a:r>
              <a:rPr kumimoji="1" lang="en-US" altLang="zh-CN" dirty="0">
                <a:solidFill>
                  <a:schemeClr val="accent2">
                    <a:lumMod val="75000"/>
                  </a:schemeClr>
                </a:solidFill>
              </a:rPr>
              <a:t>KNN</a:t>
            </a:r>
            <a:r>
              <a:rPr kumimoji="1" lang="zh-CN" altLang="en-US" dirty="0">
                <a:solidFill>
                  <a:schemeClr val="accent2">
                    <a:lumMod val="75000"/>
                  </a:schemeClr>
                </a:solidFill>
              </a:rPr>
              <a:t>来分</a:t>
            </a:r>
            <a:r>
              <a:rPr kumimoji="1" lang="en-US" altLang="zh-CN" dirty="0">
                <a:solidFill>
                  <a:schemeClr val="accent2">
                    <a:lumMod val="75000"/>
                  </a:schemeClr>
                </a:solidFill>
              </a:rPr>
              <a:t>patches</a:t>
            </a:r>
          </a:p>
          <a:p>
            <a:endParaRPr kumimoji="1" lang="en-US" altLang="zh-CN" dirty="0">
              <a:solidFill>
                <a:schemeClr val="accent1">
                  <a:lumMod val="75000"/>
                </a:schemeClr>
              </a:solidFill>
            </a:endParaRPr>
          </a:p>
          <a:p>
            <a:endParaRPr kumimoji="1" lang="zh-CN" altLang="en-US" dirty="0">
              <a:solidFill>
                <a:schemeClr val="accent1">
                  <a:lumMod val="75000"/>
                </a:schemeClr>
              </a:solidFill>
            </a:endParaRPr>
          </a:p>
        </p:txBody>
      </p:sp>
    </p:spTree>
    <p:extLst>
      <p:ext uri="{BB962C8B-B14F-4D97-AF65-F5344CB8AC3E}">
        <p14:creationId xmlns:p14="http://schemas.microsoft.com/office/powerpoint/2010/main" val="3207483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A770E3-3DBB-BC72-059A-BBE6AC65D276}"/>
              </a:ext>
            </a:extLst>
          </p:cNvPr>
          <p:cNvSpPr>
            <a:spLocks noGrp="1"/>
          </p:cNvSpPr>
          <p:nvPr>
            <p:ph type="title"/>
          </p:nvPr>
        </p:nvSpPr>
        <p:spPr/>
        <p:txBody>
          <a:bodyPr/>
          <a:lstStyle/>
          <a:p>
            <a:r>
              <a:rPr kumimoji="1" lang="en-US" altLang="zh-CN" dirty="0"/>
              <a:t>Introduction 3-2</a:t>
            </a:r>
            <a:endParaRPr kumimoji="1" lang="zh-CN" altLang="en-US" dirty="0"/>
          </a:p>
        </p:txBody>
      </p:sp>
      <p:sp>
        <p:nvSpPr>
          <p:cNvPr id="3" name="内容占位符 2">
            <a:extLst>
              <a:ext uri="{FF2B5EF4-FFF2-40B4-BE49-F238E27FC236}">
                <a16:creationId xmlns:a16="http://schemas.microsoft.com/office/drawing/2014/main" id="{E959E828-66B9-6CBA-1BE8-7BBD19767630}"/>
              </a:ext>
            </a:extLst>
          </p:cNvPr>
          <p:cNvSpPr>
            <a:spLocks noGrp="1"/>
          </p:cNvSpPr>
          <p:nvPr>
            <p:ph idx="1"/>
          </p:nvPr>
        </p:nvSpPr>
        <p:spPr>
          <a:xfrm>
            <a:off x="5445731" y="560316"/>
            <a:ext cx="6329737" cy="5811838"/>
          </a:xfrm>
        </p:spPr>
        <p:txBody>
          <a:bodyPr>
            <a:noAutofit/>
          </a:bodyPr>
          <a:lstStyle/>
          <a:p>
            <a:pPr marL="0" indent="0">
              <a:lnSpc>
                <a:spcPct val="170000"/>
              </a:lnSpc>
              <a:buNone/>
            </a:pPr>
            <a:r>
              <a:rPr kumimoji="1" lang="en" altLang="zh-CN" sz="1400" dirty="0"/>
              <a:t>Inspired by CLIP’s ability to learn robust representations capturing both semantics and style in images, we leverage these representations for point cloud reconstruction. The input images are encoded with CLIP into image embeddings. </a:t>
            </a:r>
            <a:r>
              <a:rPr kumimoji="1" lang="en" altLang="zh-CN" sz="1400" dirty="0">
                <a:solidFill>
                  <a:schemeClr val="accent1">
                    <a:lumMod val="75000"/>
                  </a:schemeClr>
                </a:solidFill>
              </a:rPr>
              <a:t>Similar to U-</a:t>
            </a:r>
            <a:r>
              <a:rPr kumimoji="1" lang="en" altLang="zh-CN" sz="1400" dirty="0" err="1">
                <a:solidFill>
                  <a:schemeClr val="accent1">
                    <a:lumMod val="75000"/>
                  </a:schemeClr>
                </a:solidFill>
              </a:rPr>
              <a:t>ViT</a:t>
            </a:r>
            <a:r>
              <a:rPr kumimoji="1" lang="en" altLang="zh-CN" sz="1400" dirty="0">
                <a:solidFill>
                  <a:schemeClr val="accent1">
                    <a:lumMod val="75000"/>
                  </a:schemeClr>
                </a:solidFill>
              </a:rPr>
              <a:t> [1], we treat all inputs including the time, image embedding, noisy points patches as tokens that interact within the same feature space.</a:t>
            </a:r>
            <a:r>
              <a:rPr kumimoji="1" lang="en" altLang="zh-CN" sz="1400" dirty="0"/>
              <a:t> </a:t>
            </a:r>
            <a:r>
              <a:rPr kumimoji="1" lang="en" altLang="zh-CN" sz="1400" dirty="0">
                <a:solidFill>
                  <a:schemeClr val="accent2">
                    <a:lumMod val="75000"/>
                  </a:schemeClr>
                </a:solidFill>
              </a:rPr>
              <a:t>To sum up, combining diffusion models with </a:t>
            </a:r>
            <a:r>
              <a:rPr kumimoji="1" lang="en" altLang="zh-CN" sz="1400" dirty="0" err="1">
                <a:solidFill>
                  <a:schemeClr val="accent2">
                    <a:lumMod val="75000"/>
                  </a:schemeClr>
                </a:solidFill>
              </a:rPr>
              <a:t>ViT</a:t>
            </a:r>
            <a:r>
              <a:rPr kumimoji="1" lang="en" altLang="zh-CN" sz="1400" dirty="0">
                <a:solidFill>
                  <a:schemeClr val="accent2">
                    <a:lumMod val="75000"/>
                  </a:schemeClr>
                </a:solidFill>
              </a:rPr>
              <a:t> may address the problem above: a) The </a:t>
            </a:r>
            <a:r>
              <a:rPr kumimoji="1" lang="en" altLang="zh-CN" sz="1400" dirty="0" err="1">
                <a:solidFill>
                  <a:schemeClr val="accent2">
                    <a:lumMod val="75000"/>
                  </a:schemeClr>
                </a:solidFill>
              </a:rPr>
              <a:t>ViT</a:t>
            </a:r>
            <a:r>
              <a:rPr kumimoji="1" lang="en" altLang="zh-CN" sz="1400" dirty="0">
                <a:solidFill>
                  <a:schemeClr val="accent2">
                    <a:lumMod val="75000"/>
                  </a:schemeClr>
                </a:solidFill>
              </a:rPr>
              <a:t> backbone in diffusion models helps in creating a more expressive and context-aware representation of features in which hierarchical attention mechanisms of </a:t>
            </a:r>
            <a:r>
              <a:rPr kumimoji="1" lang="en" altLang="zh-CN" sz="1400" dirty="0" err="1">
                <a:solidFill>
                  <a:schemeClr val="accent2">
                    <a:lumMod val="75000"/>
                  </a:schemeClr>
                </a:solidFill>
              </a:rPr>
              <a:t>ViT</a:t>
            </a:r>
            <a:r>
              <a:rPr kumimoji="1" lang="en" altLang="zh-CN" sz="1400" dirty="0">
                <a:solidFill>
                  <a:schemeClr val="accent2">
                    <a:lumMod val="75000"/>
                  </a:schemeClr>
                </a:solidFill>
              </a:rPr>
              <a:t> capture both global and local information effectively; b) </a:t>
            </a:r>
            <a:r>
              <a:rPr kumimoji="1" lang="en" altLang="zh-CN" sz="1400" dirty="0" err="1">
                <a:solidFill>
                  <a:schemeClr val="accent2">
                    <a:lumMod val="75000"/>
                  </a:schemeClr>
                </a:solidFill>
              </a:rPr>
              <a:t>ViT’s</a:t>
            </a:r>
            <a:r>
              <a:rPr kumimoji="1" lang="en" altLang="zh-CN" sz="1400" dirty="0">
                <a:solidFill>
                  <a:schemeClr val="accent2">
                    <a:lumMod val="75000"/>
                  </a:schemeClr>
                </a:solidFill>
              </a:rPr>
              <a:t> token-based approach allows for the assimilation of diverse information, including time, image embeddings, and patches, effectively bridging the gap between different modalities.</a:t>
            </a:r>
            <a:r>
              <a:rPr kumimoji="1" lang="en" altLang="zh-CN" sz="1400" dirty="0"/>
              <a:t> </a:t>
            </a:r>
            <a:r>
              <a:rPr kumimoji="1" lang="en" altLang="zh-CN" sz="1400" dirty="0">
                <a:solidFill>
                  <a:schemeClr val="accent6">
                    <a:lumMod val="75000"/>
                  </a:schemeClr>
                </a:solidFill>
              </a:rPr>
              <a:t>Besides, we introduce a unified multi feature aggregation module for single and multi-view tasks ensuring consistency in the model architecture.</a:t>
            </a:r>
            <a:endParaRPr kumimoji="1" lang="zh-CN" altLang="en-US" sz="1400" dirty="0">
              <a:solidFill>
                <a:schemeClr val="accent6">
                  <a:lumMod val="75000"/>
                </a:schemeClr>
              </a:solidFill>
            </a:endParaRPr>
          </a:p>
        </p:txBody>
      </p:sp>
      <p:sp>
        <p:nvSpPr>
          <p:cNvPr id="4" name="日期占位符 3">
            <a:extLst>
              <a:ext uri="{FF2B5EF4-FFF2-40B4-BE49-F238E27FC236}">
                <a16:creationId xmlns:a16="http://schemas.microsoft.com/office/drawing/2014/main" id="{68D75A12-30EA-8191-5FBF-5EFE411E2BFF}"/>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019166E4-430A-429A-F6FF-EA3B0AE43F1B}"/>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52B25DAB-E14C-D861-671D-3E095C66B823}"/>
              </a:ext>
            </a:extLst>
          </p:cNvPr>
          <p:cNvSpPr>
            <a:spLocks noGrp="1"/>
          </p:cNvSpPr>
          <p:nvPr>
            <p:ph type="sldNum" sz="quarter" idx="12"/>
          </p:nvPr>
        </p:nvSpPr>
        <p:spPr/>
        <p:txBody>
          <a:bodyPr/>
          <a:lstStyle/>
          <a:p>
            <a:fld id="{EC230444-A519-6845-9B10-810B3093520A}" type="slidenum">
              <a:rPr kumimoji="1" lang="zh-CN" altLang="en-US" smtClean="0"/>
              <a:t>22</a:t>
            </a:fld>
            <a:endParaRPr kumimoji="1" lang="zh-CN" altLang="en-US"/>
          </a:p>
        </p:txBody>
      </p:sp>
      <p:sp>
        <p:nvSpPr>
          <p:cNvPr id="7" name="文本框 6">
            <a:extLst>
              <a:ext uri="{FF2B5EF4-FFF2-40B4-BE49-F238E27FC236}">
                <a16:creationId xmlns:a16="http://schemas.microsoft.com/office/drawing/2014/main" id="{D4818CA3-6BA5-CE29-CA2C-F4572EB78532}"/>
              </a:ext>
            </a:extLst>
          </p:cNvPr>
          <p:cNvSpPr txBox="1"/>
          <p:nvPr/>
        </p:nvSpPr>
        <p:spPr>
          <a:xfrm>
            <a:off x="1374469" y="2153768"/>
            <a:ext cx="2970794" cy="4247317"/>
          </a:xfrm>
          <a:prstGeom prst="rect">
            <a:avLst/>
          </a:prstGeom>
          <a:noFill/>
        </p:spPr>
        <p:txBody>
          <a:bodyPr wrap="square" rtlCol="0">
            <a:spAutoFit/>
          </a:bodyPr>
          <a:lstStyle/>
          <a:p>
            <a:r>
              <a:rPr kumimoji="1" lang="zh-CN" altLang="en-US" dirty="0"/>
              <a:t>利用</a:t>
            </a:r>
            <a:r>
              <a:rPr kumimoji="1" lang="en-US" altLang="zh-CN" dirty="0"/>
              <a:t>CLIP</a:t>
            </a:r>
            <a:r>
              <a:rPr kumimoji="1" lang="zh-CN" altLang="en-US" dirty="0"/>
              <a:t>提取图像特征</a:t>
            </a:r>
            <a:endParaRPr kumimoji="1" lang="en-US" altLang="zh-CN" dirty="0"/>
          </a:p>
          <a:p>
            <a:endParaRPr kumimoji="1" lang="en-US" altLang="zh-CN" dirty="0"/>
          </a:p>
          <a:p>
            <a:r>
              <a:rPr kumimoji="1" lang="zh-CN" altLang="en-US" dirty="0">
                <a:solidFill>
                  <a:schemeClr val="accent1">
                    <a:lumMod val="75000"/>
                  </a:schemeClr>
                </a:solidFill>
              </a:rPr>
              <a:t>将</a:t>
            </a:r>
            <a:r>
              <a:rPr kumimoji="1" lang="en-US" altLang="zh-CN" dirty="0">
                <a:solidFill>
                  <a:schemeClr val="accent1">
                    <a:lumMod val="75000"/>
                  </a:schemeClr>
                </a:solidFill>
              </a:rPr>
              <a:t>time</a:t>
            </a:r>
            <a:r>
              <a:rPr kumimoji="1" lang="zh-CN" altLang="en-US" dirty="0">
                <a:solidFill>
                  <a:schemeClr val="accent1">
                    <a:lumMod val="75000"/>
                  </a:schemeClr>
                </a:solidFill>
              </a:rPr>
              <a:t>，图像特征，点云</a:t>
            </a:r>
            <a:r>
              <a:rPr kumimoji="1" lang="en-US" altLang="zh-CN" dirty="0">
                <a:solidFill>
                  <a:schemeClr val="accent1">
                    <a:lumMod val="75000"/>
                  </a:schemeClr>
                </a:solidFill>
              </a:rPr>
              <a:t>patch</a:t>
            </a:r>
            <a:r>
              <a:rPr kumimoji="1" lang="zh-CN" altLang="en-US" dirty="0">
                <a:solidFill>
                  <a:schemeClr val="accent1">
                    <a:lumMod val="75000"/>
                  </a:schemeClr>
                </a:solidFill>
              </a:rPr>
              <a:t>作为统一特征空间的</a:t>
            </a:r>
            <a:r>
              <a:rPr kumimoji="1" lang="en-US" altLang="zh-CN" dirty="0">
                <a:solidFill>
                  <a:schemeClr val="accent1">
                    <a:lumMod val="75000"/>
                  </a:schemeClr>
                </a:solidFill>
              </a:rPr>
              <a:t>token</a:t>
            </a:r>
            <a:r>
              <a:rPr kumimoji="1" lang="zh-CN" altLang="en-US" dirty="0">
                <a:solidFill>
                  <a:schemeClr val="accent1">
                    <a:lumMod val="75000"/>
                  </a:schemeClr>
                </a:solidFill>
              </a:rPr>
              <a:t>输入</a:t>
            </a:r>
            <a:endParaRPr kumimoji="1" lang="en-US" altLang="zh-CN" dirty="0">
              <a:solidFill>
                <a:schemeClr val="accent1">
                  <a:lumMod val="75000"/>
                </a:schemeClr>
              </a:solidFill>
            </a:endParaRPr>
          </a:p>
          <a:p>
            <a:endParaRPr kumimoji="1" lang="en-US" altLang="zh-CN" dirty="0">
              <a:solidFill>
                <a:schemeClr val="accent1">
                  <a:lumMod val="75000"/>
                </a:schemeClr>
              </a:solidFill>
            </a:endParaRPr>
          </a:p>
          <a:p>
            <a:r>
              <a:rPr kumimoji="1" lang="zh-CN" altLang="en-US" dirty="0">
                <a:solidFill>
                  <a:schemeClr val="accent2">
                    <a:lumMod val="75000"/>
                  </a:schemeClr>
                </a:solidFill>
              </a:rPr>
              <a:t>结合</a:t>
            </a:r>
            <a:r>
              <a:rPr kumimoji="1" lang="en-US" altLang="zh-CN" dirty="0">
                <a:solidFill>
                  <a:schemeClr val="accent2">
                    <a:lumMod val="75000"/>
                  </a:schemeClr>
                </a:solidFill>
              </a:rPr>
              <a:t>diffusion</a:t>
            </a:r>
            <a:r>
              <a:rPr kumimoji="1" lang="zh-CN" altLang="en-US" dirty="0">
                <a:solidFill>
                  <a:schemeClr val="accent2">
                    <a:lumMod val="75000"/>
                  </a:schemeClr>
                </a:solidFill>
              </a:rPr>
              <a:t>和</a:t>
            </a:r>
            <a:r>
              <a:rPr kumimoji="1" lang="en-US" altLang="zh-CN" dirty="0" err="1">
                <a:solidFill>
                  <a:schemeClr val="accent2">
                    <a:lumMod val="75000"/>
                  </a:schemeClr>
                </a:solidFill>
              </a:rPr>
              <a:t>ViT</a:t>
            </a:r>
            <a:r>
              <a:rPr kumimoji="1" lang="zh-CN" altLang="en-US" dirty="0">
                <a:solidFill>
                  <a:schemeClr val="accent2">
                    <a:lumMod val="75000"/>
                  </a:schemeClr>
                </a:solidFill>
              </a:rPr>
              <a:t>解决了两个问题，一个是</a:t>
            </a:r>
            <a:r>
              <a:rPr kumimoji="1" lang="en-US" altLang="zh-CN" dirty="0">
                <a:solidFill>
                  <a:schemeClr val="accent2">
                    <a:lumMod val="75000"/>
                  </a:schemeClr>
                </a:solidFill>
              </a:rPr>
              <a:t>local</a:t>
            </a:r>
            <a:r>
              <a:rPr kumimoji="1" lang="zh-CN" altLang="en-US" dirty="0">
                <a:solidFill>
                  <a:schemeClr val="accent2">
                    <a:lumMod val="75000"/>
                  </a:schemeClr>
                </a:solidFill>
              </a:rPr>
              <a:t>和</a:t>
            </a:r>
            <a:r>
              <a:rPr kumimoji="1" lang="en-US" altLang="zh-CN" dirty="0">
                <a:solidFill>
                  <a:schemeClr val="accent2">
                    <a:lumMod val="75000"/>
                  </a:schemeClr>
                </a:solidFill>
              </a:rPr>
              <a:t>global</a:t>
            </a:r>
            <a:r>
              <a:rPr kumimoji="1" lang="zh-CN" altLang="en-US" dirty="0">
                <a:solidFill>
                  <a:schemeClr val="accent2">
                    <a:lumMod val="75000"/>
                  </a:schemeClr>
                </a:solidFill>
              </a:rPr>
              <a:t>，一个是多模态输入</a:t>
            </a:r>
            <a:endParaRPr kumimoji="1" lang="en-US" altLang="zh-CN" dirty="0">
              <a:solidFill>
                <a:schemeClr val="accent2">
                  <a:lumMod val="75000"/>
                </a:schemeClr>
              </a:solidFill>
            </a:endParaRPr>
          </a:p>
          <a:p>
            <a:endParaRPr kumimoji="1" lang="en-US" altLang="zh-CN" dirty="0">
              <a:solidFill>
                <a:schemeClr val="accent2">
                  <a:lumMod val="75000"/>
                </a:schemeClr>
              </a:solidFill>
            </a:endParaRPr>
          </a:p>
          <a:p>
            <a:r>
              <a:rPr kumimoji="1" lang="zh-CN" altLang="en-US" dirty="0">
                <a:solidFill>
                  <a:schemeClr val="accent6">
                    <a:lumMod val="75000"/>
                  </a:schemeClr>
                </a:solidFill>
              </a:rPr>
              <a:t>此外，还提出了多视角特征融合模块，来实现多视角重建</a:t>
            </a:r>
            <a:endParaRPr kumimoji="1" lang="en-US" altLang="zh-CN" dirty="0">
              <a:solidFill>
                <a:schemeClr val="accent6">
                  <a:lumMod val="75000"/>
                </a:schemeClr>
              </a:solidFill>
            </a:endParaRPr>
          </a:p>
          <a:p>
            <a:endParaRPr kumimoji="1" lang="en-US" altLang="zh-CN" dirty="0">
              <a:solidFill>
                <a:schemeClr val="accent1">
                  <a:lumMod val="75000"/>
                </a:schemeClr>
              </a:solidFill>
            </a:endParaRPr>
          </a:p>
          <a:p>
            <a:endParaRPr kumimoji="1" lang="zh-CN" altLang="en-US" dirty="0">
              <a:solidFill>
                <a:schemeClr val="accent1">
                  <a:lumMod val="75000"/>
                </a:schemeClr>
              </a:solidFill>
            </a:endParaRPr>
          </a:p>
        </p:txBody>
      </p:sp>
    </p:spTree>
    <p:extLst>
      <p:ext uri="{BB962C8B-B14F-4D97-AF65-F5344CB8AC3E}">
        <p14:creationId xmlns:p14="http://schemas.microsoft.com/office/powerpoint/2010/main" val="3246465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FD684D-F67A-A74D-3B85-F874EFDDCD33}"/>
              </a:ext>
            </a:extLst>
          </p:cNvPr>
          <p:cNvSpPr>
            <a:spLocks noGrp="1"/>
          </p:cNvSpPr>
          <p:nvPr>
            <p:ph type="title"/>
          </p:nvPr>
        </p:nvSpPr>
        <p:spPr/>
        <p:txBody>
          <a:bodyPr/>
          <a:lstStyle/>
          <a:p>
            <a:r>
              <a:rPr kumimoji="1" lang="en-US" altLang="zh-CN" dirty="0"/>
              <a:t>Introduction 4</a:t>
            </a:r>
            <a:endParaRPr kumimoji="1" lang="zh-CN" altLang="en-US" dirty="0"/>
          </a:p>
        </p:txBody>
      </p:sp>
      <p:sp>
        <p:nvSpPr>
          <p:cNvPr id="3" name="内容占位符 2">
            <a:extLst>
              <a:ext uri="{FF2B5EF4-FFF2-40B4-BE49-F238E27FC236}">
                <a16:creationId xmlns:a16="http://schemas.microsoft.com/office/drawing/2014/main" id="{F8BAD33B-9A6E-96BE-D8A5-9BFE4C97337E}"/>
              </a:ext>
            </a:extLst>
          </p:cNvPr>
          <p:cNvSpPr>
            <a:spLocks noGrp="1"/>
          </p:cNvSpPr>
          <p:nvPr>
            <p:ph idx="1"/>
          </p:nvPr>
        </p:nvSpPr>
        <p:spPr>
          <a:xfrm>
            <a:off x="5558319" y="1363288"/>
            <a:ext cx="6072027" cy="3999822"/>
          </a:xfrm>
        </p:spPr>
        <p:txBody>
          <a:bodyPr>
            <a:normAutofit/>
          </a:bodyPr>
          <a:lstStyle/>
          <a:p>
            <a:pPr marL="0" indent="0">
              <a:lnSpc>
                <a:spcPct val="150000"/>
              </a:lnSpc>
              <a:buNone/>
            </a:pPr>
            <a:r>
              <a:rPr kumimoji="1" lang="en" altLang="zh-CN" sz="1600" dirty="0"/>
              <a:t>We evaluate our </a:t>
            </a:r>
            <a:r>
              <a:rPr kumimoji="1" lang="en" altLang="zh-CN" sz="1600" dirty="0" err="1"/>
              <a:t>DiffPoint</a:t>
            </a:r>
            <a:r>
              <a:rPr kumimoji="1" lang="en" altLang="zh-CN" sz="1600" dirty="0"/>
              <a:t> in both single and multi-view reconstruction tasks. Our results on popular benchmark </a:t>
            </a:r>
            <a:r>
              <a:rPr kumimoji="1" lang="en" altLang="zh-CN" sz="1600" dirty="0" err="1"/>
              <a:t>ShapeNet</a:t>
            </a:r>
            <a:r>
              <a:rPr kumimoji="1" lang="en" altLang="zh-CN" sz="1600" dirty="0"/>
              <a:t> [5] suggests that </a:t>
            </a:r>
            <a:r>
              <a:rPr kumimoji="1" lang="en" altLang="zh-CN" sz="1600" dirty="0" err="1"/>
              <a:t>DiffPoint</a:t>
            </a:r>
            <a:r>
              <a:rPr kumimoji="1" lang="en" altLang="zh-CN" sz="1600" dirty="0"/>
              <a:t> is capable of reconstruct high-fidelity point clouds, outperforming multiple state-of-the-art methods. Furthermore, we extend </a:t>
            </a:r>
            <a:r>
              <a:rPr kumimoji="1" lang="en" altLang="zh-CN" sz="1600" dirty="0" err="1"/>
              <a:t>DiffPoint</a:t>
            </a:r>
            <a:r>
              <a:rPr kumimoji="1" lang="en" altLang="zh-CN" sz="1600" dirty="0"/>
              <a:t> to a more complicated and diverse dataset OBJAVERSE- LVIS [8], demonstrating the powerful modeling capabilities of </a:t>
            </a:r>
            <a:r>
              <a:rPr kumimoji="1" lang="en" altLang="zh-CN" sz="1600" dirty="0" err="1"/>
              <a:t>DiffPoint</a:t>
            </a:r>
            <a:r>
              <a:rPr kumimoji="1" lang="en" altLang="zh-CN" sz="1600" dirty="0"/>
              <a:t> and the potential to migrate to large-scale 3D datasets.</a:t>
            </a:r>
            <a:endParaRPr kumimoji="1" lang="zh-CN" altLang="en-US" sz="1600" dirty="0"/>
          </a:p>
        </p:txBody>
      </p:sp>
      <p:sp>
        <p:nvSpPr>
          <p:cNvPr id="4" name="日期占位符 3">
            <a:extLst>
              <a:ext uri="{FF2B5EF4-FFF2-40B4-BE49-F238E27FC236}">
                <a16:creationId xmlns:a16="http://schemas.microsoft.com/office/drawing/2014/main" id="{73155FA7-F27C-08AF-88DE-36DF08775AB6}"/>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B59915E3-F45F-1A2C-5B95-C7BC8A7EEF2D}"/>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0AFEA361-BCB4-9148-4BEE-8D7A7B73E7F5}"/>
              </a:ext>
            </a:extLst>
          </p:cNvPr>
          <p:cNvSpPr>
            <a:spLocks noGrp="1"/>
          </p:cNvSpPr>
          <p:nvPr>
            <p:ph type="sldNum" sz="quarter" idx="12"/>
          </p:nvPr>
        </p:nvSpPr>
        <p:spPr/>
        <p:txBody>
          <a:bodyPr/>
          <a:lstStyle/>
          <a:p>
            <a:fld id="{EC230444-A519-6845-9B10-810B3093520A}" type="slidenum">
              <a:rPr kumimoji="1" lang="zh-CN" altLang="en-US" smtClean="0"/>
              <a:t>23</a:t>
            </a:fld>
            <a:endParaRPr kumimoji="1" lang="zh-CN" altLang="en-US"/>
          </a:p>
        </p:txBody>
      </p:sp>
      <p:sp>
        <p:nvSpPr>
          <p:cNvPr id="7" name="文本框 6">
            <a:extLst>
              <a:ext uri="{FF2B5EF4-FFF2-40B4-BE49-F238E27FC236}">
                <a16:creationId xmlns:a16="http://schemas.microsoft.com/office/drawing/2014/main" id="{912F87BA-730B-3CDB-6044-EA08D78D3CB5}"/>
              </a:ext>
            </a:extLst>
          </p:cNvPr>
          <p:cNvSpPr txBox="1"/>
          <p:nvPr/>
        </p:nvSpPr>
        <p:spPr>
          <a:xfrm>
            <a:off x="1243173" y="2315758"/>
            <a:ext cx="3688423" cy="923330"/>
          </a:xfrm>
          <a:prstGeom prst="rect">
            <a:avLst/>
          </a:prstGeom>
          <a:noFill/>
        </p:spPr>
        <p:txBody>
          <a:bodyPr wrap="square" rtlCol="0">
            <a:spAutoFit/>
          </a:bodyPr>
          <a:lstStyle/>
          <a:p>
            <a:r>
              <a:rPr kumimoji="1" lang="zh-CN" altLang="en-US" dirty="0"/>
              <a:t>在</a:t>
            </a:r>
            <a:r>
              <a:rPr kumimoji="1" lang="en-US" altLang="zh-CN" dirty="0" err="1"/>
              <a:t>ShapeNet</a:t>
            </a:r>
            <a:r>
              <a:rPr kumimoji="1" lang="zh-CN" altLang="en-US" dirty="0"/>
              <a:t>实现了</a:t>
            </a:r>
            <a:r>
              <a:rPr kumimoji="1" lang="en-US" altLang="zh-CN" dirty="0"/>
              <a:t>SOTA</a:t>
            </a:r>
            <a:r>
              <a:rPr kumimoji="1" lang="zh-CN" altLang="en-US" dirty="0"/>
              <a:t>，同时在更复杂更大的数据集</a:t>
            </a:r>
            <a:r>
              <a:rPr kumimoji="1" lang="en-US" altLang="zh-CN" dirty="0"/>
              <a:t>OBJAVERSE-LVIS</a:t>
            </a:r>
            <a:r>
              <a:rPr kumimoji="1" lang="zh-CN" altLang="en-US" dirty="0"/>
              <a:t>是那个也表现不错</a:t>
            </a:r>
          </a:p>
        </p:txBody>
      </p:sp>
    </p:spTree>
    <p:extLst>
      <p:ext uri="{BB962C8B-B14F-4D97-AF65-F5344CB8AC3E}">
        <p14:creationId xmlns:p14="http://schemas.microsoft.com/office/powerpoint/2010/main" val="2950842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FD684D-F67A-A74D-3B85-F874EFDDCD33}"/>
              </a:ext>
            </a:extLst>
          </p:cNvPr>
          <p:cNvSpPr>
            <a:spLocks noGrp="1"/>
          </p:cNvSpPr>
          <p:nvPr>
            <p:ph type="title"/>
          </p:nvPr>
        </p:nvSpPr>
        <p:spPr/>
        <p:txBody>
          <a:bodyPr/>
          <a:lstStyle/>
          <a:p>
            <a:r>
              <a:rPr kumimoji="1" lang="en-US" altLang="zh-CN" dirty="0"/>
              <a:t>Introduction 5</a:t>
            </a:r>
            <a:endParaRPr kumimoji="1" lang="zh-CN" altLang="en-US" dirty="0"/>
          </a:p>
        </p:txBody>
      </p:sp>
      <p:sp>
        <p:nvSpPr>
          <p:cNvPr id="3" name="内容占位符 2">
            <a:extLst>
              <a:ext uri="{FF2B5EF4-FFF2-40B4-BE49-F238E27FC236}">
                <a16:creationId xmlns:a16="http://schemas.microsoft.com/office/drawing/2014/main" id="{F8BAD33B-9A6E-96BE-D8A5-9BFE4C97337E}"/>
              </a:ext>
            </a:extLst>
          </p:cNvPr>
          <p:cNvSpPr>
            <a:spLocks noGrp="1"/>
          </p:cNvSpPr>
          <p:nvPr>
            <p:ph idx="1"/>
          </p:nvPr>
        </p:nvSpPr>
        <p:spPr>
          <a:xfrm>
            <a:off x="5558319" y="1363288"/>
            <a:ext cx="6267236" cy="4760110"/>
          </a:xfrm>
        </p:spPr>
        <p:txBody>
          <a:bodyPr>
            <a:noAutofit/>
          </a:bodyPr>
          <a:lstStyle/>
          <a:p>
            <a:pPr marL="0" indent="0">
              <a:lnSpc>
                <a:spcPct val="150000"/>
              </a:lnSpc>
              <a:buNone/>
            </a:pPr>
            <a:r>
              <a:rPr kumimoji="1" lang="en" altLang="zh-CN" sz="1400" dirty="0"/>
              <a:t>The main contributions of this paper are summarized as follows:</a:t>
            </a:r>
          </a:p>
          <a:p>
            <a:pPr marL="0" indent="0">
              <a:lnSpc>
                <a:spcPct val="150000"/>
              </a:lnSpc>
              <a:buNone/>
            </a:pPr>
            <a:r>
              <a:rPr kumimoji="1" lang="en" altLang="zh-CN" sz="1400" dirty="0"/>
              <a:t>• We explore 3D point cloud reconstruction and introduce a novel architecture, </a:t>
            </a:r>
            <a:r>
              <a:rPr kumimoji="1" lang="en" altLang="zh-CN" sz="1400" dirty="0" err="1"/>
              <a:t>DiffPoint</a:t>
            </a:r>
            <a:r>
              <a:rPr kumimoji="1" lang="en" altLang="zh-CN" sz="1400" dirty="0"/>
              <a:t>, which combines diffusion models with </a:t>
            </a:r>
            <a:r>
              <a:rPr kumimoji="1" lang="en" altLang="zh-CN" sz="1400" dirty="0" err="1"/>
              <a:t>ViT</a:t>
            </a:r>
            <a:r>
              <a:rPr kumimoji="1" lang="en" altLang="zh-CN" sz="1400" dirty="0"/>
              <a:t>. </a:t>
            </a:r>
            <a:r>
              <a:rPr kumimoji="1" lang="en" altLang="zh-CN" sz="1400" dirty="0" err="1"/>
              <a:t>DiffPoint</a:t>
            </a:r>
            <a:r>
              <a:rPr kumimoji="1" lang="en" altLang="zh-CN" sz="1400" dirty="0"/>
              <a:t> enhances image feature representation and connects the 2D and 3D domains. Our work marks the first use of </a:t>
            </a:r>
            <a:r>
              <a:rPr kumimoji="1" lang="en" altLang="zh-CN" sz="1400" dirty="0" err="1"/>
              <a:t>ViT</a:t>
            </a:r>
            <a:r>
              <a:rPr kumimoji="1" lang="en" altLang="zh-CN" sz="1400" dirty="0"/>
              <a:t>-based diffusion models for 3D point cloud reconstruction.</a:t>
            </a:r>
          </a:p>
          <a:p>
            <a:pPr marL="0" indent="0">
              <a:lnSpc>
                <a:spcPct val="150000"/>
              </a:lnSpc>
              <a:buNone/>
            </a:pPr>
            <a:r>
              <a:rPr kumimoji="1" lang="en" altLang="zh-CN" sz="1400" dirty="0"/>
              <a:t>• We propose a unified module for aggregating multiple features, which can be used for single and multi-view reconstruction tasks ensuring consistency in the model architecture for both tasks.</a:t>
            </a:r>
          </a:p>
          <a:p>
            <a:pPr marL="0" indent="0">
              <a:lnSpc>
                <a:spcPct val="150000"/>
              </a:lnSpc>
              <a:buNone/>
            </a:pPr>
            <a:r>
              <a:rPr kumimoji="1" lang="en" altLang="zh-CN" sz="1400" dirty="0"/>
              <a:t>• Our model demonstrates state-of-the-art performance in reconstructing 3D shapes from both single-view and multi-view perspectives, with exceptional modeling capabilities confirmed through additional experiments on OBJAVERSE-LVIS.</a:t>
            </a:r>
            <a:endParaRPr kumimoji="1" lang="zh-CN" altLang="en-US" sz="1400" dirty="0"/>
          </a:p>
        </p:txBody>
      </p:sp>
      <p:sp>
        <p:nvSpPr>
          <p:cNvPr id="4" name="日期占位符 3">
            <a:extLst>
              <a:ext uri="{FF2B5EF4-FFF2-40B4-BE49-F238E27FC236}">
                <a16:creationId xmlns:a16="http://schemas.microsoft.com/office/drawing/2014/main" id="{73155FA7-F27C-08AF-88DE-36DF08775AB6}"/>
              </a:ext>
            </a:extLst>
          </p:cNvPr>
          <p:cNvSpPr>
            <a:spLocks noGrp="1"/>
          </p:cNvSpPr>
          <p:nvPr>
            <p:ph type="dt" sz="half" idx="10"/>
          </p:nvPr>
        </p:nvSpPr>
        <p:spPr/>
        <p:txBody>
          <a:bodyPr/>
          <a:lstStyle/>
          <a:p>
            <a:fld id="{BFD7AF6A-C99D-BC49-8E8D-80DD3BB70095}" type="datetime1">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B59915E3-F45F-1A2C-5B95-C7BC8A7EEF2D}"/>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0AFEA361-BCB4-9148-4BEE-8D7A7B73E7F5}"/>
              </a:ext>
            </a:extLst>
          </p:cNvPr>
          <p:cNvSpPr>
            <a:spLocks noGrp="1"/>
          </p:cNvSpPr>
          <p:nvPr>
            <p:ph type="sldNum" sz="quarter" idx="12"/>
          </p:nvPr>
        </p:nvSpPr>
        <p:spPr/>
        <p:txBody>
          <a:bodyPr/>
          <a:lstStyle/>
          <a:p>
            <a:fld id="{EC230444-A519-6845-9B10-810B3093520A}" type="slidenum">
              <a:rPr kumimoji="1" lang="zh-CN" altLang="en-US" smtClean="0"/>
              <a:t>24</a:t>
            </a:fld>
            <a:endParaRPr kumimoji="1" lang="zh-CN" altLang="en-US"/>
          </a:p>
        </p:txBody>
      </p:sp>
      <p:sp>
        <p:nvSpPr>
          <p:cNvPr id="7" name="文本框 6">
            <a:extLst>
              <a:ext uri="{FF2B5EF4-FFF2-40B4-BE49-F238E27FC236}">
                <a16:creationId xmlns:a16="http://schemas.microsoft.com/office/drawing/2014/main" id="{912F87BA-730B-3CDB-6044-EA08D78D3CB5}"/>
              </a:ext>
            </a:extLst>
          </p:cNvPr>
          <p:cNvSpPr txBox="1"/>
          <p:nvPr/>
        </p:nvSpPr>
        <p:spPr>
          <a:xfrm>
            <a:off x="1243173" y="2315758"/>
            <a:ext cx="3688423" cy="1754326"/>
          </a:xfrm>
          <a:prstGeom prst="rect">
            <a:avLst/>
          </a:prstGeom>
          <a:noFill/>
        </p:spPr>
        <p:txBody>
          <a:bodyPr wrap="square" rtlCol="0">
            <a:spAutoFit/>
          </a:bodyPr>
          <a:lstStyle/>
          <a:p>
            <a:r>
              <a:rPr kumimoji="1" lang="zh-CN" altLang="en-US" dirty="0"/>
              <a:t>本文的贡献</a:t>
            </a:r>
            <a:endParaRPr kumimoji="1" lang="en-US" altLang="zh-CN" dirty="0"/>
          </a:p>
          <a:p>
            <a:pPr marL="285750" indent="-285750">
              <a:buFont typeface="Arial" panose="020B0604020202020204" pitchFamily="34" charset="0"/>
              <a:buChar char="•"/>
            </a:pPr>
            <a:r>
              <a:rPr kumimoji="1" lang="zh-CN" altLang="en-US" dirty="0"/>
              <a:t>提出</a:t>
            </a:r>
            <a:r>
              <a:rPr kumimoji="1" lang="en-US" altLang="zh-CN" dirty="0" err="1"/>
              <a:t>DiffPoint</a:t>
            </a:r>
            <a:r>
              <a:rPr kumimoji="1" lang="zh-CN" altLang="en-US" dirty="0"/>
              <a:t>，结合了</a:t>
            </a:r>
            <a:r>
              <a:rPr kumimoji="1" lang="en-US" altLang="zh-CN" dirty="0"/>
              <a:t>diffusion</a:t>
            </a:r>
            <a:r>
              <a:rPr kumimoji="1" lang="zh-CN" altLang="en-US" dirty="0"/>
              <a:t>和</a:t>
            </a:r>
            <a:r>
              <a:rPr kumimoji="1" lang="en-US" altLang="zh-CN" dirty="0" err="1"/>
              <a:t>ViT</a:t>
            </a:r>
            <a:endParaRPr kumimoji="1" lang="en-US" altLang="zh-CN" dirty="0"/>
          </a:p>
          <a:p>
            <a:pPr marL="285750" indent="-285750">
              <a:buFont typeface="Arial" panose="020B0604020202020204" pitchFamily="34" charset="0"/>
              <a:buChar char="•"/>
            </a:pPr>
            <a:r>
              <a:rPr kumimoji="1" lang="zh-CN" altLang="en-US" dirty="0"/>
              <a:t>提出了多视角特征融合模块</a:t>
            </a:r>
            <a:endParaRPr kumimoji="1" lang="en-US" altLang="zh-CN" dirty="0"/>
          </a:p>
          <a:p>
            <a:pPr marL="285750" indent="-285750">
              <a:buFont typeface="Arial" panose="020B0604020202020204" pitchFamily="34" charset="0"/>
              <a:buChar char="•"/>
            </a:pPr>
            <a:r>
              <a:rPr kumimoji="1" lang="zh-CN" altLang="en-US" dirty="0"/>
              <a:t>单视角和多视角的性能在</a:t>
            </a:r>
            <a:r>
              <a:rPr kumimoji="1" lang="en-US" altLang="zh-CN" dirty="0" err="1"/>
              <a:t>ShapeNet</a:t>
            </a:r>
            <a:r>
              <a:rPr kumimoji="1" lang="zh-CN" altLang="en-US" dirty="0"/>
              <a:t>都是</a:t>
            </a:r>
            <a:r>
              <a:rPr kumimoji="1" lang="en-US" altLang="zh-CN" dirty="0"/>
              <a:t>SOTA</a:t>
            </a:r>
          </a:p>
        </p:txBody>
      </p:sp>
    </p:spTree>
    <p:extLst>
      <p:ext uri="{BB962C8B-B14F-4D97-AF65-F5344CB8AC3E}">
        <p14:creationId xmlns:p14="http://schemas.microsoft.com/office/powerpoint/2010/main" val="116427415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1234</TotalTime>
  <Words>3144</Words>
  <Application>Microsoft Macintosh PowerPoint</Application>
  <PresentationFormat>宽屏</PresentationFormat>
  <Paragraphs>168</Paragraphs>
  <Slides>24</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24</vt:i4>
      </vt:variant>
    </vt:vector>
  </HeadingPairs>
  <TitlesOfParts>
    <vt:vector size="27" baseType="lpstr">
      <vt:lpstr>等线</vt:lpstr>
      <vt:lpstr>Arial</vt:lpstr>
      <vt:lpstr>Office 主题​​</vt:lpstr>
      <vt:lpstr>PowerPoint 演示文稿</vt:lpstr>
      <vt:lpstr>Introduction</vt:lpstr>
      <vt:lpstr>DiffPoint</vt:lpstr>
      <vt:lpstr>Point Cloud Splitting and Embedding</vt:lpstr>
      <vt:lpstr>Image Embedding and Feature Aggregation</vt:lpstr>
      <vt:lpstr>Single-view Reconstruction</vt:lpstr>
      <vt:lpstr>PowerPoint 演示文稿</vt:lpstr>
      <vt:lpstr>Multi-view Reconstruction</vt:lpstr>
      <vt:lpstr>Ablation Study</vt:lpstr>
      <vt:lpstr>Conclusion</vt:lpstr>
      <vt:lpstr>Abstract</vt:lpstr>
      <vt:lpstr>Abstract</vt:lpstr>
      <vt:lpstr>Abstract</vt:lpstr>
      <vt:lpstr>Abstract</vt:lpstr>
      <vt:lpstr>Abstract</vt:lpstr>
      <vt:lpstr>Abstract</vt:lpstr>
      <vt:lpstr>Abstract</vt:lpstr>
      <vt:lpstr>Introduction 1</vt:lpstr>
      <vt:lpstr>Introduction 2-1</vt:lpstr>
      <vt:lpstr>Introduction 2-2</vt:lpstr>
      <vt:lpstr>Introduction 3-1</vt:lpstr>
      <vt:lpstr>Introduction 3-2</vt:lpstr>
      <vt:lpstr>Introduction 4</vt:lpstr>
      <vt:lpstr>Introduction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炜宁 叶</dc:creator>
  <cp:lastModifiedBy>炜宁 叶</cp:lastModifiedBy>
  <cp:revision>37</cp:revision>
  <dcterms:created xsi:type="dcterms:W3CDTF">2024-02-28T12:06:30Z</dcterms:created>
  <dcterms:modified xsi:type="dcterms:W3CDTF">2024-03-01T07:01:00Z</dcterms:modified>
</cp:coreProperties>
</file>