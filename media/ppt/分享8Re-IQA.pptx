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4" r:id="rId3"/>
    <p:sldId id="350" r:id="rId4"/>
    <p:sldId id="327" r:id="rId5"/>
    <p:sldId id="336" r:id="rId6"/>
    <p:sldId id="351" r:id="rId7"/>
    <p:sldId id="352" r:id="rId8"/>
    <p:sldId id="353" r:id="rId9"/>
    <p:sldId id="341" r:id="rId10"/>
    <p:sldId id="273" r:id="rId11"/>
    <p:sldId id="354" r:id="rId12"/>
    <p:sldId id="355" r:id="rId13"/>
    <p:sldId id="284" r:id="rId14"/>
    <p:sldId id="257" r:id="rId15"/>
    <p:sldId id="258" r:id="rId16"/>
    <p:sldId id="356" r:id="rId17"/>
    <p:sldId id="357" r:id="rId18"/>
    <p:sldId id="358" r:id="rId19"/>
    <p:sldId id="359" r:id="rId20"/>
    <p:sldId id="360" r:id="rId21"/>
    <p:sldId id="259" r:id="rId22"/>
    <p:sldId id="335" r:id="rId23"/>
    <p:sldId id="333" r:id="rId24"/>
    <p:sldId id="260" r:id="rId25"/>
    <p:sldId id="303" r:id="rId26"/>
    <p:sldId id="285"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00" autoAdjust="0"/>
  </p:normalViewPr>
  <p:slideViewPr>
    <p:cSldViewPr snapToGrid="0">
      <p:cViewPr varScale="1">
        <p:scale>
          <a:sx n="81" d="100"/>
          <a:sy n="81" d="100"/>
        </p:scale>
        <p:origin x="64" y="7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A9E4A-0759-4964-9856-65C32428782C}" type="datetimeFigureOut">
              <a:rPr lang="zh-CN" altLang="en-US" smtClean="0"/>
              <a:t>2024/2/25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2ABA14-E4A8-40DA-B7B0-41950E132D30}" type="slidenum">
              <a:rPr lang="zh-CN" altLang="en-US" smtClean="0"/>
              <a:t>‹#›</a:t>
            </a:fld>
            <a:endParaRPr lang="zh-CN" altLang="en-US"/>
          </a:p>
        </p:txBody>
      </p:sp>
    </p:spTree>
    <p:extLst>
      <p:ext uri="{BB962C8B-B14F-4D97-AF65-F5344CB8AC3E}">
        <p14:creationId xmlns:p14="http://schemas.microsoft.com/office/powerpoint/2010/main" val="188101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01214"/>
                </a:solidFill>
                <a:effectLst/>
                <a:latin typeface="PingFang SC"/>
              </a:rPr>
              <a:t>德克萨斯大学奥斯汀分校</a:t>
            </a:r>
            <a:endParaRPr lang="en-US" altLang="zh-CN" b="0" i="0" dirty="0">
              <a:solidFill>
                <a:srgbClr val="101214"/>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01214"/>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01214"/>
                </a:solidFill>
                <a:effectLst/>
                <a:latin typeface="PingFang SC"/>
              </a:rPr>
              <a:t>图像与视频工程实验室</a:t>
            </a: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22ABA14-E4A8-40DA-B7B0-41950E132D30}" type="slidenum">
              <a:rPr lang="zh-CN" altLang="en-US" smtClean="0"/>
              <a:t>1</a:t>
            </a:fld>
            <a:endParaRPr lang="zh-CN" altLang="en-US"/>
          </a:p>
        </p:txBody>
      </p:sp>
    </p:spTree>
    <p:extLst>
      <p:ext uri="{BB962C8B-B14F-4D97-AF65-F5344CB8AC3E}">
        <p14:creationId xmlns:p14="http://schemas.microsoft.com/office/powerpoint/2010/main" val="643335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a:t>
            </a:fld>
            <a:endParaRPr lang="zh-CN" altLang="en-US"/>
          </a:p>
        </p:txBody>
      </p:sp>
    </p:spTree>
    <p:extLst>
      <p:ext uri="{BB962C8B-B14F-4D97-AF65-F5344CB8AC3E}">
        <p14:creationId xmlns:p14="http://schemas.microsoft.com/office/powerpoint/2010/main" val="1933094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DCF3-8527-C5B7-70B0-03127C1BE3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E7EB37-A7C3-1931-F383-F72659640A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2758B3-C916-B08A-2675-1C8A7EAD98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BAB3133-C124-5106-88A3-AB305FBD16ED}"/>
              </a:ext>
            </a:extLst>
          </p:cNvPr>
          <p:cNvSpPr>
            <a:spLocks noGrp="1"/>
          </p:cNvSpPr>
          <p:nvPr>
            <p:ph type="sldNum" sz="quarter" idx="5"/>
          </p:nvPr>
        </p:nvSpPr>
        <p:spPr/>
        <p:txBody>
          <a:bodyPr/>
          <a:lstStyle/>
          <a:p>
            <a:fld id="{722ABA14-E4A8-40DA-B7B0-41950E132D30}" type="slidenum">
              <a:rPr lang="zh-CN" altLang="en-US" smtClean="0"/>
              <a:t>3</a:t>
            </a:fld>
            <a:endParaRPr lang="zh-CN" altLang="en-US"/>
          </a:p>
        </p:txBody>
      </p:sp>
    </p:spTree>
    <p:extLst>
      <p:ext uri="{BB962C8B-B14F-4D97-AF65-F5344CB8AC3E}">
        <p14:creationId xmlns:p14="http://schemas.microsoft.com/office/powerpoint/2010/main" val="4211723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4</a:t>
            </a:fld>
            <a:endParaRPr lang="zh-CN" altLang="en-US"/>
          </a:p>
        </p:txBody>
      </p:sp>
    </p:spTree>
    <p:extLst>
      <p:ext uri="{BB962C8B-B14F-4D97-AF65-F5344CB8AC3E}">
        <p14:creationId xmlns:p14="http://schemas.microsoft.com/office/powerpoint/2010/main" val="3784596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借鉴了</a:t>
            </a:r>
            <a:r>
              <a:rPr lang="en-US" altLang="zh-CN" b="0" i="0" dirty="0" err="1">
                <a:solidFill>
                  <a:srgbClr val="191B1F"/>
                </a:solidFill>
                <a:effectLst/>
                <a:latin typeface="-apple-system"/>
              </a:rPr>
              <a:t>SimCLR</a:t>
            </a:r>
            <a:r>
              <a:rPr lang="zh-CN" altLang="en-US" b="0" i="0" dirty="0">
                <a:solidFill>
                  <a:srgbClr val="191B1F"/>
                </a:solidFill>
                <a:effectLst/>
                <a:latin typeface="-apple-system"/>
              </a:rPr>
              <a:t>的一些即插即用的方法（</a:t>
            </a:r>
            <a:r>
              <a:rPr lang="zh-CN" altLang="en-US" b="1" i="0" dirty="0">
                <a:solidFill>
                  <a:srgbClr val="191B1F"/>
                </a:solidFill>
                <a:effectLst/>
                <a:latin typeface="-apple-system"/>
              </a:rPr>
              <a:t>增加</a:t>
            </a:r>
            <a:r>
              <a:rPr lang="en-US" altLang="zh-CN" b="1" i="0" dirty="0">
                <a:solidFill>
                  <a:srgbClr val="191B1F"/>
                </a:solidFill>
                <a:effectLst/>
                <a:latin typeface="-apple-system"/>
              </a:rPr>
              <a:t>MLP</a:t>
            </a:r>
            <a:r>
              <a:rPr lang="zh-CN" altLang="en-US" b="1" i="0" dirty="0">
                <a:solidFill>
                  <a:srgbClr val="191B1F"/>
                </a:solidFill>
                <a:effectLst/>
                <a:latin typeface="-apple-system"/>
              </a:rPr>
              <a:t>头</a:t>
            </a:r>
            <a:r>
              <a:rPr lang="en-US" altLang="zh-CN" b="1" i="0" dirty="0">
                <a:solidFill>
                  <a:srgbClr val="191B1F"/>
                </a:solidFill>
                <a:effectLst/>
                <a:latin typeface="-apple-system"/>
              </a:rPr>
              <a:t>+</a:t>
            </a:r>
            <a:r>
              <a:rPr lang="zh-CN" altLang="en-US" b="1" i="0" dirty="0">
                <a:solidFill>
                  <a:srgbClr val="191B1F"/>
                </a:solidFill>
                <a:effectLst/>
                <a:latin typeface="-apple-system"/>
              </a:rPr>
              <a:t>更强的数据增强</a:t>
            </a:r>
            <a:r>
              <a:rPr lang="zh-CN" altLang="en-US" b="0" i="0" dirty="0">
                <a:solidFill>
                  <a:srgbClr val="191B1F"/>
                </a:solidFill>
                <a:effectLst/>
                <a:latin typeface="-apple-system"/>
              </a:rPr>
              <a:t>）</a:t>
            </a:r>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5</a:t>
            </a:fld>
            <a:endParaRPr lang="zh-CN" altLang="en-US"/>
          </a:p>
        </p:txBody>
      </p:sp>
    </p:spTree>
    <p:extLst>
      <p:ext uri="{BB962C8B-B14F-4D97-AF65-F5344CB8AC3E}">
        <p14:creationId xmlns:p14="http://schemas.microsoft.com/office/powerpoint/2010/main" val="2586690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09591-446E-EB3D-44D0-E23FC50F10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1555CD-47BA-8205-AFDE-1AA4930CD6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BA9D6B-1269-491F-6CC4-B75A10081952}"/>
              </a:ext>
            </a:extLst>
          </p:cNvPr>
          <p:cNvSpPr>
            <a:spLocks noGrp="1"/>
          </p:cNvSpPr>
          <p:nvPr>
            <p:ph type="body" idx="1"/>
          </p:nvPr>
        </p:nvSpPr>
        <p:spPr/>
        <p:txBody>
          <a:bodyPr/>
          <a:lstStyle/>
          <a:p>
            <a:r>
              <a:rPr lang="zh-CN" altLang="en-US" b="0" i="0" dirty="0">
                <a:solidFill>
                  <a:srgbClr val="191B1F"/>
                </a:solidFill>
                <a:effectLst/>
                <a:latin typeface="-apple-system"/>
              </a:rPr>
              <a:t>借鉴了</a:t>
            </a:r>
            <a:r>
              <a:rPr lang="en-US" altLang="zh-CN" b="0" i="0" dirty="0" err="1">
                <a:solidFill>
                  <a:srgbClr val="191B1F"/>
                </a:solidFill>
                <a:effectLst/>
                <a:latin typeface="-apple-system"/>
              </a:rPr>
              <a:t>SimCLR</a:t>
            </a:r>
            <a:r>
              <a:rPr lang="zh-CN" altLang="en-US" b="0" i="0" dirty="0">
                <a:solidFill>
                  <a:srgbClr val="191B1F"/>
                </a:solidFill>
                <a:effectLst/>
                <a:latin typeface="-apple-system"/>
              </a:rPr>
              <a:t>的一些即插即用的方法（</a:t>
            </a:r>
            <a:r>
              <a:rPr lang="zh-CN" altLang="en-US" b="1" i="0" dirty="0">
                <a:solidFill>
                  <a:srgbClr val="191B1F"/>
                </a:solidFill>
                <a:effectLst/>
                <a:latin typeface="-apple-system"/>
              </a:rPr>
              <a:t>增加</a:t>
            </a:r>
            <a:r>
              <a:rPr lang="en-US" altLang="zh-CN" b="1" i="0" dirty="0">
                <a:solidFill>
                  <a:srgbClr val="191B1F"/>
                </a:solidFill>
                <a:effectLst/>
                <a:latin typeface="-apple-system"/>
              </a:rPr>
              <a:t>MLP</a:t>
            </a:r>
            <a:r>
              <a:rPr lang="zh-CN" altLang="en-US" b="1" i="0" dirty="0">
                <a:solidFill>
                  <a:srgbClr val="191B1F"/>
                </a:solidFill>
                <a:effectLst/>
                <a:latin typeface="-apple-system"/>
              </a:rPr>
              <a:t>头</a:t>
            </a:r>
            <a:r>
              <a:rPr lang="en-US" altLang="zh-CN" b="1" i="0" dirty="0">
                <a:solidFill>
                  <a:srgbClr val="191B1F"/>
                </a:solidFill>
                <a:effectLst/>
                <a:latin typeface="-apple-system"/>
              </a:rPr>
              <a:t>+</a:t>
            </a:r>
            <a:r>
              <a:rPr lang="zh-CN" altLang="en-US" b="1" i="0" dirty="0">
                <a:solidFill>
                  <a:srgbClr val="191B1F"/>
                </a:solidFill>
                <a:effectLst/>
                <a:latin typeface="-apple-system"/>
              </a:rPr>
              <a:t>更强的数据增强</a:t>
            </a:r>
            <a:r>
              <a:rPr lang="zh-CN" altLang="en-US" b="0" i="0" dirty="0">
                <a:solidFill>
                  <a:srgbClr val="191B1F"/>
                </a:solidFill>
                <a:effectLst/>
                <a:latin typeface="-apple-system"/>
              </a:rPr>
              <a:t>）</a:t>
            </a:r>
            <a:endParaRPr lang="zh-CN" altLang="en-US" dirty="0"/>
          </a:p>
        </p:txBody>
      </p:sp>
      <p:sp>
        <p:nvSpPr>
          <p:cNvPr id="4" name="灯片编号占位符 3">
            <a:extLst>
              <a:ext uri="{FF2B5EF4-FFF2-40B4-BE49-F238E27FC236}">
                <a16:creationId xmlns:a16="http://schemas.microsoft.com/office/drawing/2014/main" id="{0AF8472C-71F2-37C6-1B9D-8C97A5B83A7D}"/>
              </a:ext>
            </a:extLst>
          </p:cNvPr>
          <p:cNvSpPr>
            <a:spLocks noGrp="1"/>
          </p:cNvSpPr>
          <p:nvPr>
            <p:ph type="sldNum" sz="quarter" idx="5"/>
          </p:nvPr>
        </p:nvSpPr>
        <p:spPr/>
        <p:txBody>
          <a:bodyPr/>
          <a:lstStyle/>
          <a:p>
            <a:fld id="{722ABA14-E4A8-40DA-B7B0-41950E132D30}" type="slidenum">
              <a:rPr lang="zh-CN" altLang="en-US" smtClean="0"/>
              <a:t>6</a:t>
            </a:fld>
            <a:endParaRPr lang="zh-CN" altLang="en-US"/>
          </a:p>
        </p:txBody>
      </p:sp>
    </p:spTree>
    <p:extLst>
      <p:ext uri="{BB962C8B-B14F-4D97-AF65-F5344CB8AC3E}">
        <p14:creationId xmlns:p14="http://schemas.microsoft.com/office/powerpoint/2010/main" val="3513883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C63E-48B7-DF38-E0FE-E216204777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35830A-6A80-A15E-1E7D-3EB19AA3A6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CFE256-D5D4-266B-5D4D-E311405C6C51}"/>
              </a:ext>
            </a:extLst>
          </p:cNvPr>
          <p:cNvSpPr>
            <a:spLocks noGrp="1"/>
          </p:cNvSpPr>
          <p:nvPr>
            <p:ph type="body" idx="1"/>
          </p:nvPr>
        </p:nvSpPr>
        <p:spPr/>
        <p:txBody>
          <a:bodyPr/>
          <a:lstStyle/>
          <a:p>
            <a:r>
              <a:rPr lang="zh-CN" altLang="en-US" b="0" i="0" dirty="0">
                <a:solidFill>
                  <a:srgbClr val="191B1F"/>
                </a:solidFill>
                <a:effectLst/>
                <a:latin typeface="-apple-system"/>
              </a:rPr>
              <a:t>借鉴了</a:t>
            </a:r>
            <a:r>
              <a:rPr lang="en-US" altLang="zh-CN" b="0" i="0" dirty="0" err="1">
                <a:solidFill>
                  <a:srgbClr val="191B1F"/>
                </a:solidFill>
                <a:effectLst/>
                <a:latin typeface="-apple-system"/>
              </a:rPr>
              <a:t>SimCLR</a:t>
            </a:r>
            <a:r>
              <a:rPr lang="zh-CN" altLang="en-US" b="0" i="0" dirty="0">
                <a:solidFill>
                  <a:srgbClr val="191B1F"/>
                </a:solidFill>
                <a:effectLst/>
                <a:latin typeface="-apple-system"/>
              </a:rPr>
              <a:t>的一些即插即用的方法（</a:t>
            </a:r>
            <a:r>
              <a:rPr lang="zh-CN" altLang="en-US" b="1" i="0" dirty="0">
                <a:solidFill>
                  <a:srgbClr val="191B1F"/>
                </a:solidFill>
                <a:effectLst/>
                <a:latin typeface="-apple-system"/>
              </a:rPr>
              <a:t>增加</a:t>
            </a:r>
            <a:r>
              <a:rPr lang="en-US" altLang="zh-CN" b="1" i="0" dirty="0">
                <a:solidFill>
                  <a:srgbClr val="191B1F"/>
                </a:solidFill>
                <a:effectLst/>
                <a:latin typeface="-apple-system"/>
              </a:rPr>
              <a:t>MLP</a:t>
            </a:r>
            <a:r>
              <a:rPr lang="zh-CN" altLang="en-US" b="1" i="0" dirty="0">
                <a:solidFill>
                  <a:srgbClr val="191B1F"/>
                </a:solidFill>
                <a:effectLst/>
                <a:latin typeface="-apple-system"/>
              </a:rPr>
              <a:t>头</a:t>
            </a:r>
            <a:r>
              <a:rPr lang="en-US" altLang="zh-CN" b="1" i="0" dirty="0">
                <a:solidFill>
                  <a:srgbClr val="191B1F"/>
                </a:solidFill>
                <a:effectLst/>
                <a:latin typeface="-apple-system"/>
              </a:rPr>
              <a:t>+</a:t>
            </a:r>
            <a:r>
              <a:rPr lang="zh-CN" altLang="en-US" b="1" i="0" dirty="0">
                <a:solidFill>
                  <a:srgbClr val="191B1F"/>
                </a:solidFill>
                <a:effectLst/>
                <a:latin typeface="-apple-system"/>
              </a:rPr>
              <a:t>更强的数据增强</a:t>
            </a:r>
            <a:r>
              <a:rPr lang="zh-CN" altLang="en-US" b="0" i="0" dirty="0">
                <a:solidFill>
                  <a:srgbClr val="191B1F"/>
                </a:solidFill>
                <a:effectLst/>
                <a:latin typeface="-apple-system"/>
              </a:rPr>
              <a:t>）</a:t>
            </a:r>
            <a:endParaRPr lang="zh-CN" altLang="en-US" dirty="0"/>
          </a:p>
        </p:txBody>
      </p:sp>
      <p:sp>
        <p:nvSpPr>
          <p:cNvPr id="4" name="灯片编号占位符 3">
            <a:extLst>
              <a:ext uri="{FF2B5EF4-FFF2-40B4-BE49-F238E27FC236}">
                <a16:creationId xmlns:a16="http://schemas.microsoft.com/office/drawing/2014/main" id="{9E4031CE-44C9-78B2-9795-914CA60AA5B3}"/>
              </a:ext>
            </a:extLst>
          </p:cNvPr>
          <p:cNvSpPr>
            <a:spLocks noGrp="1"/>
          </p:cNvSpPr>
          <p:nvPr>
            <p:ph type="sldNum" sz="quarter" idx="5"/>
          </p:nvPr>
        </p:nvSpPr>
        <p:spPr/>
        <p:txBody>
          <a:bodyPr/>
          <a:lstStyle/>
          <a:p>
            <a:fld id="{722ABA14-E4A8-40DA-B7B0-41950E132D30}" type="slidenum">
              <a:rPr lang="zh-CN" altLang="en-US" smtClean="0"/>
              <a:t>7</a:t>
            </a:fld>
            <a:endParaRPr lang="zh-CN" altLang="en-US"/>
          </a:p>
        </p:txBody>
      </p:sp>
    </p:spTree>
    <p:extLst>
      <p:ext uri="{BB962C8B-B14F-4D97-AF65-F5344CB8AC3E}">
        <p14:creationId xmlns:p14="http://schemas.microsoft.com/office/powerpoint/2010/main" val="3856652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20FE0-D877-C2FD-B0CF-8D2807A9A8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5760E0-B141-70BD-87F7-FB48CFE9AE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5ED725-F52B-8EA1-2917-2B7A37D3695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EEC24B-1E90-F06F-0E1F-A6C1AFC64A6E}"/>
              </a:ext>
            </a:extLst>
          </p:cNvPr>
          <p:cNvSpPr>
            <a:spLocks noGrp="1"/>
          </p:cNvSpPr>
          <p:nvPr>
            <p:ph type="sldNum" sz="quarter" idx="5"/>
          </p:nvPr>
        </p:nvSpPr>
        <p:spPr/>
        <p:txBody>
          <a:bodyPr/>
          <a:lstStyle/>
          <a:p>
            <a:fld id="{722ABA14-E4A8-40DA-B7B0-41950E132D30}" type="slidenum">
              <a:rPr lang="zh-CN" altLang="en-US" smtClean="0"/>
              <a:t>8</a:t>
            </a:fld>
            <a:endParaRPr lang="zh-CN" altLang="en-US"/>
          </a:p>
        </p:txBody>
      </p:sp>
    </p:spTree>
    <p:extLst>
      <p:ext uri="{BB962C8B-B14F-4D97-AF65-F5344CB8AC3E}">
        <p14:creationId xmlns:p14="http://schemas.microsoft.com/office/powerpoint/2010/main" val="3208451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评估指标是</a:t>
            </a:r>
            <a:r>
              <a:rPr lang="en-US" altLang="zh-CN" dirty="0"/>
              <a:t>PLCC </a:t>
            </a:r>
            <a:r>
              <a:rPr lang="zh-CN" altLang="en-US" dirty="0"/>
              <a:t>和 </a:t>
            </a:r>
            <a:r>
              <a:rPr lang="en-US" altLang="zh-CN" dirty="0"/>
              <a:t>SRCC</a:t>
            </a:r>
            <a:r>
              <a:rPr lang="zh-CN" altLang="en-US" dirty="0"/>
              <a:t>，实验中用到的模型是</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 </a:t>
            </a:r>
            <a:r>
              <a:rPr lang="en-US" altLang="zh-CN" dirty="0" err="1">
                <a:latin typeface="NimbusRomNo9L-Medi"/>
              </a:rPr>
              <a:t>MetaIQA</a:t>
            </a:r>
            <a:r>
              <a:rPr lang="zh-CN" altLang="en-US" dirty="0">
                <a:latin typeface="NimbusRomNo9L-Medi"/>
              </a:rPr>
              <a:t>四种，其中</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a:t>
            </a:r>
            <a:r>
              <a:rPr lang="zh-CN" altLang="en-US" dirty="0">
                <a:latin typeface="NimbusRomNo9L-Medi"/>
              </a:rPr>
              <a:t>是在</a:t>
            </a:r>
            <a:r>
              <a:rPr lang="en-US" altLang="zh-CN" sz="1200" b="0" i="0" u="none" strike="noStrike" kern="1200" baseline="0" dirty="0">
                <a:solidFill>
                  <a:schemeClr val="dk1"/>
                </a:solidFill>
                <a:latin typeface="+mn-lt"/>
                <a:ea typeface="+mn-ea"/>
                <a:cs typeface="+mn-cs"/>
              </a:rPr>
              <a:t>LIVEFB</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上预训练好的，</a:t>
            </a:r>
            <a:r>
              <a:rPr lang="en-US" altLang="zh-CN" dirty="0" err="1">
                <a:latin typeface="NimbusRomNo9L-Medi"/>
              </a:rPr>
              <a:t>MetaIQA</a:t>
            </a:r>
            <a:r>
              <a:rPr lang="zh-CN" altLang="en-US" dirty="0">
                <a:latin typeface="NimbusRomNo9L-Medi"/>
              </a:rPr>
              <a:t>是在</a:t>
            </a:r>
            <a:r>
              <a:rPr lang="en-US" altLang="zh-CN" dirty="0"/>
              <a:t>TID2013 &amp; KADID-10k</a:t>
            </a:r>
            <a:r>
              <a:rPr lang="zh-CN" altLang="en-US" dirty="0"/>
              <a:t>预训练好的。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en-US" altLang="zh-CN" dirty="0"/>
              <a:t>TTA-IQA</a:t>
            </a:r>
            <a:r>
              <a:rPr lang="zh-CN" altLang="en-US" dirty="0"/>
              <a:t>，让这些模型在</a:t>
            </a:r>
            <a:r>
              <a:rPr lang="en-US" altLang="zh-CN" sz="1200" b="0" i="0" u="none" strike="noStrike" kern="1200" baseline="0" dirty="0">
                <a:solidFill>
                  <a:schemeClr val="dk1"/>
                </a:solidFill>
                <a:latin typeface="+mn-lt"/>
                <a:ea typeface="+mn-ea"/>
                <a:cs typeface="+mn-cs"/>
              </a:rPr>
              <a:t>LIVE-IQA</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CID2013</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PIPAL</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KonIQ-10k</a:t>
            </a:r>
            <a:r>
              <a:rPr lang="zh-CN" altLang="en-US" dirty="0"/>
              <a:t>这四个数据集上进行测试。</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9</a:t>
            </a:fld>
            <a:endParaRPr lang="zh-CN" altLang="en-US"/>
          </a:p>
        </p:txBody>
      </p:sp>
    </p:spTree>
    <p:extLst>
      <p:ext uri="{BB962C8B-B14F-4D97-AF65-F5344CB8AC3E}">
        <p14:creationId xmlns:p14="http://schemas.microsoft.com/office/powerpoint/2010/main" val="1430877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一些实验细节</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10</a:t>
            </a:fld>
            <a:endParaRPr lang="zh-CN" altLang="en-US"/>
          </a:p>
        </p:txBody>
      </p:sp>
    </p:spTree>
    <p:extLst>
      <p:ext uri="{BB962C8B-B14F-4D97-AF65-F5344CB8AC3E}">
        <p14:creationId xmlns:p14="http://schemas.microsoft.com/office/powerpoint/2010/main" val="2553248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DF31A-16CE-DA13-C13B-FE04747FB8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C909AD-381A-466F-F58E-232540FC2F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437EAF-1A19-7B60-A0A7-A6221C04E799}"/>
              </a:ext>
            </a:extLst>
          </p:cNvPr>
          <p:cNvSpPr>
            <a:spLocks noGrp="1"/>
          </p:cNvSpPr>
          <p:nvPr>
            <p:ph type="body" idx="1"/>
          </p:nvPr>
        </p:nvSpPr>
        <p:spPr/>
        <p:txBody>
          <a:bodyPr/>
          <a:lstStyle/>
          <a:p>
            <a:r>
              <a:rPr lang="zh-CN" altLang="en-US" dirty="0"/>
              <a:t>一些实验细节</a:t>
            </a:r>
          </a:p>
        </p:txBody>
      </p:sp>
      <p:sp>
        <p:nvSpPr>
          <p:cNvPr id="4" name="灯片编号占位符 3">
            <a:extLst>
              <a:ext uri="{FF2B5EF4-FFF2-40B4-BE49-F238E27FC236}">
                <a16:creationId xmlns:a16="http://schemas.microsoft.com/office/drawing/2014/main" id="{0FFA806F-E9D0-ACFC-981C-89FE95DEC10D}"/>
              </a:ext>
            </a:extLst>
          </p:cNvPr>
          <p:cNvSpPr>
            <a:spLocks noGrp="1"/>
          </p:cNvSpPr>
          <p:nvPr>
            <p:ph type="sldNum" sz="quarter" idx="5"/>
          </p:nvPr>
        </p:nvSpPr>
        <p:spPr/>
        <p:txBody>
          <a:bodyPr/>
          <a:lstStyle/>
          <a:p>
            <a:fld id="{722ABA14-E4A8-40DA-B7B0-41950E132D30}" type="slidenum">
              <a:rPr lang="zh-CN" altLang="en-US" smtClean="0"/>
              <a:t>11</a:t>
            </a:fld>
            <a:endParaRPr lang="zh-CN" altLang="en-US"/>
          </a:p>
        </p:txBody>
      </p:sp>
    </p:spTree>
    <p:extLst>
      <p:ext uri="{BB962C8B-B14F-4D97-AF65-F5344CB8AC3E}">
        <p14:creationId xmlns:p14="http://schemas.microsoft.com/office/powerpoint/2010/main" val="1844663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AC8B4-68C2-5DB6-C869-957A54DAF7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C3368F-5D62-1606-279F-E192991A78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5785C6-AB3F-C01A-6E36-C7712A731104}"/>
              </a:ext>
            </a:extLst>
          </p:cNvPr>
          <p:cNvSpPr>
            <a:spLocks noGrp="1"/>
          </p:cNvSpPr>
          <p:nvPr>
            <p:ph type="body" idx="1"/>
          </p:nvPr>
        </p:nvSpPr>
        <p:spPr/>
        <p:txBody>
          <a:bodyPr/>
          <a:lstStyle/>
          <a:p>
            <a:r>
              <a:rPr lang="zh-CN" altLang="en-US" dirty="0"/>
              <a:t>一些实验细节</a:t>
            </a:r>
          </a:p>
        </p:txBody>
      </p:sp>
      <p:sp>
        <p:nvSpPr>
          <p:cNvPr id="4" name="灯片编号占位符 3">
            <a:extLst>
              <a:ext uri="{FF2B5EF4-FFF2-40B4-BE49-F238E27FC236}">
                <a16:creationId xmlns:a16="http://schemas.microsoft.com/office/drawing/2014/main" id="{67F5A611-9642-69F7-A2A9-CA9DA668927D}"/>
              </a:ext>
            </a:extLst>
          </p:cNvPr>
          <p:cNvSpPr>
            <a:spLocks noGrp="1"/>
          </p:cNvSpPr>
          <p:nvPr>
            <p:ph type="sldNum" sz="quarter" idx="5"/>
          </p:nvPr>
        </p:nvSpPr>
        <p:spPr/>
        <p:txBody>
          <a:bodyPr/>
          <a:lstStyle/>
          <a:p>
            <a:fld id="{722ABA14-E4A8-40DA-B7B0-41950E132D30}" type="slidenum">
              <a:rPr lang="zh-CN" altLang="en-US" smtClean="0"/>
              <a:t>12</a:t>
            </a:fld>
            <a:endParaRPr lang="zh-CN" altLang="en-US"/>
          </a:p>
        </p:txBody>
      </p:sp>
    </p:spTree>
    <p:extLst>
      <p:ext uri="{BB962C8B-B14F-4D97-AF65-F5344CB8AC3E}">
        <p14:creationId xmlns:p14="http://schemas.microsoft.com/office/powerpoint/2010/main" val="491289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这项工作可能是在盲</a:t>
            </a:r>
            <a:r>
              <a:rPr lang="en-US" altLang="zh-CN" dirty="0"/>
              <a:t>IQA</a:t>
            </a:r>
            <a:r>
              <a:rPr lang="zh-CN" altLang="en-US" dirty="0"/>
              <a:t>背景下设计</a:t>
            </a:r>
            <a:r>
              <a:rPr lang="en-US" altLang="zh-CN" dirty="0"/>
              <a:t>TTA</a:t>
            </a:r>
            <a:r>
              <a:rPr lang="zh-CN" altLang="en-US" dirty="0"/>
              <a:t>方法的第一次尝试之一。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本文提出了一种新的自监督辅助任务，利用秩和群对比损失从测试数据中学习质量感知信息。</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由于在测试时的自适应，所提出的</a:t>
            </a:r>
            <a:r>
              <a:rPr lang="en-US" altLang="zh-CN" dirty="0"/>
              <a:t>TTA-IQA</a:t>
            </a:r>
            <a:r>
              <a:rPr lang="zh-CN" altLang="en-US" dirty="0"/>
              <a:t>方法优于现有的先进方法。</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13</a:t>
            </a:fld>
            <a:endParaRPr lang="zh-CN" altLang="en-US"/>
          </a:p>
        </p:txBody>
      </p:sp>
    </p:spTree>
    <p:extLst>
      <p:ext uri="{BB962C8B-B14F-4D97-AF65-F5344CB8AC3E}">
        <p14:creationId xmlns:p14="http://schemas.microsoft.com/office/powerpoint/2010/main" val="83270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摘要写的一般，太冗余了</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20</a:t>
            </a:fld>
            <a:endParaRPr lang="zh-CN" altLang="en-US"/>
          </a:p>
        </p:txBody>
      </p:sp>
    </p:spTree>
    <p:extLst>
      <p:ext uri="{BB962C8B-B14F-4D97-AF65-F5344CB8AC3E}">
        <p14:creationId xmlns:p14="http://schemas.microsoft.com/office/powerpoint/2010/main" val="2124859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21</a:t>
            </a:fld>
            <a:endParaRPr lang="zh-CN" altLang="en-US"/>
          </a:p>
        </p:txBody>
      </p:sp>
    </p:spTree>
    <p:extLst>
      <p:ext uri="{BB962C8B-B14F-4D97-AF65-F5344CB8AC3E}">
        <p14:creationId xmlns:p14="http://schemas.microsoft.com/office/powerpoint/2010/main" val="271494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22</a:t>
            </a:fld>
            <a:endParaRPr lang="zh-CN" altLang="en-US"/>
          </a:p>
        </p:txBody>
      </p:sp>
    </p:spTree>
    <p:extLst>
      <p:ext uri="{BB962C8B-B14F-4D97-AF65-F5344CB8AC3E}">
        <p14:creationId xmlns:p14="http://schemas.microsoft.com/office/powerpoint/2010/main" val="1164726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23</a:t>
            </a:fld>
            <a:endParaRPr lang="zh-CN" altLang="en-US"/>
          </a:p>
        </p:txBody>
      </p:sp>
    </p:spTree>
    <p:extLst>
      <p:ext uri="{BB962C8B-B14F-4D97-AF65-F5344CB8AC3E}">
        <p14:creationId xmlns:p14="http://schemas.microsoft.com/office/powerpoint/2010/main" val="1811099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24</a:t>
            </a:fld>
            <a:endParaRPr lang="zh-CN" altLang="en-US"/>
          </a:p>
        </p:txBody>
      </p:sp>
    </p:spTree>
    <p:extLst>
      <p:ext uri="{BB962C8B-B14F-4D97-AF65-F5344CB8AC3E}">
        <p14:creationId xmlns:p14="http://schemas.microsoft.com/office/powerpoint/2010/main" val="2255243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25</a:t>
            </a:fld>
            <a:endParaRPr lang="zh-CN" altLang="en-US"/>
          </a:p>
        </p:txBody>
      </p:sp>
    </p:spTree>
    <p:extLst>
      <p:ext uri="{BB962C8B-B14F-4D97-AF65-F5344CB8AC3E}">
        <p14:creationId xmlns:p14="http://schemas.microsoft.com/office/powerpoint/2010/main" val="562149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26</a:t>
            </a:fld>
            <a:endParaRPr lang="zh-CN" altLang="en-US"/>
          </a:p>
        </p:txBody>
      </p:sp>
    </p:spTree>
    <p:extLst>
      <p:ext uri="{BB962C8B-B14F-4D97-AF65-F5344CB8AC3E}">
        <p14:creationId xmlns:p14="http://schemas.microsoft.com/office/powerpoint/2010/main" val="3897266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5F9A1-0690-9F52-6E4C-02EFC73D1A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00E950-5A63-2FAB-48F2-38D46116B7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D1AE32F-0EE9-E009-F342-F46AD2262E0A}"/>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E5D8DD50-5F26-B5FF-0407-7D48124D9F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6B665D-BF8F-3B19-62F0-5BFB6C03AE2D}"/>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77644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39521-E985-90EB-6AC6-421E9A5722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3467D3-69D1-211B-A2D9-AD12996CB01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F63A57-3F04-B0C9-5CF7-6A86E2B92327}"/>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9D32FE96-40B1-0A67-9E38-7CC8A1EC1D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7539EF-D233-D0D1-2288-2799B4FE0B0A}"/>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15695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450E5-FF71-A70A-5238-86C325E01C2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569328F-FB28-F827-982D-3273D4485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B5B6E0-2903-3825-61F6-8A4CFA8D56F4}"/>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DEBC5BC9-2950-3D31-90F0-71A5350DCB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745345-616F-1CDE-C300-85763894061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3394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6C70F-DD6A-EC3D-0EB2-330B2D987C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5EB655-23DB-370C-262B-A28D2A1626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3426C1-4B1A-F8FF-1D4C-FEEA6A70C3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E298D47-7833-8E76-5DA4-AC43E445F936}"/>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6" name="页脚占位符 5">
            <a:extLst>
              <a:ext uri="{FF2B5EF4-FFF2-40B4-BE49-F238E27FC236}">
                <a16:creationId xmlns:a16="http://schemas.microsoft.com/office/drawing/2014/main" id="{147E6CA1-46EB-CEAC-2925-F5F6110003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0855ED-767F-A0C5-287E-4B6A91261F8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885803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99C2B-A92B-6567-D905-08A6375B80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DFE2485-1C8F-8BB6-D0BB-169E987BCF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300396-13FA-F275-B374-0A3F884FBAB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BE2F9F3-CF47-62A8-195B-2CEFED4855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5475F61-D3EF-9603-AAA5-CAC812555BB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EFDEA3A-BA09-86B4-A55C-60A4BBB298F9}"/>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8" name="页脚占位符 7">
            <a:extLst>
              <a:ext uri="{FF2B5EF4-FFF2-40B4-BE49-F238E27FC236}">
                <a16:creationId xmlns:a16="http://schemas.microsoft.com/office/drawing/2014/main" id="{A277037E-EC93-518C-638E-58B82546EE9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87DFB6F-7FF7-9A0E-3D66-78B5E0BC353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61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45031-D372-105D-5296-FE5DAC7C3CC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5256C2-5FCE-3106-8FE2-7B30BA723155}"/>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4" name="页脚占位符 3">
            <a:extLst>
              <a:ext uri="{FF2B5EF4-FFF2-40B4-BE49-F238E27FC236}">
                <a16:creationId xmlns:a16="http://schemas.microsoft.com/office/drawing/2014/main" id="{FF1AF100-952E-1B3C-6496-3D8AA076BC7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E6ACC92-F59F-7B22-4047-DABBD190560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46739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641B9AF-2066-98C2-2F70-1828257E257F}"/>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3" name="页脚占位符 2">
            <a:extLst>
              <a:ext uri="{FF2B5EF4-FFF2-40B4-BE49-F238E27FC236}">
                <a16:creationId xmlns:a16="http://schemas.microsoft.com/office/drawing/2014/main" id="{C4B06837-4BFC-62F5-46ED-8AE659E6745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23A3226-376E-3EF4-3082-F92D5202AEB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14158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35523-4003-48DF-C8D9-664D03517D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063AA1E-88E9-A968-D904-740D3E805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0CA983-4A52-C228-59EA-8381B768B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3D07EE0-6861-DBFC-C132-708F05F7AC2C}"/>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6" name="页脚占位符 5">
            <a:extLst>
              <a:ext uri="{FF2B5EF4-FFF2-40B4-BE49-F238E27FC236}">
                <a16:creationId xmlns:a16="http://schemas.microsoft.com/office/drawing/2014/main" id="{459A823A-A172-1203-6E7D-F5994CE979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920480-9F11-3BDC-7758-55B0500A577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72368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D525F-D728-7D12-3911-F94130CF2CE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71D9CB-8823-0234-20E3-E9C4B6F62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06B7F5-A0FC-B2A3-CF48-E82298D3E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4F1D10-2DFF-66CE-0AC9-8A5C906FAC39}"/>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6" name="页脚占位符 5">
            <a:extLst>
              <a:ext uri="{FF2B5EF4-FFF2-40B4-BE49-F238E27FC236}">
                <a16:creationId xmlns:a16="http://schemas.microsoft.com/office/drawing/2014/main" id="{B9610AE5-311D-A583-89D8-C711CFAF6B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3A88F2-F65D-49D9-A8C3-578D65DC3102}"/>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7464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402DEA-5CB3-A9CB-4237-BA007D7DC8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917644-2125-CA43-B082-F6A56995C1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EA9C6D-34A8-B2BC-C079-BCFE9EA9BB62}"/>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F7A6AD81-4502-EAF8-AF62-2F922FD2E8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4CD785-5CD2-D550-EA31-8C3A71D24253}"/>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07662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664AE5-2175-3FCD-3056-9840D2F583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A3F94F-EB43-73DD-83B2-4950D750E56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3F7B0-30B5-CDF6-83E8-365F977E7BAF}"/>
              </a:ext>
            </a:extLst>
          </p:cNvPr>
          <p:cNvSpPr>
            <a:spLocks noGrp="1"/>
          </p:cNvSpPr>
          <p:nvPr>
            <p:ph type="dt" sz="half" idx="10"/>
          </p:nvPr>
        </p:nvSpPr>
        <p:spPr/>
        <p:txBody>
          <a:body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949C15C7-2396-BDC1-3662-8033F0AF67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7C4850-ECEF-DD93-F734-A7E5B5EE0CE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59765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6E6E89-0CB6-0A78-6FFB-06EA6B706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767239-88CA-CE88-E876-BE1F67173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C8342E-89C8-2246-3EE2-106BE7B28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2220C5-105D-484E-AF45-85C930F5AD70}" type="datetimeFigureOut">
              <a:rPr lang="zh-CN" altLang="en-US" smtClean="0"/>
              <a:t>2024/2/25</a:t>
            </a:fld>
            <a:endParaRPr lang="zh-CN" altLang="en-US"/>
          </a:p>
        </p:txBody>
      </p:sp>
      <p:sp>
        <p:nvSpPr>
          <p:cNvPr id="5" name="页脚占位符 4">
            <a:extLst>
              <a:ext uri="{FF2B5EF4-FFF2-40B4-BE49-F238E27FC236}">
                <a16:creationId xmlns:a16="http://schemas.microsoft.com/office/drawing/2014/main" id="{789532D6-F4AC-186B-C970-B6B14896D5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A418EE2-863F-CAEC-1A91-A31F3BC3C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05257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B1D2D-383D-3281-1EBE-DC83F41FF097}"/>
              </a:ext>
            </a:extLst>
          </p:cNvPr>
          <p:cNvSpPr>
            <a:spLocks noGrp="1"/>
          </p:cNvSpPr>
          <p:nvPr>
            <p:ph type="ctrTitle"/>
          </p:nvPr>
        </p:nvSpPr>
        <p:spPr/>
        <p:txBody>
          <a:bodyPr>
            <a:normAutofit/>
          </a:bodyPr>
          <a:lstStyle/>
          <a:p>
            <a:r>
              <a:rPr lang="en-US" altLang="zh-CN" sz="4000" dirty="0">
                <a:latin typeface="NimbusRomNo9L-Medi"/>
              </a:rPr>
              <a:t>Re-IQA: Unsupervised Learning for Image Quality Assessment in the Wild</a:t>
            </a:r>
            <a:endParaRPr lang="zh-CN" altLang="en-US" sz="4000" dirty="0">
              <a:latin typeface="NimbusRomNo9L-Medi"/>
            </a:endParaRPr>
          </a:p>
        </p:txBody>
      </p:sp>
      <p:sp>
        <p:nvSpPr>
          <p:cNvPr id="3" name="副标题 2">
            <a:extLst>
              <a:ext uri="{FF2B5EF4-FFF2-40B4-BE49-F238E27FC236}">
                <a16:creationId xmlns:a16="http://schemas.microsoft.com/office/drawing/2014/main" id="{5ADDB75D-E056-4403-19F8-E3A5818C397C}"/>
              </a:ext>
            </a:extLst>
          </p:cNvPr>
          <p:cNvSpPr>
            <a:spLocks noGrp="1"/>
          </p:cNvSpPr>
          <p:nvPr>
            <p:ph type="subTitle" idx="1"/>
          </p:nvPr>
        </p:nvSpPr>
        <p:spPr/>
        <p:txBody>
          <a:bodyPr/>
          <a:lstStyle/>
          <a:p>
            <a:r>
              <a:rPr lang="en-US" altLang="zh-CN" dirty="0"/>
              <a:t>CVPR 2023</a:t>
            </a:r>
            <a:endParaRPr lang="zh-CN" altLang="en-US" dirty="0"/>
          </a:p>
        </p:txBody>
      </p:sp>
      <p:pic>
        <p:nvPicPr>
          <p:cNvPr id="6" name="图片 5">
            <a:extLst>
              <a:ext uri="{FF2B5EF4-FFF2-40B4-BE49-F238E27FC236}">
                <a16:creationId xmlns:a16="http://schemas.microsoft.com/office/drawing/2014/main" id="{7C3EB637-8A36-507F-ECB7-A5205D333F9F}"/>
              </a:ext>
            </a:extLst>
          </p:cNvPr>
          <p:cNvPicPr>
            <a:picLocks noChangeAspect="1"/>
          </p:cNvPicPr>
          <p:nvPr/>
        </p:nvPicPr>
        <p:blipFill>
          <a:blip r:embed="rId3"/>
          <a:stretch>
            <a:fillRect/>
          </a:stretch>
        </p:blipFill>
        <p:spPr>
          <a:xfrm>
            <a:off x="1961508" y="4696101"/>
            <a:ext cx="8507858" cy="763526"/>
          </a:xfrm>
          <a:prstGeom prst="rect">
            <a:avLst/>
          </a:prstGeom>
        </p:spPr>
      </p:pic>
    </p:spTree>
    <p:extLst>
      <p:ext uri="{BB962C8B-B14F-4D97-AF65-F5344CB8AC3E}">
        <p14:creationId xmlns:p14="http://schemas.microsoft.com/office/powerpoint/2010/main" val="28427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p:txBody>
          <a:bodyPr/>
          <a:lstStyle/>
          <a:p>
            <a:r>
              <a:rPr lang="en-US" altLang="zh-CN" dirty="0">
                <a:latin typeface="NimbusRomNo9L-Medi"/>
              </a:rPr>
              <a:t>Backgrounds</a:t>
            </a:r>
            <a:endParaRPr lang="zh-CN" altLang="en-US" dirty="0">
              <a:latin typeface="NimbusRomNo9L-Medi"/>
            </a:endParaRPr>
          </a:p>
        </p:txBody>
      </p:sp>
      <p:sp>
        <p:nvSpPr>
          <p:cNvPr id="3" name="内容占位符 2">
            <a:extLst>
              <a:ext uri="{FF2B5EF4-FFF2-40B4-BE49-F238E27FC236}">
                <a16:creationId xmlns:a16="http://schemas.microsoft.com/office/drawing/2014/main" id="{71703656-55F9-DCA1-65A6-617764350051}"/>
              </a:ext>
            </a:extLst>
          </p:cNvPr>
          <p:cNvSpPr>
            <a:spLocks noGrp="1"/>
          </p:cNvSpPr>
          <p:nvPr>
            <p:ph idx="1"/>
          </p:nvPr>
        </p:nvSpPr>
        <p:spPr>
          <a:xfrm>
            <a:off x="838200" y="1180827"/>
            <a:ext cx="11049001" cy="3203575"/>
          </a:xfrm>
        </p:spPr>
        <p:txBody>
          <a:bodyPr>
            <a:noAutofit/>
          </a:bodyPr>
          <a:lstStyle/>
          <a:p>
            <a:pPr marL="0" indent="0" algn="l">
              <a:buNone/>
            </a:pPr>
            <a:endParaRPr lang="en-US" altLang="zh-CN" sz="2400" dirty="0">
              <a:latin typeface="NimbusRomNo9L-ReguItal"/>
            </a:endParaRPr>
          </a:p>
          <a:p>
            <a:pPr marL="0" indent="0" algn="l">
              <a:buNone/>
            </a:pPr>
            <a:endParaRPr lang="en-US" altLang="zh-CN" sz="2400" dirty="0">
              <a:latin typeface="NimbusRomNo9L-ReguItal"/>
            </a:endParaRPr>
          </a:p>
          <a:p>
            <a:pPr algn="just"/>
            <a:r>
              <a:rPr lang="en-US" altLang="zh-CN" sz="2400" dirty="0">
                <a:latin typeface="NimbusRomNo9L-ReguItal"/>
              </a:rPr>
              <a:t>There is no unsupervised learning method for BIQA in the wild;</a:t>
            </a:r>
          </a:p>
          <a:p>
            <a:pPr marL="0" indent="0" algn="l">
              <a:buNone/>
            </a:pPr>
            <a:endParaRPr lang="en-US" altLang="zh-CN" sz="2400" dirty="0">
              <a:latin typeface="NimbusRomNo9L-ReguItal"/>
            </a:endParaRPr>
          </a:p>
          <a:p>
            <a:pPr marL="0" indent="0" algn="l">
              <a:buNone/>
            </a:pPr>
            <a:endParaRPr lang="en-US" altLang="zh-CN" sz="2400" dirty="0">
              <a:latin typeface="NimbusRomNo9L-ReguItal"/>
            </a:endParaRPr>
          </a:p>
          <a:p>
            <a:pPr algn="l"/>
            <a:r>
              <a:rPr lang="fr-FR" altLang="zh-CN" sz="2400" dirty="0">
                <a:latin typeface="NimbusRomNo9L-ReguItal"/>
              </a:rPr>
              <a:t>Image content affects quality perception (As shown in Figure 2);</a:t>
            </a:r>
            <a:endParaRPr lang="en-US" altLang="zh-CN" sz="2400" dirty="0">
              <a:latin typeface="NimbusRomNo9L-ReguItal"/>
            </a:endParaRPr>
          </a:p>
          <a:p>
            <a:pPr marL="0" indent="0" algn="l">
              <a:buNone/>
            </a:pPr>
            <a:endParaRPr lang="en-US" altLang="zh-CN" sz="2400" dirty="0">
              <a:latin typeface="NimbusRomNo9L-ReguItal"/>
            </a:endParaRPr>
          </a:p>
          <a:p>
            <a:pPr marL="0" indent="0" algn="l">
              <a:buNone/>
            </a:pPr>
            <a:endParaRPr lang="en-US" altLang="zh-CN" sz="2400" dirty="0">
              <a:latin typeface="NimbusRomNo9L-ReguItal"/>
            </a:endParaRPr>
          </a:p>
          <a:p>
            <a:pPr algn="l"/>
            <a:r>
              <a:rPr lang="en-US" altLang="zh-CN" sz="2400" dirty="0">
                <a:latin typeface="NimbusRomNo9L-ReguItal"/>
              </a:rPr>
              <a:t>Main contribution:</a:t>
            </a:r>
          </a:p>
          <a:p>
            <a:pPr marL="0" indent="0" algn="l">
              <a:buNone/>
            </a:pPr>
            <a:r>
              <a:rPr lang="en-US" altLang="zh-CN" sz="2400" dirty="0">
                <a:latin typeface="NimbusRomNo9L-ReguItal"/>
              </a:rPr>
              <a:t>   Learn low level quality-aware image representations that are complementary to high   </a:t>
            </a:r>
          </a:p>
          <a:p>
            <a:pPr marL="0" indent="0" algn="l">
              <a:buNone/>
            </a:pPr>
            <a:r>
              <a:rPr lang="en-US" altLang="zh-CN" sz="2400" dirty="0">
                <a:latin typeface="NimbusRomNo9L-ReguItal"/>
              </a:rPr>
              <a:t>   level features representative of image content.</a:t>
            </a:r>
            <a:endParaRPr lang="zh-CN" altLang="en-US" sz="2400" dirty="0">
              <a:latin typeface="NimbusRomNo9L-ReguItal"/>
            </a:endParaRPr>
          </a:p>
        </p:txBody>
      </p:sp>
    </p:spTree>
    <p:extLst>
      <p:ext uri="{BB962C8B-B14F-4D97-AF65-F5344CB8AC3E}">
        <p14:creationId xmlns:p14="http://schemas.microsoft.com/office/powerpoint/2010/main" val="3114418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D606-D9A8-FE9F-C11F-225A5DC0E6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A6E5C6-9695-2D83-08CD-6542AFBECF2A}"/>
              </a:ext>
            </a:extLst>
          </p:cNvPr>
          <p:cNvSpPr>
            <a:spLocks noGrp="1"/>
          </p:cNvSpPr>
          <p:nvPr>
            <p:ph type="title"/>
          </p:nvPr>
        </p:nvSpPr>
        <p:spPr/>
        <p:txBody>
          <a:bodyPr/>
          <a:lstStyle/>
          <a:p>
            <a:r>
              <a:rPr lang="en-US" altLang="zh-CN" dirty="0">
                <a:latin typeface="NimbusRomNo9L-Medi"/>
              </a:rPr>
              <a:t>Backgrounds</a:t>
            </a:r>
            <a:endParaRPr lang="zh-CN" altLang="en-US" dirty="0">
              <a:latin typeface="NimbusRomNo9L-Medi"/>
            </a:endParaRPr>
          </a:p>
        </p:txBody>
      </p:sp>
      <p:sp>
        <p:nvSpPr>
          <p:cNvPr id="3" name="内容占位符 2">
            <a:extLst>
              <a:ext uri="{FF2B5EF4-FFF2-40B4-BE49-F238E27FC236}">
                <a16:creationId xmlns:a16="http://schemas.microsoft.com/office/drawing/2014/main" id="{A3E2592B-8B16-FCD6-5FD2-4D154647918E}"/>
              </a:ext>
            </a:extLst>
          </p:cNvPr>
          <p:cNvSpPr>
            <a:spLocks noGrp="1"/>
          </p:cNvSpPr>
          <p:nvPr>
            <p:ph idx="1"/>
          </p:nvPr>
        </p:nvSpPr>
        <p:spPr>
          <a:xfrm>
            <a:off x="838200" y="1180827"/>
            <a:ext cx="11049001" cy="3203575"/>
          </a:xfrm>
        </p:spPr>
        <p:txBody>
          <a:bodyPr>
            <a:noAutofit/>
          </a:bodyPr>
          <a:lstStyle/>
          <a:p>
            <a:pPr marL="0" indent="0" algn="l">
              <a:buNone/>
            </a:pPr>
            <a:endParaRPr lang="en-US" altLang="zh-CN" sz="2400" dirty="0">
              <a:latin typeface="NimbusRomNo9L-ReguItal"/>
            </a:endParaRPr>
          </a:p>
          <a:p>
            <a:pPr algn="just"/>
            <a:r>
              <a:rPr lang="en-US" altLang="zh-CN" sz="2400" dirty="0">
                <a:latin typeface="NimbusRomNo9L-ReguItal"/>
              </a:rPr>
              <a:t>Picture distortion perception is content dependent, and is heavily affected by content related perceptual processes like masking.</a:t>
            </a:r>
          </a:p>
          <a:p>
            <a:pPr algn="just"/>
            <a:r>
              <a:rPr lang="en-US" altLang="zh-CN" sz="2400" dirty="0">
                <a:latin typeface="NimbusRomNo9L-ReguItal"/>
              </a:rPr>
              <a:t>Perceived quality does not correlate well with image metadata like resolution, file size, color profile, or compression ratio.</a:t>
            </a:r>
          </a:p>
          <a:p>
            <a:pPr marL="0" indent="0" algn="l">
              <a:buNone/>
            </a:pPr>
            <a:endParaRPr lang="en-US" altLang="zh-CN" sz="2400" dirty="0">
              <a:latin typeface="NimbusRomNo9L-ReguItal"/>
            </a:endParaRPr>
          </a:p>
        </p:txBody>
      </p:sp>
      <p:pic>
        <p:nvPicPr>
          <p:cNvPr id="5" name="图片 4">
            <a:extLst>
              <a:ext uri="{FF2B5EF4-FFF2-40B4-BE49-F238E27FC236}">
                <a16:creationId xmlns:a16="http://schemas.microsoft.com/office/drawing/2014/main" id="{2049DAE4-76AF-15E6-F58D-0B70638398EA}"/>
              </a:ext>
            </a:extLst>
          </p:cNvPr>
          <p:cNvPicPr>
            <a:picLocks noChangeAspect="1"/>
          </p:cNvPicPr>
          <p:nvPr/>
        </p:nvPicPr>
        <p:blipFill>
          <a:blip r:embed="rId3"/>
          <a:stretch>
            <a:fillRect/>
          </a:stretch>
        </p:blipFill>
        <p:spPr>
          <a:xfrm>
            <a:off x="559676" y="3429000"/>
            <a:ext cx="11264462" cy="3399382"/>
          </a:xfrm>
          <a:prstGeom prst="rect">
            <a:avLst/>
          </a:prstGeom>
        </p:spPr>
      </p:pic>
    </p:spTree>
    <p:extLst>
      <p:ext uri="{BB962C8B-B14F-4D97-AF65-F5344CB8AC3E}">
        <p14:creationId xmlns:p14="http://schemas.microsoft.com/office/powerpoint/2010/main" val="273116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Three Processing Phases in Re-IQA</a:t>
            </a:r>
            <a:endParaRPr lang="zh-CN" altLang="en-US" dirty="0">
              <a:latin typeface="NimbusRomNo9L-Medi"/>
            </a:endParaRPr>
          </a:p>
        </p:txBody>
      </p:sp>
      <p:sp>
        <p:nvSpPr>
          <p:cNvPr id="15" name="文本框 14">
            <a:extLst>
              <a:ext uri="{FF2B5EF4-FFF2-40B4-BE49-F238E27FC236}">
                <a16:creationId xmlns:a16="http://schemas.microsoft.com/office/drawing/2014/main" id="{80A8D0E3-70B0-EEC2-F4C6-270857E310BF}"/>
              </a:ext>
            </a:extLst>
          </p:cNvPr>
          <p:cNvSpPr txBox="1"/>
          <p:nvPr/>
        </p:nvSpPr>
        <p:spPr>
          <a:xfrm>
            <a:off x="355600" y="1290109"/>
            <a:ext cx="3916856" cy="5078313"/>
          </a:xfrm>
          <a:prstGeom prst="rect">
            <a:avLst/>
          </a:prstGeom>
          <a:noFill/>
        </p:spPr>
        <p:txBody>
          <a:bodyPr wrap="square" rtlCol="0">
            <a:spAutoFit/>
          </a:bodyPr>
          <a:lstStyle/>
          <a:p>
            <a:pPr algn="just"/>
            <a:r>
              <a:rPr lang="en-US" altLang="zh-CN" b="1" dirty="0"/>
              <a:t>Phase 1 :  </a:t>
            </a:r>
            <a:endParaRPr lang="en-US" altLang="zh-CN" sz="1800" b="0" i="0" u="none" strike="noStrike" baseline="0" dirty="0">
              <a:latin typeface="NimbusRomNo9L-Regu"/>
            </a:endParaRPr>
          </a:p>
          <a:p>
            <a:pPr algn="just"/>
            <a:r>
              <a:rPr lang="en-US" altLang="zh-CN" sz="1800" b="0" i="0" u="none" strike="noStrike" baseline="0" dirty="0">
                <a:latin typeface="NimbusRomNo9L-Regu"/>
              </a:rPr>
              <a:t>Training a ResNet50 encoder using contrastive learning of high-level image information</a:t>
            </a:r>
            <a:endParaRPr lang="en-US" altLang="zh-CN" b="1" dirty="0"/>
          </a:p>
          <a:p>
            <a:pPr algn="just"/>
            <a:endParaRPr lang="en-US" altLang="zh-CN" b="1" dirty="0"/>
          </a:p>
          <a:p>
            <a:pPr algn="just"/>
            <a:r>
              <a:rPr lang="en-US" altLang="zh-CN" b="1" dirty="0"/>
              <a:t>Phase 2 :  </a:t>
            </a:r>
            <a:endParaRPr lang="en-US" altLang="zh-CN" sz="1800" b="0" i="0" u="none" strike="noStrike" baseline="0" dirty="0">
              <a:latin typeface="NimbusRomNo9L-Regu"/>
            </a:endParaRPr>
          </a:p>
          <a:p>
            <a:pPr algn="just"/>
            <a:r>
              <a:rPr lang="en-US" altLang="zh-CN" dirty="0">
                <a:latin typeface="NimbusRomNo9L-Regu"/>
              </a:rPr>
              <a:t>Training a ResNet50 encoder using contrastive learning of low-level image information</a:t>
            </a:r>
          </a:p>
          <a:p>
            <a:pPr algn="just"/>
            <a:endParaRPr lang="en-US" altLang="zh-CN" dirty="0">
              <a:latin typeface="NimbusRomNo9L-Regu"/>
            </a:endParaRPr>
          </a:p>
          <a:p>
            <a:pPr algn="just"/>
            <a:endParaRPr lang="en-US" altLang="zh-CN" dirty="0">
              <a:latin typeface="NimbusRomNo9L-Regu"/>
            </a:endParaRPr>
          </a:p>
          <a:p>
            <a:pPr algn="just"/>
            <a:r>
              <a:rPr lang="en-US" altLang="zh-CN" b="1" dirty="0"/>
              <a:t>Phase 3 :  </a:t>
            </a:r>
            <a:endParaRPr lang="en-US" altLang="zh-CN" sz="1800" b="0" i="0" u="none" strike="noStrike" baseline="0" dirty="0">
              <a:latin typeface="NimbusRomNo9L-Regu"/>
            </a:endParaRPr>
          </a:p>
          <a:p>
            <a:pPr algn="just"/>
            <a:r>
              <a:rPr lang="en-US" altLang="zh-CN" dirty="0">
                <a:latin typeface="NimbusRomNo9L-Regu"/>
              </a:rPr>
              <a:t>Use the pre-trained encoders with frozen weights as image representation generation backbones, which supply features to a low-complexity regression model that is trained to conduct image quality prediction</a:t>
            </a:r>
            <a:endParaRPr lang="zh-CN" altLang="en-US" dirty="0">
              <a:latin typeface="NimbusRomNo9L-Regu"/>
            </a:endParaRPr>
          </a:p>
        </p:txBody>
      </p:sp>
      <p:cxnSp>
        <p:nvCxnSpPr>
          <p:cNvPr id="25" name="直接箭头连接符 24">
            <a:extLst>
              <a:ext uri="{FF2B5EF4-FFF2-40B4-BE49-F238E27FC236}">
                <a16:creationId xmlns:a16="http://schemas.microsoft.com/office/drawing/2014/main" id="{CC8F15CB-F940-9379-C1E6-33B785F40850}"/>
              </a:ext>
            </a:extLst>
          </p:cNvPr>
          <p:cNvCxnSpPr/>
          <p:nvPr/>
        </p:nvCxnSpPr>
        <p:spPr>
          <a:xfrm flipV="1">
            <a:off x="6849533" y="2431677"/>
            <a:ext cx="1397000" cy="569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8979070-B3EA-1EAE-6EDD-514830280F16}"/>
              </a:ext>
            </a:extLst>
          </p:cNvPr>
          <p:cNvPicPr>
            <a:picLocks noChangeAspect="1"/>
          </p:cNvPicPr>
          <p:nvPr/>
        </p:nvPicPr>
        <p:blipFill>
          <a:blip r:embed="rId3"/>
          <a:stretch>
            <a:fillRect/>
          </a:stretch>
        </p:blipFill>
        <p:spPr>
          <a:xfrm>
            <a:off x="4441623" y="1174531"/>
            <a:ext cx="7195961" cy="4697881"/>
          </a:xfrm>
          <a:prstGeom prst="rect">
            <a:avLst/>
          </a:prstGeom>
        </p:spPr>
      </p:pic>
    </p:spTree>
    <p:extLst>
      <p:ext uri="{BB962C8B-B14F-4D97-AF65-F5344CB8AC3E}">
        <p14:creationId xmlns:p14="http://schemas.microsoft.com/office/powerpoint/2010/main" val="2467468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Phase 1 : Content Aware</a:t>
            </a:r>
            <a:endParaRPr lang="zh-CN" altLang="en-US" dirty="0">
              <a:latin typeface="NimbusRomNo9L-Medi"/>
            </a:endParaRPr>
          </a:p>
        </p:txBody>
      </p:sp>
      <p:sp>
        <p:nvSpPr>
          <p:cNvPr id="3" name="文本框 2">
            <a:extLst>
              <a:ext uri="{FF2B5EF4-FFF2-40B4-BE49-F238E27FC236}">
                <a16:creationId xmlns:a16="http://schemas.microsoft.com/office/drawing/2014/main" id="{C4A8DD6D-A5B2-BA05-612B-5E48A471E6ED}"/>
              </a:ext>
            </a:extLst>
          </p:cNvPr>
          <p:cNvSpPr txBox="1"/>
          <p:nvPr/>
        </p:nvSpPr>
        <p:spPr>
          <a:xfrm>
            <a:off x="355599" y="1290109"/>
            <a:ext cx="6067671" cy="1692771"/>
          </a:xfrm>
          <a:prstGeom prst="rect">
            <a:avLst/>
          </a:prstGeom>
          <a:noFill/>
        </p:spPr>
        <p:txBody>
          <a:bodyPr wrap="square" rtlCol="0">
            <a:spAutoFit/>
          </a:bodyPr>
          <a:lstStyle/>
          <a:p>
            <a:pPr algn="just"/>
            <a:r>
              <a:rPr lang="en-US" altLang="zh-CN" b="1" dirty="0"/>
              <a:t>Method :  </a:t>
            </a:r>
            <a:endParaRPr lang="en-US" altLang="zh-CN" dirty="0">
              <a:latin typeface="NimbusRomNo9L-Regu"/>
            </a:endParaRPr>
          </a:p>
          <a:p>
            <a:pPr algn="just"/>
            <a:r>
              <a:rPr lang="en-US" altLang="zh-CN" dirty="0">
                <a:latin typeface="NimbusRomNo9L-Regu"/>
              </a:rPr>
              <a:t>Only use the original MoCo-v2 [1] framework to generate content-aware image representations.</a:t>
            </a:r>
          </a:p>
          <a:p>
            <a:pPr algn="just"/>
            <a:endParaRPr lang="en-US" altLang="zh-CN" dirty="0">
              <a:latin typeface="NimbusRomNo9L-Regu"/>
            </a:endParaRPr>
          </a:p>
          <a:p>
            <a:pPr algn="just"/>
            <a:r>
              <a:rPr lang="en-US" altLang="zh-CN" sz="1400" dirty="0">
                <a:latin typeface="NimbusRomNo9L-Regu"/>
              </a:rPr>
              <a:t>[1] </a:t>
            </a:r>
            <a:r>
              <a:rPr lang="en-US" altLang="zh-CN" sz="1400" b="0" i="0" dirty="0">
                <a:solidFill>
                  <a:srgbClr val="222222"/>
                </a:solidFill>
                <a:effectLst/>
                <a:latin typeface="Arial" panose="020B0604020202020204" pitchFamily="34" charset="0"/>
              </a:rPr>
              <a:t>Chen, X., Fan, H., </a:t>
            </a:r>
            <a:r>
              <a:rPr lang="en-US" altLang="zh-CN" sz="1400" b="0" i="0" dirty="0" err="1">
                <a:solidFill>
                  <a:srgbClr val="222222"/>
                </a:solidFill>
                <a:effectLst/>
                <a:latin typeface="Arial" panose="020B0604020202020204" pitchFamily="34" charset="0"/>
              </a:rPr>
              <a:t>Girshick</a:t>
            </a:r>
            <a:r>
              <a:rPr lang="en-US" altLang="zh-CN" sz="1400" b="0" i="0" dirty="0">
                <a:solidFill>
                  <a:srgbClr val="222222"/>
                </a:solidFill>
                <a:effectLst/>
                <a:latin typeface="Arial" panose="020B0604020202020204" pitchFamily="34" charset="0"/>
              </a:rPr>
              <a:t>, R., &amp; He, K. (2020). Improved baselines with momentum contrastive learning. </a:t>
            </a:r>
            <a:r>
              <a:rPr lang="en-US" altLang="zh-CN" sz="1400" b="0" i="0" dirty="0" err="1">
                <a:solidFill>
                  <a:srgbClr val="222222"/>
                </a:solidFill>
                <a:effectLst/>
                <a:latin typeface="Arial" panose="020B0604020202020204" pitchFamily="34" charset="0"/>
              </a:rPr>
              <a:t>arXiv</a:t>
            </a:r>
            <a:r>
              <a:rPr lang="en-US" altLang="zh-CN" sz="1400" b="0" i="0" dirty="0">
                <a:solidFill>
                  <a:srgbClr val="222222"/>
                </a:solidFill>
                <a:effectLst/>
                <a:latin typeface="Arial" panose="020B0604020202020204" pitchFamily="34" charset="0"/>
              </a:rPr>
              <a:t> preprint arXiv:2003.04297.</a:t>
            </a:r>
            <a:endParaRPr lang="en-US" altLang="zh-CN" dirty="0">
              <a:latin typeface="NimbusRomNo9L-Regu"/>
            </a:endParaRPr>
          </a:p>
        </p:txBody>
      </p:sp>
      <p:pic>
        <p:nvPicPr>
          <p:cNvPr id="7" name="图片 6">
            <a:extLst>
              <a:ext uri="{FF2B5EF4-FFF2-40B4-BE49-F238E27FC236}">
                <a16:creationId xmlns:a16="http://schemas.microsoft.com/office/drawing/2014/main" id="{350DF292-927F-C47B-8CE3-6E4DC0349380}"/>
              </a:ext>
            </a:extLst>
          </p:cNvPr>
          <p:cNvPicPr>
            <a:picLocks noChangeAspect="1"/>
          </p:cNvPicPr>
          <p:nvPr/>
        </p:nvPicPr>
        <p:blipFill rotWithShape="1">
          <a:blip r:embed="rId3"/>
          <a:srcRect r="7326"/>
          <a:stretch/>
        </p:blipFill>
        <p:spPr>
          <a:xfrm>
            <a:off x="6926318" y="1290109"/>
            <a:ext cx="5028615" cy="1004345"/>
          </a:xfrm>
          <a:prstGeom prst="rect">
            <a:avLst/>
          </a:prstGeom>
        </p:spPr>
      </p:pic>
      <p:pic>
        <p:nvPicPr>
          <p:cNvPr id="9" name="图片 8">
            <a:extLst>
              <a:ext uri="{FF2B5EF4-FFF2-40B4-BE49-F238E27FC236}">
                <a16:creationId xmlns:a16="http://schemas.microsoft.com/office/drawing/2014/main" id="{4CA02921-F06C-EDFD-AE3D-3923EEB9E39D}"/>
              </a:ext>
            </a:extLst>
          </p:cNvPr>
          <p:cNvPicPr>
            <a:picLocks noChangeAspect="1"/>
          </p:cNvPicPr>
          <p:nvPr/>
        </p:nvPicPr>
        <p:blipFill>
          <a:blip r:embed="rId4"/>
          <a:stretch>
            <a:fillRect/>
          </a:stretch>
        </p:blipFill>
        <p:spPr>
          <a:xfrm>
            <a:off x="8219361" y="2359988"/>
            <a:ext cx="2725136" cy="511368"/>
          </a:xfrm>
          <a:prstGeom prst="rect">
            <a:avLst/>
          </a:prstGeom>
        </p:spPr>
      </p:pic>
      <p:pic>
        <p:nvPicPr>
          <p:cNvPr id="12" name="图片 11">
            <a:extLst>
              <a:ext uri="{FF2B5EF4-FFF2-40B4-BE49-F238E27FC236}">
                <a16:creationId xmlns:a16="http://schemas.microsoft.com/office/drawing/2014/main" id="{874D32A4-ED88-E1A4-680B-3FBD34116831}"/>
              </a:ext>
            </a:extLst>
          </p:cNvPr>
          <p:cNvPicPr>
            <a:picLocks noChangeAspect="1"/>
          </p:cNvPicPr>
          <p:nvPr/>
        </p:nvPicPr>
        <p:blipFill>
          <a:blip r:embed="rId5"/>
          <a:stretch>
            <a:fillRect/>
          </a:stretch>
        </p:blipFill>
        <p:spPr>
          <a:xfrm>
            <a:off x="1246177" y="2982880"/>
            <a:ext cx="9534931" cy="3539610"/>
          </a:xfrm>
          <a:prstGeom prst="rect">
            <a:avLst/>
          </a:prstGeom>
        </p:spPr>
      </p:pic>
    </p:spTree>
    <p:extLst>
      <p:ext uri="{BB962C8B-B14F-4D97-AF65-F5344CB8AC3E}">
        <p14:creationId xmlns:p14="http://schemas.microsoft.com/office/powerpoint/2010/main" val="3303473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7FA27-7716-2DC7-03F7-684C506D04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65DCBE-E39A-E16E-E787-BE833ABBD871}"/>
              </a:ext>
            </a:extLst>
          </p:cNvPr>
          <p:cNvSpPr>
            <a:spLocks noGrp="1"/>
          </p:cNvSpPr>
          <p:nvPr>
            <p:ph type="title"/>
          </p:nvPr>
        </p:nvSpPr>
        <p:spPr>
          <a:xfrm>
            <a:off x="237067" y="68792"/>
            <a:ext cx="10515600" cy="1325563"/>
          </a:xfrm>
        </p:spPr>
        <p:txBody>
          <a:bodyPr/>
          <a:lstStyle/>
          <a:p>
            <a:r>
              <a:rPr lang="en-US" altLang="zh-CN" dirty="0">
                <a:latin typeface="NimbusRomNo9L-Medi"/>
              </a:rPr>
              <a:t>Phase 2 : Quality Aware</a:t>
            </a:r>
            <a:endParaRPr lang="zh-CN" altLang="en-US" dirty="0">
              <a:latin typeface="NimbusRomNo9L-Medi"/>
            </a:endParaRPr>
          </a:p>
        </p:txBody>
      </p:sp>
      <p:sp>
        <p:nvSpPr>
          <p:cNvPr id="3" name="文本框 2">
            <a:extLst>
              <a:ext uri="{FF2B5EF4-FFF2-40B4-BE49-F238E27FC236}">
                <a16:creationId xmlns:a16="http://schemas.microsoft.com/office/drawing/2014/main" id="{74590C9E-0A09-4C19-5DE6-8A4C46D81C31}"/>
              </a:ext>
            </a:extLst>
          </p:cNvPr>
          <p:cNvSpPr txBox="1"/>
          <p:nvPr/>
        </p:nvSpPr>
        <p:spPr>
          <a:xfrm>
            <a:off x="355599" y="1290109"/>
            <a:ext cx="10790622" cy="1477328"/>
          </a:xfrm>
          <a:prstGeom prst="rect">
            <a:avLst/>
          </a:prstGeom>
          <a:noFill/>
        </p:spPr>
        <p:txBody>
          <a:bodyPr wrap="square" rtlCol="0">
            <a:spAutoFit/>
          </a:bodyPr>
          <a:lstStyle/>
          <a:p>
            <a:pPr algn="just"/>
            <a:r>
              <a:rPr lang="en-US" altLang="zh-CN" b="1" dirty="0"/>
              <a:t>Method :  </a:t>
            </a:r>
            <a:endParaRPr lang="en-US" altLang="zh-CN" dirty="0">
              <a:latin typeface="NimbusRomNo9L-Regu"/>
            </a:endParaRPr>
          </a:p>
          <a:p>
            <a:pPr algn="l"/>
            <a:r>
              <a:rPr lang="zh-CN" altLang="en-US" dirty="0">
                <a:latin typeface="NimbusRomNo9L-Regu"/>
              </a:rPr>
              <a:t>① </a:t>
            </a:r>
            <a:r>
              <a:rPr lang="en-US" altLang="zh-CN" dirty="0">
                <a:latin typeface="NimbusRomNo9L-Regu"/>
              </a:rPr>
              <a:t>MoCo-v2 + </a:t>
            </a:r>
            <a:r>
              <a:rPr lang="zh-CN" altLang="en-US" dirty="0">
                <a:latin typeface="NimbusRomNo9L-Regu"/>
              </a:rPr>
              <a:t>②</a:t>
            </a:r>
            <a:r>
              <a:rPr lang="en-US" altLang="zh-CN" dirty="0">
                <a:latin typeface="NimbusRomNo9L-Regu"/>
              </a:rPr>
              <a:t> </a:t>
            </a:r>
            <a:r>
              <a:rPr lang="en-US" altLang="zh-CN" sz="1800" b="0" i="0" u="none" strike="noStrike" baseline="0" dirty="0">
                <a:latin typeface="NimbusRomNo9L-Regu"/>
              </a:rPr>
              <a:t>Image Augmentation + </a:t>
            </a:r>
            <a:r>
              <a:rPr lang="zh-CN" altLang="en-US" sz="1800" b="0" i="0" u="none" strike="noStrike" baseline="0" dirty="0">
                <a:latin typeface="NimbusRomNo9L-Regu"/>
              </a:rPr>
              <a:t>③ </a:t>
            </a:r>
            <a:r>
              <a:rPr lang="en-US" altLang="zh-CN" sz="1800" b="0" i="0" u="none" strike="noStrike" baseline="0" dirty="0">
                <a:latin typeface="NimbusRomNo9L-Regu"/>
              </a:rPr>
              <a:t>Intra-pair image Swapping scheme</a:t>
            </a:r>
            <a:r>
              <a:rPr lang="en-US" altLang="zh-CN" dirty="0">
                <a:latin typeface="NimbusRomNo9L-Regu"/>
              </a:rPr>
              <a:t>.</a:t>
            </a:r>
          </a:p>
          <a:p>
            <a:r>
              <a:rPr lang="en-US" altLang="zh-CN" b="1" dirty="0"/>
              <a:t>Goal :  </a:t>
            </a:r>
            <a:br>
              <a:rPr lang="en-US" altLang="zh-CN" dirty="0">
                <a:latin typeface="NimbusRomNo9L-Regu"/>
              </a:rPr>
            </a:br>
            <a:r>
              <a:rPr lang="en-US" altLang="zh-CN" dirty="0">
                <a:latin typeface="NimbusRomNo9L-Regu"/>
              </a:rPr>
              <a:t>Modeling a feature space wherein all images having similar degrees of perceptual quality fall closer to one another than to images having different perceptual qualities.</a:t>
            </a:r>
          </a:p>
        </p:txBody>
      </p:sp>
      <p:pic>
        <p:nvPicPr>
          <p:cNvPr id="5" name="图片 4">
            <a:extLst>
              <a:ext uri="{FF2B5EF4-FFF2-40B4-BE49-F238E27FC236}">
                <a16:creationId xmlns:a16="http://schemas.microsoft.com/office/drawing/2014/main" id="{B03A1E60-5678-FAE3-8A60-C4614236E4CE}"/>
              </a:ext>
            </a:extLst>
          </p:cNvPr>
          <p:cNvPicPr>
            <a:picLocks noChangeAspect="1"/>
          </p:cNvPicPr>
          <p:nvPr/>
        </p:nvPicPr>
        <p:blipFill>
          <a:blip r:embed="rId3"/>
          <a:stretch>
            <a:fillRect/>
          </a:stretch>
        </p:blipFill>
        <p:spPr>
          <a:xfrm>
            <a:off x="48308" y="3019684"/>
            <a:ext cx="11997721" cy="3034273"/>
          </a:xfrm>
          <a:prstGeom prst="rect">
            <a:avLst/>
          </a:prstGeom>
        </p:spPr>
      </p:pic>
    </p:spTree>
    <p:extLst>
      <p:ext uri="{BB962C8B-B14F-4D97-AF65-F5344CB8AC3E}">
        <p14:creationId xmlns:p14="http://schemas.microsoft.com/office/powerpoint/2010/main" val="1870677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1948E-0C0D-6EB1-C281-E545B0CADD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CAE3AE-7E9C-6B42-3288-23FCCD791B2D}"/>
              </a:ext>
            </a:extLst>
          </p:cNvPr>
          <p:cNvSpPr>
            <a:spLocks noGrp="1"/>
          </p:cNvSpPr>
          <p:nvPr>
            <p:ph type="title"/>
          </p:nvPr>
        </p:nvSpPr>
        <p:spPr>
          <a:xfrm>
            <a:off x="237067" y="68792"/>
            <a:ext cx="10515600" cy="1325563"/>
          </a:xfrm>
        </p:spPr>
        <p:txBody>
          <a:bodyPr/>
          <a:lstStyle/>
          <a:p>
            <a:r>
              <a:rPr lang="en-US" altLang="zh-CN" dirty="0">
                <a:latin typeface="NimbusRomNo9L-Medi"/>
              </a:rPr>
              <a:t>Phase 2 : Quality Aware</a:t>
            </a:r>
            <a:endParaRPr lang="zh-CN" altLang="en-US" dirty="0">
              <a:latin typeface="NimbusRomNo9L-Medi"/>
            </a:endParaRPr>
          </a:p>
        </p:txBody>
      </p:sp>
      <p:sp>
        <p:nvSpPr>
          <p:cNvPr id="3" name="文本框 2">
            <a:extLst>
              <a:ext uri="{FF2B5EF4-FFF2-40B4-BE49-F238E27FC236}">
                <a16:creationId xmlns:a16="http://schemas.microsoft.com/office/drawing/2014/main" id="{0DC9C2C8-88F0-1435-1830-C68DAD24A364}"/>
              </a:ext>
            </a:extLst>
          </p:cNvPr>
          <p:cNvSpPr txBox="1"/>
          <p:nvPr/>
        </p:nvSpPr>
        <p:spPr>
          <a:xfrm>
            <a:off x="355599" y="1290109"/>
            <a:ext cx="10790622" cy="1477328"/>
          </a:xfrm>
          <a:prstGeom prst="rect">
            <a:avLst/>
          </a:prstGeom>
          <a:noFill/>
        </p:spPr>
        <p:txBody>
          <a:bodyPr wrap="square" rtlCol="0">
            <a:spAutoFit/>
          </a:bodyPr>
          <a:lstStyle/>
          <a:p>
            <a:pPr algn="just"/>
            <a:r>
              <a:rPr lang="en-US" altLang="zh-CN" b="1" dirty="0"/>
              <a:t>Method :  </a:t>
            </a:r>
            <a:endParaRPr lang="en-US" altLang="zh-CN" dirty="0">
              <a:latin typeface="NimbusRomNo9L-Regu"/>
            </a:endParaRPr>
          </a:p>
          <a:p>
            <a:pPr algn="l"/>
            <a:r>
              <a:rPr lang="zh-CN" altLang="en-US" dirty="0">
                <a:latin typeface="NimbusRomNo9L-Regu"/>
              </a:rPr>
              <a:t>① </a:t>
            </a:r>
            <a:r>
              <a:rPr lang="en-US" altLang="zh-CN" dirty="0">
                <a:latin typeface="NimbusRomNo9L-Regu"/>
              </a:rPr>
              <a:t>MoCo-v2 + </a:t>
            </a:r>
            <a:r>
              <a:rPr lang="zh-CN" altLang="en-US" dirty="0">
                <a:latin typeface="NimbusRomNo9L-Regu"/>
              </a:rPr>
              <a:t>②</a:t>
            </a:r>
            <a:r>
              <a:rPr lang="en-US" altLang="zh-CN" dirty="0">
                <a:latin typeface="NimbusRomNo9L-Regu"/>
              </a:rPr>
              <a:t> </a:t>
            </a:r>
            <a:r>
              <a:rPr lang="en-US" altLang="zh-CN" sz="1800" b="0" i="0" u="none" strike="noStrike" baseline="0" dirty="0">
                <a:latin typeface="NimbusRomNo9L-Regu"/>
              </a:rPr>
              <a:t>Image Augmentation + </a:t>
            </a:r>
            <a:r>
              <a:rPr lang="zh-CN" altLang="en-US" sz="1800" b="0" i="0" u="none" strike="noStrike" baseline="0" dirty="0">
                <a:latin typeface="NimbusRomNo9L-Regu"/>
              </a:rPr>
              <a:t>③ </a:t>
            </a:r>
            <a:r>
              <a:rPr lang="en-US" altLang="zh-CN" sz="1800" b="0" i="0" u="none" strike="noStrike" baseline="0" dirty="0">
                <a:latin typeface="NimbusRomNo9L-Regu"/>
              </a:rPr>
              <a:t>Intra-pair image Swapping scheme</a:t>
            </a:r>
            <a:r>
              <a:rPr lang="en-US" altLang="zh-CN" dirty="0">
                <a:latin typeface="NimbusRomNo9L-Regu"/>
              </a:rPr>
              <a:t>.</a:t>
            </a:r>
          </a:p>
          <a:p>
            <a:r>
              <a:rPr lang="en-US" altLang="zh-CN" b="1" dirty="0"/>
              <a:t>Goal :  </a:t>
            </a:r>
            <a:br>
              <a:rPr lang="en-US" altLang="zh-CN" dirty="0">
                <a:latin typeface="NimbusRomNo9L-Regu"/>
              </a:rPr>
            </a:br>
            <a:r>
              <a:rPr lang="en-US" altLang="zh-CN" dirty="0">
                <a:latin typeface="NimbusRomNo9L-Regu"/>
              </a:rPr>
              <a:t>Modeling a feature space wherein all images having similar degrees of perceptual quality fall closer to one another than to images having different perceptual qualities.</a:t>
            </a:r>
          </a:p>
        </p:txBody>
      </p:sp>
      <p:sp>
        <p:nvSpPr>
          <p:cNvPr id="4" name="文本框 3">
            <a:extLst>
              <a:ext uri="{FF2B5EF4-FFF2-40B4-BE49-F238E27FC236}">
                <a16:creationId xmlns:a16="http://schemas.microsoft.com/office/drawing/2014/main" id="{0B852061-B0CB-0897-EE8E-EF993AD55037}"/>
              </a:ext>
            </a:extLst>
          </p:cNvPr>
          <p:cNvSpPr txBox="1"/>
          <p:nvPr/>
        </p:nvSpPr>
        <p:spPr>
          <a:xfrm>
            <a:off x="394138" y="3168869"/>
            <a:ext cx="10838793" cy="646331"/>
          </a:xfrm>
          <a:prstGeom prst="rect">
            <a:avLst/>
          </a:prstGeom>
          <a:noFill/>
        </p:spPr>
        <p:txBody>
          <a:bodyPr wrap="square" rtlCol="0">
            <a:spAutoFit/>
          </a:bodyPr>
          <a:lstStyle/>
          <a:p>
            <a:pPr marL="342900" indent="-342900">
              <a:buAutoNum type="arabicPeriod"/>
            </a:pPr>
            <a:r>
              <a:rPr lang="en-US" altLang="zh-CN" sz="1800" b="0" i="0" u="none" strike="noStrike" baseline="0" dirty="0">
                <a:latin typeface="NimbusRomNo9L-Regu"/>
              </a:rPr>
              <a:t>Image Augmentation</a:t>
            </a:r>
          </a:p>
          <a:p>
            <a:endParaRPr lang="en-US" altLang="zh-CN" dirty="0">
              <a:latin typeface="NimbusRomNo9L-Regu"/>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E30672D-9337-6F5D-7D60-7C0DBE337E79}"/>
                  </a:ext>
                </a:extLst>
              </p:cNvPr>
              <p:cNvSpPr txBox="1"/>
              <p:nvPr/>
            </p:nvSpPr>
            <p:spPr>
              <a:xfrm>
                <a:off x="1048408" y="3950277"/>
                <a:ext cx="2049516" cy="374270"/>
              </a:xfrm>
              <a:prstGeom prst="rect">
                <a:avLst/>
              </a:prstGeom>
              <a:noFill/>
            </p:spPr>
            <p:txBody>
              <a:bodyPr wrap="square">
                <a:spAutoFit/>
              </a:bodyPr>
              <a:lstStyle/>
              <a:p>
                <a:r>
                  <a:rPr lang="en-US" altLang="zh-CN" sz="1800" b="0" i="0" u="none" strike="noStrike" baseline="0" dirty="0">
                    <a:latin typeface="NimbusRomNo9L-Regu"/>
                  </a:rPr>
                  <a:t>source image</a:t>
                </a:r>
                <a:r>
                  <a:rPr lang="zh-CN" altLang="en-US" dirty="0">
                    <a:latin typeface="NimbusRomNo9L-Regu"/>
                  </a:rPr>
                  <a:t>：</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𝑘</m:t>
                        </m:r>
                      </m:sup>
                    </m:sSup>
                  </m:oMath>
                </a14:m>
                <a:r>
                  <a:rPr lang="en-US" altLang="zh-CN" dirty="0"/>
                  <a:t>,</a:t>
                </a:r>
                <a:endParaRPr lang="zh-CN" altLang="en-US" dirty="0"/>
              </a:p>
            </p:txBody>
          </p:sp>
        </mc:Choice>
        <mc:Fallback>
          <p:sp>
            <p:nvSpPr>
              <p:cNvPr id="7" name="文本框 6">
                <a:extLst>
                  <a:ext uri="{FF2B5EF4-FFF2-40B4-BE49-F238E27FC236}">
                    <a16:creationId xmlns:a16="http://schemas.microsoft.com/office/drawing/2014/main" id="{4E30672D-9337-6F5D-7D60-7C0DBE337E79}"/>
                  </a:ext>
                </a:extLst>
              </p:cNvPr>
              <p:cNvSpPr txBox="1">
                <a:spLocks noRot="1" noChangeAspect="1" noMove="1" noResize="1" noEditPoints="1" noAdjustHandles="1" noChangeArrowheads="1" noChangeShapeType="1" noTextEdit="1"/>
              </p:cNvSpPr>
              <p:nvPr/>
            </p:nvSpPr>
            <p:spPr>
              <a:xfrm>
                <a:off x="1048408" y="3950277"/>
                <a:ext cx="2049516" cy="374270"/>
              </a:xfrm>
              <a:prstGeom prst="rect">
                <a:avLst/>
              </a:prstGeom>
              <a:blipFill>
                <a:blip r:embed="rId3"/>
                <a:stretch>
                  <a:fillRect l="-2679" t="-6557" b="-26230"/>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D037F8EA-B925-FEBD-491B-7475C1323720}"/>
              </a:ext>
            </a:extLst>
          </p:cNvPr>
          <p:cNvPicPr>
            <a:picLocks noChangeAspect="1"/>
          </p:cNvPicPr>
          <p:nvPr/>
        </p:nvPicPr>
        <p:blipFill>
          <a:blip r:embed="rId4"/>
          <a:stretch>
            <a:fillRect/>
          </a:stretch>
        </p:blipFill>
        <p:spPr>
          <a:xfrm>
            <a:off x="516322" y="4816765"/>
            <a:ext cx="3287110" cy="470104"/>
          </a:xfrm>
          <a:prstGeom prst="rect">
            <a:avLst/>
          </a:prstGeom>
        </p:spPr>
      </p:pic>
      <p:cxnSp>
        <p:nvCxnSpPr>
          <p:cNvPr id="11" name="直接箭头连接符 10">
            <a:extLst>
              <a:ext uri="{FF2B5EF4-FFF2-40B4-BE49-F238E27FC236}">
                <a16:creationId xmlns:a16="http://schemas.microsoft.com/office/drawing/2014/main" id="{D334E668-F33F-AEE0-D7BB-0246E870FBF7}"/>
              </a:ext>
            </a:extLst>
          </p:cNvPr>
          <p:cNvCxnSpPr>
            <a:cxnSpLocks/>
          </p:cNvCxnSpPr>
          <p:nvPr/>
        </p:nvCxnSpPr>
        <p:spPr>
          <a:xfrm>
            <a:off x="1974632" y="4315982"/>
            <a:ext cx="0" cy="445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7187C36-BA82-80C0-F567-29F81055C034}"/>
              </a:ext>
            </a:extLst>
          </p:cNvPr>
          <p:cNvSpPr txBox="1"/>
          <p:nvPr/>
        </p:nvSpPr>
        <p:spPr>
          <a:xfrm>
            <a:off x="2094762" y="4364371"/>
            <a:ext cx="1872156" cy="369332"/>
          </a:xfrm>
          <a:prstGeom prst="rect">
            <a:avLst/>
          </a:prstGeom>
          <a:noFill/>
        </p:spPr>
        <p:txBody>
          <a:bodyPr wrap="square">
            <a:spAutoFit/>
          </a:bodyPr>
          <a:lstStyle/>
          <a:p>
            <a:pPr algn="l"/>
            <a:r>
              <a:rPr lang="en-US" altLang="zh-CN" dirty="0">
                <a:latin typeface="NimbusRomNo9L-Regu"/>
              </a:rPr>
              <a:t>d</a:t>
            </a:r>
            <a:r>
              <a:rPr lang="en-US" altLang="zh-CN" sz="1800" b="0" i="0" u="none" strike="noStrike" baseline="0" dirty="0">
                <a:latin typeface="NimbusRomNo9L-Regu"/>
              </a:rPr>
              <a:t>istorted versions</a:t>
            </a:r>
            <a:endParaRPr lang="zh-CN" altLang="en-US" dirty="0"/>
          </a:p>
        </p:txBody>
      </p:sp>
      <p:pic>
        <p:nvPicPr>
          <p:cNvPr id="15" name="图片 14">
            <a:extLst>
              <a:ext uri="{FF2B5EF4-FFF2-40B4-BE49-F238E27FC236}">
                <a16:creationId xmlns:a16="http://schemas.microsoft.com/office/drawing/2014/main" id="{A94BF81C-3455-E52A-B37B-8DE6FDF231C7}"/>
              </a:ext>
            </a:extLst>
          </p:cNvPr>
          <p:cNvPicPr>
            <a:picLocks noChangeAspect="1"/>
          </p:cNvPicPr>
          <p:nvPr/>
        </p:nvPicPr>
        <p:blipFill>
          <a:blip r:embed="rId5"/>
          <a:stretch>
            <a:fillRect/>
          </a:stretch>
        </p:blipFill>
        <p:spPr>
          <a:xfrm>
            <a:off x="3030840" y="4022567"/>
            <a:ext cx="1631896" cy="293415"/>
          </a:xfrm>
          <a:prstGeom prst="rect">
            <a:avLst/>
          </a:prstGeom>
        </p:spPr>
      </p:pic>
      <p:sp>
        <p:nvSpPr>
          <p:cNvPr id="19" name="文本框 18">
            <a:extLst>
              <a:ext uri="{FF2B5EF4-FFF2-40B4-BE49-F238E27FC236}">
                <a16:creationId xmlns:a16="http://schemas.microsoft.com/office/drawing/2014/main" id="{580814A9-0423-D537-08A6-3E05CA582800}"/>
              </a:ext>
            </a:extLst>
          </p:cNvPr>
          <p:cNvSpPr txBox="1"/>
          <p:nvPr/>
        </p:nvSpPr>
        <p:spPr>
          <a:xfrm>
            <a:off x="4662736" y="5051817"/>
            <a:ext cx="1903364" cy="646331"/>
          </a:xfrm>
          <a:prstGeom prst="rect">
            <a:avLst/>
          </a:prstGeom>
          <a:noFill/>
        </p:spPr>
        <p:txBody>
          <a:bodyPr wrap="square">
            <a:spAutoFit/>
          </a:bodyPr>
          <a:lstStyle/>
          <a:p>
            <a:r>
              <a:rPr lang="en-US" altLang="zh-CN" sz="1800" b="0" i="0" u="none" strike="noStrike" baseline="0" dirty="0">
                <a:latin typeface="NimbusRomNo9L-Regu"/>
              </a:rPr>
              <a:t>overlapping area</a:t>
            </a:r>
          </a:p>
          <a:p>
            <a:r>
              <a:rPr lang="en-US" altLang="zh-CN" sz="1800" b="0" i="0" u="none" strike="noStrike" baseline="0" dirty="0">
                <a:latin typeface="NimbusRomNo9L-Regu"/>
              </a:rPr>
              <a:t> (OLA) crop</a:t>
            </a:r>
            <a:endParaRPr lang="zh-CN" altLang="en-US" dirty="0"/>
          </a:p>
        </p:txBody>
      </p:sp>
      <p:cxnSp>
        <p:nvCxnSpPr>
          <p:cNvPr id="20" name="直接箭头连接符 19">
            <a:extLst>
              <a:ext uri="{FF2B5EF4-FFF2-40B4-BE49-F238E27FC236}">
                <a16:creationId xmlns:a16="http://schemas.microsoft.com/office/drawing/2014/main" id="{6654D3A7-F119-F2D5-72DF-E4A408E72A39}"/>
              </a:ext>
            </a:extLst>
          </p:cNvPr>
          <p:cNvCxnSpPr>
            <a:cxnSpLocks/>
          </p:cNvCxnSpPr>
          <p:nvPr/>
        </p:nvCxnSpPr>
        <p:spPr>
          <a:xfrm>
            <a:off x="4325183" y="4946103"/>
            <a:ext cx="2339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E1FDA124-1F2C-5844-2CD7-D747FA6BCC5B}"/>
              </a:ext>
            </a:extLst>
          </p:cNvPr>
          <p:cNvPicPr>
            <a:picLocks noChangeAspect="1"/>
          </p:cNvPicPr>
          <p:nvPr/>
        </p:nvPicPr>
        <p:blipFill>
          <a:blip r:embed="rId6"/>
          <a:stretch>
            <a:fillRect/>
          </a:stretch>
        </p:blipFill>
        <p:spPr>
          <a:xfrm>
            <a:off x="6992007" y="4479186"/>
            <a:ext cx="4154214" cy="906573"/>
          </a:xfrm>
          <a:prstGeom prst="rect">
            <a:avLst/>
          </a:prstGeom>
        </p:spPr>
      </p:pic>
    </p:spTree>
    <p:extLst>
      <p:ext uri="{BB962C8B-B14F-4D97-AF65-F5344CB8AC3E}">
        <p14:creationId xmlns:p14="http://schemas.microsoft.com/office/powerpoint/2010/main" val="349947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1347-8FCF-7003-7D5A-2C24CBA127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CEA0C6-D9D2-659A-7236-6BF2AB67FF83}"/>
              </a:ext>
            </a:extLst>
          </p:cNvPr>
          <p:cNvSpPr>
            <a:spLocks noGrp="1"/>
          </p:cNvSpPr>
          <p:nvPr>
            <p:ph type="title"/>
          </p:nvPr>
        </p:nvSpPr>
        <p:spPr>
          <a:xfrm>
            <a:off x="237067" y="68792"/>
            <a:ext cx="10515600" cy="1325563"/>
          </a:xfrm>
        </p:spPr>
        <p:txBody>
          <a:bodyPr/>
          <a:lstStyle/>
          <a:p>
            <a:r>
              <a:rPr lang="en-US" altLang="zh-CN" dirty="0">
                <a:latin typeface="NimbusRomNo9L-Medi"/>
              </a:rPr>
              <a:t>Phase 2 : Quality Aware</a:t>
            </a:r>
            <a:endParaRPr lang="zh-CN" altLang="en-US" dirty="0">
              <a:latin typeface="NimbusRomNo9L-Medi"/>
            </a:endParaRPr>
          </a:p>
        </p:txBody>
      </p:sp>
      <p:sp>
        <p:nvSpPr>
          <p:cNvPr id="3" name="文本框 2">
            <a:extLst>
              <a:ext uri="{FF2B5EF4-FFF2-40B4-BE49-F238E27FC236}">
                <a16:creationId xmlns:a16="http://schemas.microsoft.com/office/drawing/2014/main" id="{13709B48-E101-BD6D-357D-3F21379496A4}"/>
              </a:ext>
            </a:extLst>
          </p:cNvPr>
          <p:cNvSpPr txBox="1"/>
          <p:nvPr/>
        </p:nvSpPr>
        <p:spPr>
          <a:xfrm>
            <a:off x="355599" y="1290109"/>
            <a:ext cx="10790622" cy="1477328"/>
          </a:xfrm>
          <a:prstGeom prst="rect">
            <a:avLst/>
          </a:prstGeom>
          <a:noFill/>
        </p:spPr>
        <p:txBody>
          <a:bodyPr wrap="square" rtlCol="0">
            <a:spAutoFit/>
          </a:bodyPr>
          <a:lstStyle/>
          <a:p>
            <a:pPr algn="just"/>
            <a:r>
              <a:rPr lang="en-US" altLang="zh-CN" b="1" dirty="0"/>
              <a:t>Method :  </a:t>
            </a:r>
            <a:endParaRPr lang="en-US" altLang="zh-CN" dirty="0">
              <a:latin typeface="NimbusRomNo9L-Regu"/>
            </a:endParaRPr>
          </a:p>
          <a:p>
            <a:pPr algn="l"/>
            <a:r>
              <a:rPr lang="zh-CN" altLang="en-US" dirty="0">
                <a:latin typeface="NimbusRomNo9L-Regu"/>
              </a:rPr>
              <a:t>① </a:t>
            </a:r>
            <a:r>
              <a:rPr lang="en-US" altLang="zh-CN" dirty="0">
                <a:latin typeface="NimbusRomNo9L-Regu"/>
              </a:rPr>
              <a:t>MoCo-v2 + </a:t>
            </a:r>
            <a:r>
              <a:rPr lang="zh-CN" altLang="en-US" dirty="0">
                <a:latin typeface="NimbusRomNo9L-Regu"/>
              </a:rPr>
              <a:t>②</a:t>
            </a:r>
            <a:r>
              <a:rPr lang="en-US" altLang="zh-CN" dirty="0">
                <a:latin typeface="NimbusRomNo9L-Regu"/>
              </a:rPr>
              <a:t> </a:t>
            </a:r>
            <a:r>
              <a:rPr lang="en-US" altLang="zh-CN" sz="1800" b="0" i="0" u="none" strike="noStrike" baseline="0" dirty="0">
                <a:latin typeface="NimbusRomNo9L-Regu"/>
              </a:rPr>
              <a:t>Image Augmentation + </a:t>
            </a:r>
            <a:r>
              <a:rPr lang="zh-CN" altLang="en-US" sz="1800" b="0" i="0" u="none" strike="noStrike" baseline="0" dirty="0">
                <a:latin typeface="NimbusRomNo9L-Regu"/>
              </a:rPr>
              <a:t>③ </a:t>
            </a:r>
            <a:r>
              <a:rPr lang="en-US" altLang="zh-CN" sz="1800" b="0" i="0" u="none" strike="noStrike" baseline="0" dirty="0">
                <a:latin typeface="NimbusRomNo9L-Regu"/>
              </a:rPr>
              <a:t>Intra-pair image Swapping scheme</a:t>
            </a:r>
            <a:r>
              <a:rPr lang="en-US" altLang="zh-CN" dirty="0">
                <a:latin typeface="NimbusRomNo9L-Regu"/>
              </a:rPr>
              <a:t>.</a:t>
            </a:r>
          </a:p>
          <a:p>
            <a:r>
              <a:rPr lang="en-US" altLang="zh-CN" b="1" dirty="0"/>
              <a:t>Goal :  </a:t>
            </a:r>
            <a:br>
              <a:rPr lang="en-US" altLang="zh-CN" dirty="0">
                <a:latin typeface="NimbusRomNo9L-Regu"/>
              </a:rPr>
            </a:br>
            <a:r>
              <a:rPr lang="en-US" altLang="zh-CN" dirty="0">
                <a:latin typeface="NimbusRomNo9L-Regu"/>
              </a:rPr>
              <a:t>Modeling a feature space wherein all images having similar degrees of perceptual quality fall closer to one another than to images having different perceptual qualities.</a:t>
            </a:r>
          </a:p>
        </p:txBody>
      </p:sp>
      <p:sp>
        <p:nvSpPr>
          <p:cNvPr id="4" name="文本框 3">
            <a:extLst>
              <a:ext uri="{FF2B5EF4-FFF2-40B4-BE49-F238E27FC236}">
                <a16:creationId xmlns:a16="http://schemas.microsoft.com/office/drawing/2014/main" id="{87E0D3F6-C958-0A17-B3A6-CF33C61F0DFB}"/>
              </a:ext>
            </a:extLst>
          </p:cNvPr>
          <p:cNvSpPr txBox="1"/>
          <p:nvPr/>
        </p:nvSpPr>
        <p:spPr>
          <a:xfrm>
            <a:off x="355599" y="2985455"/>
            <a:ext cx="10838793" cy="646331"/>
          </a:xfrm>
          <a:prstGeom prst="rect">
            <a:avLst/>
          </a:prstGeom>
          <a:noFill/>
        </p:spPr>
        <p:txBody>
          <a:bodyPr wrap="square" rtlCol="0">
            <a:spAutoFit/>
          </a:bodyPr>
          <a:lstStyle/>
          <a:p>
            <a:r>
              <a:rPr lang="en-US" altLang="zh-CN" sz="1800" b="0" i="0" u="none" strike="noStrike" baseline="0" dirty="0">
                <a:latin typeface="NimbusRomNo9L-Regu"/>
              </a:rPr>
              <a:t>2.  Intra-pair image </a:t>
            </a:r>
            <a:r>
              <a:rPr lang="en-US" altLang="zh-CN" sz="1800" b="0" i="0" u="none" strike="noStrike" baseline="0" dirty="0" err="1">
                <a:latin typeface="NimbusRomNo9L-Regu"/>
              </a:rPr>
              <a:t>Swappingn</a:t>
            </a:r>
            <a:endParaRPr lang="en-US" altLang="zh-CN" sz="1800" b="0" i="0" u="none" strike="noStrike" baseline="0" dirty="0">
              <a:latin typeface="NimbusRomNo9L-Regu"/>
            </a:endParaRPr>
          </a:p>
          <a:p>
            <a:endParaRPr lang="en-US" altLang="zh-CN" dirty="0">
              <a:latin typeface="NimbusRomNo9L-Regu"/>
            </a:endParaRPr>
          </a:p>
        </p:txBody>
      </p:sp>
      <p:cxnSp>
        <p:nvCxnSpPr>
          <p:cNvPr id="11" name="直接箭头连接符 10">
            <a:extLst>
              <a:ext uri="{FF2B5EF4-FFF2-40B4-BE49-F238E27FC236}">
                <a16:creationId xmlns:a16="http://schemas.microsoft.com/office/drawing/2014/main" id="{52812EAD-C7EE-6184-29DB-45B97A9772BB}"/>
              </a:ext>
            </a:extLst>
          </p:cNvPr>
          <p:cNvCxnSpPr>
            <a:cxnSpLocks/>
          </p:cNvCxnSpPr>
          <p:nvPr/>
        </p:nvCxnSpPr>
        <p:spPr>
          <a:xfrm>
            <a:off x="5420271" y="3957210"/>
            <a:ext cx="634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图片 23">
            <a:extLst>
              <a:ext uri="{FF2B5EF4-FFF2-40B4-BE49-F238E27FC236}">
                <a16:creationId xmlns:a16="http://schemas.microsoft.com/office/drawing/2014/main" id="{80D92A46-905C-96B8-06D9-F0B75842811D}"/>
              </a:ext>
            </a:extLst>
          </p:cNvPr>
          <p:cNvPicPr>
            <a:picLocks noChangeAspect="1"/>
          </p:cNvPicPr>
          <p:nvPr/>
        </p:nvPicPr>
        <p:blipFill>
          <a:blip r:embed="rId3"/>
          <a:stretch>
            <a:fillRect/>
          </a:stretch>
        </p:blipFill>
        <p:spPr>
          <a:xfrm>
            <a:off x="615730" y="3381042"/>
            <a:ext cx="5067739" cy="1160767"/>
          </a:xfrm>
          <a:prstGeom prst="rect">
            <a:avLst/>
          </a:prstGeom>
        </p:spPr>
      </p:pic>
      <p:pic>
        <p:nvPicPr>
          <p:cNvPr id="6" name="图片 5">
            <a:extLst>
              <a:ext uri="{FF2B5EF4-FFF2-40B4-BE49-F238E27FC236}">
                <a16:creationId xmlns:a16="http://schemas.microsoft.com/office/drawing/2014/main" id="{6D34ABAD-E0C5-1160-4055-9F1102B8909E}"/>
              </a:ext>
            </a:extLst>
          </p:cNvPr>
          <p:cNvPicPr>
            <a:picLocks noChangeAspect="1"/>
          </p:cNvPicPr>
          <p:nvPr/>
        </p:nvPicPr>
        <p:blipFill>
          <a:blip r:embed="rId4"/>
          <a:stretch>
            <a:fillRect/>
          </a:stretch>
        </p:blipFill>
        <p:spPr>
          <a:xfrm>
            <a:off x="6508532" y="3479239"/>
            <a:ext cx="5067738" cy="1094969"/>
          </a:xfrm>
          <a:prstGeom prst="rect">
            <a:avLst/>
          </a:prstGeom>
        </p:spPr>
      </p:pic>
      <p:pic>
        <p:nvPicPr>
          <p:cNvPr id="16" name="图片 15">
            <a:extLst>
              <a:ext uri="{FF2B5EF4-FFF2-40B4-BE49-F238E27FC236}">
                <a16:creationId xmlns:a16="http://schemas.microsoft.com/office/drawing/2014/main" id="{A65A6756-176C-9A59-5402-F58109CD59D3}"/>
              </a:ext>
            </a:extLst>
          </p:cNvPr>
          <p:cNvPicPr>
            <a:picLocks noChangeAspect="1"/>
          </p:cNvPicPr>
          <p:nvPr/>
        </p:nvPicPr>
        <p:blipFill>
          <a:blip r:embed="rId5"/>
          <a:stretch>
            <a:fillRect/>
          </a:stretch>
        </p:blipFill>
        <p:spPr>
          <a:xfrm>
            <a:off x="1975653" y="4738497"/>
            <a:ext cx="3322494" cy="725148"/>
          </a:xfrm>
          <a:prstGeom prst="rect">
            <a:avLst/>
          </a:prstGeom>
        </p:spPr>
      </p:pic>
      <p:pic>
        <p:nvPicPr>
          <p:cNvPr id="18" name="图片 17">
            <a:extLst>
              <a:ext uri="{FF2B5EF4-FFF2-40B4-BE49-F238E27FC236}">
                <a16:creationId xmlns:a16="http://schemas.microsoft.com/office/drawing/2014/main" id="{485A4F69-9552-5E5B-5075-E22F605B3AFB}"/>
              </a:ext>
            </a:extLst>
          </p:cNvPr>
          <p:cNvPicPr>
            <a:picLocks noChangeAspect="1"/>
          </p:cNvPicPr>
          <p:nvPr/>
        </p:nvPicPr>
        <p:blipFill>
          <a:blip r:embed="rId6"/>
          <a:stretch>
            <a:fillRect/>
          </a:stretch>
        </p:blipFill>
        <p:spPr>
          <a:xfrm>
            <a:off x="5774995" y="4709734"/>
            <a:ext cx="3400536" cy="786310"/>
          </a:xfrm>
          <a:prstGeom prst="rect">
            <a:avLst/>
          </a:prstGeom>
        </p:spPr>
      </p:pic>
      <p:sp>
        <p:nvSpPr>
          <p:cNvPr id="21" name="标题 1">
            <a:extLst>
              <a:ext uri="{FF2B5EF4-FFF2-40B4-BE49-F238E27FC236}">
                <a16:creationId xmlns:a16="http://schemas.microsoft.com/office/drawing/2014/main" id="{5AC3F605-94DC-6FFE-6B34-8B6492B48417}"/>
              </a:ext>
            </a:extLst>
          </p:cNvPr>
          <p:cNvSpPr txBox="1">
            <a:spLocks/>
          </p:cNvSpPr>
          <p:nvPr/>
        </p:nvSpPr>
        <p:spPr>
          <a:xfrm>
            <a:off x="237067" y="52572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NimbusRomNo9L-Medi"/>
              </a:rPr>
              <a:t>Phase 2 : IQA Regression</a:t>
            </a:r>
            <a:endParaRPr lang="zh-CN" altLang="en-US" dirty="0">
              <a:latin typeface="NimbusRomNo9L-Medi"/>
            </a:endParaRPr>
          </a:p>
        </p:txBody>
      </p:sp>
      <p:sp>
        <p:nvSpPr>
          <p:cNvPr id="25" name="文本框 24">
            <a:extLst>
              <a:ext uri="{FF2B5EF4-FFF2-40B4-BE49-F238E27FC236}">
                <a16:creationId xmlns:a16="http://schemas.microsoft.com/office/drawing/2014/main" id="{DD3A10F4-1B85-256A-6187-04C15BED8654}"/>
              </a:ext>
            </a:extLst>
          </p:cNvPr>
          <p:cNvSpPr txBox="1"/>
          <p:nvPr/>
        </p:nvSpPr>
        <p:spPr>
          <a:xfrm>
            <a:off x="317118" y="6389326"/>
            <a:ext cx="6101254" cy="369332"/>
          </a:xfrm>
          <a:prstGeom prst="rect">
            <a:avLst/>
          </a:prstGeom>
          <a:noFill/>
        </p:spPr>
        <p:txBody>
          <a:bodyPr wrap="square">
            <a:spAutoFit/>
          </a:bodyPr>
          <a:lstStyle/>
          <a:p>
            <a:r>
              <a:rPr lang="en-US" altLang="zh-CN" sz="1800" b="0" i="0" u="none" strike="noStrike" baseline="0" dirty="0">
                <a:latin typeface="NimbusRomNo9L-Regu"/>
              </a:rPr>
              <a:t>Only train the low-complexity regressor head while evaluating.</a:t>
            </a:r>
            <a:endParaRPr lang="zh-CN" altLang="en-US" dirty="0"/>
          </a:p>
        </p:txBody>
      </p:sp>
    </p:spTree>
    <p:extLst>
      <p:ext uri="{BB962C8B-B14F-4D97-AF65-F5344CB8AC3E}">
        <p14:creationId xmlns:p14="http://schemas.microsoft.com/office/powerpoint/2010/main" val="4068616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533401" y="1177450"/>
            <a:ext cx="10949152" cy="5596467"/>
          </a:xfrm>
        </p:spPr>
        <p:txBody>
          <a:bodyPr>
            <a:normAutofit/>
          </a:bodyPr>
          <a:lstStyle/>
          <a:p>
            <a:r>
              <a:rPr lang="en-US" altLang="zh-CN" dirty="0">
                <a:latin typeface="NimbusRomNo9L-Regu"/>
              </a:rPr>
              <a:t>Training Databases</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pPr marL="0" indent="0">
              <a:buNone/>
            </a:pPr>
            <a:r>
              <a:rPr lang="en-US" altLang="zh-CN" sz="3200" dirty="0">
                <a:latin typeface="NimbusRomNo9L-Regu"/>
              </a:rPr>
              <a:t> </a:t>
            </a:r>
          </a:p>
          <a:p>
            <a:r>
              <a:rPr lang="en-US" altLang="zh-CN" dirty="0">
                <a:latin typeface="NimbusRomNo9L-Regu"/>
              </a:rPr>
              <a:t>Evaluation Databases</a:t>
            </a:r>
          </a:p>
          <a:p>
            <a:pPr marL="0" indent="0">
              <a:buNone/>
            </a:pPr>
            <a:endParaRPr lang="en-US" altLang="zh-CN" sz="3200" dirty="0">
              <a:latin typeface="NimbusRomNo9L-Regu"/>
            </a:endParaRPr>
          </a:p>
          <a:p>
            <a:endParaRPr lang="en-US" altLang="zh-CN" dirty="0">
              <a:latin typeface="NimbusRomNo9L-Medi"/>
            </a:endParaRPr>
          </a:p>
          <a:p>
            <a:r>
              <a:rPr lang="en-US" altLang="zh-CN" dirty="0">
                <a:latin typeface="NimbusRomNo9L-Medi"/>
              </a:rPr>
              <a:t>Evaluation Criteria:  PLCC &amp; SROCC</a:t>
            </a:r>
          </a:p>
        </p:txBody>
      </p:sp>
      <p:sp>
        <p:nvSpPr>
          <p:cNvPr id="6" name="文本框 5">
            <a:extLst>
              <a:ext uri="{FF2B5EF4-FFF2-40B4-BE49-F238E27FC236}">
                <a16:creationId xmlns:a16="http://schemas.microsoft.com/office/drawing/2014/main" id="{8FAA6D23-96E4-A399-D8E8-B5B453070223}"/>
              </a:ext>
            </a:extLst>
          </p:cNvPr>
          <p:cNvSpPr txBox="1"/>
          <p:nvPr/>
        </p:nvSpPr>
        <p:spPr>
          <a:xfrm>
            <a:off x="1229710" y="1863013"/>
            <a:ext cx="9782504" cy="4247317"/>
          </a:xfrm>
          <a:prstGeom prst="rect">
            <a:avLst/>
          </a:prstGeom>
          <a:noFill/>
        </p:spPr>
        <p:txBody>
          <a:bodyPr wrap="square" rtlCol="0">
            <a:spAutoFit/>
          </a:bodyPr>
          <a:lstStyle/>
          <a:p>
            <a:pPr marL="285750" indent="-285750" algn="l">
              <a:buFont typeface="Wingdings" panose="05000000000000000000" pitchFamily="2" charset="2"/>
              <a:buChar char="Ø"/>
            </a:pPr>
            <a:r>
              <a:rPr lang="en-US" altLang="zh-CN" sz="1800" b="0" i="0" u="none" strike="noStrike" baseline="0" dirty="0">
                <a:solidFill>
                  <a:srgbClr val="000000"/>
                </a:solidFill>
                <a:latin typeface="NimbusRomNo9L-Regu"/>
              </a:rPr>
              <a:t>ImageNet : containing approximately 1.28 million images across 1000 classes.</a:t>
            </a:r>
          </a:p>
          <a:p>
            <a:pPr marL="285750" indent="-285750" algn="l">
              <a:buFont typeface="Wingdings" panose="05000000000000000000" pitchFamily="2" charset="2"/>
              <a:buChar char="Ø"/>
            </a:pPr>
            <a:endParaRPr lang="en-US" altLang="zh-CN" dirty="0">
              <a:solidFill>
                <a:srgbClr val="000000"/>
              </a:solidFill>
              <a:latin typeface="NimbusRomNo9L-Regu"/>
            </a:endParaRPr>
          </a:p>
          <a:p>
            <a:pPr marL="285750" indent="-285750" algn="l">
              <a:buFont typeface="Wingdings" panose="05000000000000000000" pitchFamily="2" charset="2"/>
              <a:buChar char="Ø"/>
            </a:pPr>
            <a:r>
              <a:rPr lang="en-US" altLang="zh-CN" sz="1800" b="0" i="0" u="none" strike="noStrike" baseline="0" dirty="0">
                <a:latin typeface="NimbusRomNo9L-Regu"/>
              </a:rPr>
              <a:t>Pristine Images</a:t>
            </a:r>
            <a:r>
              <a:rPr lang="en-US" altLang="zh-CN" sz="1800" b="0" i="0" u="none" strike="noStrike" baseline="0" dirty="0">
                <a:solidFill>
                  <a:srgbClr val="000000"/>
                </a:solidFill>
                <a:latin typeface="NimbusRomNo9L-Regu"/>
              </a:rPr>
              <a:t> : </a:t>
            </a:r>
            <a:r>
              <a:rPr lang="en-US" altLang="zh-CN" sz="1800" b="0" i="0" u="none" strike="noStrike" baseline="0" dirty="0">
                <a:latin typeface="NimbusRomNo9L-Regu"/>
              </a:rPr>
              <a:t>KADIS - 140K </a:t>
            </a:r>
            <a:r>
              <a:rPr lang="fr-FR" altLang="zh-CN" sz="1800" b="0" i="0" u="none" strike="noStrike" baseline="0" dirty="0">
                <a:solidFill>
                  <a:srgbClr val="000000"/>
                </a:solidFill>
                <a:latin typeface="NimbusRomNo9L-Regu"/>
              </a:rPr>
              <a:t>images.</a:t>
            </a:r>
            <a:endParaRPr lang="en-US" altLang="zh-CN" sz="1800" b="0" i="0" u="none" strike="noStrike" baseline="0" dirty="0">
              <a:latin typeface="NimbusRomNo9L-Regu"/>
            </a:endParaRPr>
          </a:p>
          <a:p>
            <a:pPr marL="285750" indent="-285750" algn="l">
              <a:buFont typeface="Wingdings" panose="05000000000000000000" pitchFamily="2" charset="2"/>
              <a:buChar char="Ø"/>
            </a:pPr>
            <a:endParaRPr lang="en-US" altLang="zh-CN" sz="1800" b="0" i="0" u="none" strike="noStrike" baseline="0" dirty="0">
              <a:solidFill>
                <a:srgbClr val="000000"/>
              </a:solidFill>
              <a:latin typeface="NimbusRomNo9L-Regu"/>
            </a:endParaRPr>
          </a:p>
          <a:p>
            <a:pPr marL="285750" indent="-285750">
              <a:buFont typeface="Wingdings" panose="05000000000000000000" pitchFamily="2" charset="2"/>
              <a:buChar char="Ø"/>
            </a:pPr>
            <a:r>
              <a:rPr lang="en-US" altLang="zh-CN" sz="1800" b="0" i="0" u="none" strike="noStrike" baseline="0" dirty="0">
                <a:latin typeface="NimbusRomNo9L-Regu"/>
              </a:rPr>
              <a:t>Authentically Distorted Images</a:t>
            </a:r>
            <a:r>
              <a:rPr lang="en-US" altLang="zh-CN" sz="1800" b="0" i="0" u="none" strike="noStrike" baseline="0" dirty="0">
                <a:solidFill>
                  <a:srgbClr val="000000"/>
                </a:solidFill>
                <a:latin typeface="NimbusRomNo9L-Regu"/>
              </a:rPr>
              <a:t>: </a:t>
            </a:r>
          </a:p>
          <a:p>
            <a:endParaRPr lang="en-US" altLang="zh-CN" dirty="0">
              <a:solidFill>
                <a:srgbClr val="000000"/>
              </a:solidFill>
              <a:latin typeface="NimbusRomNo9L-Regu"/>
            </a:endParaRPr>
          </a:p>
          <a:p>
            <a:r>
              <a:rPr lang="en-US" altLang="zh-CN" sz="1800" b="0" i="0" u="none" strike="noStrike" baseline="0" dirty="0">
                <a:latin typeface="NimbusRomNo9L-Regu"/>
              </a:rPr>
              <a:t>      (a) </a:t>
            </a:r>
            <a:r>
              <a:rPr lang="en-US" altLang="zh-CN" sz="1800" b="0" i="0" u="none" strike="noStrike" baseline="0" dirty="0">
                <a:solidFill>
                  <a:srgbClr val="000000"/>
                </a:solidFill>
                <a:latin typeface="NimbusRomNo9L-Regu"/>
              </a:rPr>
              <a:t>AVA </a:t>
            </a:r>
            <a:r>
              <a:rPr lang="fr-FR" altLang="zh-CN" sz="1800" b="0" i="0" u="none" strike="noStrike" baseline="0" dirty="0">
                <a:solidFill>
                  <a:srgbClr val="000000"/>
                </a:solidFill>
                <a:latin typeface="NimbusRomNo9L-Regu"/>
              </a:rPr>
              <a:t>- 255K images, (b) COCO  - 330K images, (c) </a:t>
            </a:r>
            <a:r>
              <a:rPr lang="en-US" altLang="zh-CN" sz="1800" b="0" i="0" u="none" strike="noStrike" baseline="0" dirty="0">
                <a:solidFill>
                  <a:srgbClr val="000000"/>
                </a:solidFill>
                <a:latin typeface="NimbusRomNo9L-Regu"/>
              </a:rPr>
              <a:t>CERTH-Blur - 2450 images, (d) VOC - 33K images.</a:t>
            </a:r>
            <a:endParaRPr lang="zh-CN" altLang="en-US" dirty="0"/>
          </a:p>
          <a:p>
            <a:pPr algn="l"/>
            <a:endParaRPr lang="en-US" altLang="zh-CN" sz="1800" b="0" i="0" u="none" strike="noStrike" baseline="0" dirty="0">
              <a:latin typeface="NimbusRomNo9L-Regu"/>
            </a:endParaRPr>
          </a:p>
          <a:p>
            <a:pPr algn="l"/>
            <a:r>
              <a:rPr lang="en-US" altLang="zh-CN" dirty="0">
                <a:latin typeface="NimbusRomNo9L-Regu"/>
              </a:rPr>
              <a:t>Training Datasets: </a:t>
            </a:r>
            <a:r>
              <a:rPr lang="en-US" altLang="zh-CN" sz="1800" b="0" i="0" u="none" strike="noStrike" baseline="0" dirty="0">
                <a:latin typeface="NimbusRomNo9L-Regu"/>
              </a:rPr>
              <a:t>Pristine Images</a:t>
            </a:r>
            <a:r>
              <a:rPr lang="en-US" altLang="zh-CN" sz="1800" b="0" i="0" u="none" strike="noStrike" baseline="0" dirty="0">
                <a:solidFill>
                  <a:srgbClr val="000000"/>
                </a:solidFill>
                <a:latin typeface="NimbusRomNo9L-Regu"/>
              </a:rPr>
              <a:t> + </a:t>
            </a:r>
            <a:r>
              <a:rPr lang="en-US" altLang="zh-CN" sz="1800" b="0" i="0" u="none" strike="noStrike" baseline="0" dirty="0">
                <a:latin typeface="NimbusRomNo9L-Regu"/>
              </a:rPr>
              <a:t>Authentically Distorted Images.</a:t>
            </a:r>
          </a:p>
          <a:p>
            <a:pPr algn="l"/>
            <a:endParaRPr lang="en-US" altLang="zh-CN" dirty="0">
              <a:latin typeface="NimbusRomNo9L-Regu"/>
            </a:endParaRPr>
          </a:p>
          <a:p>
            <a:pPr algn="l"/>
            <a:endParaRPr lang="en-US" altLang="zh-CN" dirty="0">
              <a:latin typeface="NimbusRomNo9L-Regu"/>
            </a:endParaRPr>
          </a:p>
          <a:p>
            <a:pPr algn="l"/>
            <a:endParaRPr lang="en-US" altLang="zh-CN" dirty="0">
              <a:latin typeface="NimbusRomNo9L-Regu"/>
            </a:endParaRPr>
          </a:p>
          <a:p>
            <a:pPr algn="l"/>
            <a:r>
              <a:rPr lang="en-US" altLang="zh-CN" sz="1800" b="0" i="0" u="none" strike="noStrike" baseline="0" dirty="0">
                <a:latin typeface="NimbusRomNo9L-Regu"/>
              </a:rPr>
              <a:t>Authentic Distortions </a:t>
            </a:r>
            <a:r>
              <a:rPr lang="en-US" altLang="zh-CN" dirty="0">
                <a:latin typeface="NimbusRomNo9L-Regu"/>
              </a:rPr>
              <a:t>(</a:t>
            </a:r>
            <a:r>
              <a:rPr lang="en-US" altLang="zh-CN" sz="1800" b="0" i="0" u="none" strike="noStrike" baseline="0" dirty="0">
                <a:latin typeface="NimbusRomNo9L-Regu"/>
              </a:rPr>
              <a:t>Images in the Wild):  </a:t>
            </a:r>
            <a:r>
              <a:rPr lang="en-US" altLang="zh-CN" sz="1800" b="0" i="0" u="none" strike="noStrike" baseline="0" dirty="0" err="1">
                <a:latin typeface="NimbusRomNo9L-Regu"/>
              </a:rPr>
              <a:t>KonIQ</a:t>
            </a:r>
            <a:r>
              <a:rPr lang="en-US" altLang="zh-CN" sz="1800" b="0" i="0" u="none" strike="noStrike" baseline="0" dirty="0">
                <a:latin typeface="NimbusRomNo9L-Regu"/>
              </a:rPr>
              <a:t>, CLIVE, FLIVE, SPAQ.</a:t>
            </a:r>
          </a:p>
          <a:p>
            <a:pPr algn="l"/>
            <a:endParaRPr lang="en-US" altLang="zh-CN" dirty="0">
              <a:latin typeface="NimbusRomNo9L-Regu"/>
            </a:endParaRPr>
          </a:p>
          <a:p>
            <a:pPr algn="l"/>
            <a:r>
              <a:rPr lang="en-US" altLang="zh-CN" sz="1800" b="0" i="0" u="none" strike="noStrike" baseline="0" dirty="0">
                <a:latin typeface="NimbusRomNo9L-Regu"/>
              </a:rPr>
              <a:t>Synthetic Distortions: LIVE, CSIQ, TID-2013, KADID-10K.</a:t>
            </a:r>
            <a:endParaRPr lang="en-US" altLang="zh-CN" dirty="0">
              <a:latin typeface="NimbusRomNo9L-Regu"/>
            </a:endParaRPr>
          </a:p>
        </p:txBody>
      </p:sp>
    </p:spTree>
    <p:extLst>
      <p:ext uri="{BB962C8B-B14F-4D97-AF65-F5344CB8AC3E}">
        <p14:creationId xmlns:p14="http://schemas.microsoft.com/office/powerpoint/2010/main" val="212541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pic>
        <p:nvPicPr>
          <p:cNvPr id="7" name="图片 6">
            <a:extLst>
              <a:ext uri="{FF2B5EF4-FFF2-40B4-BE49-F238E27FC236}">
                <a16:creationId xmlns:a16="http://schemas.microsoft.com/office/drawing/2014/main" id="{52CC56BE-533F-F911-D3BB-F4C632EB0C7F}"/>
              </a:ext>
            </a:extLst>
          </p:cNvPr>
          <p:cNvPicPr>
            <a:picLocks noChangeAspect="1"/>
          </p:cNvPicPr>
          <p:nvPr/>
        </p:nvPicPr>
        <p:blipFill>
          <a:blip r:embed="rId3"/>
          <a:stretch>
            <a:fillRect/>
          </a:stretch>
        </p:blipFill>
        <p:spPr>
          <a:xfrm>
            <a:off x="162107" y="3569329"/>
            <a:ext cx="11867786" cy="2990175"/>
          </a:xfrm>
          <a:prstGeom prst="rect">
            <a:avLst/>
          </a:prstGeom>
        </p:spPr>
      </p:pic>
      <p:sp>
        <p:nvSpPr>
          <p:cNvPr id="9" name="文本框 8">
            <a:extLst>
              <a:ext uri="{FF2B5EF4-FFF2-40B4-BE49-F238E27FC236}">
                <a16:creationId xmlns:a16="http://schemas.microsoft.com/office/drawing/2014/main" id="{BAAE18EF-747E-F463-99B8-6E48A2A27B8C}"/>
              </a:ext>
            </a:extLst>
          </p:cNvPr>
          <p:cNvSpPr txBox="1"/>
          <p:nvPr/>
        </p:nvSpPr>
        <p:spPr>
          <a:xfrm>
            <a:off x="162107" y="1297262"/>
            <a:ext cx="11543571" cy="2123658"/>
          </a:xfrm>
          <a:prstGeom prst="rect">
            <a:avLst/>
          </a:prstGeom>
          <a:noFill/>
        </p:spPr>
        <p:txBody>
          <a:bodyPr wrap="square">
            <a:spAutoFit/>
          </a:bodyPr>
          <a:lstStyle/>
          <a:p>
            <a:pPr algn="l"/>
            <a:r>
              <a:rPr lang="en-US" altLang="zh-CN" sz="2400" b="1" dirty="0">
                <a:solidFill>
                  <a:srgbClr val="000000"/>
                </a:solidFill>
                <a:latin typeface="NimbusRomNo9L-Regu"/>
              </a:rPr>
              <a:t>1. </a:t>
            </a:r>
            <a:r>
              <a:rPr lang="en-US" altLang="zh-CN" sz="2400" b="1" i="0" u="none" strike="noStrike" baseline="0" dirty="0">
                <a:solidFill>
                  <a:srgbClr val="000000"/>
                </a:solidFill>
                <a:latin typeface="NimbusRomNo9L-Regu"/>
              </a:rPr>
              <a:t>Ablation Study</a:t>
            </a:r>
          </a:p>
          <a:p>
            <a:pPr algn="l"/>
            <a:endParaRPr lang="en-US" altLang="zh-CN" dirty="0">
              <a:solidFill>
                <a:srgbClr val="000000"/>
              </a:solidFill>
              <a:latin typeface="NimbusRomNo9L-Regu"/>
            </a:endParaRPr>
          </a:p>
          <a:p>
            <a:pPr marL="285750" indent="-285750" algn="l">
              <a:buFont typeface="Arial" panose="020B0604020202020204" pitchFamily="34" charset="0"/>
              <a:buChar char="•"/>
            </a:pPr>
            <a:r>
              <a:rPr lang="en-US" altLang="zh-CN" sz="1800" b="0" i="0" u="none" strike="noStrike" baseline="0" dirty="0">
                <a:solidFill>
                  <a:srgbClr val="000000"/>
                </a:solidFill>
                <a:latin typeface="NimbusRomNo9L-Regu"/>
              </a:rPr>
              <a:t>Each</a:t>
            </a:r>
            <a:r>
              <a:rPr lang="en-US" altLang="zh-CN" dirty="0">
                <a:solidFill>
                  <a:srgbClr val="000000"/>
                </a:solidFill>
                <a:latin typeface="NimbusRomNo9L-Regu"/>
              </a:rPr>
              <a:t> </a:t>
            </a:r>
            <a:r>
              <a:rPr lang="en-US" altLang="zh-CN" sz="1800" b="0" i="0" u="none" strike="noStrike" baseline="0" dirty="0">
                <a:solidFill>
                  <a:srgbClr val="000000"/>
                </a:solidFill>
                <a:latin typeface="NimbusRomNo9L-Regu"/>
              </a:rPr>
              <a:t>dataset was randomly divided into 70%, 10% and 20% corresponding to training, validation and test sets, respectively.</a:t>
            </a:r>
          </a:p>
          <a:p>
            <a:pPr marL="285750" indent="-285750" algn="l">
              <a:buFont typeface="Arial" panose="020B0604020202020204" pitchFamily="34" charset="0"/>
              <a:buChar char="•"/>
            </a:pPr>
            <a:endParaRPr lang="en-US" altLang="zh-CN" sz="1800" b="0" i="0" u="none" strike="noStrike" baseline="0" dirty="0">
              <a:solidFill>
                <a:srgbClr val="000000"/>
              </a:solidFill>
              <a:latin typeface="NimbusRomNo9L-Regu"/>
            </a:endParaRPr>
          </a:p>
          <a:p>
            <a:pPr marL="285750" indent="-285750" algn="l">
              <a:buFont typeface="Arial" panose="020B0604020202020204" pitchFamily="34" charset="0"/>
              <a:buChar char="•"/>
            </a:pPr>
            <a:r>
              <a:rPr lang="en-US" altLang="zh-CN" sz="1800" b="0" i="0" u="none" strike="noStrike" baseline="0" dirty="0">
                <a:solidFill>
                  <a:srgbClr val="000000"/>
                </a:solidFill>
                <a:latin typeface="NimbusRomNo9L-Regu"/>
              </a:rPr>
              <a:t>The performance variation of Re-IQA-QA (quality aware module only) and Re-IQA against percentage </a:t>
            </a:r>
            <a:r>
              <a:rPr lang="en-US" altLang="zh-CN" sz="1800" b="0" i="0" u="none" strike="noStrike" baseline="0" dirty="0" err="1">
                <a:solidFill>
                  <a:srgbClr val="000000"/>
                </a:solidFill>
                <a:latin typeface="NimbusRomNo9L-Regu"/>
              </a:rPr>
              <a:t>OverLap</a:t>
            </a:r>
            <a:r>
              <a:rPr lang="en-US" altLang="zh-CN" sz="1800" b="0" i="0" u="none" strike="noStrike" baseline="0" dirty="0">
                <a:solidFill>
                  <a:srgbClr val="000000"/>
                </a:solidFill>
                <a:latin typeface="NimbusRomNo9L-Regu"/>
              </a:rPr>
              <a:t> Area, patch-sizes, and the number of image distortion augmentations is depicted in Table 1.</a:t>
            </a:r>
            <a:endParaRPr lang="zh-CN" altLang="en-US" dirty="0"/>
          </a:p>
        </p:txBody>
      </p:sp>
    </p:spTree>
    <p:extLst>
      <p:ext uri="{BB962C8B-B14F-4D97-AF65-F5344CB8AC3E}">
        <p14:creationId xmlns:p14="http://schemas.microsoft.com/office/powerpoint/2010/main" val="3952880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14EDA-F852-57A8-A5F3-D836B6D97A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C73C7A-3C55-67C5-F8E6-8829D96BE016}"/>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sp>
        <p:nvSpPr>
          <p:cNvPr id="9" name="文本框 8">
            <a:extLst>
              <a:ext uri="{FF2B5EF4-FFF2-40B4-BE49-F238E27FC236}">
                <a16:creationId xmlns:a16="http://schemas.microsoft.com/office/drawing/2014/main" id="{2F3C1443-CCD5-4C70-41F8-940A5F28B7E6}"/>
              </a:ext>
            </a:extLst>
          </p:cNvPr>
          <p:cNvSpPr txBox="1"/>
          <p:nvPr/>
        </p:nvSpPr>
        <p:spPr>
          <a:xfrm>
            <a:off x="162107" y="1297262"/>
            <a:ext cx="11543571" cy="1292662"/>
          </a:xfrm>
          <a:prstGeom prst="rect">
            <a:avLst/>
          </a:prstGeom>
          <a:noFill/>
        </p:spPr>
        <p:txBody>
          <a:bodyPr wrap="square">
            <a:spAutoFit/>
          </a:bodyPr>
          <a:lstStyle/>
          <a:p>
            <a:pPr algn="l"/>
            <a:r>
              <a:rPr lang="en-US" altLang="zh-CN" sz="2400" b="1" dirty="0">
                <a:solidFill>
                  <a:srgbClr val="000000"/>
                </a:solidFill>
                <a:latin typeface="NimbusRomNo9L-Regu"/>
              </a:rPr>
              <a:t>2.</a:t>
            </a:r>
            <a:r>
              <a:rPr lang="zh-CN" altLang="en-US" sz="2400" b="1" dirty="0">
                <a:solidFill>
                  <a:srgbClr val="000000"/>
                </a:solidFill>
                <a:latin typeface="NimbusRomNo9L-Regu"/>
              </a:rPr>
              <a:t> </a:t>
            </a:r>
            <a:r>
              <a:rPr lang="en-US" altLang="zh-CN" sz="2400" b="1" i="0" u="none" strike="noStrike" baseline="0" dirty="0">
                <a:solidFill>
                  <a:srgbClr val="000000"/>
                </a:solidFill>
                <a:latin typeface="NimbusRomNo9L-Regu"/>
              </a:rPr>
              <a:t>Performances</a:t>
            </a:r>
          </a:p>
          <a:p>
            <a:pPr algn="l"/>
            <a:endParaRPr lang="en-US" altLang="zh-CN" dirty="0">
              <a:solidFill>
                <a:srgbClr val="000000"/>
              </a:solidFill>
              <a:latin typeface="NimbusRomNo9L-Regu"/>
            </a:endParaRPr>
          </a:p>
          <a:p>
            <a:pPr marL="285750" indent="-285750" algn="l">
              <a:buFont typeface="Arial" panose="020B0604020202020204" pitchFamily="34" charset="0"/>
              <a:buChar char="•"/>
            </a:pPr>
            <a:r>
              <a:rPr lang="en-US" altLang="zh-CN" sz="1800" b="0" i="0" u="none" strike="noStrike" baseline="0" dirty="0">
                <a:solidFill>
                  <a:srgbClr val="000000"/>
                </a:solidFill>
                <a:latin typeface="NimbusRomNo9L-Regu"/>
              </a:rPr>
              <a:t>“Mixture of Experts” approach in Re-IQA enables us to learn robust high-level image content and low-level quality aware representations independently.</a:t>
            </a:r>
            <a:endParaRPr lang="zh-CN" altLang="en-US" dirty="0"/>
          </a:p>
        </p:txBody>
      </p:sp>
      <p:pic>
        <p:nvPicPr>
          <p:cNvPr id="4" name="图片 3">
            <a:extLst>
              <a:ext uri="{FF2B5EF4-FFF2-40B4-BE49-F238E27FC236}">
                <a16:creationId xmlns:a16="http://schemas.microsoft.com/office/drawing/2014/main" id="{40970CDA-9599-192B-CA82-D7AF06BAD045}"/>
              </a:ext>
            </a:extLst>
          </p:cNvPr>
          <p:cNvPicPr>
            <a:picLocks noChangeAspect="1"/>
          </p:cNvPicPr>
          <p:nvPr/>
        </p:nvPicPr>
        <p:blipFill>
          <a:blip r:embed="rId3"/>
          <a:stretch>
            <a:fillRect/>
          </a:stretch>
        </p:blipFill>
        <p:spPr>
          <a:xfrm>
            <a:off x="102475" y="2760958"/>
            <a:ext cx="11713780" cy="3912954"/>
          </a:xfrm>
          <a:prstGeom prst="rect">
            <a:avLst/>
          </a:prstGeom>
        </p:spPr>
      </p:pic>
    </p:spTree>
    <p:extLst>
      <p:ext uri="{BB962C8B-B14F-4D97-AF65-F5344CB8AC3E}">
        <p14:creationId xmlns:p14="http://schemas.microsoft.com/office/powerpoint/2010/main" val="2022105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3F520-585C-E6E4-A61C-CE2696AE1D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57396F-7A56-60A3-CE92-0F95A3AA9663}"/>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sp>
        <p:nvSpPr>
          <p:cNvPr id="9" name="文本框 8">
            <a:extLst>
              <a:ext uri="{FF2B5EF4-FFF2-40B4-BE49-F238E27FC236}">
                <a16:creationId xmlns:a16="http://schemas.microsoft.com/office/drawing/2014/main" id="{57C6BDB7-A66C-2793-C93C-FA17D4E597D1}"/>
              </a:ext>
            </a:extLst>
          </p:cNvPr>
          <p:cNvSpPr txBox="1"/>
          <p:nvPr/>
        </p:nvSpPr>
        <p:spPr>
          <a:xfrm>
            <a:off x="162107" y="1297262"/>
            <a:ext cx="11733561" cy="1292662"/>
          </a:xfrm>
          <a:prstGeom prst="rect">
            <a:avLst/>
          </a:prstGeom>
          <a:noFill/>
        </p:spPr>
        <p:txBody>
          <a:bodyPr wrap="square">
            <a:spAutoFit/>
          </a:bodyPr>
          <a:lstStyle/>
          <a:p>
            <a:pPr algn="l"/>
            <a:r>
              <a:rPr lang="en-US" altLang="zh-CN" sz="2400" b="1" dirty="0">
                <a:solidFill>
                  <a:srgbClr val="000000"/>
                </a:solidFill>
                <a:latin typeface="NimbusRomNo9L-Regu"/>
              </a:rPr>
              <a:t>3.</a:t>
            </a:r>
            <a:r>
              <a:rPr lang="zh-CN" altLang="en-US" sz="2400" b="1" dirty="0">
                <a:solidFill>
                  <a:srgbClr val="000000"/>
                </a:solidFill>
                <a:latin typeface="NimbusRomNo9L-Regu"/>
              </a:rPr>
              <a:t> </a:t>
            </a:r>
            <a:r>
              <a:rPr lang="en-US" altLang="zh-CN" sz="2400" b="1" dirty="0">
                <a:solidFill>
                  <a:srgbClr val="000000"/>
                </a:solidFill>
                <a:latin typeface="NimbusRomNo9L-Regu"/>
              </a:rPr>
              <a:t>V</a:t>
            </a:r>
            <a:r>
              <a:rPr lang="en-US" altLang="zh-CN" sz="2400" b="1" i="0" u="none" strike="noStrike" baseline="0" dirty="0">
                <a:solidFill>
                  <a:srgbClr val="000000"/>
                </a:solidFill>
                <a:latin typeface="NimbusRomNo9L-Regu"/>
              </a:rPr>
              <a:t>isualization</a:t>
            </a:r>
          </a:p>
          <a:p>
            <a:pPr algn="l"/>
            <a:endParaRPr lang="en-US" altLang="zh-CN" dirty="0">
              <a:solidFill>
                <a:srgbClr val="000000"/>
              </a:solidFill>
              <a:latin typeface="NimbusRomNo9L-Regu"/>
            </a:endParaRPr>
          </a:p>
          <a:p>
            <a:pPr marL="285750" indent="-285750" algn="l">
              <a:buFont typeface="Arial" panose="020B0604020202020204" pitchFamily="34" charset="0"/>
              <a:buChar char="•"/>
            </a:pPr>
            <a:r>
              <a:rPr lang="en-US" altLang="zh-CN" sz="1800" b="0" i="0" u="none" strike="noStrike" baseline="0" dirty="0">
                <a:solidFill>
                  <a:srgbClr val="000000"/>
                </a:solidFill>
                <a:latin typeface="NimbusRomNo9L-Regu"/>
              </a:rPr>
              <a:t>Comparison of 2D TSNE Visualization of learned representations of 1016 images sampled from </a:t>
            </a:r>
            <a:r>
              <a:rPr lang="en-US" altLang="zh-CN" sz="1800" b="0" i="0" u="none" strike="noStrike" baseline="0" dirty="0" err="1">
                <a:solidFill>
                  <a:srgbClr val="000000"/>
                </a:solidFill>
                <a:latin typeface="NimbusRomNo9L-Regu"/>
              </a:rPr>
              <a:t>KonIQ</a:t>
            </a:r>
            <a:r>
              <a:rPr lang="en-US" altLang="zh-CN" sz="1800" b="0" i="0" u="none" strike="noStrike" baseline="0" dirty="0">
                <a:solidFill>
                  <a:srgbClr val="000000"/>
                </a:solidFill>
                <a:latin typeface="NimbusRomNo9L-Regu"/>
              </a:rPr>
              <a:t> (UGC - #150) and CSIQ (Synthetic Distortions - #866) between Re-IQA Quality Aware sub-module and CONTRIQUE. Best viewed zoomed in.</a:t>
            </a:r>
            <a:endParaRPr lang="zh-CN" altLang="en-US" dirty="0"/>
          </a:p>
        </p:txBody>
      </p:sp>
      <p:pic>
        <p:nvPicPr>
          <p:cNvPr id="5" name="图片 4">
            <a:extLst>
              <a:ext uri="{FF2B5EF4-FFF2-40B4-BE49-F238E27FC236}">
                <a16:creationId xmlns:a16="http://schemas.microsoft.com/office/drawing/2014/main" id="{C60C8D25-FEA5-1969-087E-5FBC4AE0258E}"/>
              </a:ext>
            </a:extLst>
          </p:cNvPr>
          <p:cNvPicPr>
            <a:picLocks noChangeAspect="1"/>
          </p:cNvPicPr>
          <p:nvPr/>
        </p:nvPicPr>
        <p:blipFill>
          <a:blip r:embed="rId3"/>
          <a:stretch>
            <a:fillRect/>
          </a:stretch>
        </p:blipFill>
        <p:spPr>
          <a:xfrm>
            <a:off x="688163" y="2814145"/>
            <a:ext cx="5089899" cy="3599976"/>
          </a:xfrm>
          <a:prstGeom prst="rect">
            <a:avLst/>
          </a:prstGeom>
        </p:spPr>
      </p:pic>
      <p:pic>
        <p:nvPicPr>
          <p:cNvPr id="7" name="图片 6">
            <a:extLst>
              <a:ext uri="{FF2B5EF4-FFF2-40B4-BE49-F238E27FC236}">
                <a16:creationId xmlns:a16="http://schemas.microsoft.com/office/drawing/2014/main" id="{18847BC5-12ED-A52B-88ED-58F62D457BC3}"/>
              </a:ext>
            </a:extLst>
          </p:cNvPr>
          <p:cNvPicPr>
            <a:picLocks noChangeAspect="1"/>
          </p:cNvPicPr>
          <p:nvPr/>
        </p:nvPicPr>
        <p:blipFill>
          <a:blip r:embed="rId4"/>
          <a:stretch>
            <a:fillRect/>
          </a:stretch>
        </p:blipFill>
        <p:spPr>
          <a:xfrm>
            <a:off x="6413940" y="2845800"/>
            <a:ext cx="4892892" cy="3631631"/>
          </a:xfrm>
          <a:prstGeom prst="rect">
            <a:avLst/>
          </a:prstGeom>
        </p:spPr>
      </p:pic>
    </p:spTree>
    <p:extLst>
      <p:ext uri="{BB962C8B-B14F-4D97-AF65-F5344CB8AC3E}">
        <p14:creationId xmlns:p14="http://schemas.microsoft.com/office/powerpoint/2010/main" val="3602772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CDF74D-E511-BEC6-5C84-FA6CB8A0B4EE}"/>
              </a:ext>
            </a:extLst>
          </p:cNvPr>
          <p:cNvSpPr>
            <a:spLocks noGrp="1"/>
          </p:cNvSpPr>
          <p:nvPr>
            <p:ph type="title"/>
          </p:nvPr>
        </p:nvSpPr>
        <p:spPr/>
        <p:txBody>
          <a:bodyPr/>
          <a:lstStyle/>
          <a:p>
            <a:r>
              <a:rPr lang="en-US" altLang="zh-CN" dirty="0">
                <a:latin typeface="NimbusRomNo9L-Medi"/>
              </a:rPr>
              <a:t>Conclusion</a:t>
            </a:r>
            <a:endParaRPr lang="zh-CN" altLang="en-US" dirty="0">
              <a:latin typeface="NimbusRomNo9L-Medi"/>
            </a:endParaRPr>
          </a:p>
        </p:txBody>
      </p:sp>
      <p:sp>
        <p:nvSpPr>
          <p:cNvPr id="3" name="内容占位符 2">
            <a:extLst>
              <a:ext uri="{FF2B5EF4-FFF2-40B4-BE49-F238E27FC236}">
                <a16:creationId xmlns:a16="http://schemas.microsoft.com/office/drawing/2014/main" id="{A448C652-B053-2C68-DDB1-B9BE9889916D}"/>
              </a:ext>
            </a:extLst>
          </p:cNvPr>
          <p:cNvSpPr>
            <a:spLocks noGrp="1"/>
          </p:cNvSpPr>
          <p:nvPr>
            <p:ph idx="1"/>
          </p:nvPr>
        </p:nvSpPr>
        <p:spPr>
          <a:xfrm>
            <a:off x="838199" y="1825625"/>
            <a:ext cx="10702159" cy="3533359"/>
          </a:xfrm>
        </p:spPr>
        <p:txBody>
          <a:bodyPr>
            <a:normAutofit/>
          </a:bodyPr>
          <a:lstStyle/>
          <a:p>
            <a:pPr algn="just"/>
            <a:r>
              <a:rPr lang="en-US" altLang="zh-CN" sz="2200" dirty="0">
                <a:latin typeface="NimbusRomNo9L-Regu"/>
              </a:rPr>
              <a:t>This paper developed a holistic approach to Image quality Assessment by individually targeting the impact of content and distortion on the overall image quality score.</a:t>
            </a:r>
          </a:p>
          <a:p>
            <a:pPr marL="0" indent="0" algn="just">
              <a:buNone/>
            </a:pPr>
            <a:endParaRPr lang="en-US" altLang="zh-CN" sz="2200" dirty="0">
              <a:latin typeface="NimbusRomNo9L-Regu"/>
            </a:endParaRPr>
          </a:p>
          <a:p>
            <a:pPr algn="just"/>
            <a:r>
              <a:rPr lang="en-US" altLang="zh-CN" sz="2200" dirty="0">
                <a:latin typeface="NimbusRomNo9L-Regu"/>
              </a:rPr>
              <a:t>NR-IQA for “Images in the Wild” benefits significantly from content aware image representations, especially when learned in an unsupervised setting.</a:t>
            </a:r>
          </a:p>
          <a:p>
            <a:pPr algn="just"/>
            <a:endParaRPr lang="en-US" altLang="zh-CN" sz="2200" dirty="0">
              <a:latin typeface="NimbusRomNo9L-Regu"/>
            </a:endParaRPr>
          </a:p>
          <a:p>
            <a:pPr algn="just"/>
            <a:r>
              <a:rPr lang="en-US" altLang="zh-CN" sz="2200" dirty="0">
                <a:latin typeface="NimbusRomNo9L-Regu"/>
              </a:rPr>
              <a:t>This work aims to demonstrate that complementary content and image quality-aware features can be learned and, when combined, achieve competitive performance across all evaluated IQA databases.</a:t>
            </a:r>
          </a:p>
          <a:p>
            <a:pPr algn="just"/>
            <a:endParaRPr lang="en-US" altLang="zh-CN" sz="2000" dirty="0">
              <a:latin typeface="NimbusRomNo9L-Regu"/>
            </a:endParaRPr>
          </a:p>
        </p:txBody>
      </p:sp>
    </p:spTree>
    <p:extLst>
      <p:ext uri="{BB962C8B-B14F-4D97-AF65-F5344CB8AC3E}">
        <p14:creationId xmlns:p14="http://schemas.microsoft.com/office/powerpoint/2010/main" val="644839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EA2DCA-4676-9D64-A5E3-D11992AD602E}"/>
              </a:ext>
            </a:extLst>
          </p:cNvPr>
          <p:cNvSpPr>
            <a:spLocks noGrp="1"/>
          </p:cNvSpPr>
          <p:nvPr>
            <p:ph type="title"/>
          </p:nvPr>
        </p:nvSpPr>
        <p:spPr/>
        <p:txBody>
          <a:bodyPr/>
          <a:lstStyle/>
          <a:p>
            <a:r>
              <a:rPr lang="en-US" altLang="zh-CN" dirty="0">
                <a:latin typeface="NimbusRomNo9L-Medi"/>
              </a:rPr>
              <a:t>Writing</a:t>
            </a:r>
            <a:endParaRPr lang="zh-CN" altLang="en-US" dirty="0">
              <a:latin typeface="NimbusRomNo9L-Medi"/>
            </a:endParaRPr>
          </a:p>
        </p:txBody>
      </p:sp>
      <p:sp>
        <p:nvSpPr>
          <p:cNvPr id="3" name="内容占位符 2">
            <a:extLst>
              <a:ext uri="{FF2B5EF4-FFF2-40B4-BE49-F238E27FC236}">
                <a16:creationId xmlns:a16="http://schemas.microsoft.com/office/drawing/2014/main" id="{FCD8FE1E-CE56-C49F-2058-6071EF5CE26D}"/>
              </a:ext>
            </a:extLst>
          </p:cNvPr>
          <p:cNvSpPr>
            <a:spLocks noGrp="1"/>
          </p:cNvSpPr>
          <p:nvPr>
            <p:ph idx="1"/>
          </p:nvPr>
        </p:nvSpPr>
        <p:spPr/>
        <p:txBody>
          <a:bodyPr>
            <a:normAutofit/>
          </a:bodyPr>
          <a:lstStyle/>
          <a:p>
            <a:pPr>
              <a:lnSpc>
                <a:spcPct val="150000"/>
              </a:lnSpc>
              <a:spcBef>
                <a:spcPct val="0"/>
              </a:spcBef>
            </a:pPr>
            <a:r>
              <a:rPr lang="en-US" altLang="zh-CN" dirty="0">
                <a:latin typeface="NimbusRomNo9L-Medi"/>
                <a:ea typeface="+mj-ea"/>
                <a:cs typeface="+mj-cs"/>
              </a:rPr>
              <a:t>Abstract</a:t>
            </a:r>
          </a:p>
          <a:p>
            <a:pPr>
              <a:lnSpc>
                <a:spcPct val="150000"/>
              </a:lnSpc>
              <a:spcBef>
                <a:spcPct val="0"/>
              </a:spcBef>
            </a:pPr>
            <a:r>
              <a:rPr lang="en-US" altLang="zh-CN" dirty="0">
                <a:latin typeface="NimbusRomNo9L-Medi"/>
                <a:ea typeface="+mj-ea"/>
                <a:cs typeface="+mj-cs"/>
              </a:rPr>
              <a:t>Introduction</a:t>
            </a:r>
            <a:endParaRPr lang="zh-CN" altLang="en-US" dirty="0">
              <a:latin typeface="NimbusRomNo9L-Medi"/>
              <a:ea typeface="+mj-ea"/>
              <a:cs typeface="+mj-cs"/>
            </a:endParaRPr>
          </a:p>
        </p:txBody>
      </p:sp>
    </p:spTree>
    <p:extLst>
      <p:ext uri="{BB962C8B-B14F-4D97-AF65-F5344CB8AC3E}">
        <p14:creationId xmlns:p14="http://schemas.microsoft.com/office/powerpoint/2010/main" val="338952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8BE753CF-91C1-FD8A-C21B-A026F9D2946B}"/>
              </a:ext>
            </a:extLst>
          </p:cNvPr>
          <p:cNvSpPr txBox="1"/>
          <p:nvPr/>
        </p:nvSpPr>
        <p:spPr>
          <a:xfrm>
            <a:off x="8418786" y="864041"/>
            <a:ext cx="3497705"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研究背景</a:t>
            </a:r>
            <a:r>
              <a:rPr lang="zh-CN" altLang="en-US" dirty="0">
                <a:solidFill>
                  <a:srgbClr val="2A2B2E"/>
                </a:solidFill>
                <a:latin typeface="PingFang SC"/>
              </a:rPr>
              <a:t>：自动感知</a:t>
            </a:r>
            <a:r>
              <a:rPr lang="en-US" altLang="zh-CN" dirty="0">
                <a:solidFill>
                  <a:srgbClr val="2A2B2E"/>
                </a:solidFill>
                <a:latin typeface="PingFang SC"/>
              </a:rPr>
              <a:t>IQA</a:t>
            </a:r>
            <a:r>
              <a:rPr lang="zh-CN" altLang="en-US" dirty="0">
                <a:solidFill>
                  <a:srgbClr val="2A2B2E"/>
                </a:solidFill>
                <a:latin typeface="PingFang SC"/>
              </a:rPr>
              <a:t>是一个具有挑战性的问题，应用广泛。</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5E40C5EA-F7CD-2A69-F420-FB6AC2833438}"/>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To advance research in this field, we propose a Mixture of Experts approach to train two separate encoders to learn high-level content and low-level image quality features in an unsupervised setting. The unique novelty of our approach is its ability to generate low-level representations of image quality that are complementary to high-level features representing image content. We refer to the framework used to train the two encoders as Re-IQA. For Image Quality Assessment in the Wild, we deploy the complementary low and high-level image representations obtained from the Re-IQA framework to train a linear regression model, which is used to map the image representations to the ground truth quality scores, refer Figure 1.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We conclude from our experiments that the low and high-level features obtained are indeed complementary and positively impact the performance of the linear regressor. A public release of all the codes associated with this work will be made available on GitHub.</a:t>
            </a:r>
          </a:p>
        </p:txBody>
      </p:sp>
    </p:spTree>
    <p:extLst>
      <p:ext uri="{BB962C8B-B14F-4D97-AF65-F5344CB8AC3E}">
        <p14:creationId xmlns:p14="http://schemas.microsoft.com/office/powerpoint/2010/main" val="3421216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7E2A-B46C-2962-5D70-3491A31EF90D}"/>
            </a:ext>
          </a:extLst>
        </p:cNvPr>
        <p:cNvGrpSpPr/>
        <p:nvPr/>
      </p:nvGrpSpPr>
      <p:grpSpPr>
        <a:xfrm>
          <a:off x="0" y="0"/>
          <a:ext cx="0" cy="0"/>
          <a:chOff x="0" y="0"/>
          <a:chExt cx="0" cy="0"/>
        </a:xfrm>
      </p:grpSpPr>
      <p:sp>
        <p:nvSpPr>
          <p:cNvPr id="33" name="文本框 32">
            <a:extLst>
              <a:ext uri="{FF2B5EF4-FFF2-40B4-BE49-F238E27FC236}">
                <a16:creationId xmlns:a16="http://schemas.microsoft.com/office/drawing/2014/main" id="{2F5923BB-2EBE-ABCE-425D-3D9F90EC6452}"/>
              </a:ext>
            </a:extLst>
          </p:cNvPr>
          <p:cNvSpPr txBox="1"/>
          <p:nvPr/>
        </p:nvSpPr>
        <p:spPr>
          <a:xfrm>
            <a:off x="8477008" y="1139938"/>
            <a:ext cx="349770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2A2B2E"/>
                </a:solidFill>
                <a:latin typeface="PingFang SC"/>
              </a:rPr>
              <a:t>本文方法概括：训练两个独立的编码器，以在无监督环境中学习高级内容和低级图像质量特征。</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D0E03497-9408-C0E4-4B2C-54C7B1F40649}"/>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a:t>
            </a:r>
            <a:r>
              <a:rPr lang="en-US" altLang="zh-CN" sz="2000" dirty="0">
                <a:latin typeface="Times New Roman" panose="02020603050405020304" pitchFamily="18" charset="0"/>
                <a:cs typeface="Times New Roman" panose="02020603050405020304" pitchFamily="18" charset="0"/>
              </a:rPr>
              <a:t>To advance research in this field, we propose a Mixture of Experts approach to train two separate encoders to learn high-level content and low-level image quality features in an unsupervised setting.</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 The unique novelty of our approach is its ability to generate low-level representations of image quality that are complementary to high-level features representing image content. We refer to the framework used to train the two encoders as Re-IQA. For Image Quality Assessment in the Wild, we deploy the complementary low and high-level image representations obtained from the Re-IQA framework to train a linear regression model, which is used to map the image representations to the ground truth quality scores, refer Figure 1.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We conclude from our experiments that the low and high-level features obtained are indeed complementary and positively impact the performance of the linear regressor. A public release of all the codes associated with this work will be made available on GitHub.</a:t>
            </a:r>
          </a:p>
        </p:txBody>
      </p:sp>
    </p:spTree>
    <p:extLst>
      <p:ext uri="{BB962C8B-B14F-4D97-AF65-F5344CB8AC3E}">
        <p14:creationId xmlns:p14="http://schemas.microsoft.com/office/powerpoint/2010/main" val="154425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D900-DA86-A840-E657-54434DB00A72}"/>
            </a:ext>
          </a:extLst>
        </p:cNvPr>
        <p:cNvGrpSpPr/>
        <p:nvPr/>
      </p:nvGrpSpPr>
      <p:grpSpPr>
        <a:xfrm>
          <a:off x="0" y="0"/>
          <a:ext cx="0" cy="0"/>
          <a:chOff x="0" y="0"/>
          <a:chExt cx="0" cy="0"/>
        </a:xfrm>
      </p:grpSpPr>
      <p:sp>
        <p:nvSpPr>
          <p:cNvPr id="33" name="文本框 32">
            <a:extLst>
              <a:ext uri="{FF2B5EF4-FFF2-40B4-BE49-F238E27FC236}">
                <a16:creationId xmlns:a16="http://schemas.microsoft.com/office/drawing/2014/main" id="{F2632A08-7710-A6C8-34D2-3BEA7534B0D3}"/>
              </a:ext>
            </a:extLst>
          </p:cNvPr>
          <p:cNvSpPr txBox="1"/>
          <p:nvPr/>
        </p:nvSpPr>
        <p:spPr>
          <a:xfrm>
            <a:off x="8477008" y="2275055"/>
            <a:ext cx="349770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2A2B2E"/>
                </a:solidFill>
                <a:latin typeface="PingFang SC"/>
              </a:rPr>
              <a:t>方法特点和名称：生成图像质量的低级表示，与表示图像内容的高级特征相补充。称为</a:t>
            </a:r>
            <a:r>
              <a:rPr lang="en-US" altLang="zh-CN" dirty="0">
                <a:solidFill>
                  <a:srgbClr val="2A2B2E"/>
                </a:solidFill>
                <a:latin typeface="PingFang SC"/>
              </a:rPr>
              <a:t>Re-IQA</a:t>
            </a:r>
            <a:r>
              <a:rPr lang="zh-CN" altLang="en-US" dirty="0">
                <a:solidFill>
                  <a:srgbClr val="2A2B2E"/>
                </a:solidFill>
                <a:latin typeface="PingFang SC"/>
              </a:rPr>
              <a:t>。</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8CADF43A-14EC-AA3E-E0BB-046D0BBE5556}"/>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To advance research in this field, we propose a Mixture of Experts approach to train two separate encoders to learn high-level content and low-level image quality features in an unsupervised setting. </a:t>
            </a:r>
            <a:r>
              <a:rPr lang="en-US" altLang="zh-CN" sz="2000" dirty="0">
                <a:latin typeface="Times New Roman" panose="02020603050405020304" pitchFamily="18" charset="0"/>
                <a:cs typeface="Times New Roman" panose="02020603050405020304" pitchFamily="18" charset="0"/>
              </a:rPr>
              <a:t>The unique novelty of our approach is its ability to generate low-level representations of image quality that are complementary to high-level features representing image content. We refer to the framework used to train the two encoders as Re-IQA.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For Image Quality Assessment in the Wild, we deploy the complementary low and high-level image representations obtained from the Re-IQA framework to train a linear regression model, which is used to map the image representations to the ground truth quality scores, refer Figure 1.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We conclude from our experiments that the low and high-level features obtained are indeed complementary and positively impact the performance of the linear regressor. A public release of all the codes associated with this work will be made available on GitHub.</a:t>
            </a:r>
          </a:p>
        </p:txBody>
      </p:sp>
    </p:spTree>
    <p:extLst>
      <p:ext uri="{BB962C8B-B14F-4D97-AF65-F5344CB8AC3E}">
        <p14:creationId xmlns:p14="http://schemas.microsoft.com/office/powerpoint/2010/main" val="2618156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5080-9EA9-2B84-D29A-3F5C7F5DEEDF}"/>
            </a:ext>
          </a:extLst>
        </p:cNvPr>
        <p:cNvGrpSpPr/>
        <p:nvPr/>
      </p:nvGrpSpPr>
      <p:grpSpPr>
        <a:xfrm>
          <a:off x="0" y="0"/>
          <a:ext cx="0" cy="0"/>
          <a:chOff x="0" y="0"/>
          <a:chExt cx="0" cy="0"/>
        </a:xfrm>
      </p:grpSpPr>
      <p:sp>
        <p:nvSpPr>
          <p:cNvPr id="33" name="文本框 32">
            <a:extLst>
              <a:ext uri="{FF2B5EF4-FFF2-40B4-BE49-F238E27FC236}">
                <a16:creationId xmlns:a16="http://schemas.microsoft.com/office/drawing/2014/main" id="{B9F5F2B9-595A-B8CF-BBEE-93C892DDCD3E}"/>
              </a:ext>
            </a:extLst>
          </p:cNvPr>
          <p:cNvSpPr txBox="1"/>
          <p:nvPr/>
        </p:nvSpPr>
        <p:spPr>
          <a:xfrm>
            <a:off x="8547953" y="2976620"/>
            <a:ext cx="3497705"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2A2B2E"/>
                </a:solidFill>
                <a:latin typeface="PingFang SC"/>
              </a:rPr>
              <a:t>针对真实失真图像得训练流程：利用从</a:t>
            </a:r>
            <a:r>
              <a:rPr lang="en-US" altLang="zh-CN" dirty="0">
                <a:solidFill>
                  <a:srgbClr val="2A2B2E"/>
                </a:solidFill>
                <a:latin typeface="PingFang SC"/>
              </a:rPr>
              <a:t>Re-IQA</a:t>
            </a:r>
            <a:r>
              <a:rPr lang="zh-CN" altLang="en-US" dirty="0">
                <a:solidFill>
                  <a:srgbClr val="2A2B2E"/>
                </a:solidFill>
                <a:latin typeface="PingFang SC"/>
              </a:rPr>
              <a:t>框架中获得的互补的低级和高级图像表示来训练线性回归模型。</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CEEEF4DE-D11E-6471-3CCF-DA1A40FC58CF}"/>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To advance research in this field, we propose a Mixture of Experts approach to train two separate encoders to learn high-level content and low-level image quality features in an unsupervised setting. The unique novelty of our approach is its ability to generate low-level representations of image quality that are complementary to high-level features representing image content. We refer to the framework used to train the two encoders as Re-IQA. </a:t>
            </a:r>
            <a:r>
              <a:rPr lang="en-US" altLang="zh-CN" sz="2000" dirty="0">
                <a:latin typeface="Times New Roman" panose="02020603050405020304" pitchFamily="18" charset="0"/>
                <a:cs typeface="Times New Roman" panose="02020603050405020304" pitchFamily="18" charset="0"/>
              </a:rPr>
              <a:t>For Image Quality Assessment in the Wild, we deploy the complementary low and high-level image representations obtained from the Re-IQA framework to train a linear regression model, which is used to map the image representations to the ground truth quality scores, refer Figure 1.</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We conclude from our experiments that the low and high-level features obtained are indeed complementary and positively impact the performance of the linear regressor. A public release of all the codes associated with this work will be made available on GitHub.</a:t>
            </a:r>
          </a:p>
        </p:txBody>
      </p:sp>
    </p:spTree>
    <p:extLst>
      <p:ext uri="{BB962C8B-B14F-4D97-AF65-F5344CB8AC3E}">
        <p14:creationId xmlns:p14="http://schemas.microsoft.com/office/powerpoint/2010/main" val="2674268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0A09B-3F22-2CB1-88F0-6955BB2A2606}"/>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4EF2BE75-A923-9D3E-3DA4-3C1DBAD8B5E2}"/>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To advance research in this field, we propose a Mixture of Experts approach to train two separate encoders to learn high-level content and low-level image quality features in an unsupervised setting. The unique novelty of our approach is its ability to generate low-level representations of image quality that are complementary to high-level features representing image content. We refer to the framework used to train the two encoders as Re-IQA. For Image Quality Assessment in the Wild, we deploy the complementary low and high-level image representations obtained from the Re-IQA framework to train a linear regression model, which is used to map the image representations to the ground truth quality scores, refer Figure 1.</a:t>
            </a:r>
            <a:r>
              <a:rPr lang="en-US" altLang="zh-CN" sz="2000" dirty="0">
                <a:latin typeface="Times New Roman" panose="02020603050405020304" pitchFamily="18" charset="0"/>
                <a:cs typeface="Times New Roman" panose="02020603050405020304" pitchFamily="18" charset="0"/>
              </a:rPr>
              <a:t>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We conclude from our experiments that the low and high-level features obtained are indeed complementary and positively impact the performance of the linear regressor. A public release of all the codes associated with this work will be made available on GitHub.</a:t>
            </a:r>
          </a:p>
        </p:txBody>
      </p:sp>
      <p:grpSp>
        <p:nvGrpSpPr>
          <p:cNvPr id="2" name="组合 1">
            <a:extLst>
              <a:ext uri="{FF2B5EF4-FFF2-40B4-BE49-F238E27FC236}">
                <a16:creationId xmlns:a16="http://schemas.microsoft.com/office/drawing/2014/main" id="{73C97536-0074-4149-B50D-D9C37C2636FF}"/>
              </a:ext>
            </a:extLst>
          </p:cNvPr>
          <p:cNvGrpSpPr/>
          <p:nvPr/>
        </p:nvGrpSpPr>
        <p:grpSpPr>
          <a:xfrm>
            <a:off x="8708676" y="4634952"/>
            <a:ext cx="2023158" cy="442141"/>
            <a:chOff x="9846328" y="4023617"/>
            <a:chExt cx="2018240" cy="442141"/>
          </a:xfrm>
        </p:grpSpPr>
        <p:sp>
          <p:nvSpPr>
            <p:cNvPr id="3" name="矩形 2">
              <a:extLst>
                <a:ext uri="{FF2B5EF4-FFF2-40B4-BE49-F238E27FC236}">
                  <a16:creationId xmlns:a16="http://schemas.microsoft.com/office/drawing/2014/main" id="{1D46C4DE-3CAC-803C-F582-521417B3951B}"/>
                </a:ext>
              </a:extLst>
            </p:cNvPr>
            <p:cNvSpPr/>
            <p:nvPr/>
          </p:nvSpPr>
          <p:spPr>
            <a:xfrm>
              <a:off x="9846328" y="4023617"/>
              <a:ext cx="1407168" cy="44214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A2C4B04-205B-F95F-D665-DE5C89513EDA}"/>
                </a:ext>
              </a:extLst>
            </p:cNvPr>
            <p:cNvSpPr txBox="1"/>
            <p:nvPr/>
          </p:nvSpPr>
          <p:spPr>
            <a:xfrm>
              <a:off x="9990140" y="4060022"/>
              <a:ext cx="1874428" cy="369332"/>
            </a:xfrm>
            <a:prstGeom prst="rect">
              <a:avLst/>
            </a:prstGeom>
            <a:noFill/>
          </p:spPr>
          <p:txBody>
            <a:bodyPr wrap="square">
              <a:spAutoFit/>
            </a:bodyPr>
            <a:lstStyle/>
            <a:p>
              <a:r>
                <a:rPr lang="zh-CN" altLang="en-US" dirty="0"/>
                <a:t>实验效果</a:t>
              </a:r>
            </a:p>
          </p:txBody>
        </p:sp>
      </p:grpSp>
    </p:spTree>
    <p:extLst>
      <p:ext uri="{BB962C8B-B14F-4D97-AF65-F5344CB8AC3E}">
        <p14:creationId xmlns:p14="http://schemas.microsoft.com/office/powerpoint/2010/main" val="1849498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4F07-C100-F74D-A1DD-7113788E6F3D}"/>
            </a:ext>
          </a:extLst>
        </p:cNvPr>
        <p:cNvGrpSpPr/>
        <p:nvPr/>
      </p:nvGrpSpPr>
      <p:grpSpPr>
        <a:xfrm>
          <a:off x="0" y="0"/>
          <a:ext cx="0" cy="0"/>
          <a:chOff x="0" y="0"/>
          <a:chExt cx="0" cy="0"/>
        </a:xfrm>
      </p:grpSpPr>
      <p:sp>
        <p:nvSpPr>
          <p:cNvPr id="33" name="文本框 32">
            <a:extLst>
              <a:ext uri="{FF2B5EF4-FFF2-40B4-BE49-F238E27FC236}">
                <a16:creationId xmlns:a16="http://schemas.microsoft.com/office/drawing/2014/main" id="{806E8364-EC54-674F-A05F-F9DBBD540CCB}"/>
              </a:ext>
            </a:extLst>
          </p:cNvPr>
          <p:cNvSpPr txBox="1"/>
          <p:nvPr/>
        </p:nvSpPr>
        <p:spPr>
          <a:xfrm>
            <a:off x="8477008" y="5270502"/>
            <a:ext cx="349770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2A2B2E"/>
                </a:solidFill>
                <a:latin typeface="PingFang SC"/>
              </a:rPr>
              <a:t>强调结论：低级特征和高级特征是互补的，并积极影响线性回归器的性能。</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76072F5B-584A-F6E2-A15F-BF8D4EF8FBE0}"/>
              </a:ext>
            </a:extLst>
          </p:cNvPr>
          <p:cNvSpPr txBox="1"/>
          <p:nvPr/>
        </p:nvSpPr>
        <p:spPr>
          <a:xfrm>
            <a:off x="217287" y="151179"/>
            <a:ext cx="8084960" cy="6555641"/>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Automatic Perceptual Image Quality Assessment is a challenging problem that impacts billions of internet, and social media users daily. To advance research in this field, we propose a Mixture of Experts approach to train two separate encoders to learn high-level content and low-level image quality features in an unsupervised setting. The unique novelty of our approach is its ability to generate low-level representations of image quality that are complementary to high-level features representing image content. We refer to the framework used to train the two encoders as Re-IQA. For Image Quality Assessment in the Wild, we deploy the complementary low and high-level image representations obtained from the Re-IQA framework to train a linear regression model, which is used to map the image representations to the ground truth quality scores, refer Figure 1. Our method achieves state-of-the-art performance on multiple large-scale image quality assessment databases containing both real and synthetic distortions, demonstrating how deep neural networks can be trained in an unsupervised setting to produce perceptually relevant representations. </a:t>
            </a:r>
            <a:r>
              <a:rPr lang="en-US" altLang="zh-CN" sz="2000" dirty="0">
                <a:latin typeface="Times New Roman" panose="02020603050405020304" pitchFamily="18" charset="0"/>
                <a:cs typeface="Times New Roman" panose="02020603050405020304" pitchFamily="18" charset="0"/>
              </a:rPr>
              <a:t>We conclude from our experiments that the low and high-level features obtained are indeed complementary and positively impact the performance of the linear regressor.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A public release of all the codes associated with this work will be made available on GitHub.</a:t>
            </a:r>
          </a:p>
        </p:txBody>
      </p:sp>
    </p:spTree>
    <p:extLst>
      <p:ext uri="{BB962C8B-B14F-4D97-AF65-F5344CB8AC3E}">
        <p14:creationId xmlns:p14="http://schemas.microsoft.com/office/powerpoint/2010/main" val="1616966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1/5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zh-CN" altLang="en-US" dirty="0"/>
              <a:t>研究背景</a:t>
            </a:r>
            <a:r>
              <a:rPr lang="zh-CN" altLang="en-US" dirty="0">
                <a:solidFill>
                  <a:srgbClr val="101214"/>
                </a:solidFill>
                <a:latin typeface="PingFang SC"/>
              </a:rPr>
              <a:t>：</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646331"/>
          </a:xfrm>
          <a:prstGeom prst="rect">
            <a:avLst/>
          </a:prstGeom>
          <a:noFill/>
        </p:spPr>
        <p:txBody>
          <a:bodyPr wrap="square">
            <a:spAutoFit/>
          </a:bodyPr>
          <a:lstStyle/>
          <a:p>
            <a:r>
              <a:rPr lang="zh-CN" altLang="en-US" b="0" i="0" dirty="0">
                <a:solidFill>
                  <a:srgbClr val="101214"/>
                </a:solidFill>
                <a:effectLst/>
                <a:latin typeface="PingFang SC"/>
              </a:rPr>
              <a:t>在各种社交媒体平台上，每天有数百万张数字图像被分享。</a:t>
            </a:r>
            <a:endParaRPr lang="zh-CN" altLang="en-US"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70705" y="5330887"/>
            <a:ext cx="4311694" cy="923330"/>
          </a:xfrm>
          <a:prstGeom prst="rect">
            <a:avLst/>
          </a:prstGeom>
          <a:noFill/>
        </p:spPr>
        <p:txBody>
          <a:bodyPr wrap="square">
            <a:spAutoFit/>
          </a:bodyPr>
          <a:lstStyle/>
          <a:p>
            <a:r>
              <a:rPr lang="zh-CN" altLang="en-US" dirty="0"/>
              <a:t>准确预测数字图像的感知质量是一项重要的工作，它影响着数十亿图像的存储、处理和向公众展示的方式。</a:t>
            </a:r>
          </a:p>
        </p:txBody>
      </p:sp>
      <p:sp>
        <p:nvSpPr>
          <p:cNvPr id="35" name="文本框 34">
            <a:extLst>
              <a:ext uri="{FF2B5EF4-FFF2-40B4-BE49-F238E27FC236}">
                <a16:creationId xmlns:a16="http://schemas.microsoft.com/office/drawing/2014/main" id="{282DE8C2-3C12-2DC0-88C9-F02F480EA320}"/>
              </a:ext>
            </a:extLst>
          </p:cNvPr>
          <p:cNvSpPr txBox="1"/>
          <p:nvPr/>
        </p:nvSpPr>
        <p:spPr>
          <a:xfrm>
            <a:off x="737156" y="3742224"/>
            <a:ext cx="4311693" cy="923330"/>
          </a:xfrm>
          <a:prstGeom prst="rect">
            <a:avLst/>
          </a:prstGeom>
          <a:noFill/>
        </p:spPr>
        <p:txBody>
          <a:bodyPr wrap="square">
            <a:spAutoFit/>
          </a:bodyPr>
          <a:lstStyle/>
          <a:p>
            <a:r>
              <a:rPr lang="zh-CN" altLang="en-US" dirty="0"/>
              <a:t>社交媒体平台也使用</a:t>
            </a:r>
            <a:r>
              <a:rPr lang="en-US" altLang="zh-CN" dirty="0"/>
              <a:t>IQA</a:t>
            </a:r>
            <a:r>
              <a:rPr lang="zh-CN" altLang="en-US" dirty="0"/>
              <a:t>指标来决定图像上传后处理的参数设置，如调整大小、压缩、增强等。</a:t>
            </a:r>
          </a:p>
        </p:txBody>
      </p:sp>
      <p:cxnSp>
        <p:nvCxnSpPr>
          <p:cNvPr id="14" name="直接连接符 13">
            <a:extLst>
              <a:ext uri="{FF2B5EF4-FFF2-40B4-BE49-F238E27FC236}">
                <a16:creationId xmlns:a16="http://schemas.microsoft.com/office/drawing/2014/main" id="{2C6B2197-7435-5D03-3A8B-C8D72A113EE4}"/>
              </a:ext>
            </a:extLst>
          </p:cNvPr>
          <p:cNvCxnSpPr>
            <a:cxnSpLocks/>
            <a:stCxn id="20" idx="3"/>
          </p:cNvCxnSpPr>
          <p:nvPr/>
        </p:nvCxnSpPr>
        <p:spPr>
          <a:xfrm flipV="1">
            <a:off x="4778867" y="1955745"/>
            <a:ext cx="1629816" cy="634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483F4B2-5055-F75A-F93C-0ACF53986F92}"/>
              </a:ext>
            </a:extLst>
          </p:cNvPr>
          <p:cNvCxnSpPr>
            <a:cxnSpLocks/>
          </p:cNvCxnSpPr>
          <p:nvPr/>
        </p:nvCxnSpPr>
        <p:spPr>
          <a:xfrm flipV="1">
            <a:off x="5014902" y="3740668"/>
            <a:ext cx="1582967" cy="2874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p:cNvCxnSpPr>
          <p:nvPr/>
        </p:nvCxnSpPr>
        <p:spPr>
          <a:xfrm>
            <a:off x="5014903" y="5416420"/>
            <a:ext cx="1393780" cy="174839"/>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D084193-3B3E-133C-AD0C-30256AE23710}"/>
              </a:ext>
            </a:extLst>
          </p:cNvPr>
          <p:cNvPicPr>
            <a:picLocks noChangeAspect="1"/>
          </p:cNvPicPr>
          <p:nvPr/>
        </p:nvPicPr>
        <p:blipFill>
          <a:blip r:embed="rId3"/>
          <a:stretch>
            <a:fillRect/>
          </a:stretch>
        </p:blipFill>
        <p:spPr>
          <a:xfrm>
            <a:off x="6239971" y="1741350"/>
            <a:ext cx="5803405" cy="2390631"/>
          </a:xfrm>
          <a:prstGeom prst="rect">
            <a:avLst/>
          </a:prstGeom>
        </p:spPr>
      </p:pic>
      <p:pic>
        <p:nvPicPr>
          <p:cNvPr id="8" name="图片 7">
            <a:extLst>
              <a:ext uri="{FF2B5EF4-FFF2-40B4-BE49-F238E27FC236}">
                <a16:creationId xmlns:a16="http://schemas.microsoft.com/office/drawing/2014/main" id="{C02909BB-A39A-7BA2-B1A8-6B5BF78F3D5D}"/>
              </a:ext>
            </a:extLst>
          </p:cNvPr>
          <p:cNvPicPr>
            <a:picLocks noChangeAspect="1"/>
          </p:cNvPicPr>
          <p:nvPr/>
        </p:nvPicPr>
        <p:blipFill>
          <a:blip r:embed="rId4"/>
          <a:stretch>
            <a:fillRect/>
          </a:stretch>
        </p:blipFill>
        <p:spPr>
          <a:xfrm>
            <a:off x="6239970" y="4019329"/>
            <a:ext cx="5803405" cy="2092006"/>
          </a:xfrm>
          <a:prstGeom prst="rect">
            <a:avLst/>
          </a:prstGeom>
        </p:spPr>
      </p:pic>
    </p:spTree>
    <p:extLst>
      <p:ext uri="{BB962C8B-B14F-4D97-AF65-F5344CB8AC3E}">
        <p14:creationId xmlns:p14="http://schemas.microsoft.com/office/powerpoint/2010/main" val="822647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2/5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en-US" altLang="zh-CN" dirty="0"/>
              <a:t>IQA</a:t>
            </a:r>
            <a:r>
              <a:rPr lang="zh-CN" altLang="en-US" dirty="0"/>
              <a:t>分类</a:t>
            </a:r>
            <a:r>
              <a:rPr lang="zh-CN" altLang="en-US" dirty="0">
                <a:solidFill>
                  <a:srgbClr val="101214"/>
                </a:solidFill>
                <a:latin typeface="PingFang SC"/>
              </a:rPr>
              <a:t>：</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646331"/>
          </a:xfrm>
          <a:prstGeom prst="rect">
            <a:avLst/>
          </a:prstGeom>
          <a:noFill/>
        </p:spPr>
        <p:txBody>
          <a:bodyPr wrap="square">
            <a:spAutoFit/>
          </a:bodyPr>
          <a:lstStyle/>
          <a:p>
            <a:r>
              <a:rPr lang="zh-CN" altLang="en-US" dirty="0">
                <a:solidFill>
                  <a:srgbClr val="101214"/>
                </a:solidFill>
                <a:latin typeface="PingFang SC"/>
              </a:rPr>
              <a:t>方法分类： 主要分为全参考</a:t>
            </a:r>
            <a:r>
              <a:rPr lang="en-US" altLang="zh-CN" dirty="0">
                <a:solidFill>
                  <a:srgbClr val="101214"/>
                </a:solidFill>
                <a:latin typeface="PingFang SC"/>
              </a:rPr>
              <a:t>(FR)</a:t>
            </a:r>
            <a:r>
              <a:rPr lang="zh-CN" altLang="en-US" dirty="0">
                <a:solidFill>
                  <a:srgbClr val="101214"/>
                </a:solidFill>
                <a:latin typeface="PingFang SC"/>
              </a:rPr>
              <a:t>和无参考</a:t>
            </a:r>
            <a:r>
              <a:rPr lang="en-US" altLang="zh-CN" dirty="0">
                <a:solidFill>
                  <a:srgbClr val="101214"/>
                </a:solidFill>
                <a:latin typeface="PingFang SC"/>
              </a:rPr>
              <a:t>(NR)</a:t>
            </a:r>
            <a:r>
              <a:rPr lang="zh-CN" altLang="en-US" dirty="0">
                <a:solidFill>
                  <a:srgbClr val="101214"/>
                </a:solidFill>
                <a:latin typeface="PingFang SC"/>
              </a:rPr>
              <a:t>算法。</a:t>
            </a:r>
            <a:endParaRPr lang="zh-CN" altLang="en-US"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03209" y="4498418"/>
            <a:ext cx="4311694" cy="1200329"/>
          </a:xfrm>
          <a:prstGeom prst="rect">
            <a:avLst/>
          </a:prstGeom>
          <a:noFill/>
        </p:spPr>
        <p:txBody>
          <a:bodyPr wrap="square">
            <a:spAutoFit/>
          </a:bodyPr>
          <a:lstStyle/>
          <a:p>
            <a:r>
              <a:rPr lang="zh-CN" altLang="en-US" dirty="0"/>
              <a:t>强调无参考方法的优势：不需要参考图像，也不需要任何关于当前失真的知识来量化测试图像中人类可感知的质量。可适用于真实失真场景。</a:t>
            </a:r>
          </a:p>
        </p:txBody>
      </p:sp>
      <p:cxnSp>
        <p:nvCxnSpPr>
          <p:cNvPr id="14" name="直接连接符 13">
            <a:extLst>
              <a:ext uri="{FF2B5EF4-FFF2-40B4-BE49-F238E27FC236}">
                <a16:creationId xmlns:a16="http://schemas.microsoft.com/office/drawing/2014/main" id="{2C6B2197-7435-5D03-3A8B-C8D72A113EE4}"/>
              </a:ext>
            </a:extLst>
          </p:cNvPr>
          <p:cNvCxnSpPr>
            <a:cxnSpLocks/>
            <a:stCxn id="20" idx="3"/>
          </p:cNvCxnSpPr>
          <p:nvPr/>
        </p:nvCxnSpPr>
        <p:spPr>
          <a:xfrm flipV="1">
            <a:off x="4778867" y="1955745"/>
            <a:ext cx="1629816" cy="634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p:cNvCxnSpPr>
          <p:nvPr/>
        </p:nvCxnSpPr>
        <p:spPr>
          <a:xfrm flipV="1">
            <a:off x="4887096" y="4402667"/>
            <a:ext cx="1208904" cy="348827"/>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E56A5971-6DF9-A1A1-4D4E-DF6051004763}"/>
              </a:ext>
            </a:extLst>
          </p:cNvPr>
          <p:cNvPicPr>
            <a:picLocks noChangeAspect="1"/>
          </p:cNvPicPr>
          <p:nvPr/>
        </p:nvPicPr>
        <p:blipFill>
          <a:blip r:embed="rId3"/>
          <a:stretch>
            <a:fillRect/>
          </a:stretch>
        </p:blipFill>
        <p:spPr>
          <a:xfrm>
            <a:off x="6281053" y="1839675"/>
            <a:ext cx="5677092" cy="3582073"/>
          </a:xfrm>
          <a:prstGeom prst="rect">
            <a:avLst/>
          </a:prstGeom>
        </p:spPr>
      </p:pic>
    </p:spTree>
    <p:extLst>
      <p:ext uri="{BB962C8B-B14F-4D97-AF65-F5344CB8AC3E}">
        <p14:creationId xmlns:p14="http://schemas.microsoft.com/office/powerpoint/2010/main" val="2837472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3/5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en-US" altLang="zh-CN" dirty="0">
                <a:solidFill>
                  <a:srgbClr val="101214"/>
                </a:solidFill>
                <a:latin typeface="PingFang SC"/>
              </a:rPr>
              <a:t>NR-IQA</a:t>
            </a:r>
            <a:r>
              <a:rPr lang="zh-CN" altLang="en-US" dirty="0">
                <a:solidFill>
                  <a:srgbClr val="101214"/>
                </a:solidFill>
                <a:latin typeface="PingFang SC"/>
              </a:rPr>
              <a:t>的挑战：</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923330"/>
          </a:xfrm>
          <a:prstGeom prst="rect">
            <a:avLst/>
          </a:prstGeom>
          <a:noFill/>
        </p:spPr>
        <p:txBody>
          <a:bodyPr wrap="square">
            <a:spAutoFit/>
          </a:bodyPr>
          <a:lstStyle/>
          <a:p>
            <a:r>
              <a:rPr lang="zh-CN" altLang="en-US" dirty="0"/>
              <a:t>本文目标：学习低级别的质量感知图像表示，这些表示与代表图像内容的高级特征相补充。</a:t>
            </a:r>
            <a:endParaRPr lang="en-US" altLang="zh-CN"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03209" y="3973211"/>
            <a:ext cx="4311694" cy="646331"/>
          </a:xfrm>
          <a:prstGeom prst="rect">
            <a:avLst/>
          </a:prstGeom>
          <a:noFill/>
        </p:spPr>
        <p:txBody>
          <a:bodyPr wrap="square">
            <a:spAutoFit/>
          </a:bodyPr>
          <a:lstStyle/>
          <a:p>
            <a:r>
              <a:rPr lang="zh-CN" altLang="en-US" dirty="0"/>
              <a:t>挑战</a:t>
            </a:r>
            <a:r>
              <a:rPr lang="en-US" altLang="zh-CN" dirty="0"/>
              <a:t>1</a:t>
            </a:r>
            <a:r>
              <a:rPr lang="zh-CN" altLang="en-US" dirty="0"/>
              <a:t>：图像失真感知是内容依赖的，并且受到内容相关的感知过程的严重影响。</a:t>
            </a:r>
            <a:endParaRPr lang="en-US" altLang="zh-CN" dirty="0"/>
          </a:p>
        </p:txBody>
      </p:sp>
      <p:cxnSp>
        <p:nvCxnSpPr>
          <p:cNvPr id="14" name="直接连接符 13">
            <a:extLst>
              <a:ext uri="{FF2B5EF4-FFF2-40B4-BE49-F238E27FC236}">
                <a16:creationId xmlns:a16="http://schemas.microsoft.com/office/drawing/2014/main" id="{2C6B2197-7435-5D03-3A8B-C8D72A113EE4}"/>
              </a:ext>
            </a:extLst>
          </p:cNvPr>
          <p:cNvCxnSpPr>
            <a:cxnSpLocks/>
          </p:cNvCxnSpPr>
          <p:nvPr/>
        </p:nvCxnSpPr>
        <p:spPr>
          <a:xfrm flipV="1">
            <a:off x="4673600" y="1955745"/>
            <a:ext cx="1735083" cy="4904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a:stCxn id="21" idx="3"/>
          </p:cNvCxnSpPr>
          <p:nvPr/>
        </p:nvCxnSpPr>
        <p:spPr>
          <a:xfrm flipV="1">
            <a:off x="5014903" y="3620323"/>
            <a:ext cx="1300195" cy="676054"/>
          </a:xfrm>
          <a:prstGeom prst="line">
            <a:avLst/>
          </a:prstGeom>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840BE0F2-34D4-EBB7-4DC3-E6D770B64AAA}"/>
              </a:ext>
            </a:extLst>
          </p:cNvPr>
          <p:cNvPicPr>
            <a:picLocks noChangeAspect="1"/>
          </p:cNvPicPr>
          <p:nvPr/>
        </p:nvPicPr>
        <p:blipFill>
          <a:blip r:embed="rId3"/>
          <a:stretch>
            <a:fillRect/>
          </a:stretch>
        </p:blipFill>
        <p:spPr>
          <a:xfrm>
            <a:off x="6408683" y="98218"/>
            <a:ext cx="5140257" cy="2052448"/>
          </a:xfrm>
          <a:prstGeom prst="rect">
            <a:avLst/>
          </a:prstGeom>
        </p:spPr>
      </p:pic>
      <p:pic>
        <p:nvPicPr>
          <p:cNvPr id="8" name="图片 7">
            <a:extLst>
              <a:ext uri="{FF2B5EF4-FFF2-40B4-BE49-F238E27FC236}">
                <a16:creationId xmlns:a16="http://schemas.microsoft.com/office/drawing/2014/main" id="{05F7914E-E0E1-676E-68F4-86CDF1F58B06}"/>
              </a:ext>
            </a:extLst>
          </p:cNvPr>
          <p:cNvPicPr>
            <a:picLocks noChangeAspect="1"/>
          </p:cNvPicPr>
          <p:nvPr/>
        </p:nvPicPr>
        <p:blipFill>
          <a:blip r:embed="rId4"/>
          <a:stretch>
            <a:fillRect/>
          </a:stretch>
        </p:blipFill>
        <p:spPr>
          <a:xfrm>
            <a:off x="6513950" y="2059766"/>
            <a:ext cx="5034990" cy="4750219"/>
          </a:xfrm>
          <a:prstGeom prst="rect">
            <a:avLst/>
          </a:prstGeom>
        </p:spPr>
      </p:pic>
      <p:sp>
        <p:nvSpPr>
          <p:cNvPr id="9" name="文本框 8">
            <a:extLst>
              <a:ext uri="{FF2B5EF4-FFF2-40B4-BE49-F238E27FC236}">
                <a16:creationId xmlns:a16="http://schemas.microsoft.com/office/drawing/2014/main" id="{1A696EBA-66CF-81DC-D57B-E5BCFD6AA619}"/>
              </a:ext>
            </a:extLst>
          </p:cNvPr>
          <p:cNvSpPr txBox="1"/>
          <p:nvPr/>
        </p:nvSpPr>
        <p:spPr>
          <a:xfrm>
            <a:off x="703209" y="5427803"/>
            <a:ext cx="4311694" cy="923330"/>
          </a:xfrm>
          <a:prstGeom prst="rect">
            <a:avLst/>
          </a:prstGeom>
          <a:noFill/>
        </p:spPr>
        <p:txBody>
          <a:bodyPr wrap="square">
            <a:spAutoFit/>
          </a:bodyPr>
          <a:lstStyle/>
          <a:p>
            <a:r>
              <a:rPr lang="zh-CN" altLang="en-US" dirty="0"/>
              <a:t>挑战</a:t>
            </a:r>
            <a:r>
              <a:rPr lang="en-US" altLang="zh-CN" dirty="0"/>
              <a:t>2</a:t>
            </a:r>
            <a:r>
              <a:rPr lang="zh-CN" altLang="en-US" dirty="0"/>
              <a:t>：</a:t>
            </a:r>
            <a:r>
              <a:rPr lang="zh-CN" altLang="en-US" b="0" i="0" dirty="0">
                <a:solidFill>
                  <a:srgbClr val="2A2B2E"/>
                </a:solidFill>
                <a:effectLst/>
                <a:latin typeface="PingFang SC"/>
              </a:rPr>
              <a:t>感知质量与图像元数据</a:t>
            </a:r>
            <a:r>
              <a:rPr lang="en-US" altLang="zh-CN" b="0" i="0" dirty="0">
                <a:solidFill>
                  <a:srgbClr val="2A2B2E"/>
                </a:solidFill>
                <a:effectLst/>
                <a:latin typeface="PingFang SC"/>
              </a:rPr>
              <a:t>(</a:t>
            </a:r>
            <a:r>
              <a:rPr lang="zh-CN" altLang="en-US" b="0" i="0" dirty="0">
                <a:solidFill>
                  <a:srgbClr val="2A2B2E"/>
                </a:solidFill>
                <a:effectLst/>
                <a:latin typeface="PingFang SC"/>
              </a:rPr>
              <a:t>如分辨率、文件大小、颜色配置文件或压缩比</a:t>
            </a:r>
            <a:r>
              <a:rPr lang="en-US" altLang="zh-CN" b="0" i="0" dirty="0">
                <a:solidFill>
                  <a:srgbClr val="2A2B2E"/>
                </a:solidFill>
                <a:effectLst/>
                <a:latin typeface="PingFang SC"/>
              </a:rPr>
              <a:t>)</a:t>
            </a:r>
            <a:r>
              <a:rPr lang="zh-CN" altLang="en-US" b="0" i="0" dirty="0">
                <a:solidFill>
                  <a:srgbClr val="2A2B2E"/>
                </a:solidFill>
                <a:effectLst/>
                <a:latin typeface="PingFang SC"/>
              </a:rPr>
              <a:t>之间也没有很好的相关性。</a:t>
            </a:r>
            <a:endParaRPr lang="en-US" altLang="zh-CN" dirty="0"/>
          </a:p>
        </p:txBody>
      </p:sp>
      <p:cxnSp>
        <p:nvCxnSpPr>
          <p:cNvPr id="10" name="直接连接符 9">
            <a:extLst>
              <a:ext uri="{FF2B5EF4-FFF2-40B4-BE49-F238E27FC236}">
                <a16:creationId xmlns:a16="http://schemas.microsoft.com/office/drawing/2014/main" id="{722F4BAF-2860-F6A3-D728-BC05A9D6E1AB}"/>
              </a:ext>
            </a:extLst>
          </p:cNvPr>
          <p:cNvCxnSpPr>
            <a:cxnSpLocks/>
            <a:stCxn id="9" idx="3"/>
          </p:cNvCxnSpPr>
          <p:nvPr/>
        </p:nvCxnSpPr>
        <p:spPr>
          <a:xfrm flipV="1">
            <a:off x="5014903" y="5235697"/>
            <a:ext cx="1555071" cy="6537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450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F48D72-6CEC-CAD3-54BE-48BB1D3DAD01}"/>
              </a:ext>
            </a:extLst>
          </p:cNvPr>
          <p:cNvSpPr>
            <a:spLocks noGrp="1"/>
          </p:cNvSpPr>
          <p:nvPr>
            <p:ph type="title"/>
          </p:nvPr>
        </p:nvSpPr>
        <p:spPr/>
        <p:txBody>
          <a:bodyPr/>
          <a:lstStyle/>
          <a:p>
            <a:r>
              <a:rPr lang="en-US" altLang="zh-CN" dirty="0">
                <a:latin typeface="NimbusRomNo9L-Medi"/>
              </a:rPr>
              <a:t>Introduction – 4/5</a:t>
            </a:r>
            <a:endParaRPr lang="zh-CN" altLang="en-US" dirty="0">
              <a:latin typeface="NimbusRomNo9L-Medi"/>
            </a:endParaRPr>
          </a:p>
        </p:txBody>
      </p:sp>
      <p:sp>
        <p:nvSpPr>
          <p:cNvPr id="3" name="内容占位符 2">
            <a:extLst>
              <a:ext uri="{FF2B5EF4-FFF2-40B4-BE49-F238E27FC236}">
                <a16:creationId xmlns:a16="http://schemas.microsoft.com/office/drawing/2014/main" id="{ADB8F7C5-EDC5-C6B4-316E-41734D212C55}"/>
              </a:ext>
            </a:extLst>
          </p:cNvPr>
          <p:cNvSpPr>
            <a:spLocks noGrp="1"/>
          </p:cNvSpPr>
          <p:nvPr>
            <p:ph idx="1"/>
          </p:nvPr>
        </p:nvSpPr>
        <p:spPr>
          <a:xfrm>
            <a:off x="838200" y="1416292"/>
            <a:ext cx="10515600" cy="4351338"/>
          </a:xfrm>
        </p:spPr>
        <p:txBody>
          <a:bodyPr/>
          <a:lstStyle/>
          <a:p>
            <a:r>
              <a:rPr lang="zh-CN" altLang="en-US" dirty="0"/>
              <a:t>本文提出的方法</a:t>
            </a:r>
          </a:p>
        </p:txBody>
      </p:sp>
      <p:sp>
        <p:nvSpPr>
          <p:cNvPr id="12" name="文本框 11">
            <a:extLst>
              <a:ext uri="{FF2B5EF4-FFF2-40B4-BE49-F238E27FC236}">
                <a16:creationId xmlns:a16="http://schemas.microsoft.com/office/drawing/2014/main" id="{03C4967F-998C-1FCE-14C4-5C2FC5E7DF0D}"/>
              </a:ext>
            </a:extLst>
          </p:cNvPr>
          <p:cNvSpPr txBox="1"/>
          <p:nvPr/>
        </p:nvSpPr>
        <p:spPr>
          <a:xfrm>
            <a:off x="494533" y="3093137"/>
            <a:ext cx="4399200" cy="923330"/>
          </a:xfrm>
          <a:prstGeom prst="rect">
            <a:avLst/>
          </a:prstGeom>
          <a:noFill/>
        </p:spPr>
        <p:txBody>
          <a:bodyPr wrap="square">
            <a:spAutoFit/>
          </a:bodyPr>
          <a:lstStyle/>
          <a:p>
            <a:r>
              <a:rPr lang="en-US" altLang="zh-CN" dirty="0"/>
              <a:t>Idea</a:t>
            </a:r>
            <a:r>
              <a:rPr lang="zh-CN" altLang="en-US" dirty="0"/>
              <a:t>来源：受到动量对比学习方法在学习用于图像分类的无监督表示方面的成功的启发。</a:t>
            </a:r>
            <a:endParaRPr lang="en-US" altLang="zh-CN" dirty="0"/>
          </a:p>
        </p:txBody>
      </p:sp>
      <p:sp>
        <p:nvSpPr>
          <p:cNvPr id="13" name="文本框 12">
            <a:extLst>
              <a:ext uri="{FF2B5EF4-FFF2-40B4-BE49-F238E27FC236}">
                <a16:creationId xmlns:a16="http://schemas.microsoft.com/office/drawing/2014/main" id="{D2F7FB7E-E7F5-94BD-DADE-94E3A37B1B4B}"/>
              </a:ext>
            </a:extLst>
          </p:cNvPr>
          <p:cNvSpPr txBox="1"/>
          <p:nvPr/>
        </p:nvSpPr>
        <p:spPr>
          <a:xfrm>
            <a:off x="546907" y="4899570"/>
            <a:ext cx="4294452" cy="923330"/>
          </a:xfrm>
          <a:prstGeom prst="rect">
            <a:avLst/>
          </a:prstGeom>
          <a:noFill/>
        </p:spPr>
        <p:txBody>
          <a:bodyPr wrap="square">
            <a:spAutoFit/>
          </a:bodyPr>
          <a:lstStyle/>
          <a:p>
            <a:r>
              <a:rPr lang="zh-CN" altLang="en-US" dirty="0"/>
              <a:t>方法思路：采用混合专家方法独立训练两个编码器，每个编码器都能准确地学习高级内容和低级图像质量特征。</a:t>
            </a:r>
          </a:p>
        </p:txBody>
      </p:sp>
      <p:cxnSp>
        <p:nvCxnSpPr>
          <p:cNvPr id="18" name="直接连接符 17">
            <a:extLst>
              <a:ext uri="{FF2B5EF4-FFF2-40B4-BE49-F238E27FC236}">
                <a16:creationId xmlns:a16="http://schemas.microsoft.com/office/drawing/2014/main" id="{BE9907CF-1CD7-3A04-F595-D0BD6A47E3D5}"/>
              </a:ext>
            </a:extLst>
          </p:cNvPr>
          <p:cNvCxnSpPr>
            <a:cxnSpLocks/>
          </p:cNvCxnSpPr>
          <p:nvPr/>
        </p:nvCxnSpPr>
        <p:spPr>
          <a:xfrm flipV="1">
            <a:off x="4872157" y="3121770"/>
            <a:ext cx="1003183" cy="3231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0EB9C84-5B54-AE0D-BB24-E54AADA07749}"/>
              </a:ext>
            </a:extLst>
          </p:cNvPr>
          <p:cNvCxnSpPr>
            <a:cxnSpLocks/>
          </p:cNvCxnSpPr>
          <p:nvPr/>
        </p:nvCxnSpPr>
        <p:spPr>
          <a:xfrm flipV="1">
            <a:off x="4850580" y="5008330"/>
            <a:ext cx="1003183" cy="323166"/>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CD58BF7A-21C4-6575-6104-7FDE7D7EE1E9}"/>
              </a:ext>
            </a:extLst>
          </p:cNvPr>
          <p:cNvPicPr>
            <a:picLocks noChangeAspect="1"/>
          </p:cNvPicPr>
          <p:nvPr/>
        </p:nvPicPr>
        <p:blipFill>
          <a:blip r:embed="rId3"/>
          <a:stretch>
            <a:fillRect/>
          </a:stretch>
        </p:blipFill>
        <p:spPr>
          <a:xfrm>
            <a:off x="5853763" y="2430287"/>
            <a:ext cx="6198969" cy="3337343"/>
          </a:xfrm>
          <a:prstGeom prst="rect">
            <a:avLst/>
          </a:prstGeom>
        </p:spPr>
      </p:pic>
    </p:spTree>
    <p:extLst>
      <p:ext uri="{BB962C8B-B14F-4D97-AF65-F5344CB8AC3E}">
        <p14:creationId xmlns:p14="http://schemas.microsoft.com/office/powerpoint/2010/main" val="3217093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33032-4FAE-94A7-D5FC-889C50724738}"/>
              </a:ext>
            </a:extLst>
          </p:cNvPr>
          <p:cNvSpPr>
            <a:spLocks noGrp="1"/>
          </p:cNvSpPr>
          <p:nvPr>
            <p:ph type="title"/>
          </p:nvPr>
        </p:nvSpPr>
        <p:spPr/>
        <p:txBody>
          <a:bodyPr/>
          <a:lstStyle/>
          <a:p>
            <a:r>
              <a:rPr lang="en-US" altLang="zh-CN" dirty="0">
                <a:latin typeface="NimbusRomNo9L-Medi"/>
              </a:rPr>
              <a:t>Introduction – 5/5</a:t>
            </a:r>
            <a:endParaRPr lang="zh-CN" altLang="en-US" dirty="0">
              <a:latin typeface="NimbusRomNo9L-Medi"/>
            </a:endParaRPr>
          </a:p>
        </p:txBody>
      </p:sp>
      <p:sp>
        <p:nvSpPr>
          <p:cNvPr id="3" name="内容占位符 2">
            <a:extLst>
              <a:ext uri="{FF2B5EF4-FFF2-40B4-BE49-F238E27FC236}">
                <a16:creationId xmlns:a16="http://schemas.microsoft.com/office/drawing/2014/main" id="{A5EC7B42-DA18-EA2B-456B-A35386103F4B}"/>
              </a:ext>
            </a:extLst>
          </p:cNvPr>
          <p:cNvSpPr>
            <a:spLocks noGrp="1"/>
          </p:cNvSpPr>
          <p:nvPr>
            <p:ph idx="1"/>
          </p:nvPr>
        </p:nvSpPr>
        <p:spPr>
          <a:xfrm>
            <a:off x="838200" y="1398242"/>
            <a:ext cx="10515600" cy="4351338"/>
          </a:xfrm>
        </p:spPr>
        <p:txBody>
          <a:bodyPr/>
          <a:lstStyle/>
          <a:p>
            <a:r>
              <a:rPr lang="zh-CN" altLang="en-US" dirty="0"/>
              <a:t>贡献总结</a:t>
            </a:r>
            <a:endParaRPr lang="en-US" altLang="zh-CN" dirty="0"/>
          </a:p>
          <a:p>
            <a:endParaRPr lang="en-US" altLang="zh-CN" dirty="0"/>
          </a:p>
        </p:txBody>
      </p:sp>
      <p:sp>
        <p:nvSpPr>
          <p:cNvPr id="10" name="文本框 9">
            <a:extLst>
              <a:ext uri="{FF2B5EF4-FFF2-40B4-BE49-F238E27FC236}">
                <a16:creationId xmlns:a16="http://schemas.microsoft.com/office/drawing/2014/main" id="{0703A24A-3E29-9646-9B71-59700919889B}"/>
              </a:ext>
            </a:extLst>
          </p:cNvPr>
          <p:cNvSpPr txBox="1"/>
          <p:nvPr/>
        </p:nvSpPr>
        <p:spPr>
          <a:xfrm>
            <a:off x="675873" y="2288973"/>
            <a:ext cx="4903660" cy="2585323"/>
          </a:xfrm>
          <a:prstGeom prst="rect">
            <a:avLst/>
          </a:prstGeom>
          <a:noFill/>
        </p:spPr>
        <p:txBody>
          <a:bodyPr wrap="square">
            <a:spAutoFit/>
          </a:bodyPr>
          <a:lstStyle/>
          <a:p>
            <a:r>
              <a:rPr lang="zh-CN" altLang="en-US" dirty="0">
                <a:solidFill>
                  <a:srgbClr val="101214"/>
                </a:solidFill>
                <a:latin typeface="PingFang SC"/>
              </a:rPr>
              <a:t>（</a:t>
            </a:r>
            <a:r>
              <a:rPr lang="en-US" altLang="zh-CN" dirty="0">
                <a:solidFill>
                  <a:srgbClr val="101214"/>
                </a:solidFill>
                <a:latin typeface="PingFang SC"/>
              </a:rPr>
              <a:t>1</a:t>
            </a:r>
            <a:r>
              <a:rPr lang="zh-CN" altLang="en-US" dirty="0">
                <a:solidFill>
                  <a:srgbClr val="101214"/>
                </a:solidFill>
                <a:latin typeface="PingFang SC"/>
              </a:rPr>
              <a:t>）提出了一个无监督的低级图像质量表示学习框架，该框架生成与图像内容的高级表示相补充的特征。</a:t>
            </a:r>
            <a:endParaRPr lang="en-US" altLang="zh-CN" dirty="0">
              <a:solidFill>
                <a:srgbClr val="101214"/>
              </a:solidFill>
              <a:latin typeface="PingFang SC"/>
            </a:endParaRPr>
          </a:p>
          <a:p>
            <a:endParaRPr lang="en-US" altLang="zh-CN" dirty="0">
              <a:solidFill>
                <a:srgbClr val="101214"/>
              </a:solidFill>
              <a:latin typeface="PingFang SC"/>
            </a:endParaRPr>
          </a:p>
          <a:p>
            <a:r>
              <a:rPr lang="zh-CN" altLang="en-US" dirty="0">
                <a:solidFill>
                  <a:srgbClr val="101214"/>
                </a:solidFill>
                <a:latin typeface="PingFang SC"/>
              </a:rPr>
              <a:t>（</a:t>
            </a:r>
            <a:r>
              <a:rPr lang="en-US" altLang="zh-CN" dirty="0">
                <a:solidFill>
                  <a:srgbClr val="101214"/>
                </a:solidFill>
                <a:latin typeface="PingFang SC"/>
              </a:rPr>
              <a:t>2</a:t>
            </a:r>
            <a:r>
              <a:rPr lang="zh-CN" altLang="en-US" dirty="0">
                <a:solidFill>
                  <a:srgbClr val="101214"/>
                </a:solidFill>
                <a:latin typeface="PingFang SC"/>
              </a:rPr>
              <a:t>）证明了图像内容的高级表示在</a:t>
            </a:r>
            <a:r>
              <a:rPr lang="en-US" altLang="zh-CN" dirty="0">
                <a:solidFill>
                  <a:srgbClr val="101214"/>
                </a:solidFill>
                <a:latin typeface="PingFang SC"/>
              </a:rPr>
              <a:t>NR-IQA</a:t>
            </a:r>
            <a:r>
              <a:rPr lang="zh-CN" altLang="en-US" dirty="0">
                <a:solidFill>
                  <a:srgbClr val="101214"/>
                </a:solidFill>
                <a:latin typeface="PingFang SC"/>
              </a:rPr>
              <a:t>任务中的优越性。</a:t>
            </a:r>
            <a:endParaRPr lang="en-US" altLang="zh-CN" b="0" i="0" dirty="0">
              <a:solidFill>
                <a:srgbClr val="101214"/>
              </a:solidFill>
              <a:effectLst/>
              <a:latin typeface="PingFang SC"/>
            </a:endParaRPr>
          </a:p>
          <a:p>
            <a:endParaRPr lang="en-US" altLang="zh-CN" dirty="0">
              <a:solidFill>
                <a:srgbClr val="101214"/>
              </a:solidFill>
              <a:latin typeface="PingFang SC"/>
            </a:endParaRPr>
          </a:p>
          <a:p>
            <a:r>
              <a:rPr lang="zh-CN" altLang="en-US" dirty="0">
                <a:solidFill>
                  <a:srgbClr val="101214"/>
                </a:solidFill>
                <a:latin typeface="PingFang SC"/>
              </a:rPr>
              <a:t>（</a:t>
            </a:r>
            <a:r>
              <a:rPr lang="en-US" altLang="zh-CN" dirty="0">
                <a:solidFill>
                  <a:srgbClr val="101214"/>
                </a:solidFill>
                <a:latin typeface="PingFang SC"/>
              </a:rPr>
              <a:t>3</a:t>
            </a:r>
            <a:r>
              <a:rPr lang="zh-CN" altLang="en-US" dirty="0">
                <a:solidFill>
                  <a:srgbClr val="101214"/>
                </a:solidFill>
                <a:latin typeface="PingFang SC"/>
              </a:rPr>
              <a:t>）</a:t>
            </a:r>
            <a:r>
              <a:rPr lang="zh-CN" altLang="en-US" b="0" i="0" dirty="0">
                <a:solidFill>
                  <a:srgbClr val="101214"/>
                </a:solidFill>
                <a:effectLst/>
                <a:latin typeface="PingFang SC"/>
              </a:rPr>
              <a:t>提出了一种新的图像增强和对内图像交换方案，以实现低级图像质量表示的学习。</a:t>
            </a:r>
            <a:endParaRPr lang="zh-CN" altLang="en-US" dirty="0"/>
          </a:p>
        </p:txBody>
      </p:sp>
      <p:pic>
        <p:nvPicPr>
          <p:cNvPr id="5" name="图片 4">
            <a:extLst>
              <a:ext uri="{FF2B5EF4-FFF2-40B4-BE49-F238E27FC236}">
                <a16:creationId xmlns:a16="http://schemas.microsoft.com/office/drawing/2014/main" id="{891A7355-B6CC-4FA9-5BBE-F3CD28B7D82B}"/>
              </a:ext>
            </a:extLst>
          </p:cNvPr>
          <p:cNvPicPr>
            <a:picLocks noChangeAspect="1"/>
          </p:cNvPicPr>
          <p:nvPr/>
        </p:nvPicPr>
        <p:blipFill>
          <a:blip r:embed="rId3"/>
          <a:stretch>
            <a:fillRect/>
          </a:stretch>
        </p:blipFill>
        <p:spPr>
          <a:xfrm>
            <a:off x="6430871" y="70945"/>
            <a:ext cx="4628639" cy="2286182"/>
          </a:xfrm>
          <a:prstGeom prst="rect">
            <a:avLst/>
          </a:prstGeom>
        </p:spPr>
      </p:pic>
      <p:pic>
        <p:nvPicPr>
          <p:cNvPr id="8" name="图片 7">
            <a:extLst>
              <a:ext uri="{FF2B5EF4-FFF2-40B4-BE49-F238E27FC236}">
                <a16:creationId xmlns:a16="http://schemas.microsoft.com/office/drawing/2014/main" id="{E04DD47F-79B8-3E2C-AD07-2375AD6E8D84}"/>
              </a:ext>
            </a:extLst>
          </p:cNvPr>
          <p:cNvPicPr>
            <a:picLocks noChangeAspect="1"/>
          </p:cNvPicPr>
          <p:nvPr/>
        </p:nvPicPr>
        <p:blipFill>
          <a:blip r:embed="rId4"/>
          <a:stretch>
            <a:fillRect/>
          </a:stretch>
        </p:blipFill>
        <p:spPr>
          <a:xfrm>
            <a:off x="6489991" y="2357127"/>
            <a:ext cx="4510398" cy="1989549"/>
          </a:xfrm>
          <a:prstGeom prst="rect">
            <a:avLst/>
          </a:prstGeom>
        </p:spPr>
      </p:pic>
      <p:pic>
        <p:nvPicPr>
          <p:cNvPr id="11" name="图片 10">
            <a:extLst>
              <a:ext uri="{FF2B5EF4-FFF2-40B4-BE49-F238E27FC236}">
                <a16:creationId xmlns:a16="http://schemas.microsoft.com/office/drawing/2014/main" id="{C6EA88DD-6439-A5F0-ADA1-17DBB5769243}"/>
              </a:ext>
            </a:extLst>
          </p:cNvPr>
          <p:cNvPicPr>
            <a:picLocks noChangeAspect="1"/>
          </p:cNvPicPr>
          <p:nvPr/>
        </p:nvPicPr>
        <p:blipFill>
          <a:blip r:embed="rId5"/>
          <a:stretch>
            <a:fillRect/>
          </a:stretch>
        </p:blipFill>
        <p:spPr>
          <a:xfrm>
            <a:off x="6480943" y="4389634"/>
            <a:ext cx="4628640" cy="2140247"/>
          </a:xfrm>
          <a:prstGeom prst="rect">
            <a:avLst/>
          </a:prstGeom>
        </p:spPr>
      </p:pic>
    </p:spTree>
    <p:extLst>
      <p:ext uri="{BB962C8B-B14F-4D97-AF65-F5344CB8AC3E}">
        <p14:creationId xmlns:p14="http://schemas.microsoft.com/office/powerpoint/2010/main" val="636442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9CB1ED7-F089-59DE-8B74-3C176AEE482D}"/>
              </a:ext>
            </a:extLst>
          </p:cNvPr>
          <p:cNvSpPr>
            <a:spLocks noGrp="1"/>
          </p:cNvSpPr>
          <p:nvPr>
            <p:ph idx="1"/>
          </p:nvPr>
        </p:nvSpPr>
        <p:spPr/>
        <p:txBody>
          <a:bodyPr>
            <a:normAutofit/>
          </a:bodyPr>
          <a:lstStyle/>
          <a:p>
            <a:pPr marL="0" indent="0">
              <a:buNone/>
            </a:pPr>
            <a:r>
              <a:rPr lang="en-US" altLang="zh-CN" sz="4400" dirty="0"/>
              <a:t>THANKS</a:t>
            </a:r>
            <a:endParaRPr lang="zh-CN" altLang="en-US" sz="4400" dirty="0"/>
          </a:p>
        </p:txBody>
      </p:sp>
    </p:spTree>
    <p:extLst>
      <p:ext uri="{BB962C8B-B14F-4D97-AF65-F5344CB8AC3E}">
        <p14:creationId xmlns:p14="http://schemas.microsoft.com/office/powerpoint/2010/main" val="7444595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15436</TotalTime>
  <Words>2785</Words>
  <Application>Microsoft Office PowerPoint</Application>
  <PresentationFormat>宽屏</PresentationFormat>
  <Paragraphs>192</Paragraphs>
  <Slides>26</Slides>
  <Notes>20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-apple-system</vt:lpstr>
      <vt:lpstr>NimbusRomNo9L-Medi</vt:lpstr>
      <vt:lpstr>NimbusRomNo9L-Regu</vt:lpstr>
      <vt:lpstr>NimbusRomNo9L-ReguItal</vt:lpstr>
      <vt:lpstr>PingFang SC</vt:lpstr>
      <vt:lpstr>等线</vt:lpstr>
      <vt:lpstr>等线 Light</vt:lpstr>
      <vt:lpstr>Arial</vt:lpstr>
      <vt:lpstr>Cambria Math</vt:lpstr>
      <vt:lpstr>Times New Roman</vt:lpstr>
      <vt:lpstr>Wingdings</vt:lpstr>
      <vt:lpstr>Office 主题​​</vt:lpstr>
      <vt:lpstr>Re-IQA: Unsupervised Learning for Image Quality Assessment in the Wild</vt:lpstr>
      <vt:lpstr>Backgrounds</vt:lpstr>
      <vt:lpstr>Backgrounds</vt:lpstr>
      <vt:lpstr>Three Processing Phases in Re-IQA</vt:lpstr>
      <vt:lpstr>Phase 1 : Content Aware</vt:lpstr>
      <vt:lpstr>Phase 2 : Quality Aware</vt:lpstr>
      <vt:lpstr>Phase 2 : Quality Aware</vt:lpstr>
      <vt:lpstr>Phase 2 : Quality Aware</vt:lpstr>
      <vt:lpstr>Experiments</vt:lpstr>
      <vt:lpstr>Experiments</vt:lpstr>
      <vt:lpstr>Experiments</vt:lpstr>
      <vt:lpstr>Experiments</vt:lpstr>
      <vt:lpstr>Conclusion</vt:lpstr>
      <vt:lpstr>Writing</vt:lpstr>
      <vt:lpstr>PowerPoint 演示文稿</vt:lpstr>
      <vt:lpstr>PowerPoint 演示文稿</vt:lpstr>
      <vt:lpstr>PowerPoint 演示文稿</vt:lpstr>
      <vt:lpstr>PowerPoint 演示文稿</vt:lpstr>
      <vt:lpstr>PowerPoint 演示文稿</vt:lpstr>
      <vt:lpstr>PowerPoint 演示文稿</vt:lpstr>
      <vt:lpstr>Introduction – 1/5</vt:lpstr>
      <vt:lpstr>Introduction – 2/5</vt:lpstr>
      <vt:lpstr>Introduction – 3/5</vt:lpstr>
      <vt:lpstr>Introduction – 4/5</vt:lpstr>
      <vt:lpstr>Introduction – 5/5</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琦玥 李</dc:creator>
  <cp:lastModifiedBy>岩 钟</cp:lastModifiedBy>
  <cp:revision>34</cp:revision>
  <dcterms:created xsi:type="dcterms:W3CDTF">2023-01-02T07:25:47Z</dcterms:created>
  <dcterms:modified xsi:type="dcterms:W3CDTF">2024-02-26T09:13:10Z</dcterms:modified>
</cp:coreProperties>
</file>