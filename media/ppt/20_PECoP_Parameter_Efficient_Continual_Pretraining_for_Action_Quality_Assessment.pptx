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328" r:id="rId3"/>
    <p:sldId id="425" r:id="rId4"/>
    <p:sldId id="420" r:id="rId5"/>
    <p:sldId id="422" r:id="rId6"/>
    <p:sldId id="421" r:id="rId7"/>
    <p:sldId id="423" r:id="rId8"/>
    <p:sldId id="431" r:id="rId9"/>
    <p:sldId id="427" r:id="rId10"/>
    <p:sldId id="428" r:id="rId11"/>
    <p:sldId id="429" r:id="rId12"/>
    <p:sldId id="430" r:id="rId13"/>
    <p:sldId id="426" r:id="rId14"/>
    <p:sldId id="432" r:id="rId15"/>
    <p:sldId id="433" r:id="rId16"/>
    <p:sldId id="434" r:id="rId17"/>
    <p:sldId id="424" r:id="rId18"/>
    <p:sldId id="285" r:id="rId19"/>
    <p:sldId id="407" r:id="rId20"/>
    <p:sldId id="289" r:id="rId21"/>
    <p:sldId id="416" r:id="rId22"/>
    <p:sldId id="415" r:id="rId23"/>
    <p:sldId id="417" r:id="rId24"/>
    <p:sldId id="418" r:id="rId25"/>
    <p:sldId id="419" r:id="rId26"/>
    <p:sldId id="414"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琦玥 李" initials="琦玥" lastIdx="2" clrIdx="0">
    <p:extLst>
      <p:ext uri="{19B8F6BF-5375-455C-9EA6-DF929625EA0E}">
        <p15:presenceInfo xmlns:p15="http://schemas.microsoft.com/office/powerpoint/2012/main" userId="ee7015cbc0615b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83019" autoAdjust="0"/>
  </p:normalViewPr>
  <p:slideViewPr>
    <p:cSldViewPr snapToGrid="0">
      <p:cViewPr varScale="1">
        <p:scale>
          <a:sx n="95" d="100"/>
          <a:sy n="95" d="100"/>
        </p:scale>
        <p:origin x="10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A9E4A-0759-4964-9856-65C32428782C}" type="datetimeFigureOut">
              <a:rPr lang="zh-CN" altLang="en-US" smtClean="0"/>
              <a:t>2024/1/18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2ABA14-E4A8-40DA-B7B0-41950E132D30}" type="slidenum">
              <a:rPr lang="zh-CN" altLang="en-US" smtClean="0"/>
              <a:t>‹#›</a:t>
            </a:fld>
            <a:endParaRPr lang="zh-CN" altLang="en-US"/>
          </a:p>
        </p:txBody>
      </p:sp>
    </p:spTree>
    <p:extLst>
      <p:ext uri="{BB962C8B-B14F-4D97-AF65-F5344CB8AC3E}">
        <p14:creationId xmlns:p14="http://schemas.microsoft.com/office/powerpoint/2010/main" val="188101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AQA methods are affected by insufficient quantities of annotated data for training deep networks [36]. This is further exacerbated when extra effort is needed to produce very precise labels, e.g. for health-related applications, such as Parkinson’s Disease (PD) severity assessment</a:t>
            </a:r>
          </a:p>
          <a:p>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AQA</a:t>
            </a:r>
            <a:r>
              <a:rPr lang="zh-CN" altLang="en-US"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方法受到深度网络训练中标注数据数量不足的影响</a:t>
            </a:r>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[36]</a:t>
            </a:r>
            <a:r>
              <a:rPr lang="zh-CN" altLang="en-US"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。当需要额外的努力来产生非常精确的标签时，这种情况会进一步加剧，例如用于与健康相关的应用，如帕金森病</a:t>
            </a:r>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(PD)</a:t>
            </a:r>
            <a:r>
              <a:rPr lang="zh-CN" altLang="en-US"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严重程度评估</a:t>
            </a:r>
            <a:endPar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start with a model that is originally pretrained on a large source dataset</a:t>
            </a:r>
          </a:p>
          <a:p>
            <a:r>
              <a:rPr lang="zh-CN" altLang="en-US"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从最初在大型源数据集上预训练的模型开始</a:t>
            </a:r>
            <a:endPar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domain/task discrepancy between action classification and action assessment. For example, in PD action performance scoring, one or two interruptions during the regular rhythm of a patient’s movement performing an action can result in a different quality score and this is in contrast to the source pretraining task, where subtle or even more pronounced differences in performing an action should not affect action classification [29].</a:t>
            </a:r>
          </a:p>
          <a:p>
            <a:r>
              <a:rPr lang="en-US" altLang="zh-CN" dirty="0"/>
              <a:t>AQA</a:t>
            </a:r>
            <a:r>
              <a:rPr lang="zh-CN" altLang="en-US" dirty="0"/>
              <a:t>方法受到深度网络训练中标注数据数量不足的影响</a:t>
            </a:r>
            <a:r>
              <a:rPr lang="en-US" altLang="zh-CN" dirty="0"/>
              <a:t>[36]</a:t>
            </a:r>
            <a:r>
              <a:rPr lang="zh-CN" altLang="en-US" dirty="0"/>
              <a:t>。当需要额外的努力来产生非常精确的标签时，这种情况会进一步加剧，例如对于与健康相关的应用，例如帕金森病</a:t>
            </a:r>
            <a:r>
              <a:rPr lang="en-US" altLang="zh-CN" dirty="0"/>
              <a:t>(PD)</a:t>
            </a:r>
            <a:r>
              <a:rPr lang="zh-CN" altLang="en-US" dirty="0"/>
              <a:t>严重性评估，动作分类和动作评估之间的域</a:t>
            </a:r>
            <a:r>
              <a:rPr lang="en-US" altLang="zh-CN" dirty="0"/>
              <a:t>/</a:t>
            </a:r>
            <a:r>
              <a:rPr lang="zh-CN" altLang="en-US" dirty="0"/>
              <a:t>任务差异。例如，在</a:t>
            </a:r>
            <a:r>
              <a:rPr lang="en-US" altLang="zh-CN" dirty="0"/>
              <a:t>PD</a:t>
            </a:r>
            <a:r>
              <a:rPr lang="zh-CN" altLang="en-US" dirty="0"/>
              <a:t>动作表现评分中，在患者执行动作的正常运动节奏中出现一次或两次中断可能导致不同的质量评分，这与源预训练任务相反，在源预训练任务中，执行动作的细微甚至更明显的差异不应影响动作分类</a:t>
            </a:r>
            <a:r>
              <a:rPr lang="en-US" altLang="zh-CN" dirty="0"/>
              <a:t>[29]</a:t>
            </a:r>
            <a:r>
              <a:rPr lang="zh-CN" altLang="en-US" dirty="0"/>
              <a:t>。</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2</a:t>
            </a:fld>
            <a:endParaRPr lang="zh-CN" altLang="en-US"/>
          </a:p>
        </p:txBody>
      </p:sp>
    </p:spTree>
    <p:extLst>
      <p:ext uri="{BB962C8B-B14F-4D97-AF65-F5344CB8AC3E}">
        <p14:creationId xmlns:p14="http://schemas.microsoft.com/office/powerpoint/2010/main" val="1927188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3</a:t>
            </a:fld>
            <a:endParaRPr lang="zh-CN" altLang="en-US"/>
          </a:p>
        </p:txBody>
      </p:sp>
    </p:spTree>
    <p:extLst>
      <p:ext uri="{BB962C8B-B14F-4D97-AF65-F5344CB8AC3E}">
        <p14:creationId xmlns:p14="http://schemas.microsoft.com/office/powerpoint/2010/main" val="1059182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4</a:t>
            </a:fld>
            <a:endParaRPr lang="zh-CN" altLang="en-US"/>
          </a:p>
        </p:txBody>
      </p:sp>
    </p:spTree>
    <p:extLst>
      <p:ext uri="{BB962C8B-B14F-4D97-AF65-F5344CB8AC3E}">
        <p14:creationId xmlns:p14="http://schemas.microsoft.com/office/powerpoint/2010/main" val="19663777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NimbusRomNo9L-Regu"/>
              </a:rPr>
              <a:t>Figure 1. (a) Previous works directly transfer the model pretrained on domain-general data to AQA downstream tasks with target data fine-tuning, (b) in our proposed </a:t>
            </a:r>
            <a:r>
              <a:rPr lang="en-US" altLang="zh-CN" sz="1800" b="0" i="0" u="none" strike="noStrike" baseline="0" dirty="0" err="1">
                <a:latin typeface="NimbusRomNo9L-Regu"/>
              </a:rPr>
              <a:t>PECoP</a:t>
            </a:r>
            <a:r>
              <a:rPr lang="en-US" altLang="zh-CN" sz="1800" b="0" i="0" u="none" strike="noStrike" baseline="0" dirty="0">
                <a:latin typeface="NimbusRomNo9L-Regu"/>
              </a:rPr>
              <a:t> framework, the pretrained model continues to learn towards a specific AQA task through an additional pretraining stage, where only a small set of 3D-Adapter parameters are updated on unlabeled domain-specific data in a SSL approach, while the baseline model’s weights remain frozen.</a:t>
            </a:r>
          </a:p>
          <a:p>
            <a:pPr algn="l"/>
            <a:endParaRPr lang="en-US" altLang="zh-CN" sz="1800" b="0" i="0" u="none" strike="noStrike" baseline="0" dirty="0">
              <a:latin typeface="NimbusRomNo9L-Regu"/>
            </a:endParaRPr>
          </a:p>
          <a:p>
            <a:pPr algn="l"/>
            <a:r>
              <a:rPr lang="zh-CN" altLang="en-US" dirty="0"/>
              <a:t>图</a:t>
            </a:r>
            <a:r>
              <a:rPr lang="en-US" altLang="zh-CN" dirty="0"/>
              <a:t>1</a:t>
            </a:r>
            <a:r>
              <a:rPr lang="zh-CN" altLang="en-US" dirty="0"/>
              <a:t>所示。</a:t>
            </a:r>
            <a:r>
              <a:rPr lang="en-US" altLang="zh-CN" dirty="0"/>
              <a:t>(a)</a:t>
            </a:r>
            <a:r>
              <a:rPr lang="zh-CN" altLang="en-US" dirty="0"/>
              <a:t>以前的工作直接将在领域通用数据上预训练的模型转移到具有目标数据微调的</a:t>
            </a:r>
            <a:r>
              <a:rPr lang="en-US" altLang="zh-CN" dirty="0"/>
              <a:t>AQA</a:t>
            </a:r>
            <a:r>
              <a:rPr lang="zh-CN" altLang="en-US" dirty="0"/>
              <a:t>下游任务，</a:t>
            </a:r>
            <a:r>
              <a:rPr lang="en-US" altLang="zh-CN" dirty="0"/>
              <a:t>(b)</a:t>
            </a:r>
            <a:r>
              <a:rPr lang="zh-CN" altLang="en-US" dirty="0"/>
              <a:t>在我们提出的</a:t>
            </a:r>
            <a:r>
              <a:rPr lang="en-US" altLang="zh-CN" dirty="0" err="1"/>
              <a:t>PECoP</a:t>
            </a:r>
            <a:r>
              <a:rPr lang="zh-CN" altLang="en-US" dirty="0"/>
              <a:t>框架中，预训练模型通过额外的预训练阶段继续学习特定的</a:t>
            </a:r>
            <a:r>
              <a:rPr lang="en-US" altLang="zh-CN" dirty="0"/>
              <a:t>AQA</a:t>
            </a:r>
            <a:r>
              <a:rPr lang="zh-CN" altLang="en-US" dirty="0"/>
              <a:t>任务，其中只有一小部分</a:t>
            </a:r>
            <a:r>
              <a:rPr lang="en-US" altLang="zh-CN" dirty="0"/>
              <a:t>3D-Adapter</a:t>
            </a:r>
            <a:r>
              <a:rPr lang="zh-CN" altLang="en-US" dirty="0"/>
              <a:t>参数以</a:t>
            </a:r>
            <a:r>
              <a:rPr lang="en-US" altLang="zh-CN" dirty="0"/>
              <a:t>SSL</a:t>
            </a:r>
            <a:r>
              <a:rPr lang="zh-CN" altLang="en-US" dirty="0"/>
              <a:t>方法更新未标记的领域特定数据，而基线模型的权重保持冻结。</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5</a:t>
            </a:fld>
            <a:endParaRPr lang="zh-CN" altLang="en-US"/>
          </a:p>
        </p:txBody>
      </p:sp>
    </p:spTree>
    <p:extLst>
      <p:ext uri="{BB962C8B-B14F-4D97-AF65-F5344CB8AC3E}">
        <p14:creationId xmlns:p14="http://schemas.microsoft.com/office/powerpoint/2010/main" val="4049847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6</a:t>
            </a:fld>
            <a:endParaRPr lang="zh-CN" altLang="en-US"/>
          </a:p>
        </p:txBody>
      </p:sp>
    </p:spTree>
    <p:extLst>
      <p:ext uri="{BB962C8B-B14F-4D97-AF65-F5344CB8AC3E}">
        <p14:creationId xmlns:p14="http://schemas.microsoft.com/office/powerpoint/2010/main" val="3354777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7</a:t>
            </a:fld>
            <a:endParaRPr lang="zh-CN" altLang="en-US"/>
          </a:p>
        </p:txBody>
      </p:sp>
    </p:spTree>
    <p:extLst>
      <p:ext uri="{BB962C8B-B14F-4D97-AF65-F5344CB8AC3E}">
        <p14:creationId xmlns:p14="http://schemas.microsoft.com/office/powerpoint/2010/main" val="3349393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000000"/>
                </a:solidFill>
                <a:latin typeface="NimbusRomNo9L-Regu"/>
              </a:rPr>
              <a:t>temporally explore a video clip and predict the index and speed of a segment within a clip that is sampled at a different speed rate. It was shown in [</a:t>
            </a:r>
            <a:r>
              <a:rPr lang="en-US" altLang="zh-CN" sz="1800" b="0" i="0" u="none" strike="noStrike" baseline="0" dirty="0">
                <a:solidFill>
                  <a:srgbClr val="FF00FF"/>
                </a:solidFill>
                <a:latin typeface="NimbusRomNo9L-Regu"/>
              </a:rPr>
              <a:t>8</a:t>
            </a:r>
            <a:r>
              <a:rPr lang="en-US" altLang="zh-CN" sz="1800" b="0" i="0" u="none" strike="noStrike" baseline="0" dirty="0">
                <a:solidFill>
                  <a:srgbClr val="000000"/>
                </a:solidFill>
                <a:latin typeface="NimbusRomNo9L-Regu"/>
              </a:rPr>
              <a:t>] that VSPP is more suited to video motion events than previous video playback prediction tasks [</a:t>
            </a:r>
            <a:r>
              <a:rPr lang="en-US" altLang="zh-CN" sz="1800" b="0" i="0" u="none" strike="noStrike" baseline="0" dirty="0">
                <a:solidFill>
                  <a:srgbClr val="FF00FF"/>
                </a:solidFill>
                <a:latin typeface="NimbusRomNo9L-Regu"/>
              </a:rPr>
              <a:t>2</a:t>
            </a:r>
            <a:r>
              <a:rPr lang="en-US" altLang="zh-CN" sz="1800" b="0" i="0" u="none" strike="noStrike" baseline="0" dirty="0">
                <a:solidFill>
                  <a:srgbClr val="000000"/>
                </a:solidFill>
                <a:latin typeface="NimbusRomNo9L-Regu"/>
              </a:rPr>
              <a:t>, </a:t>
            </a:r>
            <a:r>
              <a:rPr lang="en-US" altLang="zh-CN" sz="1800" b="0" i="0" u="none" strike="noStrike" baseline="0" dirty="0">
                <a:solidFill>
                  <a:srgbClr val="FF00FF"/>
                </a:solidFill>
                <a:latin typeface="NimbusRomNo9L-Regu"/>
              </a:rPr>
              <a:t>5</a:t>
            </a:r>
            <a:r>
              <a:rPr lang="en-US" altLang="zh-CN" sz="1800" b="0" i="0" u="none" strike="noStrike" baseline="0" dirty="0">
                <a:solidFill>
                  <a:srgbClr val="000000"/>
                </a:solidFill>
                <a:latin typeface="NimbusRomNo9L-Regu"/>
              </a:rPr>
              <a:t>, </a:t>
            </a:r>
            <a:r>
              <a:rPr lang="en-US" altLang="zh-CN" sz="1800" b="0" i="0" u="none" strike="noStrike" baseline="0" dirty="0">
                <a:solidFill>
                  <a:srgbClr val="FF00FF"/>
                </a:solidFill>
                <a:latin typeface="NimbusRomNo9L-Regu"/>
              </a:rPr>
              <a:t>13</a:t>
            </a:r>
            <a:r>
              <a:rPr lang="en-US" altLang="zh-CN" sz="1800" b="0" i="0" u="none" strike="noStrike" baseline="0" dirty="0">
                <a:solidFill>
                  <a:srgbClr val="000000"/>
                </a:solidFill>
                <a:latin typeface="NimbusRomNo9L-Regu"/>
              </a:rPr>
              <a:t>, </a:t>
            </a:r>
            <a:r>
              <a:rPr lang="en-US" altLang="zh-CN" sz="1800" b="0" i="0" u="none" strike="noStrike" baseline="0" dirty="0">
                <a:solidFill>
                  <a:srgbClr val="FF00FF"/>
                </a:solidFill>
                <a:latin typeface="NimbusRomNo9L-Regu"/>
              </a:rPr>
              <a:t>43</a:t>
            </a:r>
            <a:r>
              <a:rPr lang="en-US" altLang="zh-CN" sz="1800" b="0" i="0" u="none" strike="noStrike" baseline="0" dirty="0">
                <a:solidFill>
                  <a:srgbClr val="000000"/>
                </a:solidFill>
                <a:latin typeface="NimbusRomNo9L-Regu"/>
              </a:rPr>
              <a:t>] by way of much faster convergence</a:t>
            </a:r>
          </a:p>
          <a:p>
            <a:pPr algn="l"/>
            <a:r>
              <a:rPr lang="zh-CN" altLang="en-US" b="0" dirty="0"/>
              <a:t>时序上探索一个视频片段，并预测在一个片段中以不同的速度采样的片段的索引和速度。文献</a:t>
            </a:r>
            <a:r>
              <a:rPr lang="en-US" altLang="zh-CN" b="0" dirty="0"/>
              <a:t>[8]</a:t>
            </a:r>
            <a:r>
              <a:rPr lang="zh-CN" altLang="en-US" b="0" dirty="0"/>
              <a:t>表明，与之前的视频播放预测任务</a:t>
            </a:r>
            <a:r>
              <a:rPr lang="en-US" altLang="zh-CN" b="0" dirty="0"/>
              <a:t>[2,5,13,43]</a:t>
            </a:r>
            <a:r>
              <a:rPr lang="zh-CN" altLang="en-US" b="0" dirty="0"/>
              <a:t>相比，</a:t>
            </a:r>
            <a:r>
              <a:rPr lang="en-US" altLang="zh-CN" b="0" dirty="0"/>
              <a:t>VSPP</a:t>
            </a:r>
            <a:r>
              <a:rPr lang="zh-CN" altLang="en-US" b="0" dirty="0"/>
              <a:t>以更快的收敛速度更适合视频运动事件</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8</a:t>
            </a:fld>
            <a:endParaRPr lang="zh-CN" altLang="en-US"/>
          </a:p>
        </p:txBody>
      </p:sp>
    </p:spTree>
    <p:extLst>
      <p:ext uri="{BB962C8B-B14F-4D97-AF65-F5344CB8AC3E}">
        <p14:creationId xmlns:p14="http://schemas.microsoft.com/office/powerpoint/2010/main" val="410959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9</a:t>
            </a:fld>
            <a:endParaRPr lang="zh-CN" altLang="en-US"/>
          </a:p>
        </p:txBody>
      </p:sp>
    </p:spTree>
    <p:extLst>
      <p:ext uri="{BB962C8B-B14F-4D97-AF65-F5344CB8AC3E}">
        <p14:creationId xmlns:p14="http://schemas.microsoft.com/office/powerpoint/2010/main" val="682218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10</a:t>
            </a:fld>
            <a:endParaRPr lang="zh-CN" altLang="en-US"/>
          </a:p>
        </p:txBody>
      </p:sp>
    </p:spTree>
    <p:extLst>
      <p:ext uri="{BB962C8B-B14F-4D97-AF65-F5344CB8AC3E}">
        <p14:creationId xmlns:p14="http://schemas.microsoft.com/office/powerpoint/2010/main" val="2466917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solidFill>
                  <a:srgbClr val="000000"/>
                </a:solidFill>
                <a:latin typeface="NimbusRomNo9L-Regu"/>
              </a:rPr>
              <a:t>with and without continual pretraining. </a:t>
            </a:r>
            <a:r>
              <a:rPr lang="en-US" altLang="zh-CN" sz="1800" b="0" i="0" u="none" strike="noStrike" baseline="0" dirty="0">
                <a:solidFill>
                  <a:srgbClr val="000000"/>
                </a:solidFill>
                <a:latin typeface="CMMI6"/>
              </a:rPr>
              <a:t>⋆ </a:t>
            </a:r>
            <a:r>
              <a:rPr lang="en-US" altLang="zh-CN" sz="1800" b="0" i="0" u="none" strike="noStrike" baseline="0" dirty="0" err="1">
                <a:solidFill>
                  <a:srgbClr val="000000"/>
                </a:solidFill>
                <a:latin typeface="NimbusRomNo9L-Regu"/>
              </a:rPr>
              <a:t>ViSA</a:t>
            </a:r>
            <a:r>
              <a:rPr lang="en-US" altLang="zh-CN" sz="1800" b="0" i="0" u="none" strike="noStrike" baseline="0" dirty="0">
                <a:solidFill>
                  <a:srgbClr val="000000"/>
                </a:solidFill>
                <a:latin typeface="NimbusRomNo9L-Regu"/>
              </a:rPr>
              <a:t> [</a:t>
            </a:r>
            <a:r>
              <a:rPr lang="en-US" altLang="zh-CN" sz="1800" b="0" i="0" u="none" strike="noStrike" baseline="0" dirty="0">
                <a:solidFill>
                  <a:srgbClr val="FF00FF"/>
                </a:solidFill>
                <a:latin typeface="NimbusRomNo9L-Regu"/>
              </a:rPr>
              <a:t>31</a:t>
            </a:r>
            <a:r>
              <a:rPr lang="en-US" altLang="zh-CN" sz="1800" b="0" i="0" u="none" strike="noStrike" baseline="0" dirty="0">
                <a:solidFill>
                  <a:srgbClr val="000000"/>
                </a:solidFill>
                <a:latin typeface="NimbusRomNo9L-Regu"/>
              </a:rPr>
              <a:t>] and </a:t>
            </a:r>
            <a:r>
              <a:rPr lang="en-US" altLang="zh-CN" sz="1800" b="0" i="0" u="none" strike="noStrike" baseline="0" dirty="0" err="1">
                <a:solidFill>
                  <a:srgbClr val="000000"/>
                </a:solidFill>
                <a:latin typeface="NimbusRomNo9L-Regu"/>
              </a:rPr>
              <a:t>MultiPath</a:t>
            </a:r>
            <a:r>
              <a:rPr lang="en-US" altLang="zh-CN" sz="1800" b="0" i="0" u="none" strike="noStrike" baseline="0" dirty="0">
                <a:solidFill>
                  <a:srgbClr val="000000"/>
                </a:solidFill>
                <a:latin typeface="NimbusRomNo9L-Regu"/>
              </a:rPr>
              <a:t>-VTPE [</a:t>
            </a:r>
            <a:r>
              <a:rPr lang="en-US" altLang="zh-CN" sz="1800" b="0" i="0" u="none" strike="noStrike" baseline="0" dirty="0">
                <a:solidFill>
                  <a:srgbClr val="FF00FF"/>
                </a:solidFill>
                <a:latin typeface="NimbusRomNo9L-Regu"/>
              </a:rPr>
              <a:t>32</a:t>
            </a:r>
            <a:r>
              <a:rPr lang="en-US" altLang="zh-CN" sz="1800" b="0" i="0" u="none" strike="noStrike" baseline="0" dirty="0">
                <a:solidFill>
                  <a:srgbClr val="000000"/>
                </a:solidFill>
                <a:latin typeface="NimbusRomNo9L-Regu"/>
              </a:rPr>
              <a:t>] are </a:t>
            </a:r>
            <a:r>
              <a:rPr lang="en-US" altLang="zh-CN" sz="1800" b="0" i="0" u="none" strike="noStrike" baseline="0" dirty="0" err="1">
                <a:solidFill>
                  <a:srgbClr val="000000"/>
                </a:solidFill>
                <a:latin typeface="NimbusRomNo9L-Regu"/>
              </a:rPr>
              <a:t>customised</a:t>
            </a:r>
            <a:r>
              <a:rPr lang="en-US" altLang="zh-CN" sz="1800" b="0" i="0" u="none" strike="noStrike" baseline="0" dirty="0">
                <a:solidFill>
                  <a:srgbClr val="000000"/>
                </a:solidFill>
                <a:latin typeface="NimbusRomNo9L-Regu"/>
              </a:rPr>
              <a:t> towards surgical skill assessment and not general AQA tasks.</a:t>
            </a:r>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11</a:t>
            </a:fld>
            <a:endParaRPr lang="zh-CN" altLang="en-US"/>
          </a:p>
        </p:txBody>
      </p:sp>
    </p:spTree>
    <p:extLst>
      <p:ext uri="{BB962C8B-B14F-4D97-AF65-F5344CB8AC3E}">
        <p14:creationId xmlns:p14="http://schemas.microsoft.com/office/powerpoint/2010/main" val="1145564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NimbusRomNo9L-Regu"/>
              </a:rPr>
              <a:t>HPT performs marginally better (</a:t>
            </a:r>
            <a:r>
              <a:rPr lang="en-US" altLang="zh-CN" sz="1800" b="0" i="0" u="none" strike="noStrike" baseline="0" dirty="0">
                <a:latin typeface="CMSY10"/>
              </a:rPr>
              <a:t>↑ </a:t>
            </a:r>
            <a:r>
              <a:rPr lang="en-US" altLang="zh-CN" sz="1800" b="0" i="0" u="none" strike="noStrike" baseline="0" dirty="0">
                <a:latin typeface="CMR10"/>
              </a:rPr>
              <a:t>2</a:t>
            </a:r>
            <a:r>
              <a:rPr lang="en-US" altLang="zh-CN" sz="1800" b="0" i="0" u="none" strike="noStrike" baseline="0" dirty="0">
                <a:latin typeface="CMMI10"/>
              </a:rPr>
              <a:t>.</a:t>
            </a:r>
            <a:r>
              <a:rPr lang="en-US" altLang="zh-CN" sz="1800" b="0" i="0" u="none" strike="noStrike" baseline="0" dirty="0">
                <a:latin typeface="CMR10"/>
              </a:rPr>
              <a:t>22%</a:t>
            </a:r>
            <a:r>
              <a:rPr lang="en-US" altLang="zh-CN" sz="1800" b="0" i="0" u="none" strike="noStrike" baseline="0" dirty="0">
                <a:latin typeface="NimbusRomNo9L-Regu"/>
              </a:rPr>
              <a:t>) when added to USDL. We assume this slight advantage for HPT is likely due to its greater model capacity for handling the complex patterns in the PD4T dataset</a:t>
            </a:r>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12</a:t>
            </a:fld>
            <a:endParaRPr lang="zh-CN" altLang="en-US"/>
          </a:p>
        </p:txBody>
      </p:sp>
    </p:spTree>
    <p:extLst>
      <p:ext uri="{BB962C8B-B14F-4D97-AF65-F5344CB8AC3E}">
        <p14:creationId xmlns:p14="http://schemas.microsoft.com/office/powerpoint/2010/main" val="2780684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13</a:t>
            </a:fld>
            <a:endParaRPr lang="zh-CN" altLang="en-US"/>
          </a:p>
        </p:txBody>
      </p:sp>
    </p:spTree>
    <p:extLst>
      <p:ext uri="{BB962C8B-B14F-4D97-AF65-F5344CB8AC3E}">
        <p14:creationId xmlns:p14="http://schemas.microsoft.com/office/powerpoint/2010/main" val="3346130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NimbusRomNo9L-Regu"/>
              </a:rPr>
              <a:t>particularly by a large margin on the tasks within PD4T and JIGSAWS datasets. </a:t>
            </a:r>
          </a:p>
          <a:p>
            <a:pPr algn="l"/>
            <a:r>
              <a:rPr lang="en-US" altLang="zh-CN" sz="1800" b="0" i="0" u="none" strike="noStrike" baseline="0" dirty="0">
                <a:latin typeface="NimbusRomNo9L-Regu"/>
              </a:rPr>
              <a:t>Further, we observe that, HPT+BN performs significantly worse than Dom-G alone on the all three tasks within JIGSAWS dataset. This suggests that the BN affine parameters, </a:t>
            </a:r>
            <a:r>
              <a:rPr lang="en-US" altLang="zh-CN" sz="1800" b="0" i="0" u="none" strike="noStrike" baseline="0" dirty="0">
                <a:latin typeface="CMMI10"/>
              </a:rPr>
              <a:t>β </a:t>
            </a:r>
            <a:r>
              <a:rPr lang="en-US" altLang="zh-CN" sz="1800" b="0" i="0" u="none" strike="noStrike" baseline="0" dirty="0">
                <a:latin typeface="NimbusRomNo9L-Regu"/>
              </a:rPr>
              <a:t>and </a:t>
            </a:r>
            <a:r>
              <a:rPr lang="en-US" altLang="zh-CN" sz="1800" b="0" i="0" u="none" strike="noStrike" baseline="0" dirty="0">
                <a:latin typeface="CMMI10"/>
              </a:rPr>
              <a:t>γ</a:t>
            </a:r>
            <a:r>
              <a:rPr lang="en-US" altLang="zh-CN" sz="1800" b="0" i="0" u="none" strike="noStrike" baseline="0" dirty="0">
                <a:latin typeface="NimbusRomNo9L-Regu"/>
              </a:rPr>
              <a:t>, generally have a negative impact on downstream AQA tasks when facing a significant domain shift. This happens because </a:t>
            </a:r>
            <a:r>
              <a:rPr lang="en-US" altLang="zh-CN" sz="1800" b="0" i="0" u="none" strike="noStrike" baseline="0" dirty="0">
                <a:latin typeface="CMMI10"/>
              </a:rPr>
              <a:t>β </a:t>
            </a:r>
            <a:r>
              <a:rPr lang="en-US" altLang="zh-CN" sz="1800" b="0" i="0" u="none" strike="noStrike" baseline="0" dirty="0">
                <a:latin typeface="NimbusRomNo9L-Regu"/>
              </a:rPr>
              <a:t>and </a:t>
            </a:r>
            <a:r>
              <a:rPr lang="en-US" altLang="zh-CN" sz="1800" b="0" i="0" u="none" strike="noStrike" baseline="0" dirty="0">
                <a:latin typeface="CMMI10"/>
              </a:rPr>
              <a:t>γ </a:t>
            </a:r>
            <a:r>
              <a:rPr lang="en-US" altLang="zh-CN" sz="1800" b="0" i="0" u="none" strike="noStrike" baseline="0" dirty="0">
                <a:latin typeface="NimbusRomNo9L-Regu"/>
              </a:rPr>
              <a:t>are tuned to the feature distribution of the source domain. When these parameters are applied to a significantly different target domain, they fail to correctly adjust feature statistics, resulting in a misalignment between the source and target domains. This issue becomes worse in smaller target datasets, as the limited number of examples makes it harder for the model to learn the true feature distribution, increasing the risk of overfitting.</a:t>
            </a:r>
          </a:p>
          <a:p>
            <a:pPr algn="l"/>
            <a:r>
              <a:rPr lang="zh-CN" altLang="en-US" dirty="0"/>
              <a:t>此外，我们观察到，在</a:t>
            </a:r>
            <a:r>
              <a:rPr lang="en-US" altLang="zh-CN" dirty="0"/>
              <a:t>JIGSAWS</a:t>
            </a:r>
            <a:r>
              <a:rPr lang="zh-CN" altLang="en-US" dirty="0"/>
              <a:t>数据集中，</a:t>
            </a:r>
            <a:r>
              <a:rPr lang="en-US" altLang="zh-CN" dirty="0"/>
              <a:t>HPT+BN</a:t>
            </a:r>
            <a:r>
              <a:rPr lang="zh-CN" altLang="en-US" dirty="0"/>
              <a:t>在这三个任务上的表现明显低于单独使用</a:t>
            </a:r>
            <a:r>
              <a:rPr lang="en-US" altLang="zh-CN" dirty="0"/>
              <a:t>Dom-G</a:t>
            </a:r>
            <a:r>
              <a:rPr lang="zh-CN" altLang="en-US" dirty="0"/>
              <a:t>。这表明，当面临显著的结构域转移时，</a:t>
            </a:r>
            <a:r>
              <a:rPr lang="en-US" altLang="zh-CN" dirty="0"/>
              <a:t>BN</a:t>
            </a:r>
            <a:r>
              <a:rPr lang="zh-CN" altLang="en-US" dirty="0"/>
              <a:t>仿射参数</a:t>
            </a:r>
            <a:r>
              <a:rPr lang="en-US" altLang="zh-CN" dirty="0"/>
              <a:t>β</a:t>
            </a:r>
            <a:r>
              <a:rPr lang="zh-CN" altLang="en-US" dirty="0"/>
              <a:t>和</a:t>
            </a:r>
            <a:r>
              <a:rPr lang="en-US" altLang="zh-CN" dirty="0"/>
              <a:t>γ</a:t>
            </a:r>
            <a:r>
              <a:rPr lang="zh-CN" altLang="en-US" dirty="0"/>
              <a:t>通常会对下游</a:t>
            </a:r>
            <a:r>
              <a:rPr lang="en-US" altLang="zh-CN" dirty="0"/>
              <a:t>AQA</a:t>
            </a:r>
            <a:r>
              <a:rPr lang="zh-CN" altLang="en-US" dirty="0"/>
              <a:t>任务产生负面影响。这是因为</a:t>
            </a:r>
            <a:r>
              <a:rPr lang="en-US" altLang="zh-CN" dirty="0"/>
              <a:t>β</a:t>
            </a:r>
            <a:r>
              <a:rPr lang="zh-CN" altLang="en-US" dirty="0"/>
              <a:t>和</a:t>
            </a:r>
            <a:r>
              <a:rPr lang="en-US" altLang="zh-CN" dirty="0"/>
              <a:t>γ</a:t>
            </a:r>
            <a:r>
              <a:rPr lang="zh-CN" altLang="en-US" dirty="0"/>
              <a:t>被调谐到源域的特征分布。当这些参数应用于一个明显不同的目标域时，它们不能正确地调整特征统计，导致源域和目标域之间的不对齐。这个问题在较小的目标数据集中变得更糟，因为有限的样本数量使模型更难学习真实的特征分布，增加了过拟合的风险。</a:t>
            </a:r>
            <a:endParaRPr lang="en-US" altLang="zh-CN" sz="1800" b="0" i="0" u="none" strike="noStrike" baseline="0" dirty="0">
              <a:latin typeface="NimbusRomNo9L-Regu"/>
            </a:endParaRPr>
          </a:p>
          <a:p>
            <a:pPr algn="l"/>
            <a:r>
              <a:rPr lang="en-US" altLang="zh-CN" sz="1800" b="0" i="0" u="none" strike="noStrike" baseline="0" dirty="0">
                <a:latin typeface="NimbusRomNo9L-Regu"/>
              </a:rPr>
              <a:t>Dom-S performs variably. It fared worse than Dom-G on MTL-AQA, but exceeds Dom-G in nearly all PD4T tasks. This discrepancy suggests that direct transfer from the K400 dataset may not be ideal for PD4T tasks due to a significant domain gap.</a:t>
            </a:r>
          </a:p>
          <a:p>
            <a:pPr algn="l"/>
            <a:r>
              <a:rPr lang="en-US" altLang="zh-CN" dirty="0"/>
              <a:t>Dom-S</a:t>
            </a:r>
            <a:r>
              <a:rPr lang="zh-CN" altLang="en-US" dirty="0"/>
              <a:t>的性能是可变的。它在</a:t>
            </a:r>
            <a:r>
              <a:rPr lang="en-US" altLang="zh-CN" dirty="0"/>
              <a:t>MTL-AQA</a:t>
            </a:r>
            <a:r>
              <a:rPr lang="zh-CN" altLang="en-US" dirty="0"/>
              <a:t>上的表现不如</a:t>
            </a:r>
            <a:r>
              <a:rPr lang="en-US" altLang="zh-CN" dirty="0"/>
              <a:t>Dom-G</a:t>
            </a:r>
            <a:r>
              <a:rPr lang="zh-CN" altLang="en-US" dirty="0"/>
              <a:t>，但在几乎所有</a:t>
            </a:r>
            <a:r>
              <a:rPr lang="en-US" altLang="zh-CN" dirty="0"/>
              <a:t>PD4T</a:t>
            </a:r>
            <a:r>
              <a:rPr lang="zh-CN" altLang="en-US" dirty="0"/>
              <a:t>任务上都超过了</a:t>
            </a:r>
            <a:r>
              <a:rPr lang="en-US" altLang="zh-CN" dirty="0"/>
              <a:t>Dom-G</a:t>
            </a:r>
            <a:r>
              <a:rPr lang="zh-CN" altLang="en-US" dirty="0"/>
              <a:t>。这种差异表明，由于存在显著的域差距，直接从</a:t>
            </a:r>
            <a:r>
              <a:rPr lang="en-US" altLang="zh-CN" dirty="0"/>
              <a:t>K400</a:t>
            </a:r>
            <a:r>
              <a:rPr lang="zh-CN" altLang="en-US" dirty="0"/>
              <a:t>数据集传输数据可能不适合</a:t>
            </a:r>
            <a:r>
              <a:rPr lang="en-US" altLang="zh-CN" dirty="0"/>
              <a:t>PD4T</a:t>
            </a:r>
            <a:r>
              <a:rPr lang="zh-CN" altLang="en-US" dirty="0"/>
              <a:t>任务。</a:t>
            </a:r>
            <a:endParaRPr lang="en-US" altLang="zh-CN" dirty="0"/>
          </a:p>
          <a:p>
            <a:pPr algn="l"/>
            <a:r>
              <a:rPr lang="en-US" altLang="zh-CN" sz="1800" b="0" i="0" u="none" strike="noStrike" baseline="0" dirty="0">
                <a:latin typeface="NimbusRomNo9L-Regu"/>
              </a:rPr>
              <a:t>Dom-S also performs poorly on all JIGSAWS tasks, implying that self-supervised pretraining from scratch on smaller datasets is sub-optimal</a:t>
            </a:r>
          </a:p>
          <a:p>
            <a:pPr algn="l"/>
            <a:r>
              <a:rPr lang="en-US" altLang="zh-CN" sz="1800" b="0" i="0" u="none" strike="noStrike" baseline="0" dirty="0">
                <a:latin typeface="NimbusRomNo9L-Regu"/>
              </a:rPr>
              <a:t>Dom-S</a:t>
            </a:r>
            <a:r>
              <a:rPr lang="zh-CN" altLang="en-US" sz="1800" b="0" i="0" u="none" strike="noStrike" baseline="0" dirty="0">
                <a:latin typeface="NimbusRomNo9L-Regu"/>
              </a:rPr>
              <a:t>在所有</a:t>
            </a:r>
            <a:r>
              <a:rPr lang="en-US" altLang="zh-CN" sz="1800" b="0" i="0" u="none" strike="noStrike" baseline="0" dirty="0">
                <a:latin typeface="NimbusRomNo9L-Regu"/>
              </a:rPr>
              <a:t>JIGSAWS</a:t>
            </a:r>
            <a:r>
              <a:rPr lang="zh-CN" altLang="en-US" sz="1800" b="0" i="0" u="none" strike="noStrike" baseline="0" dirty="0">
                <a:latin typeface="NimbusRomNo9L-Regu"/>
              </a:rPr>
              <a:t>任务上的表现也很差，这意味着在较小的数据集上从头开始的自我监督预训练是次优的</a:t>
            </a:r>
            <a:endParaRPr lang="en-US" altLang="zh-CN" sz="1800" b="0" i="0" u="none" strike="noStrike" baseline="0" dirty="0">
              <a:latin typeface="NimbusRomNo9L-Regu"/>
            </a:endParaRPr>
          </a:p>
          <a:p>
            <a:pPr algn="l"/>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14</a:t>
            </a:fld>
            <a:endParaRPr lang="zh-CN" altLang="en-US"/>
          </a:p>
        </p:txBody>
      </p:sp>
    </p:spTree>
    <p:extLst>
      <p:ext uri="{BB962C8B-B14F-4D97-AF65-F5344CB8AC3E}">
        <p14:creationId xmlns:p14="http://schemas.microsoft.com/office/powerpoint/2010/main" val="2106950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NimbusRomNo9L-Regu"/>
              </a:rPr>
              <a:t>particularly by a large margin on the tasks within PD4T and JIGSAWS datasets. </a:t>
            </a:r>
          </a:p>
          <a:p>
            <a:pPr algn="l"/>
            <a:r>
              <a:rPr lang="en-US" altLang="zh-CN" sz="1800" b="0" i="0" u="none" strike="noStrike" baseline="0" dirty="0">
                <a:latin typeface="NimbusRomNo9L-Regu"/>
              </a:rPr>
              <a:t>Further, we observe that, HPT+BN performs significantly worse than Dom-G alone on the all three tasks within JIGSAWS dataset. This suggests that the BN affine parameters, </a:t>
            </a:r>
            <a:r>
              <a:rPr lang="en-US" altLang="zh-CN" sz="1800" b="0" i="0" u="none" strike="noStrike" baseline="0" dirty="0">
                <a:latin typeface="CMMI10"/>
              </a:rPr>
              <a:t>β </a:t>
            </a:r>
            <a:r>
              <a:rPr lang="en-US" altLang="zh-CN" sz="1800" b="0" i="0" u="none" strike="noStrike" baseline="0" dirty="0">
                <a:latin typeface="NimbusRomNo9L-Regu"/>
              </a:rPr>
              <a:t>and </a:t>
            </a:r>
            <a:r>
              <a:rPr lang="en-US" altLang="zh-CN" sz="1800" b="0" i="0" u="none" strike="noStrike" baseline="0" dirty="0">
                <a:latin typeface="CMMI10"/>
              </a:rPr>
              <a:t>γ</a:t>
            </a:r>
            <a:r>
              <a:rPr lang="en-US" altLang="zh-CN" sz="1800" b="0" i="0" u="none" strike="noStrike" baseline="0" dirty="0">
                <a:latin typeface="NimbusRomNo9L-Regu"/>
              </a:rPr>
              <a:t>, generally have a negative impact on downstream AQA tasks when facing a significant domain shift. This happens because </a:t>
            </a:r>
            <a:r>
              <a:rPr lang="en-US" altLang="zh-CN" sz="1800" b="0" i="0" u="none" strike="noStrike" baseline="0" dirty="0">
                <a:latin typeface="CMMI10"/>
              </a:rPr>
              <a:t>β </a:t>
            </a:r>
            <a:r>
              <a:rPr lang="en-US" altLang="zh-CN" sz="1800" b="0" i="0" u="none" strike="noStrike" baseline="0" dirty="0">
                <a:latin typeface="NimbusRomNo9L-Regu"/>
              </a:rPr>
              <a:t>and </a:t>
            </a:r>
            <a:r>
              <a:rPr lang="en-US" altLang="zh-CN" sz="1800" b="0" i="0" u="none" strike="noStrike" baseline="0" dirty="0">
                <a:latin typeface="CMMI10"/>
              </a:rPr>
              <a:t>γ </a:t>
            </a:r>
            <a:r>
              <a:rPr lang="en-US" altLang="zh-CN" sz="1800" b="0" i="0" u="none" strike="noStrike" baseline="0" dirty="0">
                <a:latin typeface="NimbusRomNo9L-Regu"/>
              </a:rPr>
              <a:t>are tuned to the feature distribution of the source domain. When these parameters are applied to a significantly different target domain, they fail to correctly adjust feature statistics, resulting in a misalignment between the source and target domains. This issue becomes worse in smaller target datasets, as the limited number of examples makes it harder for the model to learn the true feature distribution, increasing the risk of overfitting.</a:t>
            </a:r>
          </a:p>
          <a:p>
            <a:pPr algn="l"/>
            <a:r>
              <a:rPr lang="zh-CN" altLang="en-US" dirty="0"/>
              <a:t>此外，我们观察到，在</a:t>
            </a:r>
            <a:r>
              <a:rPr lang="en-US" altLang="zh-CN" dirty="0"/>
              <a:t>JIGSAWS</a:t>
            </a:r>
            <a:r>
              <a:rPr lang="zh-CN" altLang="en-US" dirty="0"/>
              <a:t>数据集中，</a:t>
            </a:r>
            <a:r>
              <a:rPr lang="en-US" altLang="zh-CN" dirty="0"/>
              <a:t>HPT+BN</a:t>
            </a:r>
            <a:r>
              <a:rPr lang="zh-CN" altLang="en-US" dirty="0"/>
              <a:t>在这三个任务上的表现明显低于单独使用</a:t>
            </a:r>
            <a:r>
              <a:rPr lang="en-US" altLang="zh-CN" dirty="0"/>
              <a:t>Dom-G</a:t>
            </a:r>
            <a:r>
              <a:rPr lang="zh-CN" altLang="en-US" dirty="0"/>
              <a:t>。这表明，当面临显著的结构域转移时，</a:t>
            </a:r>
            <a:r>
              <a:rPr lang="en-US" altLang="zh-CN" dirty="0"/>
              <a:t>BN</a:t>
            </a:r>
            <a:r>
              <a:rPr lang="zh-CN" altLang="en-US" dirty="0"/>
              <a:t>仿射参数</a:t>
            </a:r>
            <a:r>
              <a:rPr lang="en-US" altLang="zh-CN" dirty="0"/>
              <a:t>β</a:t>
            </a:r>
            <a:r>
              <a:rPr lang="zh-CN" altLang="en-US" dirty="0"/>
              <a:t>和</a:t>
            </a:r>
            <a:r>
              <a:rPr lang="en-US" altLang="zh-CN" dirty="0"/>
              <a:t>γ</a:t>
            </a:r>
            <a:r>
              <a:rPr lang="zh-CN" altLang="en-US" dirty="0"/>
              <a:t>通常会对下游</a:t>
            </a:r>
            <a:r>
              <a:rPr lang="en-US" altLang="zh-CN" dirty="0"/>
              <a:t>AQA</a:t>
            </a:r>
            <a:r>
              <a:rPr lang="zh-CN" altLang="en-US" dirty="0"/>
              <a:t>任务产生负面影响。这是因为</a:t>
            </a:r>
            <a:r>
              <a:rPr lang="en-US" altLang="zh-CN" dirty="0"/>
              <a:t>β</a:t>
            </a:r>
            <a:r>
              <a:rPr lang="zh-CN" altLang="en-US" dirty="0"/>
              <a:t>和</a:t>
            </a:r>
            <a:r>
              <a:rPr lang="en-US" altLang="zh-CN" dirty="0"/>
              <a:t>γ</a:t>
            </a:r>
            <a:r>
              <a:rPr lang="zh-CN" altLang="en-US" dirty="0"/>
              <a:t>被调谐到源域的特征分布。当这些参数应用于一个明显不同的目标域时，它们不能正确地调整特征统计，导致源域和目标域之间的不对齐。这个问题在较小的目标数据集中变得更糟，因为有限的样本数量使模型更难学习真实的特征分布，增加了过拟合的风险。</a:t>
            </a:r>
            <a:endParaRPr lang="en-US" altLang="zh-CN" sz="1800" b="0" i="0" u="none" strike="noStrike" baseline="0" dirty="0">
              <a:latin typeface="NimbusRomNo9L-Regu"/>
            </a:endParaRPr>
          </a:p>
          <a:p>
            <a:pPr algn="l"/>
            <a:r>
              <a:rPr lang="en-US" altLang="zh-CN" sz="1800" b="0" i="0" u="none" strike="noStrike" baseline="0" dirty="0">
                <a:latin typeface="NimbusRomNo9L-Regu"/>
              </a:rPr>
              <a:t>Dom-S performs variably. It fared worse than Dom-G on MTL-AQA, but exceeds Dom-G in nearly all PD4T tasks. This discrepancy suggests that direct transfer from the K400 dataset may not be ideal for PD4T tasks due to a significant domain gap.</a:t>
            </a:r>
          </a:p>
          <a:p>
            <a:pPr algn="l"/>
            <a:r>
              <a:rPr lang="en-US" altLang="zh-CN" dirty="0"/>
              <a:t>Dom-S</a:t>
            </a:r>
            <a:r>
              <a:rPr lang="zh-CN" altLang="en-US" dirty="0"/>
              <a:t>的性能是可变的。它在</a:t>
            </a:r>
            <a:r>
              <a:rPr lang="en-US" altLang="zh-CN" dirty="0"/>
              <a:t>MTL-AQA</a:t>
            </a:r>
            <a:r>
              <a:rPr lang="zh-CN" altLang="en-US" dirty="0"/>
              <a:t>上的表现不如</a:t>
            </a:r>
            <a:r>
              <a:rPr lang="en-US" altLang="zh-CN" dirty="0"/>
              <a:t>Dom-G</a:t>
            </a:r>
            <a:r>
              <a:rPr lang="zh-CN" altLang="en-US" dirty="0"/>
              <a:t>，但在几乎所有</a:t>
            </a:r>
            <a:r>
              <a:rPr lang="en-US" altLang="zh-CN" dirty="0"/>
              <a:t>PD4T</a:t>
            </a:r>
            <a:r>
              <a:rPr lang="zh-CN" altLang="en-US" dirty="0"/>
              <a:t>任务上都超过了</a:t>
            </a:r>
            <a:r>
              <a:rPr lang="en-US" altLang="zh-CN" dirty="0"/>
              <a:t>Dom-G</a:t>
            </a:r>
            <a:r>
              <a:rPr lang="zh-CN" altLang="en-US" dirty="0"/>
              <a:t>。这种差异表明，由于存在显著的域差距，直接从</a:t>
            </a:r>
            <a:r>
              <a:rPr lang="en-US" altLang="zh-CN" dirty="0"/>
              <a:t>K400</a:t>
            </a:r>
            <a:r>
              <a:rPr lang="zh-CN" altLang="en-US" dirty="0"/>
              <a:t>数据集传输数据可能不适合</a:t>
            </a:r>
            <a:r>
              <a:rPr lang="en-US" altLang="zh-CN" dirty="0"/>
              <a:t>PD4T</a:t>
            </a:r>
            <a:r>
              <a:rPr lang="zh-CN" altLang="en-US" dirty="0"/>
              <a:t>任务。</a:t>
            </a:r>
            <a:endParaRPr lang="en-US" altLang="zh-CN" dirty="0"/>
          </a:p>
          <a:p>
            <a:pPr algn="l"/>
            <a:r>
              <a:rPr lang="en-US" altLang="zh-CN" sz="1800" b="0" i="0" u="none" strike="noStrike" baseline="0" dirty="0">
                <a:latin typeface="NimbusRomNo9L-Regu"/>
              </a:rPr>
              <a:t>Dom-S also performs poorly on all JIGSAWS tasks, implying that self-supervised pretraining from scratch on smaller datasets is sub-optimal</a:t>
            </a:r>
          </a:p>
          <a:p>
            <a:pPr algn="l"/>
            <a:r>
              <a:rPr lang="en-US" altLang="zh-CN" sz="1800" b="0" i="0" u="none" strike="noStrike" baseline="0" dirty="0">
                <a:latin typeface="NimbusRomNo9L-Regu"/>
              </a:rPr>
              <a:t>Dom-S</a:t>
            </a:r>
            <a:r>
              <a:rPr lang="zh-CN" altLang="en-US" sz="1800" b="0" i="0" u="none" strike="noStrike" baseline="0" dirty="0">
                <a:latin typeface="NimbusRomNo9L-Regu"/>
              </a:rPr>
              <a:t>在所有</a:t>
            </a:r>
            <a:r>
              <a:rPr lang="en-US" altLang="zh-CN" sz="1800" b="0" i="0" u="none" strike="noStrike" baseline="0" dirty="0">
                <a:latin typeface="NimbusRomNo9L-Regu"/>
              </a:rPr>
              <a:t>JIGSAWS</a:t>
            </a:r>
            <a:r>
              <a:rPr lang="zh-CN" altLang="en-US" sz="1800" b="0" i="0" u="none" strike="noStrike" baseline="0" dirty="0">
                <a:latin typeface="NimbusRomNo9L-Regu"/>
              </a:rPr>
              <a:t>任务上的表现也很差，这意味着在较小的数据集上从头开始的自我监督预训练是次优的</a:t>
            </a:r>
            <a:endParaRPr lang="en-US" altLang="zh-CN" sz="1800" b="0" i="0" u="none" strike="noStrike" baseline="0" dirty="0">
              <a:latin typeface="NimbusRomNo9L-Regu"/>
            </a:endParaRPr>
          </a:p>
          <a:p>
            <a:pPr algn="l"/>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15</a:t>
            </a:fld>
            <a:endParaRPr lang="zh-CN" altLang="en-US"/>
          </a:p>
        </p:txBody>
      </p:sp>
    </p:spTree>
    <p:extLst>
      <p:ext uri="{BB962C8B-B14F-4D97-AF65-F5344CB8AC3E}">
        <p14:creationId xmlns:p14="http://schemas.microsoft.com/office/powerpoint/2010/main" val="11286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NimbusRomNo9L-Regu"/>
              </a:rPr>
              <a:t>particularly by a large margin on the tasks within PD4T and JIGSAWS datasets. </a:t>
            </a:r>
          </a:p>
          <a:p>
            <a:pPr algn="l"/>
            <a:r>
              <a:rPr lang="en-US" altLang="zh-CN" sz="1800" b="0" i="0" u="none" strike="noStrike" baseline="0" dirty="0">
                <a:latin typeface="NimbusRomNo9L-Regu"/>
              </a:rPr>
              <a:t>Further, we observe that, HPT+BN performs significantly worse than Dom-G alone on the all three tasks within JIGSAWS dataset. This suggests that the BN affine parameters, </a:t>
            </a:r>
            <a:r>
              <a:rPr lang="en-US" altLang="zh-CN" sz="1800" b="0" i="0" u="none" strike="noStrike" baseline="0" dirty="0">
                <a:latin typeface="CMMI10"/>
              </a:rPr>
              <a:t>β </a:t>
            </a:r>
            <a:r>
              <a:rPr lang="en-US" altLang="zh-CN" sz="1800" b="0" i="0" u="none" strike="noStrike" baseline="0" dirty="0">
                <a:latin typeface="NimbusRomNo9L-Regu"/>
              </a:rPr>
              <a:t>and </a:t>
            </a:r>
            <a:r>
              <a:rPr lang="en-US" altLang="zh-CN" sz="1800" b="0" i="0" u="none" strike="noStrike" baseline="0" dirty="0">
                <a:latin typeface="CMMI10"/>
              </a:rPr>
              <a:t>γ</a:t>
            </a:r>
            <a:r>
              <a:rPr lang="en-US" altLang="zh-CN" sz="1800" b="0" i="0" u="none" strike="noStrike" baseline="0" dirty="0">
                <a:latin typeface="NimbusRomNo9L-Regu"/>
              </a:rPr>
              <a:t>, generally have a negative impact on downstream AQA tasks when facing a significant domain shift. This happens because </a:t>
            </a:r>
            <a:r>
              <a:rPr lang="en-US" altLang="zh-CN" sz="1800" b="0" i="0" u="none" strike="noStrike" baseline="0" dirty="0">
                <a:latin typeface="CMMI10"/>
              </a:rPr>
              <a:t>β </a:t>
            </a:r>
            <a:r>
              <a:rPr lang="en-US" altLang="zh-CN" sz="1800" b="0" i="0" u="none" strike="noStrike" baseline="0" dirty="0">
                <a:latin typeface="NimbusRomNo9L-Regu"/>
              </a:rPr>
              <a:t>and </a:t>
            </a:r>
            <a:r>
              <a:rPr lang="en-US" altLang="zh-CN" sz="1800" b="0" i="0" u="none" strike="noStrike" baseline="0" dirty="0">
                <a:latin typeface="CMMI10"/>
              </a:rPr>
              <a:t>γ </a:t>
            </a:r>
            <a:r>
              <a:rPr lang="en-US" altLang="zh-CN" sz="1800" b="0" i="0" u="none" strike="noStrike" baseline="0" dirty="0">
                <a:latin typeface="NimbusRomNo9L-Regu"/>
              </a:rPr>
              <a:t>are tuned to the feature distribution of the source domain. When these parameters are applied to a significantly different target domain, they fail to correctly adjust feature statistics, resulting in a misalignment between the source and target domains. This issue becomes worse in smaller target datasets, as the limited number of examples makes it harder for the model to learn the true feature distribution, increasing the risk of overfitting.</a:t>
            </a:r>
          </a:p>
          <a:p>
            <a:pPr algn="l"/>
            <a:r>
              <a:rPr lang="zh-CN" altLang="en-US" dirty="0"/>
              <a:t>此外，我们观察到，在</a:t>
            </a:r>
            <a:r>
              <a:rPr lang="en-US" altLang="zh-CN" dirty="0"/>
              <a:t>JIGSAWS</a:t>
            </a:r>
            <a:r>
              <a:rPr lang="zh-CN" altLang="en-US" dirty="0"/>
              <a:t>数据集中，</a:t>
            </a:r>
            <a:r>
              <a:rPr lang="en-US" altLang="zh-CN" dirty="0"/>
              <a:t>HPT+BN</a:t>
            </a:r>
            <a:r>
              <a:rPr lang="zh-CN" altLang="en-US" dirty="0"/>
              <a:t>在这三个任务上的表现明显低于单独使用</a:t>
            </a:r>
            <a:r>
              <a:rPr lang="en-US" altLang="zh-CN" dirty="0"/>
              <a:t>Dom-G</a:t>
            </a:r>
            <a:r>
              <a:rPr lang="zh-CN" altLang="en-US" dirty="0"/>
              <a:t>。这表明，当面临显著的结构域转移时，</a:t>
            </a:r>
            <a:r>
              <a:rPr lang="en-US" altLang="zh-CN" dirty="0"/>
              <a:t>BN</a:t>
            </a:r>
            <a:r>
              <a:rPr lang="zh-CN" altLang="en-US" dirty="0"/>
              <a:t>仿射参数</a:t>
            </a:r>
            <a:r>
              <a:rPr lang="en-US" altLang="zh-CN" dirty="0"/>
              <a:t>β</a:t>
            </a:r>
            <a:r>
              <a:rPr lang="zh-CN" altLang="en-US" dirty="0"/>
              <a:t>和</a:t>
            </a:r>
            <a:r>
              <a:rPr lang="en-US" altLang="zh-CN" dirty="0"/>
              <a:t>γ</a:t>
            </a:r>
            <a:r>
              <a:rPr lang="zh-CN" altLang="en-US" dirty="0"/>
              <a:t>通常会对下游</a:t>
            </a:r>
            <a:r>
              <a:rPr lang="en-US" altLang="zh-CN" dirty="0"/>
              <a:t>AQA</a:t>
            </a:r>
            <a:r>
              <a:rPr lang="zh-CN" altLang="en-US" dirty="0"/>
              <a:t>任务产生负面影响。这是因为</a:t>
            </a:r>
            <a:r>
              <a:rPr lang="en-US" altLang="zh-CN" dirty="0"/>
              <a:t>β</a:t>
            </a:r>
            <a:r>
              <a:rPr lang="zh-CN" altLang="en-US" dirty="0"/>
              <a:t>和</a:t>
            </a:r>
            <a:r>
              <a:rPr lang="en-US" altLang="zh-CN" dirty="0"/>
              <a:t>γ</a:t>
            </a:r>
            <a:r>
              <a:rPr lang="zh-CN" altLang="en-US" dirty="0"/>
              <a:t>被调谐到源域的特征分布。当这些参数应用于一个明显不同的目标域时，它们不能正确地调整特征统计，导致源域和目标域之间的不对齐。这个问题在较小的目标数据集中变得更糟，因为有限的样本数量使模型更难学习真实的特征分布，增加了过拟合的风险。</a:t>
            </a:r>
            <a:endParaRPr lang="en-US" altLang="zh-CN" sz="1800" b="0" i="0" u="none" strike="noStrike" baseline="0" dirty="0">
              <a:latin typeface="NimbusRomNo9L-Regu"/>
            </a:endParaRPr>
          </a:p>
          <a:p>
            <a:pPr algn="l"/>
            <a:r>
              <a:rPr lang="en-US" altLang="zh-CN" sz="1800" b="0" i="0" u="none" strike="noStrike" baseline="0" dirty="0">
                <a:latin typeface="NimbusRomNo9L-Regu"/>
              </a:rPr>
              <a:t>Dom-S performs variably. It fared worse than Dom-G on MTL-AQA, but exceeds Dom-G in nearly all PD4T tasks. This discrepancy suggests that direct transfer from the K400 dataset may not be ideal for PD4T tasks due to a significant domain gap.</a:t>
            </a:r>
          </a:p>
          <a:p>
            <a:pPr algn="l"/>
            <a:r>
              <a:rPr lang="en-US" altLang="zh-CN" dirty="0"/>
              <a:t>Dom-S</a:t>
            </a:r>
            <a:r>
              <a:rPr lang="zh-CN" altLang="en-US" dirty="0"/>
              <a:t>的性能是可变的。它在</a:t>
            </a:r>
            <a:r>
              <a:rPr lang="en-US" altLang="zh-CN" dirty="0"/>
              <a:t>MTL-AQA</a:t>
            </a:r>
            <a:r>
              <a:rPr lang="zh-CN" altLang="en-US" dirty="0"/>
              <a:t>上的表现不如</a:t>
            </a:r>
            <a:r>
              <a:rPr lang="en-US" altLang="zh-CN" dirty="0"/>
              <a:t>Dom-G</a:t>
            </a:r>
            <a:r>
              <a:rPr lang="zh-CN" altLang="en-US" dirty="0"/>
              <a:t>，但在几乎所有</a:t>
            </a:r>
            <a:r>
              <a:rPr lang="en-US" altLang="zh-CN" dirty="0"/>
              <a:t>PD4T</a:t>
            </a:r>
            <a:r>
              <a:rPr lang="zh-CN" altLang="en-US" dirty="0"/>
              <a:t>任务上都超过了</a:t>
            </a:r>
            <a:r>
              <a:rPr lang="en-US" altLang="zh-CN" dirty="0"/>
              <a:t>Dom-G</a:t>
            </a:r>
            <a:r>
              <a:rPr lang="zh-CN" altLang="en-US" dirty="0"/>
              <a:t>。这种差异表明，由于存在显著的域差距，直接从</a:t>
            </a:r>
            <a:r>
              <a:rPr lang="en-US" altLang="zh-CN" dirty="0"/>
              <a:t>K400</a:t>
            </a:r>
            <a:r>
              <a:rPr lang="zh-CN" altLang="en-US" dirty="0"/>
              <a:t>数据集传输数据可能不适合</a:t>
            </a:r>
            <a:r>
              <a:rPr lang="en-US" altLang="zh-CN" dirty="0"/>
              <a:t>PD4T</a:t>
            </a:r>
            <a:r>
              <a:rPr lang="zh-CN" altLang="en-US" dirty="0"/>
              <a:t>任务。</a:t>
            </a:r>
            <a:endParaRPr lang="en-US" altLang="zh-CN" dirty="0"/>
          </a:p>
          <a:p>
            <a:pPr algn="l"/>
            <a:r>
              <a:rPr lang="en-US" altLang="zh-CN" sz="1800" b="0" i="0" u="none" strike="noStrike" baseline="0" dirty="0">
                <a:latin typeface="NimbusRomNo9L-Regu"/>
              </a:rPr>
              <a:t>Dom-S also performs poorly on all JIGSAWS tasks, implying that self-supervised pretraining from scratch on smaller datasets is sub-optimal</a:t>
            </a:r>
          </a:p>
          <a:p>
            <a:pPr algn="l"/>
            <a:r>
              <a:rPr lang="en-US" altLang="zh-CN" sz="1800" b="0" i="0" u="none" strike="noStrike" baseline="0" dirty="0">
                <a:latin typeface="NimbusRomNo9L-Regu"/>
              </a:rPr>
              <a:t>Dom-S</a:t>
            </a:r>
            <a:r>
              <a:rPr lang="zh-CN" altLang="en-US" sz="1800" b="0" i="0" u="none" strike="noStrike" baseline="0" dirty="0">
                <a:latin typeface="NimbusRomNo9L-Regu"/>
              </a:rPr>
              <a:t>在所有</a:t>
            </a:r>
            <a:r>
              <a:rPr lang="en-US" altLang="zh-CN" sz="1800" b="0" i="0" u="none" strike="noStrike" baseline="0" dirty="0">
                <a:latin typeface="NimbusRomNo9L-Regu"/>
              </a:rPr>
              <a:t>JIGSAWS</a:t>
            </a:r>
            <a:r>
              <a:rPr lang="zh-CN" altLang="en-US" sz="1800" b="0" i="0" u="none" strike="noStrike" baseline="0" dirty="0">
                <a:latin typeface="NimbusRomNo9L-Regu"/>
              </a:rPr>
              <a:t>任务上的表现也很差，这意味着在较小的数据集上从头开始的自我监督预训练是次优的</a:t>
            </a:r>
            <a:endParaRPr lang="en-US" altLang="zh-CN" sz="1800" b="0" i="0" u="none" strike="noStrike" baseline="0" dirty="0">
              <a:latin typeface="NimbusRomNo9L-Regu"/>
            </a:endParaRPr>
          </a:p>
          <a:p>
            <a:pPr algn="l"/>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16</a:t>
            </a:fld>
            <a:endParaRPr lang="zh-CN" altLang="en-US"/>
          </a:p>
        </p:txBody>
      </p:sp>
    </p:spTree>
    <p:extLst>
      <p:ext uri="{BB962C8B-B14F-4D97-AF65-F5344CB8AC3E}">
        <p14:creationId xmlns:p14="http://schemas.microsoft.com/office/powerpoint/2010/main" val="4223857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17</a:t>
            </a:fld>
            <a:endParaRPr lang="zh-CN" altLang="en-US"/>
          </a:p>
        </p:txBody>
      </p:sp>
    </p:spTree>
    <p:extLst>
      <p:ext uri="{BB962C8B-B14F-4D97-AF65-F5344CB8AC3E}">
        <p14:creationId xmlns:p14="http://schemas.microsoft.com/office/powerpoint/2010/main" val="1943203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5F9A1-0690-9F52-6E4C-02EFC73D1A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F00E950-5A63-2FAB-48F2-38D46116B7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D1AE32F-0EE9-E009-F342-F46AD2262E0A}"/>
              </a:ext>
            </a:extLst>
          </p:cNvPr>
          <p:cNvSpPr>
            <a:spLocks noGrp="1"/>
          </p:cNvSpPr>
          <p:nvPr>
            <p:ph type="dt" sz="half" idx="10"/>
          </p:nvPr>
        </p:nvSpPr>
        <p:spPr/>
        <p:txBody>
          <a:bodyPr/>
          <a:lstStyle/>
          <a:p>
            <a:fld id="{5DEE46E2-5CC7-453D-88A4-D771605C39FA}" type="datetime1">
              <a:rPr lang="zh-CN" altLang="en-US" smtClean="0"/>
              <a:t>2024/1/18</a:t>
            </a:fld>
            <a:endParaRPr lang="zh-CN" altLang="en-US"/>
          </a:p>
        </p:txBody>
      </p:sp>
      <p:sp>
        <p:nvSpPr>
          <p:cNvPr id="5" name="页脚占位符 4">
            <a:extLst>
              <a:ext uri="{FF2B5EF4-FFF2-40B4-BE49-F238E27FC236}">
                <a16:creationId xmlns:a16="http://schemas.microsoft.com/office/drawing/2014/main" id="{E5D8DD50-5F26-B5FF-0407-7D48124D9F3D}"/>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586B665D-BF8F-3B19-62F0-5BFB6C03AE2D}"/>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776445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39521-E985-90EB-6AC6-421E9A5722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63467D3-69D1-211B-A2D9-AD12996CB01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F63A57-3F04-B0C9-5CF7-6A86E2B92327}"/>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9D32FE96-40B1-0A67-9E38-7CC8A1EC1DCF}"/>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017539EF-D233-D0D1-2288-2799B4FE0B0A}"/>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15695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C450E5-FF71-A70A-5238-86C325E01C2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569328F-FB28-F827-982D-3273D44858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2B5B6E0-2903-3825-61F6-8A4CFA8D56F4}"/>
              </a:ext>
            </a:extLst>
          </p:cNvPr>
          <p:cNvSpPr>
            <a:spLocks noGrp="1"/>
          </p:cNvSpPr>
          <p:nvPr>
            <p:ph type="dt" sz="half" idx="10"/>
          </p:nvPr>
        </p:nvSpPr>
        <p:spPr/>
        <p:txBody>
          <a:bodyPr/>
          <a:lstStyle/>
          <a:p>
            <a:fld id="{ED7523DD-0761-48D9-A072-88FAAD8A2B8A}" type="datetime1">
              <a:rPr lang="zh-CN" altLang="en-US" smtClean="0"/>
              <a:t>2024/1/18</a:t>
            </a:fld>
            <a:endParaRPr lang="zh-CN" altLang="en-US"/>
          </a:p>
        </p:txBody>
      </p:sp>
      <p:sp>
        <p:nvSpPr>
          <p:cNvPr id="5" name="页脚占位符 4">
            <a:extLst>
              <a:ext uri="{FF2B5EF4-FFF2-40B4-BE49-F238E27FC236}">
                <a16:creationId xmlns:a16="http://schemas.microsoft.com/office/drawing/2014/main" id="{DEBC5BC9-2950-3D31-90F0-71A5350DCB13}"/>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65745345-616F-1CDE-C300-85763894061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3394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6C70F-DD6A-EC3D-0EB2-330B2D987C1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5EB655-23DB-370C-262B-A28D2A16262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33426C1-4B1A-F8FF-1D4C-FEEA6A70C32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E298D47-7833-8E76-5DA4-AC43E445F936}"/>
              </a:ext>
            </a:extLst>
          </p:cNvPr>
          <p:cNvSpPr>
            <a:spLocks noGrp="1"/>
          </p:cNvSpPr>
          <p:nvPr>
            <p:ph type="dt" sz="half" idx="10"/>
          </p:nvPr>
        </p:nvSpPr>
        <p:spPr/>
        <p:txBody>
          <a:bodyPr/>
          <a:lstStyle/>
          <a:p>
            <a:fld id="{5CCC982C-C85D-4FDB-9E5A-8333A69BCC27}" type="datetime1">
              <a:rPr lang="zh-CN" altLang="en-US" smtClean="0"/>
              <a:t>2024/1/18</a:t>
            </a:fld>
            <a:endParaRPr lang="zh-CN" altLang="en-US"/>
          </a:p>
        </p:txBody>
      </p:sp>
      <p:sp>
        <p:nvSpPr>
          <p:cNvPr id="6" name="页脚占位符 5">
            <a:extLst>
              <a:ext uri="{FF2B5EF4-FFF2-40B4-BE49-F238E27FC236}">
                <a16:creationId xmlns:a16="http://schemas.microsoft.com/office/drawing/2014/main" id="{147E6CA1-46EB-CEAC-2925-F5F61100032F}"/>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FB0855ED-767F-A0C5-287E-4B6A91261F8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885803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E99C2B-A92B-6567-D905-08A6375B80E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DFE2485-1C8F-8BB6-D0BB-169E987BCF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300396-13FA-F275-B374-0A3F884FBAB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BE2F9F3-CF47-62A8-195B-2CEFED4855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5475F61-D3EF-9603-AAA5-CAC812555BB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EFDEA3A-BA09-86B4-A55C-60A4BBB298F9}"/>
              </a:ext>
            </a:extLst>
          </p:cNvPr>
          <p:cNvSpPr>
            <a:spLocks noGrp="1"/>
          </p:cNvSpPr>
          <p:nvPr>
            <p:ph type="dt" sz="half" idx="10"/>
          </p:nvPr>
        </p:nvSpPr>
        <p:spPr/>
        <p:txBody>
          <a:bodyPr/>
          <a:lstStyle/>
          <a:p>
            <a:fld id="{F158F8F2-60C9-4021-B43C-C1DAB43CD9E6}" type="datetime1">
              <a:rPr lang="zh-CN" altLang="en-US" smtClean="0"/>
              <a:t>2024/1/18</a:t>
            </a:fld>
            <a:endParaRPr lang="zh-CN" altLang="en-US"/>
          </a:p>
        </p:txBody>
      </p:sp>
      <p:sp>
        <p:nvSpPr>
          <p:cNvPr id="8" name="页脚占位符 7">
            <a:extLst>
              <a:ext uri="{FF2B5EF4-FFF2-40B4-BE49-F238E27FC236}">
                <a16:creationId xmlns:a16="http://schemas.microsoft.com/office/drawing/2014/main" id="{A277037E-EC93-518C-638E-58B82546EE95}"/>
              </a:ext>
            </a:extLst>
          </p:cNvPr>
          <p:cNvSpPr>
            <a:spLocks noGrp="1"/>
          </p:cNvSpPr>
          <p:nvPr>
            <p:ph type="ftr" sz="quarter" idx="11"/>
          </p:nvPr>
        </p:nvSpPr>
        <p:spPr/>
        <p:txBody>
          <a:bodyPr/>
          <a:lstStyle/>
          <a:p>
            <a:r>
              <a:rPr lang="en-US" altLang="zh-CN"/>
              <a:t>lqy</a:t>
            </a:r>
            <a:endParaRPr lang="zh-CN" altLang="en-US"/>
          </a:p>
        </p:txBody>
      </p:sp>
      <p:sp>
        <p:nvSpPr>
          <p:cNvPr id="9" name="灯片编号占位符 8">
            <a:extLst>
              <a:ext uri="{FF2B5EF4-FFF2-40B4-BE49-F238E27FC236}">
                <a16:creationId xmlns:a16="http://schemas.microsoft.com/office/drawing/2014/main" id="{687DFB6F-7FF7-9A0E-3D66-78B5E0BC353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612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45031-D372-105D-5296-FE5DAC7C3CC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5256C2-5FCE-3106-8FE2-7B30BA723155}"/>
              </a:ext>
            </a:extLst>
          </p:cNvPr>
          <p:cNvSpPr>
            <a:spLocks noGrp="1"/>
          </p:cNvSpPr>
          <p:nvPr>
            <p:ph type="dt" sz="half" idx="10"/>
          </p:nvPr>
        </p:nvSpPr>
        <p:spPr/>
        <p:txBody>
          <a:bodyPr/>
          <a:lstStyle/>
          <a:p>
            <a:fld id="{426F321C-952D-4214-B766-AF94C9E3CAFF}" type="datetime1">
              <a:rPr lang="zh-CN" altLang="en-US" smtClean="0"/>
              <a:t>2024/1/18</a:t>
            </a:fld>
            <a:endParaRPr lang="zh-CN" altLang="en-US"/>
          </a:p>
        </p:txBody>
      </p:sp>
      <p:sp>
        <p:nvSpPr>
          <p:cNvPr id="4" name="页脚占位符 3">
            <a:extLst>
              <a:ext uri="{FF2B5EF4-FFF2-40B4-BE49-F238E27FC236}">
                <a16:creationId xmlns:a16="http://schemas.microsoft.com/office/drawing/2014/main" id="{FF1AF100-952E-1B3C-6496-3D8AA076BC78}"/>
              </a:ext>
            </a:extLst>
          </p:cNvPr>
          <p:cNvSpPr>
            <a:spLocks noGrp="1"/>
          </p:cNvSpPr>
          <p:nvPr>
            <p:ph type="ftr" sz="quarter" idx="11"/>
          </p:nvPr>
        </p:nvSpPr>
        <p:spPr/>
        <p:txBody>
          <a:bodyPr/>
          <a:lstStyle/>
          <a:p>
            <a:r>
              <a:rPr lang="en-US" altLang="zh-CN"/>
              <a:t>lqy</a:t>
            </a:r>
            <a:endParaRPr lang="zh-CN" altLang="en-US"/>
          </a:p>
        </p:txBody>
      </p:sp>
      <p:sp>
        <p:nvSpPr>
          <p:cNvPr id="5" name="灯片编号占位符 4">
            <a:extLst>
              <a:ext uri="{FF2B5EF4-FFF2-40B4-BE49-F238E27FC236}">
                <a16:creationId xmlns:a16="http://schemas.microsoft.com/office/drawing/2014/main" id="{FE6ACC92-F59F-7B22-4047-DABBD190560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467392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641B9AF-2066-98C2-2F70-1828257E257F}"/>
              </a:ext>
            </a:extLst>
          </p:cNvPr>
          <p:cNvSpPr>
            <a:spLocks noGrp="1"/>
          </p:cNvSpPr>
          <p:nvPr>
            <p:ph type="dt" sz="half" idx="10"/>
          </p:nvPr>
        </p:nvSpPr>
        <p:spPr/>
        <p:txBody>
          <a:bodyPr/>
          <a:lstStyle/>
          <a:p>
            <a:fld id="{3392C486-05C0-48DE-8AE5-6121A84E55A2}" type="datetime1">
              <a:rPr lang="zh-CN" altLang="en-US" smtClean="0"/>
              <a:t>2024/1/18</a:t>
            </a:fld>
            <a:endParaRPr lang="zh-CN" altLang="en-US"/>
          </a:p>
        </p:txBody>
      </p:sp>
      <p:sp>
        <p:nvSpPr>
          <p:cNvPr id="3" name="页脚占位符 2">
            <a:extLst>
              <a:ext uri="{FF2B5EF4-FFF2-40B4-BE49-F238E27FC236}">
                <a16:creationId xmlns:a16="http://schemas.microsoft.com/office/drawing/2014/main" id="{C4B06837-4BFC-62F5-46ED-8AE659E67452}"/>
              </a:ext>
            </a:extLst>
          </p:cNvPr>
          <p:cNvSpPr>
            <a:spLocks noGrp="1"/>
          </p:cNvSpPr>
          <p:nvPr>
            <p:ph type="ftr" sz="quarter" idx="11"/>
          </p:nvPr>
        </p:nvSpPr>
        <p:spPr/>
        <p:txBody>
          <a:bodyPr/>
          <a:lstStyle/>
          <a:p>
            <a:r>
              <a:rPr lang="en-US" altLang="zh-CN"/>
              <a:t>lqy</a:t>
            </a:r>
            <a:endParaRPr lang="zh-CN" altLang="en-US"/>
          </a:p>
        </p:txBody>
      </p:sp>
      <p:sp>
        <p:nvSpPr>
          <p:cNvPr id="4" name="灯片编号占位符 3">
            <a:extLst>
              <a:ext uri="{FF2B5EF4-FFF2-40B4-BE49-F238E27FC236}">
                <a16:creationId xmlns:a16="http://schemas.microsoft.com/office/drawing/2014/main" id="{023A3226-376E-3EF4-3082-F92D5202AEB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141584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35523-4003-48DF-C8D9-664D03517D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063AA1E-88E9-A968-D904-740D3E8058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70CA983-4A52-C228-59EA-8381B768B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3D07EE0-6861-DBFC-C132-708F05F7AC2C}"/>
              </a:ext>
            </a:extLst>
          </p:cNvPr>
          <p:cNvSpPr>
            <a:spLocks noGrp="1"/>
          </p:cNvSpPr>
          <p:nvPr>
            <p:ph type="dt" sz="half" idx="10"/>
          </p:nvPr>
        </p:nvSpPr>
        <p:spPr/>
        <p:txBody>
          <a:bodyPr/>
          <a:lstStyle/>
          <a:p>
            <a:fld id="{E4A4F0E9-2C6C-4841-ACA4-86E4382E8656}" type="datetime1">
              <a:rPr lang="zh-CN" altLang="en-US" smtClean="0"/>
              <a:t>2024/1/18</a:t>
            </a:fld>
            <a:endParaRPr lang="zh-CN" altLang="en-US"/>
          </a:p>
        </p:txBody>
      </p:sp>
      <p:sp>
        <p:nvSpPr>
          <p:cNvPr id="6" name="页脚占位符 5">
            <a:extLst>
              <a:ext uri="{FF2B5EF4-FFF2-40B4-BE49-F238E27FC236}">
                <a16:creationId xmlns:a16="http://schemas.microsoft.com/office/drawing/2014/main" id="{459A823A-A172-1203-6E7D-F5994CE97956}"/>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A3920480-9F11-3BDC-7758-55B0500A577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723682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D525F-D728-7D12-3911-F94130CF2CE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071D9CB-8823-0234-20E3-E9C4B6F62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06B7F5-A0FC-B2A3-CF48-E82298D3E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94F1D10-2DFF-66CE-0AC9-8A5C906FAC39}"/>
              </a:ext>
            </a:extLst>
          </p:cNvPr>
          <p:cNvSpPr>
            <a:spLocks noGrp="1"/>
          </p:cNvSpPr>
          <p:nvPr>
            <p:ph type="dt" sz="half" idx="10"/>
          </p:nvPr>
        </p:nvSpPr>
        <p:spPr/>
        <p:txBody>
          <a:bodyPr/>
          <a:lstStyle/>
          <a:p>
            <a:fld id="{27E92021-1565-4C01-BF64-E189B982E6DB}" type="datetime1">
              <a:rPr lang="zh-CN" altLang="en-US" smtClean="0"/>
              <a:t>2024/1/18</a:t>
            </a:fld>
            <a:endParaRPr lang="zh-CN" altLang="en-US"/>
          </a:p>
        </p:txBody>
      </p:sp>
      <p:sp>
        <p:nvSpPr>
          <p:cNvPr id="6" name="页脚占位符 5">
            <a:extLst>
              <a:ext uri="{FF2B5EF4-FFF2-40B4-BE49-F238E27FC236}">
                <a16:creationId xmlns:a16="http://schemas.microsoft.com/office/drawing/2014/main" id="{B9610AE5-311D-A583-89D8-C711CFAF6BD2}"/>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A53A88F2-F65D-49D9-A8C3-578D65DC3102}"/>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7464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402DEA-5CB3-A9CB-4237-BA007D7DC86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917644-2125-CA43-B082-F6A56995C16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EA9C6D-34A8-B2BC-C079-BCFE9EA9BB62}"/>
              </a:ext>
            </a:extLst>
          </p:cNvPr>
          <p:cNvSpPr>
            <a:spLocks noGrp="1"/>
          </p:cNvSpPr>
          <p:nvPr>
            <p:ph type="dt" sz="half" idx="10"/>
          </p:nvPr>
        </p:nvSpPr>
        <p:spPr/>
        <p:txBody>
          <a:bodyPr/>
          <a:lstStyle/>
          <a:p>
            <a:fld id="{64FDAB72-A1C1-4907-A5D9-300D78DDF13D}" type="datetime1">
              <a:rPr lang="zh-CN" altLang="en-US" smtClean="0"/>
              <a:t>2024/1/18</a:t>
            </a:fld>
            <a:endParaRPr lang="zh-CN" altLang="en-US"/>
          </a:p>
        </p:txBody>
      </p:sp>
      <p:sp>
        <p:nvSpPr>
          <p:cNvPr id="5" name="页脚占位符 4">
            <a:extLst>
              <a:ext uri="{FF2B5EF4-FFF2-40B4-BE49-F238E27FC236}">
                <a16:creationId xmlns:a16="http://schemas.microsoft.com/office/drawing/2014/main" id="{F7A6AD81-4502-EAF8-AF62-2F922FD2E89C}"/>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1C4CD785-5CD2-D550-EA31-8C3A71D24253}"/>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07662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664AE5-2175-3FCD-3056-9840D2F583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DA3F94F-EB43-73DD-83B2-4950D750E56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B3F7B0-30B5-CDF6-83E8-365F977E7BAF}"/>
              </a:ext>
            </a:extLst>
          </p:cNvPr>
          <p:cNvSpPr>
            <a:spLocks noGrp="1"/>
          </p:cNvSpPr>
          <p:nvPr>
            <p:ph type="dt" sz="half" idx="10"/>
          </p:nvPr>
        </p:nvSpPr>
        <p:spPr/>
        <p:txBody>
          <a:bodyPr/>
          <a:lstStyle/>
          <a:p>
            <a:fld id="{19278E53-48F3-4F60-9258-70FB4868ACF6}" type="datetime1">
              <a:rPr lang="zh-CN" altLang="en-US" smtClean="0"/>
              <a:t>2024/1/18</a:t>
            </a:fld>
            <a:endParaRPr lang="zh-CN" altLang="en-US"/>
          </a:p>
        </p:txBody>
      </p:sp>
      <p:sp>
        <p:nvSpPr>
          <p:cNvPr id="5" name="页脚占位符 4">
            <a:extLst>
              <a:ext uri="{FF2B5EF4-FFF2-40B4-BE49-F238E27FC236}">
                <a16:creationId xmlns:a16="http://schemas.microsoft.com/office/drawing/2014/main" id="{949C15C7-2396-BDC1-3662-8033F0AF6740}"/>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637C4850-ECEF-DD93-F734-A7E5B5EE0CE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597650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6E6E89-0CB6-0A78-6FFB-06EA6B706C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8767239-88CA-CE88-E876-BE1F67173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C8342E-89C8-2246-3EE2-106BE7B28D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8AFA3C-2BB7-4B8A-96D4-7CEC45A0E1CC}" type="datetime1">
              <a:rPr lang="zh-CN" altLang="en-US" smtClean="0"/>
              <a:t>2024/1/18</a:t>
            </a:fld>
            <a:endParaRPr lang="zh-CN" altLang="en-US"/>
          </a:p>
        </p:txBody>
      </p:sp>
      <p:sp>
        <p:nvSpPr>
          <p:cNvPr id="5" name="页脚占位符 4">
            <a:extLst>
              <a:ext uri="{FF2B5EF4-FFF2-40B4-BE49-F238E27FC236}">
                <a16:creationId xmlns:a16="http://schemas.microsoft.com/office/drawing/2014/main" id="{789532D6-F4AC-186B-C970-B6B14896D5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lqy</a:t>
            </a:r>
            <a:endParaRPr lang="zh-CN" altLang="en-US"/>
          </a:p>
        </p:txBody>
      </p:sp>
      <p:sp>
        <p:nvSpPr>
          <p:cNvPr id="6" name="灯片编号占位符 5">
            <a:extLst>
              <a:ext uri="{FF2B5EF4-FFF2-40B4-BE49-F238E27FC236}">
                <a16:creationId xmlns:a16="http://schemas.microsoft.com/office/drawing/2014/main" id="{CA418EE2-863F-CAEC-1A91-A31F3BC3CA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052578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DB1D2D-383D-3281-1EBE-DC83F41FF097}"/>
              </a:ext>
            </a:extLst>
          </p:cNvPr>
          <p:cNvSpPr>
            <a:spLocks noGrp="1"/>
          </p:cNvSpPr>
          <p:nvPr>
            <p:ph type="ctrTitle"/>
          </p:nvPr>
        </p:nvSpPr>
        <p:spPr>
          <a:xfrm>
            <a:off x="838200" y="833002"/>
            <a:ext cx="10515600" cy="2387600"/>
          </a:xfrm>
        </p:spPr>
        <p:txBody>
          <a:bodyPr>
            <a:normAutofit/>
          </a:bodyPr>
          <a:lstStyle/>
          <a:p>
            <a:r>
              <a:rPr lang="en-US" altLang="zh-CN" sz="3600" i="0" u="none" strike="noStrike" baseline="0" dirty="0" err="1">
                <a:latin typeface="NimbusRomNo9L-Medi"/>
              </a:rPr>
              <a:t>PECoP</a:t>
            </a:r>
            <a:r>
              <a:rPr lang="en-US" altLang="zh-CN" sz="3600" i="0" u="none" strike="noStrike" baseline="0" dirty="0">
                <a:latin typeface="NimbusRomNo9L-Medi"/>
              </a:rPr>
              <a:t>: Parameter Efficient Continual Pretraining for</a:t>
            </a:r>
            <a:br>
              <a:rPr lang="en-US" altLang="zh-CN" sz="3600" i="0" u="none" strike="noStrike" baseline="0" dirty="0">
                <a:latin typeface="NimbusRomNo9L-Medi"/>
              </a:rPr>
            </a:br>
            <a:r>
              <a:rPr lang="en-US" altLang="zh-CN" sz="3600" i="0" u="none" strike="noStrike" baseline="0" dirty="0">
                <a:latin typeface="NimbusRomNo9L-Medi"/>
              </a:rPr>
              <a:t>Action Quality Assessment</a:t>
            </a:r>
            <a:endParaRPr lang="zh-CN" altLang="en-US" sz="9600" dirty="0"/>
          </a:p>
        </p:txBody>
      </p:sp>
      <p:sp>
        <p:nvSpPr>
          <p:cNvPr id="7" name="日期占位符 6">
            <a:extLst>
              <a:ext uri="{FF2B5EF4-FFF2-40B4-BE49-F238E27FC236}">
                <a16:creationId xmlns:a16="http://schemas.microsoft.com/office/drawing/2014/main" id="{8E1C0253-5588-EF20-929A-FB655388E9AB}"/>
              </a:ext>
            </a:extLst>
          </p:cNvPr>
          <p:cNvSpPr>
            <a:spLocks noGrp="1"/>
          </p:cNvSpPr>
          <p:nvPr>
            <p:ph type="dt" sz="half" idx="10"/>
          </p:nvPr>
        </p:nvSpPr>
        <p:spPr/>
        <p:txBody>
          <a:bodyPr/>
          <a:lstStyle/>
          <a:p>
            <a:fld id="{4C6F0ADB-DA21-4884-9CAA-465E3A289692}" type="datetime1">
              <a:rPr lang="zh-CN" altLang="en-US" smtClean="0"/>
              <a:t>2024/1/18</a:t>
            </a:fld>
            <a:endParaRPr lang="zh-CN" altLang="en-US"/>
          </a:p>
        </p:txBody>
      </p:sp>
      <p:sp>
        <p:nvSpPr>
          <p:cNvPr id="8" name="页脚占位符 7">
            <a:extLst>
              <a:ext uri="{FF2B5EF4-FFF2-40B4-BE49-F238E27FC236}">
                <a16:creationId xmlns:a16="http://schemas.microsoft.com/office/drawing/2014/main" id="{F1D27184-395C-7317-B86E-22CF227FF7ED}"/>
              </a:ext>
            </a:extLst>
          </p:cNvPr>
          <p:cNvSpPr>
            <a:spLocks noGrp="1"/>
          </p:cNvSpPr>
          <p:nvPr>
            <p:ph type="ftr" sz="quarter" idx="11"/>
          </p:nvPr>
        </p:nvSpPr>
        <p:spPr/>
        <p:txBody>
          <a:bodyPr/>
          <a:lstStyle/>
          <a:p>
            <a:r>
              <a:rPr lang="en-US" altLang="zh-CN"/>
              <a:t>lqy</a:t>
            </a:r>
            <a:endParaRPr lang="zh-CN" altLang="en-US"/>
          </a:p>
        </p:txBody>
      </p:sp>
      <p:sp>
        <p:nvSpPr>
          <p:cNvPr id="9" name="灯片编号占位符 8">
            <a:extLst>
              <a:ext uri="{FF2B5EF4-FFF2-40B4-BE49-F238E27FC236}">
                <a16:creationId xmlns:a16="http://schemas.microsoft.com/office/drawing/2014/main" id="{1EF615FA-433E-85A1-B135-CAAA09775A62}"/>
              </a:ext>
            </a:extLst>
          </p:cNvPr>
          <p:cNvSpPr>
            <a:spLocks noGrp="1"/>
          </p:cNvSpPr>
          <p:nvPr>
            <p:ph type="sldNum" sz="quarter" idx="12"/>
          </p:nvPr>
        </p:nvSpPr>
        <p:spPr/>
        <p:txBody>
          <a:bodyPr/>
          <a:lstStyle/>
          <a:p>
            <a:fld id="{52108E69-35C3-4395-AB4C-CBC2CBC07E89}" type="slidenum">
              <a:rPr lang="zh-CN" altLang="en-US" smtClean="0"/>
              <a:t>1</a:t>
            </a:fld>
            <a:endParaRPr lang="zh-CN" altLang="en-US"/>
          </a:p>
        </p:txBody>
      </p:sp>
      <p:sp>
        <p:nvSpPr>
          <p:cNvPr id="5" name="副标题 4">
            <a:extLst>
              <a:ext uri="{FF2B5EF4-FFF2-40B4-BE49-F238E27FC236}">
                <a16:creationId xmlns:a16="http://schemas.microsoft.com/office/drawing/2014/main" id="{D81C6DBF-F65E-9204-31C6-C6136DBC97F5}"/>
              </a:ext>
            </a:extLst>
          </p:cNvPr>
          <p:cNvSpPr>
            <a:spLocks noGrp="1"/>
          </p:cNvSpPr>
          <p:nvPr>
            <p:ph type="subTitle" idx="1"/>
          </p:nvPr>
        </p:nvSpPr>
        <p:spPr>
          <a:xfrm>
            <a:off x="1524000" y="4856098"/>
            <a:ext cx="9144000" cy="401702"/>
          </a:xfrm>
        </p:spPr>
        <p:txBody>
          <a:bodyPr>
            <a:normAutofit/>
          </a:bodyPr>
          <a:lstStyle/>
          <a:p>
            <a:r>
              <a:rPr lang="en-US" altLang="zh-CN" sz="2000" dirty="0">
                <a:latin typeface="NimbusRomNo9L-Medi"/>
                <a:ea typeface="+mj-ea"/>
                <a:cs typeface="+mj-cs"/>
              </a:rPr>
              <a:t>WACV 2024</a:t>
            </a:r>
            <a:endParaRPr lang="zh-CN" altLang="en-US" sz="2000" dirty="0">
              <a:latin typeface="NimbusRomNo9L-Medi"/>
              <a:ea typeface="+mj-ea"/>
              <a:cs typeface="+mj-cs"/>
            </a:endParaRPr>
          </a:p>
        </p:txBody>
      </p:sp>
      <p:pic>
        <p:nvPicPr>
          <p:cNvPr id="6" name="图片 5">
            <a:extLst>
              <a:ext uri="{FF2B5EF4-FFF2-40B4-BE49-F238E27FC236}">
                <a16:creationId xmlns:a16="http://schemas.microsoft.com/office/drawing/2014/main" id="{98EEBA22-B14C-596D-D5B4-C37DC48B4848}"/>
              </a:ext>
            </a:extLst>
          </p:cNvPr>
          <p:cNvPicPr>
            <a:picLocks noChangeAspect="1"/>
          </p:cNvPicPr>
          <p:nvPr/>
        </p:nvPicPr>
        <p:blipFill>
          <a:blip r:embed="rId2"/>
          <a:stretch>
            <a:fillRect/>
          </a:stretch>
        </p:blipFill>
        <p:spPr>
          <a:xfrm>
            <a:off x="2471036" y="3478942"/>
            <a:ext cx="7249928" cy="1118816"/>
          </a:xfrm>
          <a:prstGeom prst="rect">
            <a:avLst/>
          </a:prstGeom>
        </p:spPr>
      </p:pic>
    </p:spTree>
    <p:extLst>
      <p:ext uri="{BB962C8B-B14F-4D97-AF65-F5344CB8AC3E}">
        <p14:creationId xmlns:p14="http://schemas.microsoft.com/office/powerpoint/2010/main" val="2842794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Background</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AQA methods</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insufficient quantities of annotated data for training</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xtra effort is needed to produce very precise labels, e.g. Parkinson’s Disease (PD) severity assessment</a:t>
            </a:r>
          </a:p>
          <a:p>
            <a:r>
              <a:rPr lang="en-US" altLang="zh-CN" sz="2000" dirty="0">
                <a:latin typeface="Times New Roman" panose="02020603050405020304" pitchFamily="18" charset="0"/>
                <a:cs typeface="Times New Roman" panose="02020603050405020304" pitchFamily="18" charset="0"/>
              </a:rPr>
              <a:t>Common solution: </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start with a model that is originally pretrained on a large source dataset</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Problem: domain/task discrepancy between action classification and action assessment</a:t>
            </a: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For example, in PD action performance scoring, one or two interruptions during the regular rhythm of a patient’s movement performing an action can result in a different quality score and this is in contrast to the source pretraining task, where subtle or even more pronounced differences in performing an action should not affect action classification</a:t>
            </a:r>
            <a:endParaRPr lang="zh-CN" altLang="en-US" sz="4000" dirty="0"/>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2</a:t>
            </a:fld>
            <a:endParaRPr lang="zh-CN" altLang="en-US"/>
          </a:p>
        </p:txBody>
      </p:sp>
    </p:spTree>
    <p:extLst>
      <p:ext uri="{BB962C8B-B14F-4D97-AF65-F5344CB8AC3E}">
        <p14:creationId xmlns:p14="http://schemas.microsoft.com/office/powerpoint/2010/main" val="3075009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Background</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C</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ontinual pretraining: enhance learning via in-domain self-supervised pretraining to handle domain shift problems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I</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nstead of continual pretraining of the entire model parameter set, we take advantage of adapter-based tuning to reduce the cost of storage and model pretraining on in-domain data while preserving the knowledge obtained through the initial pretraining on domain-general data</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Adapter: lightweight bottleneck modules which were designed for Transformer architectures for NLP tasks to conduct parameter-efficient transfer learning for downstream tasks</a:t>
            </a: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No work yet to study the effect of Adapters in 3D CNNs, and our proposed approach fills this gap</a:t>
            </a:r>
          </a:p>
          <a:p>
            <a:endPar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endParaRPr lang="zh-CN" altLang="en-US" sz="4000" dirty="0"/>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3</a:t>
            </a:fld>
            <a:endParaRPr lang="zh-CN" altLang="en-US"/>
          </a:p>
        </p:txBody>
      </p:sp>
    </p:spTree>
    <p:extLst>
      <p:ext uri="{BB962C8B-B14F-4D97-AF65-F5344CB8AC3E}">
        <p14:creationId xmlns:p14="http://schemas.microsoft.com/office/powerpoint/2010/main" val="3563292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Introduction</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P</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retraining to Finetuning: further pretrain using domain-specific unlabeled data, i.e. continual pretraining </a:t>
            </a:r>
            <a:r>
              <a:rPr lang="en-US" altLang="zh-CN" sz="2000" kern="1200" dirty="0">
                <a:solidFill>
                  <a:schemeClr val="accent1"/>
                </a:solidFill>
                <a:effectLst/>
                <a:latin typeface="Times New Roman" panose="02020603050405020304" pitchFamily="18" charset="0"/>
                <a:ea typeface="等线" panose="02010600030101010101" pitchFamily="2" charset="-122"/>
                <a:cs typeface="Times New Roman" panose="02020603050405020304" pitchFamily="18" charset="0"/>
              </a:rPr>
              <a:t>- computationally prohibitive or impractical</a:t>
            </a:r>
            <a:endParaRPr lang="en-US" altLang="zh-CN" sz="2000" dirty="0">
              <a:solidFill>
                <a:schemeClr val="accent1"/>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tuning: equip the pretrained model with domain-specific information by only updating the affine parameters of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layers </a:t>
            </a:r>
            <a:r>
              <a:rPr lang="en-US" altLang="zh-CN" sz="2000" dirty="0">
                <a:solidFill>
                  <a:schemeClr val="accent1"/>
                </a:solidFill>
                <a:latin typeface="Times New Roman" panose="02020603050405020304" pitchFamily="18" charset="0"/>
                <a:ea typeface="等线" panose="02010600030101010101" pitchFamily="2" charset="-122"/>
                <a:cs typeface="Times New Roman" panose="02020603050405020304" pitchFamily="18" charset="0"/>
              </a:rPr>
              <a:t>- fail on those AQA datasets that are relatively small and more domain-specific, such as JIGSAWS </a:t>
            </a: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Adapter-based methods: add a Parameter-Efficient Continual Pretraining (</a:t>
            </a:r>
            <a:r>
              <a:rPr lang="en-US" altLang="zh-CN" sz="2000" kern="1200"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PECoP</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adaptation stage to the traditional AQA transfer learning workflow</a:t>
            </a:r>
            <a:r>
              <a:rPr lang="en-US" altLang="zh-CN" sz="2000" dirty="0">
                <a:latin typeface="Times New Roman" panose="02020603050405020304" pitchFamily="18" charset="0"/>
                <a:cs typeface="Times New Roman" panose="02020603050405020304" pitchFamily="18" charset="0"/>
              </a:rPr>
              <a:t> that can efficiently adapt the domain-general pretrained model for the downstream AQA task</a:t>
            </a:r>
            <a:endPar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3D-Adapter, a lightweight convolutional bottleneck block, insert into a pretrained 3D CNN</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L</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earns domain-specific spatiotemporal knowledge via a self-supervised learning (SSL) approach</a:t>
            </a:r>
            <a:endParaRPr lang="zh-CN" altLang="en-US" sz="2000" dirty="0"/>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4</a:t>
            </a:fld>
            <a:endParaRPr lang="zh-CN" altLang="en-US"/>
          </a:p>
        </p:txBody>
      </p:sp>
    </p:spTree>
    <p:extLst>
      <p:ext uri="{BB962C8B-B14F-4D97-AF65-F5344CB8AC3E}">
        <p14:creationId xmlns:p14="http://schemas.microsoft.com/office/powerpoint/2010/main" val="295945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Introduction</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5</a:t>
            </a:fld>
            <a:endParaRPr lang="zh-CN" altLang="en-US"/>
          </a:p>
        </p:txBody>
      </p:sp>
      <p:sp>
        <p:nvSpPr>
          <p:cNvPr id="8" name="内容占位符 7">
            <a:extLst>
              <a:ext uri="{FF2B5EF4-FFF2-40B4-BE49-F238E27FC236}">
                <a16:creationId xmlns:a16="http://schemas.microsoft.com/office/drawing/2014/main" id="{BD0162A6-C5BD-4013-2FBF-E9483B820833}"/>
              </a:ext>
            </a:extLst>
          </p:cNvPr>
          <p:cNvSpPr>
            <a:spLocks noGrp="1"/>
          </p:cNvSpPr>
          <p:nvPr>
            <p:ph idx="1"/>
          </p:nvPr>
        </p:nvSpPr>
        <p:spPr/>
        <p:txBody>
          <a:bodyPr/>
          <a:lstStyle/>
          <a:p>
            <a:endParaRPr lang="zh-CN" altLang="en-US" dirty="0"/>
          </a:p>
        </p:txBody>
      </p:sp>
      <p:pic>
        <p:nvPicPr>
          <p:cNvPr id="10" name="图片 9">
            <a:extLst>
              <a:ext uri="{FF2B5EF4-FFF2-40B4-BE49-F238E27FC236}">
                <a16:creationId xmlns:a16="http://schemas.microsoft.com/office/drawing/2014/main" id="{08E09155-AFEC-03BC-C901-93F754BC89DB}"/>
              </a:ext>
            </a:extLst>
          </p:cNvPr>
          <p:cNvPicPr>
            <a:picLocks noChangeAspect="1"/>
          </p:cNvPicPr>
          <p:nvPr/>
        </p:nvPicPr>
        <p:blipFill rotWithShape="1">
          <a:blip r:embed="rId3"/>
          <a:srcRect b="38916"/>
          <a:stretch/>
        </p:blipFill>
        <p:spPr>
          <a:xfrm>
            <a:off x="2917779" y="2241663"/>
            <a:ext cx="6356441" cy="3519262"/>
          </a:xfrm>
          <a:prstGeom prst="rect">
            <a:avLst/>
          </a:prstGeom>
        </p:spPr>
      </p:pic>
    </p:spTree>
    <p:extLst>
      <p:ext uri="{BB962C8B-B14F-4D97-AF65-F5344CB8AC3E}">
        <p14:creationId xmlns:p14="http://schemas.microsoft.com/office/powerpoint/2010/main" val="761731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Introduction</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P</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retraining to Finetuning: further pretrain using domain-specific unlabeled data, i.e. continual pretraining </a:t>
            </a:r>
            <a:r>
              <a:rPr lang="en-US" altLang="zh-CN" sz="2000" kern="1200" dirty="0">
                <a:solidFill>
                  <a:schemeClr val="accent1"/>
                </a:solidFill>
                <a:effectLst/>
                <a:latin typeface="Times New Roman" panose="02020603050405020304" pitchFamily="18" charset="0"/>
                <a:ea typeface="等线" panose="02010600030101010101" pitchFamily="2" charset="-122"/>
                <a:cs typeface="Times New Roman" panose="02020603050405020304" pitchFamily="18" charset="0"/>
              </a:rPr>
              <a:t>- computationally prohibitive or impractical</a:t>
            </a:r>
            <a:endParaRPr lang="en-US" altLang="zh-CN" sz="2000" dirty="0">
              <a:solidFill>
                <a:schemeClr val="accent1"/>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tuning: equip the pretrained model with domain-specific information by only updating the affine parameters of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layers </a:t>
            </a:r>
            <a:r>
              <a:rPr lang="en-US" altLang="zh-CN" sz="2000" dirty="0">
                <a:solidFill>
                  <a:schemeClr val="accent1"/>
                </a:solidFill>
                <a:latin typeface="Times New Roman" panose="02020603050405020304" pitchFamily="18" charset="0"/>
                <a:ea typeface="等线" panose="02010600030101010101" pitchFamily="2" charset="-122"/>
                <a:cs typeface="Times New Roman" panose="02020603050405020304" pitchFamily="18" charset="0"/>
              </a:rPr>
              <a:t>- fail on those AQA datasets that are relatively small and more domain-specific, such as JIGSAWS </a:t>
            </a: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Adapter-based methods: add a Parameter-Efficient Continual Pretraining (</a:t>
            </a:r>
            <a:r>
              <a:rPr lang="en-US" altLang="zh-CN" sz="2000" kern="1200"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PECoP</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adaptation stage to the traditional AQA transfer learning workflow</a:t>
            </a:r>
            <a:r>
              <a:rPr lang="en-US" altLang="zh-CN" sz="2000" dirty="0">
                <a:latin typeface="Times New Roman" panose="02020603050405020304" pitchFamily="18" charset="0"/>
                <a:cs typeface="Times New Roman" panose="02020603050405020304" pitchFamily="18" charset="0"/>
              </a:rPr>
              <a:t> that can efficiently adapt the domain-general pretrained model for the downstream AQA task</a:t>
            </a:r>
            <a:endPar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3D-Adapter, a lightweight convolutional bottleneck block, insert into a pretrained 3D CNN</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L</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earns domain-specific spatiotemporal knowledge via a self-supervised learning (SSL) approach</a:t>
            </a:r>
            <a:endParaRPr lang="zh-CN" altLang="en-US" sz="2000" dirty="0"/>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6</a:t>
            </a:fld>
            <a:endParaRPr lang="zh-CN" altLang="en-US"/>
          </a:p>
        </p:txBody>
      </p:sp>
    </p:spTree>
    <p:extLst>
      <p:ext uri="{BB962C8B-B14F-4D97-AF65-F5344CB8AC3E}">
        <p14:creationId xmlns:p14="http://schemas.microsoft.com/office/powerpoint/2010/main" val="170363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Method</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7</a:t>
            </a:fld>
            <a:endParaRPr lang="zh-CN" altLang="en-US"/>
          </a:p>
        </p:txBody>
      </p:sp>
      <mc:AlternateContent xmlns:mc="http://schemas.openxmlformats.org/markup-compatibility/2006" xmlns:a14="http://schemas.microsoft.com/office/drawing/2010/main">
        <mc:Choice Requires="a14">
          <p:sp>
            <p:nvSpPr>
              <p:cNvPr id="8" name="内容占位符 7">
                <a:extLst>
                  <a:ext uri="{FF2B5EF4-FFF2-40B4-BE49-F238E27FC236}">
                    <a16:creationId xmlns:a16="http://schemas.microsoft.com/office/drawing/2014/main" id="{7F02DAAB-C7FC-A720-551A-19091A4C3C55}"/>
                  </a:ext>
                </a:extLst>
              </p:cNvPr>
              <p:cNvSpPr>
                <a:spLocks noGrp="1"/>
              </p:cNvSpPr>
              <p:nvPr>
                <p:ph idx="1"/>
              </p:nvPr>
            </p:nvSpPr>
            <p:spPr>
              <a:xfrm>
                <a:off x="838199" y="1825625"/>
                <a:ext cx="5180763" cy="4351338"/>
              </a:xfrm>
            </p:spPr>
            <p:txBody>
              <a:bodyPr>
                <a:normAutofit/>
              </a:bodyPr>
              <a:lstStyle/>
              <a:p>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𝑔</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is a large-scale, annotated, domain-general video dataset used for a learning task </a:t>
                </a:r>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𝑔</m:t>
                        </m:r>
                      </m:sub>
                    </m:sSub>
                  </m:oMath>
                </a14:m>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is a target video dataset in the AQA domain for a learning task </a:t>
                </a:r>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sub>
                    </m:sSub>
                  </m:oMath>
                </a14:m>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Significant domain discrepancy between </a:t>
                </a:r>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𝑔</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and </a:t>
                </a:r>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sub>
                    </m:sSub>
                  </m:oMath>
                </a14:m>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Given an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unlabelled</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video dataset </a:t>
                </a:r>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𝑞</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where </a:t>
                </a:r>
                <a14:m>
                  <m:oMath xmlns:m="http://schemas.openxmlformats.org/officeDocument/2006/math">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𝑞</m:t>
                        </m:r>
                      </m:sub>
                    </m:s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en-US" altLang="zh-CN" sz="2000" i="1"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sub>
                    </m:sSub>
                  </m:oMath>
                </a14:m>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Aim: leverage the representations in </a:t>
                </a:r>
                <a14:m>
                  <m:oMath xmlns:m="http://schemas.openxmlformats.org/officeDocument/2006/math">
                    <m:sSub>
                      <m:sSubPr>
                        <m:ctrlPr>
                          <a:rPr lang="en-US" altLang="zh-CN" sz="2000" i="1">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𝑔</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and </a:t>
                </a:r>
                <a14:m>
                  <m:oMath xmlns:m="http://schemas.openxmlformats.org/officeDocument/2006/math">
                    <m:sSub>
                      <m:sSubPr>
                        <m:ctrlPr>
                          <a:rPr lang="en-US" altLang="zh-CN" sz="2000" i="1">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𝑞</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to learn a transferable spatiotemporal feature extractor that is able to perform as well as possible on </a:t>
                </a:r>
                <a14:m>
                  <m:oMath xmlns:m="http://schemas.openxmlformats.org/officeDocument/2006/math">
                    <m:sSub>
                      <m:sSubPr>
                        <m:ctrlPr>
                          <a:rPr lang="en-US" altLang="zh-CN" sz="2000" i="1">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𝐷</m:t>
                        </m:r>
                      </m:e>
                      <m:sub>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for task </a:t>
                </a:r>
                <a14:m>
                  <m:oMath xmlns:m="http://schemas.openxmlformats.org/officeDocument/2006/math">
                    <m:sSub>
                      <m:sSubPr>
                        <m:ctrlPr>
                          <a:rPr lang="en-US" altLang="zh-CN" sz="2000" i="1">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20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sub>
                    </m:sSub>
                  </m:oMath>
                </a14:m>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mc:Choice>
        <mc:Fallback xmlns="">
          <p:sp>
            <p:nvSpPr>
              <p:cNvPr id="8" name="内容占位符 7">
                <a:extLst>
                  <a:ext uri="{FF2B5EF4-FFF2-40B4-BE49-F238E27FC236}">
                    <a16:creationId xmlns:a16="http://schemas.microsoft.com/office/drawing/2014/main" id="{7F02DAAB-C7FC-A720-551A-19091A4C3C55}"/>
                  </a:ext>
                </a:extLst>
              </p:cNvPr>
              <p:cNvSpPr>
                <a:spLocks noGrp="1" noRot="1" noChangeAspect="1" noMove="1" noResize="1" noEditPoints="1" noAdjustHandles="1" noChangeArrowheads="1" noChangeShapeType="1" noTextEdit="1"/>
              </p:cNvSpPr>
              <p:nvPr>
                <p:ph idx="1"/>
              </p:nvPr>
            </p:nvSpPr>
            <p:spPr>
              <a:xfrm>
                <a:off x="838199" y="1825625"/>
                <a:ext cx="5180763" cy="4351338"/>
              </a:xfrm>
              <a:blipFill>
                <a:blip r:embed="rId3"/>
                <a:stretch>
                  <a:fillRect l="-941" t="-1261" r="-2000"/>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17BE2543-EB67-3BD5-8C59-695B421FD853}"/>
              </a:ext>
            </a:extLst>
          </p:cNvPr>
          <p:cNvPicPr>
            <a:picLocks noChangeAspect="1"/>
          </p:cNvPicPr>
          <p:nvPr/>
        </p:nvPicPr>
        <p:blipFill>
          <a:blip r:embed="rId4"/>
          <a:stretch>
            <a:fillRect/>
          </a:stretch>
        </p:blipFill>
        <p:spPr>
          <a:xfrm>
            <a:off x="6018962" y="1825625"/>
            <a:ext cx="6002999" cy="4171484"/>
          </a:xfrm>
          <a:prstGeom prst="rect">
            <a:avLst/>
          </a:prstGeom>
        </p:spPr>
      </p:pic>
    </p:spTree>
    <p:extLst>
      <p:ext uri="{BB962C8B-B14F-4D97-AF65-F5344CB8AC3E}">
        <p14:creationId xmlns:p14="http://schemas.microsoft.com/office/powerpoint/2010/main" val="2371498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Method</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38200" y="1825625"/>
            <a:ext cx="6336324" cy="4351338"/>
          </a:xfrm>
        </p:spPr>
        <p:txBody>
          <a:bodyPr>
            <a:normAutofit/>
          </a:bodyPr>
          <a:lstStyle/>
          <a:p>
            <a:r>
              <a:rPr lang="en-US" altLang="zh-CN" sz="2000" b="1"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Domain-general pretraining</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 pretrained backbone model, one trained on a large video dataset, e.g. an I3D model supervised on K400</a:t>
            </a:r>
          </a:p>
          <a:p>
            <a:r>
              <a:rPr lang="en-US" altLang="zh-CN" sz="2000" b="1"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In-domain SSL continual pretraining</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Equip our K400 pretrained model with randomly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initialised</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3D-Adapter modules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Self-supervised learning, </a:t>
            </a:r>
            <a:r>
              <a:rPr lang="en-US" altLang="zh-CN" sz="2000" dirty="0">
                <a:solidFill>
                  <a:srgbClr val="000000"/>
                </a:solidFill>
                <a:latin typeface="Times New Roman" panose="02020603050405020304" pitchFamily="18" charset="0"/>
                <a:cs typeface="Times New Roman" panose="02020603050405020304" pitchFamily="18" charset="0"/>
              </a:rPr>
              <a:t>Video Segment Pace Prediction (VSPP) as an SSL pretext task</a:t>
            </a:r>
          </a:p>
          <a:p>
            <a:r>
              <a:rPr lang="en-US" altLang="zh-CN" sz="2000" b="1" dirty="0">
                <a:solidFill>
                  <a:srgbClr val="000000"/>
                </a:solidFill>
                <a:latin typeface="Times New Roman" panose="02020603050405020304" pitchFamily="18" charset="0"/>
                <a:cs typeface="Times New Roman" panose="02020603050405020304" pitchFamily="18" charset="0"/>
              </a:rPr>
              <a:t>Supervised fine-tuning </a:t>
            </a:r>
          </a:p>
          <a:p>
            <a:r>
              <a:rPr lang="en-US" altLang="zh-CN" sz="2000" dirty="0" err="1">
                <a:solidFill>
                  <a:srgbClr val="000000"/>
                </a:solidFill>
                <a:latin typeface="Times New Roman" panose="02020603050405020304" pitchFamily="18" charset="0"/>
                <a:cs typeface="Times New Roman" panose="02020603050405020304" pitchFamily="18" charset="0"/>
              </a:rPr>
              <a:t>CoRe</a:t>
            </a:r>
            <a:r>
              <a:rPr lang="en-US" altLang="zh-CN" sz="2000" dirty="0">
                <a:solidFill>
                  <a:srgbClr val="000000"/>
                </a:solidFill>
                <a:latin typeface="Times New Roman" panose="02020603050405020304" pitchFamily="18" charset="0"/>
                <a:cs typeface="Times New Roman" panose="02020603050405020304" pitchFamily="18" charset="0"/>
              </a:rPr>
              <a:t>, USDL/MUSDL, and TSA to be enhanced with</a:t>
            </a: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8</a:t>
            </a:fld>
            <a:endParaRPr lang="zh-CN" altLang="en-US"/>
          </a:p>
        </p:txBody>
      </p:sp>
      <p:pic>
        <p:nvPicPr>
          <p:cNvPr id="8" name="图片 7">
            <a:extLst>
              <a:ext uri="{FF2B5EF4-FFF2-40B4-BE49-F238E27FC236}">
                <a16:creationId xmlns:a16="http://schemas.microsoft.com/office/drawing/2014/main" id="{58A79E96-2FF3-275B-FFBC-3536CDC06284}"/>
              </a:ext>
            </a:extLst>
          </p:cNvPr>
          <p:cNvPicPr>
            <a:picLocks noChangeAspect="1"/>
          </p:cNvPicPr>
          <p:nvPr/>
        </p:nvPicPr>
        <p:blipFill>
          <a:blip r:embed="rId3"/>
          <a:stretch>
            <a:fillRect/>
          </a:stretch>
        </p:blipFill>
        <p:spPr>
          <a:xfrm>
            <a:off x="7487816" y="3325857"/>
            <a:ext cx="3710239" cy="2726628"/>
          </a:xfrm>
          <a:prstGeom prst="rect">
            <a:avLst/>
          </a:prstGeom>
        </p:spPr>
      </p:pic>
      <p:sp>
        <p:nvSpPr>
          <p:cNvPr id="9" name="内容占位符 2">
            <a:extLst>
              <a:ext uri="{FF2B5EF4-FFF2-40B4-BE49-F238E27FC236}">
                <a16:creationId xmlns:a16="http://schemas.microsoft.com/office/drawing/2014/main" id="{6AA6F10B-408F-34AF-2C52-59176F825FFB}"/>
              </a:ext>
            </a:extLst>
          </p:cNvPr>
          <p:cNvSpPr txBox="1">
            <a:spLocks/>
          </p:cNvSpPr>
          <p:nvPr/>
        </p:nvSpPr>
        <p:spPr>
          <a:xfrm>
            <a:off x="838200" y="2832135"/>
            <a:ext cx="56878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2000" dirty="0"/>
          </a:p>
        </p:txBody>
      </p:sp>
      <p:pic>
        <p:nvPicPr>
          <p:cNvPr id="10" name="图片 9">
            <a:extLst>
              <a:ext uri="{FF2B5EF4-FFF2-40B4-BE49-F238E27FC236}">
                <a16:creationId xmlns:a16="http://schemas.microsoft.com/office/drawing/2014/main" id="{D53D53F3-0F7B-65FF-42BC-52179925AAD2}"/>
              </a:ext>
            </a:extLst>
          </p:cNvPr>
          <p:cNvPicPr>
            <a:picLocks noChangeAspect="1"/>
          </p:cNvPicPr>
          <p:nvPr/>
        </p:nvPicPr>
        <p:blipFill rotWithShape="1">
          <a:blip r:embed="rId4"/>
          <a:srcRect b="38916"/>
          <a:stretch/>
        </p:blipFill>
        <p:spPr>
          <a:xfrm>
            <a:off x="6963591" y="508293"/>
            <a:ext cx="4758690" cy="2634663"/>
          </a:xfrm>
          <a:prstGeom prst="rect">
            <a:avLst/>
          </a:prstGeom>
        </p:spPr>
      </p:pic>
    </p:spTree>
    <p:extLst>
      <p:ext uri="{BB962C8B-B14F-4D97-AF65-F5344CB8AC3E}">
        <p14:creationId xmlns:p14="http://schemas.microsoft.com/office/powerpoint/2010/main" val="3126875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Experiments</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Datasets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MTL-AQA, JIGSAWS,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FineDiving</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PD4T</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2931 videos, 30 PD patients, 41 to 72 years old, Unified Parkinson’s Disease Rating Scale (UPDRS) quality scores ranging from 0 (normal) to 4 (severe)</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25fps, 1920×1080 (reduced to 854x480</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30 subjects, 22 for training and 8 for testing</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9</a:t>
            </a:fld>
            <a:endParaRPr lang="zh-CN" altLang="en-US"/>
          </a:p>
        </p:txBody>
      </p:sp>
      <p:pic>
        <p:nvPicPr>
          <p:cNvPr id="8" name="图片 7">
            <a:extLst>
              <a:ext uri="{FF2B5EF4-FFF2-40B4-BE49-F238E27FC236}">
                <a16:creationId xmlns:a16="http://schemas.microsoft.com/office/drawing/2014/main" id="{DAC2748C-8C84-4112-07AB-32C1FD0821D5}"/>
              </a:ext>
            </a:extLst>
          </p:cNvPr>
          <p:cNvPicPr>
            <a:picLocks noChangeAspect="1"/>
          </p:cNvPicPr>
          <p:nvPr/>
        </p:nvPicPr>
        <p:blipFill rotWithShape="1">
          <a:blip r:embed="rId3"/>
          <a:srcRect b="31429"/>
          <a:stretch/>
        </p:blipFill>
        <p:spPr>
          <a:xfrm>
            <a:off x="475465" y="4109249"/>
            <a:ext cx="11241069" cy="2247101"/>
          </a:xfrm>
          <a:prstGeom prst="rect">
            <a:avLst/>
          </a:prstGeom>
        </p:spPr>
      </p:pic>
    </p:spTree>
    <p:extLst>
      <p:ext uri="{BB962C8B-B14F-4D97-AF65-F5344CB8AC3E}">
        <p14:creationId xmlns:p14="http://schemas.microsoft.com/office/powerpoint/2010/main" val="634853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Experiments</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Device: Nvidia RTX 3090TI GPU</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Initialization: I3D model with </a:t>
            </a:r>
            <a:r>
              <a:rPr lang="en-US" altLang="zh-CN" sz="2000" dirty="0">
                <a:solidFill>
                  <a:srgbClr val="000000"/>
                </a:solidFill>
                <a:latin typeface="Times New Roman" panose="02020603050405020304" pitchFamily="18" charset="0"/>
                <a:cs typeface="Times New Roman" panose="02020603050405020304" pitchFamily="18" charset="0"/>
              </a:rPr>
              <a:t>K400 pretrained weights</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Classification head: two randomly initialized FC layers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Data augmentation: randomly crop the video clips to 224 × 224 followed by horizontal flip and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colour</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jittering of each frame</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Input clip length: 32</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10</a:t>
            </a:fld>
            <a:endParaRPr lang="zh-CN" altLang="en-US"/>
          </a:p>
        </p:txBody>
      </p:sp>
    </p:spTree>
    <p:extLst>
      <p:ext uri="{BB962C8B-B14F-4D97-AF65-F5344CB8AC3E}">
        <p14:creationId xmlns:p14="http://schemas.microsoft.com/office/powerpoint/2010/main" val="4106233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Experiments</a:t>
            </a:r>
            <a:endParaRPr lang="zh-CN" altLang="en-US" dirty="0">
              <a:latin typeface="NimbusRomNo9L-Medi"/>
            </a:endParaRPr>
          </a:p>
        </p:txBody>
      </p:sp>
      <p:pic>
        <p:nvPicPr>
          <p:cNvPr id="13" name="内容占位符 12">
            <a:extLst>
              <a:ext uri="{FF2B5EF4-FFF2-40B4-BE49-F238E27FC236}">
                <a16:creationId xmlns:a16="http://schemas.microsoft.com/office/drawing/2014/main" id="{CD6CA6F8-888B-9840-1E4F-49BBC702CBBE}"/>
              </a:ext>
            </a:extLst>
          </p:cNvPr>
          <p:cNvPicPr>
            <a:picLocks noGrp="1" noChangeAspect="1"/>
          </p:cNvPicPr>
          <p:nvPr>
            <p:ph idx="1"/>
          </p:nvPr>
        </p:nvPicPr>
        <p:blipFill>
          <a:blip r:embed="rId3"/>
          <a:stretch>
            <a:fillRect/>
          </a:stretch>
        </p:blipFill>
        <p:spPr>
          <a:xfrm>
            <a:off x="6865022" y="1703711"/>
            <a:ext cx="5016355" cy="3737017"/>
          </a:xfrm>
        </p:spPr>
      </p:pic>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11</a:t>
            </a:fld>
            <a:endParaRPr lang="zh-CN" altLang="en-US"/>
          </a:p>
        </p:txBody>
      </p:sp>
      <p:pic>
        <p:nvPicPr>
          <p:cNvPr id="8" name="图片 7">
            <a:extLst>
              <a:ext uri="{FF2B5EF4-FFF2-40B4-BE49-F238E27FC236}">
                <a16:creationId xmlns:a16="http://schemas.microsoft.com/office/drawing/2014/main" id="{CD730D56-AEFC-8C9B-BA4F-2B373C33105A}"/>
              </a:ext>
            </a:extLst>
          </p:cNvPr>
          <p:cNvPicPr>
            <a:picLocks noChangeAspect="1"/>
          </p:cNvPicPr>
          <p:nvPr/>
        </p:nvPicPr>
        <p:blipFill>
          <a:blip r:embed="rId4"/>
          <a:stretch>
            <a:fillRect/>
          </a:stretch>
        </p:blipFill>
        <p:spPr>
          <a:xfrm>
            <a:off x="714082" y="1690688"/>
            <a:ext cx="5734635" cy="3215374"/>
          </a:xfrm>
          <a:prstGeom prst="rect">
            <a:avLst/>
          </a:prstGeom>
        </p:spPr>
      </p:pic>
      <p:pic>
        <p:nvPicPr>
          <p:cNvPr id="10" name="图片 9">
            <a:extLst>
              <a:ext uri="{FF2B5EF4-FFF2-40B4-BE49-F238E27FC236}">
                <a16:creationId xmlns:a16="http://schemas.microsoft.com/office/drawing/2014/main" id="{8AE97F75-00B0-6416-B9AF-B23B1BC23976}"/>
              </a:ext>
            </a:extLst>
          </p:cNvPr>
          <p:cNvPicPr>
            <a:picLocks noChangeAspect="1"/>
          </p:cNvPicPr>
          <p:nvPr/>
        </p:nvPicPr>
        <p:blipFill rotWithShape="1">
          <a:blip r:embed="rId5"/>
          <a:srcRect t="1" r="34072" b="-29208"/>
          <a:stretch/>
        </p:blipFill>
        <p:spPr>
          <a:xfrm>
            <a:off x="838200" y="4983221"/>
            <a:ext cx="5257800" cy="298559"/>
          </a:xfrm>
          <a:prstGeom prst="rect">
            <a:avLst/>
          </a:prstGeom>
        </p:spPr>
      </p:pic>
      <p:pic>
        <p:nvPicPr>
          <p:cNvPr id="11" name="图片 10">
            <a:extLst>
              <a:ext uri="{FF2B5EF4-FFF2-40B4-BE49-F238E27FC236}">
                <a16:creationId xmlns:a16="http://schemas.microsoft.com/office/drawing/2014/main" id="{F8E867CA-5C52-FD77-0AC3-D2ACE3C160C6}"/>
              </a:ext>
            </a:extLst>
          </p:cNvPr>
          <p:cNvPicPr>
            <a:picLocks noChangeAspect="1"/>
          </p:cNvPicPr>
          <p:nvPr/>
        </p:nvPicPr>
        <p:blipFill rotWithShape="1">
          <a:blip r:embed="rId5"/>
          <a:srcRect l="65991" t="-29207" b="-1"/>
          <a:stretch/>
        </p:blipFill>
        <p:spPr>
          <a:xfrm>
            <a:off x="1527349" y="5142169"/>
            <a:ext cx="2712218" cy="298559"/>
          </a:xfrm>
          <a:prstGeom prst="rect">
            <a:avLst/>
          </a:prstGeom>
        </p:spPr>
      </p:pic>
    </p:spTree>
    <p:extLst>
      <p:ext uri="{BB962C8B-B14F-4D97-AF65-F5344CB8AC3E}">
        <p14:creationId xmlns:p14="http://schemas.microsoft.com/office/powerpoint/2010/main" val="176734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Experiments</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38200" y="4662435"/>
            <a:ext cx="10515600" cy="1514527"/>
          </a:xfrm>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Slight advantage for HPT is likely due to its greater model capacity for handling the complex patterns in the PD4T dataset</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12</a:t>
            </a:fld>
            <a:endParaRPr lang="zh-CN" altLang="en-US"/>
          </a:p>
        </p:txBody>
      </p:sp>
      <p:pic>
        <p:nvPicPr>
          <p:cNvPr id="10" name="图片 9">
            <a:extLst>
              <a:ext uri="{FF2B5EF4-FFF2-40B4-BE49-F238E27FC236}">
                <a16:creationId xmlns:a16="http://schemas.microsoft.com/office/drawing/2014/main" id="{B99B7896-A213-3F1B-2875-9E662D1B5528}"/>
              </a:ext>
            </a:extLst>
          </p:cNvPr>
          <p:cNvPicPr>
            <a:picLocks noChangeAspect="1"/>
          </p:cNvPicPr>
          <p:nvPr/>
        </p:nvPicPr>
        <p:blipFill>
          <a:blip r:embed="rId3"/>
          <a:stretch>
            <a:fillRect/>
          </a:stretch>
        </p:blipFill>
        <p:spPr>
          <a:xfrm>
            <a:off x="2575936" y="1797229"/>
            <a:ext cx="7040127" cy="2535092"/>
          </a:xfrm>
          <a:prstGeom prst="rect">
            <a:avLst/>
          </a:prstGeom>
        </p:spPr>
      </p:pic>
    </p:spTree>
    <p:extLst>
      <p:ext uri="{BB962C8B-B14F-4D97-AF65-F5344CB8AC3E}">
        <p14:creationId xmlns:p14="http://schemas.microsoft.com/office/powerpoint/2010/main" val="2791506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Ablation Study</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38200" y="5054321"/>
            <a:ext cx="10515600" cy="1122642"/>
          </a:xfrm>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Different SSL Methods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3D-Adapters for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ResNet</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13</a:t>
            </a:fld>
            <a:endParaRPr lang="zh-CN" altLang="en-US"/>
          </a:p>
        </p:txBody>
      </p:sp>
      <p:pic>
        <p:nvPicPr>
          <p:cNvPr id="8" name="图片 7">
            <a:extLst>
              <a:ext uri="{FF2B5EF4-FFF2-40B4-BE49-F238E27FC236}">
                <a16:creationId xmlns:a16="http://schemas.microsoft.com/office/drawing/2014/main" id="{F2D9FA70-5372-74C4-380C-2F92156B5CED}"/>
              </a:ext>
            </a:extLst>
          </p:cNvPr>
          <p:cNvPicPr>
            <a:picLocks noChangeAspect="1"/>
          </p:cNvPicPr>
          <p:nvPr/>
        </p:nvPicPr>
        <p:blipFill>
          <a:blip r:embed="rId3"/>
          <a:stretch>
            <a:fillRect/>
          </a:stretch>
        </p:blipFill>
        <p:spPr>
          <a:xfrm>
            <a:off x="450511" y="2477798"/>
            <a:ext cx="4302360" cy="1902404"/>
          </a:xfrm>
          <a:prstGeom prst="rect">
            <a:avLst/>
          </a:prstGeom>
        </p:spPr>
      </p:pic>
      <p:pic>
        <p:nvPicPr>
          <p:cNvPr id="9" name="图片 8">
            <a:extLst>
              <a:ext uri="{FF2B5EF4-FFF2-40B4-BE49-F238E27FC236}">
                <a16:creationId xmlns:a16="http://schemas.microsoft.com/office/drawing/2014/main" id="{074A88E4-6CC5-CA83-3CBB-1A2630A18EF7}"/>
              </a:ext>
            </a:extLst>
          </p:cNvPr>
          <p:cNvPicPr>
            <a:picLocks noChangeAspect="1"/>
          </p:cNvPicPr>
          <p:nvPr/>
        </p:nvPicPr>
        <p:blipFill>
          <a:blip r:embed="rId4"/>
          <a:stretch>
            <a:fillRect/>
          </a:stretch>
        </p:blipFill>
        <p:spPr>
          <a:xfrm>
            <a:off x="4943401" y="1626253"/>
            <a:ext cx="6798088" cy="1275384"/>
          </a:xfrm>
          <a:prstGeom prst="rect">
            <a:avLst/>
          </a:prstGeom>
        </p:spPr>
      </p:pic>
      <p:pic>
        <p:nvPicPr>
          <p:cNvPr id="12" name="图片 11">
            <a:extLst>
              <a:ext uri="{FF2B5EF4-FFF2-40B4-BE49-F238E27FC236}">
                <a16:creationId xmlns:a16="http://schemas.microsoft.com/office/drawing/2014/main" id="{9467B8AA-60A4-BAA4-F27F-3D0450C43CB1}"/>
              </a:ext>
            </a:extLst>
          </p:cNvPr>
          <p:cNvPicPr>
            <a:picLocks noChangeAspect="1"/>
          </p:cNvPicPr>
          <p:nvPr/>
        </p:nvPicPr>
        <p:blipFill>
          <a:blip r:embed="rId5"/>
          <a:stretch>
            <a:fillRect/>
          </a:stretch>
        </p:blipFill>
        <p:spPr>
          <a:xfrm>
            <a:off x="6096000" y="3231554"/>
            <a:ext cx="4014307" cy="2447612"/>
          </a:xfrm>
          <a:prstGeom prst="rect">
            <a:avLst/>
          </a:prstGeom>
        </p:spPr>
      </p:pic>
    </p:spTree>
    <p:extLst>
      <p:ext uri="{BB962C8B-B14F-4D97-AF65-F5344CB8AC3E}">
        <p14:creationId xmlns:p14="http://schemas.microsoft.com/office/powerpoint/2010/main" val="1044924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Ablation Study</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701872" y="1690688"/>
            <a:ext cx="3195376" cy="4486275"/>
          </a:xfrm>
        </p:spPr>
        <p:txBody>
          <a:bodyPr>
            <a:normAutofit/>
          </a:bodyPr>
          <a:lstStyle/>
          <a:p>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(BN) Tuning:</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only updating the affine parameters of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layers, while other pretrained parameters are frozen</a:t>
            </a:r>
          </a:p>
          <a:p>
            <a:r>
              <a:rPr lang="en-US" altLang="zh-CN" sz="2000" dirty="0">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HPT+BN </a:t>
            </a:r>
            <a:r>
              <a:rPr lang="en-US" altLang="zh-CN" sz="2000" dirty="0" err="1">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v.s</a:t>
            </a:r>
            <a:r>
              <a:rPr lang="en-US" altLang="zh-CN" sz="2000" dirty="0">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 Dom-G</a:t>
            </a:r>
          </a:p>
          <a:p>
            <a:r>
              <a:rPr lang="en-US" altLang="zh-CN"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Dom-S </a:t>
            </a:r>
            <a:r>
              <a:rPr lang="en-US" altLang="zh-CN" sz="2000" dirty="0" err="1">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v.s</a:t>
            </a:r>
            <a:r>
              <a:rPr lang="en-US" altLang="zh-CN"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 Dom-G</a:t>
            </a:r>
            <a:endParaRPr lang="zh-CN" altLang="en-US"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14</a:t>
            </a:fld>
            <a:endParaRPr lang="zh-CN" altLang="en-US"/>
          </a:p>
        </p:txBody>
      </p:sp>
      <p:pic>
        <p:nvPicPr>
          <p:cNvPr id="10" name="图片 9">
            <a:extLst>
              <a:ext uri="{FF2B5EF4-FFF2-40B4-BE49-F238E27FC236}">
                <a16:creationId xmlns:a16="http://schemas.microsoft.com/office/drawing/2014/main" id="{39488B8C-E439-9C22-E5CA-041EA5D22E70}"/>
              </a:ext>
            </a:extLst>
          </p:cNvPr>
          <p:cNvPicPr>
            <a:picLocks noChangeAspect="1"/>
          </p:cNvPicPr>
          <p:nvPr/>
        </p:nvPicPr>
        <p:blipFill>
          <a:blip r:embed="rId3"/>
          <a:stretch>
            <a:fillRect/>
          </a:stretch>
        </p:blipFill>
        <p:spPr>
          <a:xfrm>
            <a:off x="838200" y="1870075"/>
            <a:ext cx="7428714" cy="4097049"/>
          </a:xfrm>
          <a:prstGeom prst="rect">
            <a:avLst/>
          </a:prstGeom>
        </p:spPr>
      </p:pic>
    </p:spTree>
    <p:extLst>
      <p:ext uri="{BB962C8B-B14F-4D97-AF65-F5344CB8AC3E}">
        <p14:creationId xmlns:p14="http://schemas.microsoft.com/office/powerpoint/2010/main" val="1027494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Ablation Study</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701872" y="1690688"/>
            <a:ext cx="3195376" cy="4486275"/>
          </a:xfrm>
        </p:spPr>
        <p:txBody>
          <a:bodyPr>
            <a:normAutofit/>
          </a:bodyPr>
          <a:lstStyle/>
          <a:p>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(BN) Tuning:</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only updating the affine parameters (a coefficient and a bias) of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layers, while other pretrained parameters are frozen</a:t>
            </a:r>
          </a:p>
          <a:p>
            <a:r>
              <a:rPr lang="en-US" altLang="zh-CN" sz="2000" dirty="0">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HPT+BN </a:t>
            </a:r>
            <a:r>
              <a:rPr lang="en-US" altLang="zh-CN" sz="2000" dirty="0" err="1">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v.s</a:t>
            </a:r>
            <a:r>
              <a:rPr lang="en-US" altLang="zh-CN" sz="2000" dirty="0">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 Dom-G</a:t>
            </a:r>
          </a:p>
          <a:p>
            <a:r>
              <a:rPr lang="en-US" altLang="zh-CN"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Dom-S </a:t>
            </a:r>
            <a:r>
              <a:rPr lang="en-US" altLang="zh-CN" sz="2000" dirty="0" err="1">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v.s</a:t>
            </a:r>
            <a:r>
              <a:rPr lang="en-US" altLang="zh-CN"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 Dom-G</a:t>
            </a:r>
            <a:endParaRPr lang="zh-CN" altLang="en-US"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15</a:t>
            </a:fld>
            <a:endParaRPr lang="zh-CN" altLang="en-US"/>
          </a:p>
        </p:txBody>
      </p:sp>
      <p:pic>
        <p:nvPicPr>
          <p:cNvPr id="10" name="图片 9">
            <a:extLst>
              <a:ext uri="{FF2B5EF4-FFF2-40B4-BE49-F238E27FC236}">
                <a16:creationId xmlns:a16="http://schemas.microsoft.com/office/drawing/2014/main" id="{39488B8C-E439-9C22-E5CA-041EA5D22E70}"/>
              </a:ext>
            </a:extLst>
          </p:cNvPr>
          <p:cNvPicPr>
            <a:picLocks noChangeAspect="1"/>
          </p:cNvPicPr>
          <p:nvPr/>
        </p:nvPicPr>
        <p:blipFill>
          <a:blip r:embed="rId3"/>
          <a:stretch>
            <a:fillRect/>
          </a:stretch>
        </p:blipFill>
        <p:spPr>
          <a:xfrm>
            <a:off x="838200" y="1870075"/>
            <a:ext cx="7428714" cy="4097049"/>
          </a:xfrm>
          <a:prstGeom prst="rect">
            <a:avLst/>
          </a:prstGeom>
        </p:spPr>
      </p:pic>
      <p:sp>
        <p:nvSpPr>
          <p:cNvPr id="12" name="箭头: 上弧形 11">
            <a:extLst>
              <a:ext uri="{FF2B5EF4-FFF2-40B4-BE49-F238E27FC236}">
                <a16:creationId xmlns:a16="http://schemas.microsoft.com/office/drawing/2014/main" id="{BB1EAB42-880B-B0A5-9BDE-DC30E76ACA92}"/>
              </a:ext>
            </a:extLst>
          </p:cNvPr>
          <p:cNvSpPr/>
          <p:nvPr/>
        </p:nvSpPr>
        <p:spPr>
          <a:xfrm>
            <a:off x="3129226" y="2079914"/>
            <a:ext cx="869182" cy="261352"/>
          </a:xfrm>
          <a:prstGeom prst="curved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3" name="箭头: 上弧形 12">
            <a:extLst>
              <a:ext uri="{FF2B5EF4-FFF2-40B4-BE49-F238E27FC236}">
                <a16:creationId xmlns:a16="http://schemas.microsoft.com/office/drawing/2014/main" id="{51112BAC-AF48-06EC-BA6F-8B92F032C215}"/>
              </a:ext>
            </a:extLst>
          </p:cNvPr>
          <p:cNvSpPr/>
          <p:nvPr/>
        </p:nvSpPr>
        <p:spPr>
          <a:xfrm>
            <a:off x="6763012" y="2079914"/>
            <a:ext cx="869182" cy="261352"/>
          </a:xfrm>
          <a:prstGeom prst="curved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4" name="箭头: 上弧形 13">
            <a:extLst>
              <a:ext uri="{FF2B5EF4-FFF2-40B4-BE49-F238E27FC236}">
                <a16:creationId xmlns:a16="http://schemas.microsoft.com/office/drawing/2014/main" id="{E8E631E3-7AEF-2053-194A-BAD536E7FE12}"/>
              </a:ext>
            </a:extLst>
          </p:cNvPr>
          <p:cNvSpPr/>
          <p:nvPr/>
        </p:nvSpPr>
        <p:spPr>
          <a:xfrm>
            <a:off x="4946119" y="2079914"/>
            <a:ext cx="869182" cy="261352"/>
          </a:xfrm>
          <a:prstGeom prst="curved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244951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Ablation Study</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701872" y="1690688"/>
            <a:ext cx="3195376" cy="4486275"/>
          </a:xfrm>
        </p:spPr>
        <p:txBody>
          <a:bodyPr>
            <a:normAutofit/>
          </a:bodyPr>
          <a:lstStyle/>
          <a:p>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(BN) Tuning:</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only updating the affine parameters of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BatchNorm</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layers, while other pretrained parameters are frozen</a:t>
            </a:r>
          </a:p>
          <a:p>
            <a:r>
              <a:rPr lang="en-US" altLang="zh-CN" sz="2000" dirty="0">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HPT+BN </a:t>
            </a:r>
            <a:r>
              <a:rPr lang="en-US" altLang="zh-CN" sz="2000" dirty="0" err="1">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v.s</a:t>
            </a:r>
            <a:r>
              <a:rPr lang="en-US" altLang="zh-CN" sz="2000" dirty="0">
                <a:solidFill>
                  <a:schemeClr val="accent5"/>
                </a:solidFill>
                <a:latin typeface="Times New Roman" panose="02020603050405020304" pitchFamily="18" charset="0"/>
                <a:ea typeface="等线" panose="02010600030101010101" pitchFamily="2" charset="-122"/>
                <a:cs typeface="Times New Roman" panose="02020603050405020304" pitchFamily="18" charset="0"/>
              </a:rPr>
              <a:t>. Dom-G</a:t>
            </a:r>
          </a:p>
          <a:p>
            <a:r>
              <a:rPr lang="en-US" altLang="zh-CN"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Dom-S </a:t>
            </a:r>
            <a:r>
              <a:rPr lang="en-US" altLang="zh-CN" sz="2000" dirty="0" err="1">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v.s</a:t>
            </a:r>
            <a:r>
              <a:rPr lang="en-US" altLang="zh-CN"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rPr>
              <a:t>. Dom-G</a:t>
            </a:r>
            <a:endParaRPr lang="zh-CN" altLang="en-US" sz="2000" dirty="0">
              <a:solidFill>
                <a:schemeClr val="accent6"/>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16</a:t>
            </a:fld>
            <a:endParaRPr lang="zh-CN" altLang="en-US"/>
          </a:p>
        </p:txBody>
      </p:sp>
      <p:pic>
        <p:nvPicPr>
          <p:cNvPr id="10" name="图片 9">
            <a:extLst>
              <a:ext uri="{FF2B5EF4-FFF2-40B4-BE49-F238E27FC236}">
                <a16:creationId xmlns:a16="http://schemas.microsoft.com/office/drawing/2014/main" id="{39488B8C-E439-9C22-E5CA-041EA5D22E70}"/>
              </a:ext>
            </a:extLst>
          </p:cNvPr>
          <p:cNvPicPr>
            <a:picLocks noChangeAspect="1"/>
          </p:cNvPicPr>
          <p:nvPr/>
        </p:nvPicPr>
        <p:blipFill>
          <a:blip r:embed="rId3"/>
          <a:stretch>
            <a:fillRect/>
          </a:stretch>
        </p:blipFill>
        <p:spPr>
          <a:xfrm>
            <a:off x="838200" y="1870075"/>
            <a:ext cx="7428714" cy="4097049"/>
          </a:xfrm>
          <a:prstGeom prst="rect">
            <a:avLst/>
          </a:prstGeom>
        </p:spPr>
      </p:pic>
      <p:sp>
        <p:nvSpPr>
          <p:cNvPr id="7" name="箭头: 上弧形 6">
            <a:extLst>
              <a:ext uri="{FF2B5EF4-FFF2-40B4-BE49-F238E27FC236}">
                <a16:creationId xmlns:a16="http://schemas.microsoft.com/office/drawing/2014/main" id="{5C8FF02C-4C4B-387A-34F9-7C52C34E7E2D}"/>
              </a:ext>
            </a:extLst>
          </p:cNvPr>
          <p:cNvSpPr/>
          <p:nvPr/>
        </p:nvSpPr>
        <p:spPr>
          <a:xfrm>
            <a:off x="1336844" y="2079914"/>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1" name="箭头: 上弧形 10">
            <a:extLst>
              <a:ext uri="{FF2B5EF4-FFF2-40B4-BE49-F238E27FC236}">
                <a16:creationId xmlns:a16="http://schemas.microsoft.com/office/drawing/2014/main" id="{F834585E-E4D1-C23D-63F7-6A3225CE35A5}"/>
              </a:ext>
            </a:extLst>
          </p:cNvPr>
          <p:cNvSpPr/>
          <p:nvPr/>
        </p:nvSpPr>
        <p:spPr>
          <a:xfrm>
            <a:off x="3140106" y="2079914"/>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5" name="箭头: 上弧形 14">
            <a:extLst>
              <a:ext uri="{FF2B5EF4-FFF2-40B4-BE49-F238E27FC236}">
                <a16:creationId xmlns:a16="http://schemas.microsoft.com/office/drawing/2014/main" id="{DA3E430F-7F25-7562-80F0-77ADC4322154}"/>
              </a:ext>
            </a:extLst>
          </p:cNvPr>
          <p:cNvSpPr/>
          <p:nvPr/>
        </p:nvSpPr>
        <p:spPr>
          <a:xfrm>
            <a:off x="4932897" y="2079914"/>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6" name="箭头: 上弧形 15">
            <a:extLst>
              <a:ext uri="{FF2B5EF4-FFF2-40B4-BE49-F238E27FC236}">
                <a16:creationId xmlns:a16="http://schemas.microsoft.com/office/drawing/2014/main" id="{FA9958FA-1396-E54E-EF5D-A749DCEE6544}"/>
              </a:ext>
            </a:extLst>
          </p:cNvPr>
          <p:cNvSpPr/>
          <p:nvPr/>
        </p:nvSpPr>
        <p:spPr>
          <a:xfrm>
            <a:off x="6737427" y="2079914"/>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7" name="箭头: 上弧形 16">
            <a:extLst>
              <a:ext uri="{FF2B5EF4-FFF2-40B4-BE49-F238E27FC236}">
                <a16:creationId xmlns:a16="http://schemas.microsoft.com/office/drawing/2014/main" id="{26DD65CB-9A26-2A80-6CFC-1C0EF91F1FB6}"/>
              </a:ext>
            </a:extLst>
          </p:cNvPr>
          <p:cNvSpPr/>
          <p:nvPr/>
        </p:nvSpPr>
        <p:spPr>
          <a:xfrm>
            <a:off x="1366988" y="3429000"/>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8" name="箭头: 上弧形 17">
            <a:extLst>
              <a:ext uri="{FF2B5EF4-FFF2-40B4-BE49-F238E27FC236}">
                <a16:creationId xmlns:a16="http://schemas.microsoft.com/office/drawing/2014/main" id="{0E258F09-9EDD-9261-0371-96178A33F48F}"/>
              </a:ext>
            </a:extLst>
          </p:cNvPr>
          <p:cNvSpPr/>
          <p:nvPr/>
        </p:nvSpPr>
        <p:spPr>
          <a:xfrm>
            <a:off x="3170250" y="3429000"/>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19" name="箭头: 上弧形 18">
            <a:extLst>
              <a:ext uri="{FF2B5EF4-FFF2-40B4-BE49-F238E27FC236}">
                <a16:creationId xmlns:a16="http://schemas.microsoft.com/office/drawing/2014/main" id="{DE44CAF5-5BB3-2835-DE23-778D124D82E4}"/>
              </a:ext>
            </a:extLst>
          </p:cNvPr>
          <p:cNvSpPr/>
          <p:nvPr/>
        </p:nvSpPr>
        <p:spPr>
          <a:xfrm>
            <a:off x="4963041" y="3429000"/>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
        <p:nvSpPr>
          <p:cNvPr id="20" name="箭头: 上弧形 19">
            <a:extLst>
              <a:ext uri="{FF2B5EF4-FFF2-40B4-BE49-F238E27FC236}">
                <a16:creationId xmlns:a16="http://schemas.microsoft.com/office/drawing/2014/main" id="{3E407D90-07CC-DD5A-AD0B-7A231C6008FC}"/>
              </a:ext>
            </a:extLst>
          </p:cNvPr>
          <p:cNvSpPr/>
          <p:nvPr/>
        </p:nvSpPr>
        <p:spPr>
          <a:xfrm>
            <a:off x="6767571" y="3429000"/>
            <a:ext cx="471438" cy="261352"/>
          </a:xfrm>
          <a:prstGeom prst="curvedDownArrow">
            <a:avLst/>
          </a:prstGeom>
          <a:solidFill>
            <a:schemeClr val="accent6"/>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20489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Conclusions</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pPr>
              <a:lnSpc>
                <a:spcPct val="120000"/>
              </a:lnSpc>
            </a:pPr>
            <a:r>
              <a:rPr lang="en-US" altLang="zh-CN" sz="2000" dirty="0">
                <a:latin typeface="Times New Roman" panose="02020603050405020304" pitchFamily="18" charset="0"/>
                <a:cs typeface="Times New Roman" panose="02020603050405020304" pitchFamily="18" charset="0"/>
              </a:rPr>
              <a:t>A parameter-efficient continual pretraining workflow to enhance the efficiency of target tasks.</a:t>
            </a:r>
          </a:p>
          <a:p>
            <a:pPr>
              <a:lnSpc>
                <a:spcPct val="120000"/>
              </a:lnSpc>
            </a:pPr>
            <a:r>
              <a:rPr lang="en-US" altLang="zh-CN" sz="2000" dirty="0">
                <a:latin typeface="Times New Roman" panose="02020603050405020304" pitchFamily="18" charset="0"/>
                <a:cs typeface="Times New Roman" panose="02020603050405020304" pitchFamily="18" charset="0"/>
              </a:rPr>
              <a:t>Integrate a 3D-Adapter layer for the first time for 3D CNNs for video analysis.</a:t>
            </a:r>
          </a:p>
          <a:p>
            <a:pPr>
              <a:lnSpc>
                <a:spcPct val="120000"/>
              </a:lnSpc>
            </a:pPr>
            <a:r>
              <a:rPr lang="en-US" altLang="zh-CN" sz="2000" dirty="0">
                <a:latin typeface="Times New Roman" panose="02020603050405020304" pitchFamily="18" charset="0"/>
                <a:cs typeface="Times New Roman" panose="02020603050405020304" pitchFamily="18" charset="0"/>
              </a:rPr>
              <a:t>A new annotated AQA dataset, PD4T</a:t>
            </a:r>
          </a:p>
          <a:p>
            <a:pPr>
              <a:lnSpc>
                <a:spcPct val="120000"/>
              </a:lnSpc>
            </a:pPr>
            <a:r>
              <a:rPr lang="en-US" altLang="zh-CN" sz="2000" dirty="0">
                <a:latin typeface="Times New Roman" panose="02020603050405020304" pitchFamily="18" charset="0"/>
                <a:cs typeface="Times New Roman" panose="02020603050405020304" pitchFamily="18" charset="0"/>
              </a:rPr>
              <a:t>Extensive experiments and ablations</a:t>
            </a: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17</a:t>
            </a:fld>
            <a:endParaRPr lang="zh-CN" altLang="en-US"/>
          </a:p>
        </p:txBody>
      </p:sp>
    </p:spTree>
    <p:extLst>
      <p:ext uri="{BB962C8B-B14F-4D97-AF65-F5344CB8AC3E}">
        <p14:creationId xmlns:p14="http://schemas.microsoft.com/office/powerpoint/2010/main" val="2749684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A129C-144D-DEB1-758F-60B0CFFFEBE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9CB1ED7-F089-59DE-8B74-3C176AEE482D}"/>
              </a:ext>
            </a:extLst>
          </p:cNvPr>
          <p:cNvSpPr>
            <a:spLocks noGrp="1"/>
          </p:cNvSpPr>
          <p:nvPr>
            <p:ph idx="1"/>
          </p:nvPr>
        </p:nvSpPr>
        <p:spPr/>
        <p:txBody>
          <a:bodyPr>
            <a:normAutofit/>
          </a:bodyPr>
          <a:lstStyle/>
          <a:p>
            <a:pPr marL="0" indent="0">
              <a:buNone/>
            </a:pPr>
            <a:r>
              <a:rPr lang="en-US" altLang="zh-CN" sz="4400" dirty="0"/>
              <a:t>Writing</a:t>
            </a:r>
            <a:endParaRPr lang="zh-CN" altLang="en-US" sz="4400" dirty="0"/>
          </a:p>
        </p:txBody>
      </p:sp>
      <p:sp>
        <p:nvSpPr>
          <p:cNvPr id="4" name="日期占位符 3">
            <a:extLst>
              <a:ext uri="{FF2B5EF4-FFF2-40B4-BE49-F238E27FC236}">
                <a16:creationId xmlns:a16="http://schemas.microsoft.com/office/drawing/2014/main" id="{3B6C928F-0F3E-1320-16F9-ACDBAA37388D}"/>
              </a:ext>
            </a:extLst>
          </p:cNvPr>
          <p:cNvSpPr>
            <a:spLocks noGrp="1"/>
          </p:cNvSpPr>
          <p:nvPr>
            <p:ph type="dt" sz="half" idx="10"/>
          </p:nvPr>
        </p:nvSpPr>
        <p:spPr/>
        <p:txBody>
          <a:bodyPr/>
          <a:lstStyle/>
          <a:p>
            <a:fld id="{8E932608-8EB3-47D2-A62F-0F2B30F5F626}" type="datetime1">
              <a:rPr lang="zh-CN" altLang="en-US" smtClean="0"/>
              <a:t>2024/1/18</a:t>
            </a:fld>
            <a:endParaRPr lang="zh-CN" altLang="en-US"/>
          </a:p>
        </p:txBody>
      </p:sp>
      <p:sp>
        <p:nvSpPr>
          <p:cNvPr id="5" name="页脚占位符 4">
            <a:extLst>
              <a:ext uri="{FF2B5EF4-FFF2-40B4-BE49-F238E27FC236}">
                <a16:creationId xmlns:a16="http://schemas.microsoft.com/office/drawing/2014/main" id="{BE0CAAF9-B2A0-720B-ADFE-927B4F2548E9}"/>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6EC917B7-EEF7-678C-91E1-1098C3D4C867}"/>
              </a:ext>
            </a:extLst>
          </p:cNvPr>
          <p:cNvSpPr>
            <a:spLocks noGrp="1"/>
          </p:cNvSpPr>
          <p:nvPr>
            <p:ph type="sldNum" sz="quarter" idx="12"/>
          </p:nvPr>
        </p:nvSpPr>
        <p:spPr/>
        <p:txBody>
          <a:bodyPr/>
          <a:lstStyle/>
          <a:p>
            <a:fld id="{52108E69-35C3-4395-AB4C-CBC2CBC07E89}" type="slidenum">
              <a:rPr lang="zh-CN" altLang="en-US" smtClean="0"/>
              <a:t>18</a:t>
            </a:fld>
            <a:endParaRPr lang="zh-CN" altLang="en-US"/>
          </a:p>
        </p:txBody>
      </p:sp>
    </p:spTree>
    <p:extLst>
      <p:ext uri="{BB962C8B-B14F-4D97-AF65-F5344CB8AC3E}">
        <p14:creationId xmlns:p14="http://schemas.microsoft.com/office/powerpoint/2010/main" val="744459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D8FE1E-CE56-C49F-2058-6071EF5CE26D}"/>
              </a:ext>
            </a:extLst>
          </p:cNvPr>
          <p:cNvSpPr>
            <a:spLocks noGrp="1"/>
          </p:cNvSpPr>
          <p:nvPr>
            <p:ph idx="1"/>
          </p:nvPr>
        </p:nvSpPr>
        <p:spPr>
          <a:xfrm>
            <a:off x="345831" y="689908"/>
            <a:ext cx="8587154" cy="5486444"/>
          </a:xfrm>
        </p:spPr>
        <p:txBody>
          <a:bodyPr>
            <a:normAutofit/>
          </a:bodyPr>
          <a:lstStyle/>
          <a:p>
            <a:pPr marL="0" indent="0" algn="l">
              <a:lnSpc>
                <a:spcPct val="120000"/>
              </a:lnSpc>
              <a:buNone/>
            </a:pPr>
            <a:r>
              <a:rPr lang="en-US" altLang="zh-CN" sz="1800" b="1" dirty="0">
                <a:solidFill>
                  <a:schemeClr val="accent1"/>
                </a:solidFill>
                <a:latin typeface="Times New Roman" panose="02020603050405020304" pitchFamily="18" charset="0"/>
                <a:cs typeface="Times New Roman" panose="02020603050405020304" pitchFamily="18" charset="0"/>
              </a:rPr>
              <a:t>The limited availability of </a:t>
            </a:r>
            <a:r>
              <a:rPr lang="en-US" altLang="zh-CN" sz="1800" dirty="0">
                <a:latin typeface="Times New Roman" panose="02020603050405020304" pitchFamily="18" charset="0"/>
                <a:cs typeface="Times New Roman" panose="02020603050405020304" pitchFamily="18" charset="0"/>
              </a:rPr>
              <a:t>labelled data in Action Quality Assessment (AQA), has forced previous works to finetune their models pretrained on large-scale domain-general datasets. </a:t>
            </a:r>
            <a:r>
              <a:rPr lang="en-US" altLang="zh-CN" sz="1800" b="1" dirty="0">
                <a:solidFill>
                  <a:schemeClr val="accent1"/>
                </a:solidFill>
                <a:latin typeface="Times New Roman" panose="02020603050405020304" pitchFamily="18" charset="0"/>
                <a:cs typeface="Times New Roman" panose="02020603050405020304" pitchFamily="18" charset="0"/>
              </a:rPr>
              <a:t>This common approach </a:t>
            </a:r>
            <a:r>
              <a:rPr lang="en-US" altLang="zh-CN" sz="1800" dirty="0">
                <a:latin typeface="Times New Roman" panose="02020603050405020304" pitchFamily="18" charset="0"/>
                <a:cs typeface="Times New Roman" panose="02020603050405020304" pitchFamily="18" charset="0"/>
              </a:rPr>
              <a:t>results in weak </a:t>
            </a:r>
            <a:r>
              <a:rPr lang="en-US" altLang="zh-CN" sz="1800" dirty="0" err="1">
                <a:latin typeface="Times New Roman" panose="02020603050405020304" pitchFamily="18" charset="0"/>
                <a:cs typeface="Times New Roman" panose="02020603050405020304" pitchFamily="18" charset="0"/>
              </a:rPr>
              <a:t>generalisation</a:t>
            </a:r>
            <a:r>
              <a:rPr lang="en-US" altLang="zh-CN" sz="1800" dirty="0">
                <a:latin typeface="Times New Roman" panose="02020603050405020304" pitchFamily="18" charset="0"/>
                <a:cs typeface="Times New Roman" panose="02020603050405020304" pitchFamily="18" charset="0"/>
              </a:rPr>
              <a:t>, particularly when there is a significant domain shift. </a:t>
            </a:r>
            <a:r>
              <a:rPr lang="en-US" altLang="zh-CN" sz="1800" b="1" dirty="0">
                <a:solidFill>
                  <a:schemeClr val="accent1"/>
                </a:solidFill>
                <a:latin typeface="Times New Roman" panose="02020603050405020304" pitchFamily="18" charset="0"/>
                <a:cs typeface="Times New Roman" panose="02020603050405020304" pitchFamily="18" charset="0"/>
              </a:rPr>
              <a:t>We propose</a:t>
            </a:r>
            <a:r>
              <a:rPr lang="en-US" altLang="zh-CN" sz="1800" dirty="0">
                <a:latin typeface="Times New Roman" panose="02020603050405020304" pitchFamily="18" charset="0"/>
                <a:cs typeface="Times New Roman" panose="02020603050405020304" pitchFamily="18" charset="0"/>
              </a:rPr>
              <a:t> a novel, parameter efficient, continual pretraining framework, </a:t>
            </a:r>
            <a:r>
              <a:rPr lang="en-US" altLang="zh-CN" sz="1800" dirty="0" err="1">
                <a:latin typeface="Times New Roman" panose="02020603050405020304" pitchFamily="18" charset="0"/>
                <a:cs typeface="Times New Roman" panose="02020603050405020304" pitchFamily="18" charset="0"/>
              </a:rPr>
              <a:t>PECoP</a:t>
            </a:r>
            <a:r>
              <a:rPr lang="en-US" altLang="zh-CN" sz="1800" dirty="0">
                <a:latin typeface="Times New Roman" panose="02020603050405020304" pitchFamily="18" charset="0"/>
                <a:cs typeface="Times New Roman" panose="02020603050405020304" pitchFamily="18" charset="0"/>
              </a:rPr>
              <a:t>, to reduce such domain shift via an additional pretraining stage. In </a:t>
            </a:r>
            <a:r>
              <a:rPr lang="en-US" altLang="zh-CN" sz="1800" dirty="0" err="1">
                <a:latin typeface="Times New Roman" panose="02020603050405020304" pitchFamily="18" charset="0"/>
                <a:cs typeface="Times New Roman" panose="02020603050405020304" pitchFamily="18" charset="0"/>
              </a:rPr>
              <a:t>PECoP</a:t>
            </a:r>
            <a:r>
              <a:rPr lang="en-US" altLang="zh-CN" sz="1800" dirty="0">
                <a:latin typeface="Times New Roman" panose="02020603050405020304" pitchFamily="18" charset="0"/>
                <a:cs typeface="Times New Roman" panose="02020603050405020304" pitchFamily="18" charset="0"/>
              </a:rPr>
              <a:t>, we introduce 3D-Adapters, inserted into the pretrained model, to learn spatiotemporal, in-domain information via self-supervised learning where only the adapter modules’ parameters are updated. We </a:t>
            </a:r>
            <a:r>
              <a:rPr lang="en-US" altLang="zh-CN" sz="1800" b="1" dirty="0">
                <a:solidFill>
                  <a:schemeClr val="accent1"/>
                </a:solidFill>
                <a:latin typeface="Times New Roman" panose="02020603050405020304" pitchFamily="18" charset="0"/>
                <a:cs typeface="Times New Roman" panose="02020603050405020304" pitchFamily="18" charset="0"/>
              </a:rPr>
              <a:t>demonstrate </a:t>
            </a:r>
            <a:r>
              <a:rPr lang="en-US" altLang="zh-CN" sz="1800" b="1" dirty="0" err="1">
                <a:solidFill>
                  <a:schemeClr val="accent1"/>
                </a:solidFill>
                <a:latin typeface="Times New Roman" panose="02020603050405020304" pitchFamily="18" charset="0"/>
                <a:cs typeface="Times New Roman" panose="02020603050405020304" pitchFamily="18" charset="0"/>
              </a:rPr>
              <a:t>PECoP’s</a:t>
            </a:r>
            <a:r>
              <a:rPr lang="en-US" altLang="zh-CN" sz="1800" b="1" dirty="0">
                <a:solidFill>
                  <a:schemeClr val="accent1"/>
                </a:solidFill>
                <a:latin typeface="Times New Roman" panose="02020603050405020304" pitchFamily="18" charset="0"/>
                <a:cs typeface="Times New Roman" panose="02020603050405020304" pitchFamily="18" charset="0"/>
              </a:rPr>
              <a:t> ability </a:t>
            </a:r>
            <a:r>
              <a:rPr lang="en-US" altLang="zh-CN" sz="1800" dirty="0">
                <a:latin typeface="Times New Roman" panose="02020603050405020304" pitchFamily="18" charset="0"/>
                <a:cs typeface="Times New Roman" panose="02020603050405020304" pitchFamily="18" charset="0"/>
              </a:rPr>
              <a:t>to enhance the performance of recent state-of-the-art methods (MUSDL, </a:t>
            </a:r>
            <a:r>
              <a:rPr lang="en-US" altLang="zh-CN" sz="1800" dirty="0" err="1">
                <a:latin typeface="Times New Roman" panose="02020603050405020304" pitchFamily="18" charset="0"/>
                <a:cs typeface="Times New Roman" panose="02020603050405020304" pitchFamily="18" charset="0"/>
              </a:rPr>
              <a:t>CoRe</a:t>
            </a:r>
            <a:r>
              <a:rPr lang="en-US" altLang="zh-CN" sz="1800" dirty="0">
                <a:latin typeface="Times New Roman" panose="02020603050405020304" pitchFamily="18" charset="0"/>
                <a:cs typeface="Times New Roman" panose="02020603050405020304" pitchFamily="18" charset="0"/>
              </a:rPr>
              <a:t>, and TSA) applied to AQA, leading to considerable improvements on benchmark datasets, JIGSAWS (↑ 6.0%), MTL-AQA (↑ 0.99%), and </a:t>
            </a:r>
            <a:r>
              <a:rPr lang="en-US" altLang="zh-CN" sz="1800" dirty="0" err="1">
                <a:latin typeface="Times New Roman" panose="02020603050405020304" pitchFamily="18" charset="0"/>
                <a:cs typeface="Times New Roman" panose="02020603050405020304" pitchFamily="18" charset="0"/>
              </a:rPr>
              <a:t>FineDiving</a:t>
            </a:r>
            <a:r>
              <a:rPr lang="en-US" altLang="zh-CN" sz="1800" dirty="0">
                <a:latin typeface="Times New Roman" panose="02020603050405020304" pitchFamily="18" charset="0"/>
                <a:cs typeface="Times New Roman" panose="02020603050405020304" pitchFamily="18" charset="0"/>
              </a:rPr>
              <a:t> (↑ 2.54%). We also </a:t>
            </a:r>
            <a:r>
              <a:rPr lang="en-US" altLang="zh-CN" sz="1800" b="1" dirty="0">
                <a:solidFill>
                  <a:schemeClr val="accent1"/>
                </a:solidFill>
                <a:latin typeface="Times New Roman" panose="02020603050405020304" pitchFamily="18" charset="0"/>
                <a:cs typeface="Times New Roman" panose="02020603050405020304" pitchFamily="18" charset="0"/>
              </a:rPr>
              <a:t>present a new Parkinson’s Disease dataset</a:t>
            </a:r>
            <a:r>
              <a:rPr lang="en-US" altLang="zh-CN" sz="1800" dirty="0">
                <a:latin typeface="Times New Roman" panose="02020603050405020304" pitchFamily="18" charset="0"/>
                <a:cs typeface="Times New Roman" panose="02020603050405020304" pitchFamily="18" charset="0"/>
              </a:rPr>
              <a:t>, PD4T, of real patients performing four various actions, where we surpass (↑ 3.56%) the state-of-the-art in comparison. Our code, pretrained models, and the PD4T dataset are </a:t>
            </a:r>
            <a:r>
              <a:rPr lang="en-US" altLang="zh-CN" sz="1800" b="1" dirty="0">
                <a:solidFill>
                  <a:schemeClr val="accent1"/>
                </a:solidFill>
                <a:latin typeface="Times New Roman" panose="02020603050405020304" pitchFamily="18" charset="0"/>
                <a:cs typeface="Times New Roman" panose="02020603050405020304" pitchFamily="18" charset="0"/>
              </a:rPr>
              <a:t>available</a:t>
            </a:r>
            <a:r>
              <a:rPr lang="en-US" altLang="zh-CN" sz="1800" dirty="0">
                <a:latin typeface="Times New Roman" panose="02020603050405020304" pitchFamily="18" charset="0"/>
                <a:cs typeface="Times New Roman" panose="02020603050405020304" pitchFamily="18" charset="0"/>
              </a:rPr>
              <a:t> at https://github.com/Plrbear/PECoP.</a:t>
            </a:r>
            <a:endParaRPr lang="zh-CN" altLang="en-US" sz="1800" dirty="0">
              <a:solidFill>
                <a:schemeClr val="bg2"/>
              </a:solidFill>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5A954D5E-2443-3C27-5D81-D2B76007FC00}"/>
              </a:ext>
            </a:extLst>
          </p:cNvPr>
          <p:cNvSpPr txBox="1">
            <a:spLocks/>
          </p:cNvSpPr>
          <p:nvPr/>
        </p:nvSpPr>
        <p:spPr>
          <a:xfrm>
            <a:off x="8932984" y="800000"/>
            <a:ext cx="3259015" cy="5258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Challenge &amp; Previous work</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Our Method</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Experiments</a:t>
            </a:r>
          </a:p>
          <a:p>
            <a:pPr marL="0" indent="0">
              <a:buNone/>
            </a:pP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Dataset</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Resource</a:t>
            </a:r>
          </a:p>
          <a:p>
            <a:endParaRPr lang="en-US" altLang="zh-CN" sz="1800" dirty="0">
              <a:latin typeface="NimbusRomNo9L-Regu"/>
            </a:endParaRPr>
          </a:p>
        </p:txBody>
      </p:sp>
      <p:sp>
        <p:nvSpPr>
          <p:cNvPr id="5" name="日期占位符 4">
            <a:extLst>
              <a:ext uri="{FF2B5EF4-FFF2-40B4-BE49-F238E27FC236}">
                <a16:creationId xmlns:a16="http://schemas.microsoft.com/office/drawing/2014/main" id="{B506BAF6-29BD-8D04-15E2-D103558CD122}"/>
              </a:ext>
            </a:extLst>
          </p:cNvPr>
          <p:cNvSpPr>
            <a:spLocks noGrp="1"/>
          </p:cNvSpPr>
          <p:nvPr>
            <p:ph type="dt" sz="half" idx="10"/>
          </p:nvPr>
        </p:nvSpPr>
        <p:spPr/>
        <p:txBody>
          <a:bodyPr/>
          <a:lstStyle/>
          <a:p>
            <a:fld id="{406CE5F7-A797-4ACA-8E8F-F356EF9082F7}" type="datetime1">
              <a:rPr lang="zh-CN" altLang="en-US" smtClean="0"/>
              <a:t>2024/1/18</a:t>
            </a:fld>
            <a:endParaRPr lang="zh-CN" altLang="en-US"/>
          </a:p>
        </p:txBody>
      </p:sp>
      <p:sp>
        <p:nvSpPr>
          <p:cNvPr id="6" name="页脚占位符 5">
            <a:extLst>
              <a:ext uri="{FF2B5EF4-FFF2-40B4-BE49-F238E27FC236}">
                <a16:creationId xmlns:a16="http://schemas.microsoft.com/office/drawing/2014/main" id="{359EAE5D-99EE-B3AF-2B10-6D3B01B388C3}"/>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D15A451-72AE-5A72-D410-3EBB730C38AF}"/>
              </a:ext>
            </a:extLst>
          </p:cNvPr>
          <p:cNvSpPr>
            <a:spLocks noGrp="1"/>
          </p:cNvSpPr>
          <p:nvPr>
            <p:ph type="sldNum" sz="quarter" idx="12"/>
          </p:nvPr>
        </p:nvSpPr>
        <p:spPr/>
        <p:txBody>
          <a:bodyPr/>
          <a:lstStyle/>
          <a:p>
            <a:fld id="{52108E69-35C3-4395-AB4C-CBC2CBC07E89}" type="slidenum">
              <a:rPr lang="zh-CN" altLang="en-US" smtClean="0"/>
              <a:t>19</a:t>
            </a:fld>
            <a:endParaRPr lang="zh-CN" altLang="en-US"/>
          </a:p>
        </p:txBody>
      </p:sp>
    </p:spTree>
    <p:extLst>
      <p:ext uri="{BB962C8B-B14F-4D97-AF65-F5344CB8AC3E}">
        <p14:creationId xmlns:p14="http://schemas.microsoft.com/office/powerpoint/2010/main" val="2512830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1/6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lnSpcReduction="10000"/>
          </a:bodyPr>
          <a:lstStyle/>
          <a:p>
            <a:pPr marL="0" indent="0">
              <a:lnSpc>
                <a:spcPct val="120000"/>
              </a:lnSpc>
              <a:buNone/>
            </a:pPr>
            <a:r>
              <a:rPr lang="en-US" altLang="zh-CN" sz="1800" dirty="0">
                <a:latin typeface="Times New Roman" panose="02020603050405020304" pitchFamily="18" charset="0"/>
                <a:cs typeface="Times New Roman" panose="02020603050405020304" pitchFamily="18" charset="0"/>
              </a:rPr>
              <a:t>The analysis and evaluation of the quality of human action performance have a </a:t>
            </a:r>
            <a:r>
              <a:rPr lang="en-US" altLang="zh-CN" sz="1800" b="1" dirty="0">
                <a:solidFill>
                  <a:schemeClr val="accent1"/>
                </a:solidFill>
                <a:latin typeface="Times New Roman" panose="02020603050405020304" pitchFamily="18" charset="0"/>
                <a:cs typeface="Times New Roman" panose="02020603050405020304" pitchFamily="18" charset="0"/>
              </a:rPr>
              <a:t>rich application </a:t>
            </a:r>
            <a:r>
              <a:rPr lang="en-US" altLang="zh-CN" sz="1800" dirty="0">
                <a:latin typeface="Times New Roman" panose="02020603050405020304" pitchFamily="18" charset="0"/>
                <a:cs typeface="Times New Roman" panose="02020603050405020304" pitchFamily="18" charset="0"/>
              </a:rPr>
              <a:t>in various real-world scenarios, such as sports events [42, 47, 49], healthcare [9, 32], and skill assessment [35, 38]. </a:t>
            </a:r>
            <a:r>
              <a:rPr lang="en-US" altLang="zh-CN" sz="1800" b="1" dirty="0">
                <a:solidFill>
                  <a:schemeClr val="accent1"/>
                </a:solidFill>
                <a:latin typeface="Times New Roman" panose="02020603050405020304" pitchFamily="18" charset="0"/>
                <a:cs typeface="Times New Roman" panose="02020603050405020304" pitchFamily="18" charset="0"/>
              </a:rPr>
              <a:t>Despite recent advances </a:t>
            </a:r>
            <a:r>
              <a:rPr lang="en-US" altLang="zh-CN" sz="1800" dirty="0">
                <a:latin typeface="Times New Roman" panose="02020603050405020304" pitchFamily="18" charset="0"/>
                <a:cs typeface="Times New Roman" panose="02020603050405020304" pitchFamily="18" charset="0"/>
              </a:rPr>
              <a:t>[9,18,28,36,42,46,47,49], AQA methods are affected by insufficient quantities of annotated data for training deep networks [36]. This is further exacerbated when extra effort is needed to produce very precise labels, e.g. for health-related applications, such as Parkinson’s Disease (PD) severity assessment [9, 12, 33, 34]. </a:t>
            </a:r>
            <a:r>
              <a:rPr lang="en-US" altLang="zh-CN" sz="1800" b="1" dirty="0">
                <a:solidFill>
                  <a:schemeClr val="accent1"/>
                </a:solidFill>
                <a:latin typeface="Times New Roman" panose="02020603050405020304" pitchFamily="18" charset="0"/>
                <a:cs typeface="Times New Roman" panose="02020603050405020304" pitchFamily="18" charset="0"/>
              </a:rPr>
              <a:t>A common solution </a:t>
            </a:r>
            <a:r>
              <a:rPr lang="en-US" altLang="zh-CN" sz="1800" dirty="0">
                <a:latin typeface="Times New Roman" panose="02020603050405020304" pitchFamily="18" charset="0"/>
                <a:cs typeface="Times New Roman" panose="02020603050405020304" pitchFamily="18" charset="0"/>
              </a:rPr>
              <a:t>to address such problems is to start with a model that is originally pretrained on a large source dataset, commonly Kinetics-400 [27] (K400), and finetune it on one’s target AQA dataset [42, 47, 49] (see Fig 1(a)). </a:t>
            </a:r>
            <a:r>
              <a:rPr lang="en-US" altLang="zh-CN" sz="1800" b="1" dirty="0">
                <a:solidFill>
                  <a:schemeClr val="accent1"/>
                </a:solidFill>
                <a:latin typeface="Times New Roman" panose="02020603050405020304" pitchFamily="18" charset="0"/>
                <a:cs typeface="Times New Roman" panose="02020603050405020304" pitchFamily="18" charset="0"/>
              </a:rPr>
              <a:t>While better</a:t>
            </a:r>
            <a:r>
              <a:rPr lang="en-US" altLang="zh-CN" sz="1800" dirty="0">
                <a:latin typeface="Times New Roman" panose="02020603050405020304" pitchFamily="18" charset="0"/>
                <a:cs typeface="Times New Roman" panose="02020603050405020304" pitchFamily="18" charset="0"/>
              </a:rPr>
              <a:t> than training from scratch, deploying such pretrained models is sub-optimal for AQA, due to the domain/task discrepancy between action classification and action assessment. </a:t>
            </a:r>
            <a:r>
              <a:rPr lang="en-US" altLang="zh-CN" sz="1800" b="1" dirty="0">
                <a:solidFill>
                  <a:schemeClr val="accent1"/>
                </a:solidFill>
                <a:latin typeface="Times New Roman" panose="02020603050405020304" pitchFamily="18" charset="0"/>
                <a:cs typeface="Times New Roman" panose="02020603050405020304" pitchFamily="18" charset="0"/>
              </a:rPr>
              <a:t>For example</a:t>
            </a:r>
            <a:r>
              <a:rPr lang="en-US" altLang="zh-CN" sz="1800" dirty="0">
                <a:latin typeface="Times New Roman" panose="02020603050405020304" pitchFamily="18" charset="0"/>
                <a:cs typeface="Times New Roman" panose="02020603050405020304" pitchFamily="18" charset="0"/>
              </a:rPr>
              <a:t>, in PD action performance scoring, one or two interruptions during the regular rhythm of a patient’s movement performing an action can result in a different quality score and this is in contrast to the source pretraining task, where subtle or even more pronounced differences in performing an action should not affect action classification [29].</a:t>
            </a: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介绍任务应用</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挑战：数据和标注</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之前的工作</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不足</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举例</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2024/1/18</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20</a:t>
            </a:fld>
            <a:endParaRPr lang="zh-CN" altLang="en-US"/>
          </a:p>
        </p:txBody>
      </p:sp>
    </p:spTree>
    <p:extLst>
      <p:ext uri="{BB962C8B-B14F-4D97-AF65-F5344CB8AC3E}">
        <p14:creationId xmlns:p14="http://schemas.microsoft.com/office/powerpoint/2010/main" val="2327515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2/6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nSpc>
                <a:spcPct val="120000"/>
              </a:lnSpc>
              <a:buNone/>
            </a:pPr>
            <a:r>
              <a:rPr lang="en-US" altLang="zh-CN" sz="1800" b="1" dirty="0">
                <a:solidFill>
                  <a:schemeClr val="accent1"/>
                </a:solidFill>
                <a:latin typeface="Times New Roman" panose="02020603050405020304" pitchFamily="18" charset="0"/>
                <a:cs typeface="Times New Roman" panose="02020603050405020304" pitchFamily="18" charset="0"/>
              </a:rPr>
              <a:t>A promising route </a:t>
            </a:r>
            <a:r>
              <a:rPr lang="en-US" altLang="zh-CN" sz="1800" dirty="0">
                <a:latin typeface="Times New Roman" panose="02020603050405020304" pitchFamily="18" charset="0"/>
                <a:cs typeface="Times New Roman" panose="02020603050405020304" pitchFamily="18" charset="0"/>
              </a:rPr>
              <a:t>to address the shortcomings of this direct jump from classical pretraining to finetuning can be to further pretrain using domain-specific unlabeled data, i.e. continual pretraining – a strategy that has had a remarkable impact in natural language processing (NLP) [19, 20, 45] and recently in image/object classification [1, 40]. </a:t>
            </a:r>
            <a:r>
              <a:rPr lang="en-US" altLang="zh-CN" sz="1800" b="1" dirty="0">
                <a:solidFill>
                  <a:schemeClr val="accent1"/>
                </a:solidFill>
                <a:latin typeface="Times New Roman" panose="02020603050405020304" pitchFamily="18" charset="0"/>
                <a:cs typeface="Times New Roman" panose="02020603050405020304" pitchFamily="18" charset="0"/>
              </a:rPr>
              <a:t>When it comes to </a:t>
            </a:r>
            <a:r>
              <a:rPr lang="en-US" altLang="zh-CN" sz="1800" dirty="0">
                <a:latin typeface="Times New Roman" panose="02020603050405020304" pitchFamily="18" charset="0"/>
                <a:cs typeface="Times New Roman" panose="02020603050405020304" pitchFamily="18" charset="0"/>
              </a:rPr>
              <a:t>video-domain tasks (e.g. as in AQA), this additional pretraining stage on in-domain data may be computationally prohibitive or impractical, due to the requirement for updating all parameters and storing pretrained parameter sets for each separate task.</a:t>
            </a: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解决方法</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但不能直接用于</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AQA</a:t>
            </a: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2024/1/18</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21</a:t>
            </a:fld>
            <a:endParaRPr lang="zh-CN" altLang="en-US"/>
          </a:p>
        </p:txBody>
      </p:sp>
    </p:spTree>
    <p:extLst>
      <p:ext uri="{BB962C8B-B14F-4D97-AF65-F5344CB8AC3E}">
        <p14:creationId xmlns:p14="http://schemas.microsoft.com/office/powerpoint/2010/main" val="3004434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3/6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nSpc>
                <a:spcPct val="120000"/>
              </a:lnSpc>
              <a:buNone/>
            </a:pPr>
            <a:r>
              <a:rPr lang="en-US" altLang="zh-CN" sz="1800" dirty="0" err="1">
                <a:latin typeface="Times New Roman" panose="02020603050405020304" pitchFamily="18" charset="0"/>
                <a:cs typeface="Times New Roman" panose="02020603050405020304" pitchFamily="18" charset="0"/>
              </a:rPr>
              <a:t>BatchNorm</a:t>
            </a:r>
            <a:r>
              <a:rPr lang="en-US" altLang="zh-CN" sz="1800" dirty="0">
                <a:latin typeface="Times New Roman" panose="02020603050405020304" pitchFamily="18" charset="0"/>
                <a:cs typeface="Times New Roman" panose="02020603050405020304" pitchFamily="18" charset="0"/>
              </a:rPr>
              <a:t> tuning [15, 40] </a:t>
            </a:r>
            <a:r>
              <a:rPr lang="en-US" altLang="zh-CN" sz="1800" b="1" dirty="0">
                <a:solidFill>
                  <a:schemeClr val="accent1"/>
                </a:solidFill>
                <a:latin typeface="Times New Roman" panose="02020603050405020304" pitchFamily="18" charset="0"/>
                <a:cs typeface="Times New Roman" panose="02020603050405020304" pitchFamily="18" charset="0"/>
              </a:rPr>
              <a:t>could be used to equip </a:t>
            </a:r>
            <a:r>
              <a:rPr lang="en-US" altLang="zh-CN" sz="1800" dirty="0">
                <a:latin typeface="Times New Roman" panose="02020603050405020304" pitchFamily="18" charset="0"/>
                <a:cs typeface="Times New Roman" panose="02020603050405020304" pitchFamily="18" charset="0"/>
              </a:rPr>
              <a:t>the pretrained model with domain-specific information by only updating the affine parameters of </a:t>
            </a:r>
            <a:r>
              <a:rPr lang="en-US" altLang="zh-CN" sz="1800" dirty="0" err="1">
                <a:latin typeface="Times New Roman" panose="02020603050405020304" pitchFamily="18" charset="0"/>
                <a:cs typeface="Times New Roman" panose="02020603050405020304" pitchFamily="18" charset="0"/>
              </a:rPr>
              <a:t>BatchNorm</a:t>
            </a:r>
            <a:r>
              <a:rPr lang="en-US" altLang="zh-CN" sz="1800" dirty="0">
                <a:latin typeface="Times New Roman" panose="02020603050405020304" pitchFamily="18" charset="0"/>
                <a:cs typeface="Times New Roman" panose="02020603050405020304" pitchFamily="18" charset="0"/>
              </a:rPr>
              <a:t> layers, while other pretrained parameters are frozen. </a:t>
            </a:r>
            <a:r>
              <a:rPr lang="en-US" altLang="zh-CN" sz="1800" b="1" dirty="0">
                <a:solidFill>
                  <a:schemeClr val="accent1"/>
                </a:solidFill>
                <a:latin typeface="Times New Roman" panose="02020603050405020304" pitchFamily="18" charset="0"/>
                <a:cs typeface="Times New Roman" panose="02020603050405020304" pitchFamily="18" charset="0"/>
              </a:rPr>
              <a:t>Although</a:t>
            </a:r>
            <a:r>
              <a:rPr lang="en-US" altLang="zh-CN" sz="1800" dirty="0">
                <a:latin typeface="Times New Roman" panose="02020603050405020304" pitchFamily="18" charset="0"/>
                <a:cs typeface="Times New Roman" panose="02020603050405020304" pitchFamily="18" charset="0"/>
              </a:rPr>
              <a:t> this technique can greatly reduce the number of trainable parameters, we show that in a continual pretraining framework it can fail on those AQA datasets that are relatively small and more domain-specific, such as JIGSAWS [16].</a:t>
            </a: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解决方法</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但一些</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AQA</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任务不适用</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2024/1/18</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22</a:t>
            </a:fld>
            <a:endParaRPr lang="zh-CN" altLang="en-US"/>
          </a:p>
        </p:txBody>
      </p:sp>
    </p:spTree>
    <p:extLst>
      <p:ext uri="{BB962C8B-B14F-4D97-AF65-F5344CB8AC3E}">
        <p14:creationId xmlns:p14="http://schemas.microsoft.com/office/powerpoint/2010/main" val="3220166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4/6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nSpc>
                <a:spcPct val="120000"/>
              </a:lnSpc>
              <a:buNone/>
            </a:pPr>
            <a:r>
              <a:rPr lang="en-US" altLang="zh-CN" sz="1800" dirty="0">
                <a:latin typeface="Times New Roman" panose="02020603050405020304" pitchFamily="18" charset="0"/>
                <a:cs typeface="Times New Roman" panose="02020603050405020304" pitchFamily="18" charset="0"/>
              </a:rPr>
              <a:t>In this paper, we </a:t>
            </a:r>
            <a:r>
              <a:rPr lang="en-US" altLang="zh-CN" sz="1800" b="1" dirty="0">
                <a:solidFill>
                  <a:schemeClr val="accent1"/>
                </a:solidFill>
                <a:latin typeface="Times New Roman" panose="02020603050405020304" pitchFamily="18" charset="0"/>
                <a:cs typeface="Times New Roman" panose="02020603050405020304" pitchFamily="18" charset="0"/>
              </a:rPr>
              <a:t>propose adding </a:t>
            </a:r>
            <a:r>
              <a:rPr lang="en-US" altLang="zh-CN" sz="1800" dirty="0">
                <a:latin typeface="Times New Roman" panose="02020603050405020304" pitchFamily="18" charset="0"/>
                <a:cs typeface="Times New Roman" panose="02020603050405020304" pitchFamily="18" charset="0"/>
              </a:rPr>
              <a:t>a Parameter-Efficient Continual Pretraining (</a:t>
            </a:r>
            <a:r>
              <a:rPr lang="en-US" altLang="zh-CN" sz="1800" dirty="0" err="1">
                <a:latin typeface="Times New Roman" panose="02020603050405020304" pitchFamily="18" charset="0"/>
                <a:cs typeface="Times New Roman" panose="02020603050405020304" pitchFamily="18" charset="0"/>
              </a:rPr>
              <a:t>PECoP</a:t>
            </a:r>
            <a:r>
              <a:rPr lang="en-US" altLang="zh-CN" sz="1800" dirty="0">
                <a:latin typeface="Times New Roman" panose="02020603050405020304" pitchFamily="18" charset="0"/>
                <a:cs typeface="Times New Roman" panose="02020603050405020304" pitchFamily="18" charset="0"/>
              </a:rPr>
              <a:t>) adaptation stage </a:t>
            </a:r>
            <a:r>
              <a:rPr lang="en-US" altLang="zh-CN" sz="1800" b="1" dirty="0">
                <a:latin typeface="Times New Roman" panose="02020603050405020304" pitchFamily="18" charset="0"/>
                <a:cs typeface="Times New Roman" panose="02020603050405020304" pitchFamily="18" charset="0"/>
              </a:rPr>
              <a:t>to</a:t>
            </a:r>
            <a:r>
              <a:rPr lang="en-US" altLang="zh-CN" sz="1800" dirty="0">
                <a:latin typeface="Times New Roman" panose="02020603050405020304" pitchFamily="18" charset="0"/>
                <a:cs typeface="Times New Roman" panose="02020603050405020304" pitchFamily="18" charset="0"/>
              </a:rPr>
              <a:t> the traditional AQA transfer learning workflow </a:t>
            </a:r>
            <a:r>
              <a:rPr lang="en-US" altLang="zh-CN" sz="1800" b="1" dirty="0">
                <a:latin typeface="Times New Roman" panose="02020603050405020304" pitchFamily="18" charset="0"/>
                <a:cs typeface="Times New Roman" panose="02020603050405020304" pitchFamily="18" charset="0"/>
              </a:rPr>
              <a:t>that can</a:t>
            </a:r>
            <a:r>
              <a:rPr lang="en-US" altLang="zh-CN" sz="1800" dirty="0">
                <a:latin typeface="Times New Roman" panose="02020603050405020304" pitchFamily="18" charset="0"/>
                <a:cs typeface="Times New Roman" panose="02020603050405020304" pitchFamily="18" charset="0"/>
              </a:rPr>
              <a:t> efficiently adapt the domain-general pretrained model for the downstream AQA task. </a:t>
            </a:r>
            <a:r>
              <a:rPr lang="en-US" altLang="zh-CN" sz="1800" b="1" dirty="0">
                <a:solidFill>
                  <a:schemeClr val="accent1"/>
                </a:solidFill>
                <a:latin typeface="Times New Roman" panose="02020603050405020304" pitchFamily="18" charset="0"/>
                <a:cs typeface="Times New Roman" panose="02020603050405020304" pitchFamily="18" charset="0"/>
              </a:rPr>
              <a:t>Inspired</a:t>
            </a:r>
            <a:r>
              <a:rPr lang="en-US" altLang="zh-CN" sz="1800" dirty="0">
                <a:latin typeface="Times New Roman" panose="02020603050405020304" pitchFamily="18" charset="0"/>
                <a:cs typeface="Times New Roman" panose="02020603050405020304" pitchFamily="18" charset="0"/>
              </a:rPr>
              <a:t> by adapter-based methods which have recently achieved strong results with transformer architectures on NLP benchmarks [22, 24, 25, 39], we </a:t>
            </a:r>
            <a:r>
              <a:rPr lang="en-US" altLang="zh-CN" sz="1800" b="1" dirty="0">
                <a:solidFill>
                  <a:schemeClr val="accent1"/>
                </a:solidFill>
                <a:latin typeface="Times New Roman" panose="02020603050405020304" pitchFamily="18" charset="0"/>
                <a:cs typeface="Times New Roman" panose="02020603050405020304" pitchFamily="18" charset="0"/>
              </a:rPr>
              <a:t>present</a:t>
            </a:r>
            <a:r>
              <a:rPr lang="en-US" altLang="zh-CN" sz="1800" dirty="0">
                <a:latin typeface="Times New Roman" panose="02020603050405020304" pitchFamily="18" charset="0"/>
                <a:cs typeface="Times New Roman" panose="02020603050405020304" pitchFamily="18" charset="0"/>
              </a:rPr>
              <a:t> 3D-Adapter, a lightweight convolutional bottleneck block </a:t>
            </a:r>
            <a:r>
              <a:rPr lang="en-US" altLang="zh-CN" sz="1800" b="1" dirty="0">
                <a:latin typeface="Times New Roman" panose="02020603050405020304" pitchFamily="18" charset="0"/>
                <a:cs typeface="Times New Roman" panose="02020603050405020304" pitchFamily="18" charset="0"/>
              </a:rPr>
              <a:t>which</a:t>
            </a:r>
            <a:r>
              <a:rPr lang="en-US" altLang="zh-CN" sz="1800"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cs typeface="Times New Roman" panose="02020603050405020304" pitchFamily="18" charset="0"/>
              </a:rPr>
              <a:t>is inserted</a:t>
            </a:r>
            <a:r>
              <a:rPr lang="en-US" altLang="zh-CN" sz="1800" dirty="0">
                <a:latin typeface="Times New Roman" panose="02020603050405020304" pitchFamily="18" charset="0"/>
                <a:cs typeface="Times New Roman" panose="02020603050405020304" pitchFamily="18" charset="0"/>
              </a:rPr>
              <a:t> into a pretrained 3D CNN (e.g. I3D inception modules [3]) and </a:t>
            </a:r>
            <a:r>
              <a:rPr lang="en-US" altLang="zh-CN" sz="1800" b="1" dirty="0">
                <a:latin typeface="Times New Roman" panose="02020603050405020304" pitchFamily="18" charset="0"/>
                <a:cs typeface="Times New Roman" panose="02020603050405020304" pitchFamily="18" charset="0"/>
              </a:rPr>
              <a:t>learns</a:t>
            </a:r>
            <a:r>
              <a:rPr lang="en-US" altLang="zh-CN" sz="1800" dirty="0">
                <a:latin typeface="Times New Roman" panose="02020603050405020304" pitchFamily="18" charset="0"/>
                <a:cs typeface="Times New Roman" panose="02020603050405020304" pitchFamily="18" charset="0"/>
              </a:rPr>
              <a:t> domain-specific spatiotemporal knowledge </a:t>
            </a:r>
            <a:r>
              <a:rPr lang="en-US" altLang="zh-CN" sz="1800" b="1" dirty="0">
                <a:latin typeface="Times New Roman" panose="02020603050405020304" pitchFamily="18" charset="0"/>
                <a:cs typeface="Times New Roman" panose="02020603050405020304" pitchFamily="18" charset="0"/>
              </a:rPr>
              <a:t>via</a:t>
            </a:r>
            <a:r>
              <a:rPr lang="en-US" altLang="zh-CN" sz="1800" dirty="0">
                <a:latin typeface="Times New Roman" panose="02020603050405020304" pitchFamily="18" charset="0"/>
                <a:cs typeface="Times New Roman" panose="02020603050405020304" pitchFamily="18" charset="0"/>
              </a:rPr>
              <a:t> a self-supervised learning (SSL) approach. During domain-specific pretraining, </a:t>
            </a:r>
            <a:r>
              <a:rPr lang="en-US" altLang="zh-CN" sz="1800" b="1" dirty="0">
                <a:solidFill>
                  <a:schemeClr val="accent1"/>
                </a:solidFill>
                <a:latin typeface="Times New Roman" panose="02020603050405020304" pitchFamily="18" charset="0"/>
                <a:cs typeface="Times New Roman" panose="02020603050405020304" pitchFamily="18" charset="0"/>
              </a:rPr>
              <a:t>only</a:t>
            </a:r>
            <a:r>
              <a:rPr lang="en-US" altLang="zh-CN" sz="1800" dirty="0">
                <a:latin typeface="Times New Roman" panose="02020603050405020304" pitchFamily="18" charset="0"/>
                <a:cs typeface="Times New Roman" panose="02020603050405020304" pitchFamily="18" charset="0"/>
              </a:rPr>
              <a:t> the adapter parameters are updated while the original weights of the pretrained model are frozen to allow a high degree of parameter-sharing (see Fig. 1(b)). </a:t>
            </a:r>
            <a:r>
              <a:rPr lang="en-US" altLang="zh-CN" sz="1800" b="1" dirty="0">
                <a:solidFill>
                  <a:schemeClr val="accent1"/>
                </a:solidFill>
                <a:latin typeface="Times New Roman" panose="02020603050405020304" pitchFamily="18" charset="0"/>
                <a:cs typeface="Times New Roman" panose="02020603050405020304" pitchFamily="18" charset="0"/>
              </a:rPr>
              <a:t>This greatly reduces </a:t>
            </a:r>
            <a:r>
              <a:rPr lang="en-US" altLang="zh-CN" sz="1800" dirty="0">
                <a:latin typeface="Times New Roman" panose="02020603050405020304" pitchFamily="18" charset="0"/>
                <a:cs typeface="Times New Roman" panose="02020603050405020304" pitchFamily="18" charset="0"/>
              </a:rPr>
              <a:t>the computational and storage costs of conventional continual pretraining, and also prevents overfitting by alleviating catastrophic forgetting [24].</a:t>
            </a: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本文贡献</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buNone/>
            </a:pP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Motivation &amp; </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方法细节</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方法优势</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2024/1/18</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23</a:t>
            </a:fld>
            <a:endParaRPr lang="zh-CN" altLang="en-US"/>
          </a:p>
        </p:txBody>
      </p:sp>
    </p:spTree>
    <p:extLst>
      <p:ext uri="{BB962C8B-B14F-4D97-AF65-F5344CB8AC3E}">
        <p14:creationId xmlns:p14="http://schemas.microsoft.com/office/powerpoint/2010/main" val="114668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5/6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nSpc>
                <a:spcPct val="120000"/>
              </a:lnSpc>
              <a:buNone/>
            </a:pPr>
            <a:r>
              <a:rPr lang="en-US" altLang="zh-CN" sz="1800" b="1" dirty="0">
                <a:solidFill>
                  <a:schemeClr val="accent1"/>
                </a:solidFill>
                <a:latin typeface="Times New Roman" panose="02020603050405020304" pitchFamily="18" charset="0"/>
                <a:cs typeface="Times New Roman" panose="02020603050405020304" pitchFamily="18" charset="0"/>
              </a:rPr>
              <a:t>To evaluate </a:t>
            </a:r>
            <a:r>
              <a:rPr lang="en-US" altLang="zh-CN" sz="1800" dirty="0">
                <a:latin typeface="Times New Roman" panose="02020603050405020304" pitchFamily="18" charset="0"/>
                <a:cs typeface="Times New Roman" panose="02020603050405020304" pitchFamily="18" charset="0"/>
              </a:rPr>
              <a:t>our method, we present experiments on three public AQA benchmarks, MTL-AQA [37], JIGSAWS [16] and </a:t>
            </a:r>
            <a:r>
              <a:rPr lang="en-US" altLang="zh-CN" sz="1800" dirty="0" err="1">
                <a:latin typeface="Times New Roman" panose="02020603050405020304" pitchFamily="18" charset="0"/>
                <a:cs typeface="Times New Roman" panose="02020603050405020304" pitchFamily="18" charset="0"/>
              </a:rPr>
              <a:t>FineDiving</a:t>
            </a:r>
            <a:r>
              <a:rPr lang="en-US" altLang="zh-CN" sz="1800" dirty="0">
                <a:latin typeface="Times New Roman" panose="02020603050405020304" pitchFamily="18" charset="0"/>
                <a:cs typeface="Times New Roman" panose="02020603050405020304" pitchFamily="18" charset="0"/>
              </a:rPr>
              <a:t> [47]. We also provide comparative results on a new Parkinson’s Disease dataset, PD4T, comprising four different PD motor-function tasks by real patients. Our results </a:t>
            </a:r>
            <a:r>
              <a:rPr lang="en-US" altLang="zh-CN" sz="1800" b="1" dirty="0">
                <a:solidFill>
                  <a:schemeClr val="accent1"/>
                </a:solidFill>
                <a:latin typeface="Times New Roman" panose="02020603050405020304" pitchFamily="18" charset="0"/>
                <a:cs typeface="Times New Roman" panose="02020603050405020304" pitchFamily="18" charset="0"/>
              </a:rPr>
              <a:t>clearly demonstrate </a:t>
            </a:r>
            <a:r>
              <a:rPr lang="en-US" altLang="zh-CN" sz="1800" dirty="0">
                <a:latin typeface="Times New Roman" panose="02020603050405020304" pitchFamily="18" charset="0"/>
                <a:cs typeface="Times New Roman" panose="02020603050405020304" pitchFamily="18" charset="0"/>
              </a:rPr>
              <a:t>that the proposed continual pretraining approach </a:t>
            </a:r>
            <a:r>
              <a:rPr lang="en-US" altLang="zh-CN" sz="1800" dirty="0" err="1">
                <a:latin typeface="Times New Roman" panose="02020603050405020304" pitchFamily="18" charset="0"/>
                <a:cs typeface="Times New Roman" panose="02020603050405020304" pitchFamily="18" charset="0"/>
              </a:rPr>
              <a:t>PECoP</a:t>
            </a:r>
            <a:r>
              <a:rPr lang="en-US" altLang="zh-CN" sz="1800" dirty="0">
                <a:latin typeface="Times New Roman" panose="02020603050405020304" pitchFamily="18" charset="0"/>
                <a:cs typeface="Times New Roman" panose="02020603050405020304" pitchFamily="18" charset="0"/>
              </a:rPr>
              <a:t> can boost the robustness of recent SOTA AQA methods, i.e. TSA [47], </a:t>
            </a:r>
            <a:r>
              <a:rPr lang="en-US" altLang="zh-CN" sz="1800" dirty="0" err="1">
                <a:latin typeface="Times New Roman" panose="02020603050405020304" pitchFamily="18" charset="0"/>
                <a:cs typeface="Times New Roman" panose="02020603050405020304" pitchFamily="18" charset="0"/>
              </a:rPr>
              <a:t>CoRe</a:t>
            </a:r>
            <a:r>
              <a:rPr lang="en-US" altLang="zh-CN" sz="1800" dirty="0">
                <a:latin typeface="Times New Roman" panose="02020603050405020304" pitchFamily="18" charset="0"/>
                <a:cs typeface="Times New Roman" panose="02020603050405020304" pitchFamily="18" charset="0"/>
              </a:rPr>
              <a:t> [30] and USDL/MUSDL [42], by a considerable margin.</a:t>
            </a: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数据集</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结果</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2024/1/18</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24</a:t>
            </a:fld>
            <a:endParaRPr lang="zh-CN" altLang="en-US"/>
          </a:p>
        </p:txBody>
      </p:sp>
    </p:spTree>
    <p:extLst>
      <p:ext uri="{BB962C8B-B14F-4D97-AF65-F5344CB8AC3E}">
        <p14:creationId xmlns:p14="http://schemas.microsoft.com/office/powerpoint/2010/main" val="460360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6/6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nSpc>
                <a:spcPct val="120000"/>
              </a:lnSpc>
              <a:buNone/>
            </a:pPr>
            <a:r>
              <a:rPr lang="en-US" altLang="zh-CN" sz="1800" dirty="0">
                <a:latin typeface="Times New Roman" panose="02020603050405020304" pitchFamily="18" charset="0"/>
                <a:cs typeface="Times New Roman" panose="02020603050405020304" pitchFamily="18" charset="0"/>
              </a:rPr>
              <a:t>In summary, the contributions of this work are:</a:t>
            </a:r>
          </a:p>
          <a:p>
            <a:pPr marL="0" indent="0">
              <a:lnSpc>
                <a:spcPct val="120000"/>
              </a:lnSpc>
              <a:buNone/>
            </a:pPr>
            <a:r>
              <a:rPr lang="en-US" altLang="zh-CN" sz="1800" dirty="0">
                <a:latin typeface="Times New Roman" panose="02020603050405020304" pitchFamily="18" charset="0"/>
                <a:cs typeface="Times New Roman" panose="02020603050405020304" pitchFamily="18" charset="0"/>
              </a:rPr>
              <a:t>• We propose a parameter-efficient continual pretraining </a:t>
            </a:r>
            <a:r>
              <a:rPr lang="en-US" altLang="zh-CN" sz="1800" b="1" dirty="0">
                <a:latin typeface="Times New Roman" panose="02020603050405020304" pitchFamily="18" charset="0"/>
                <a:cs typeface="Times New Roman" panose="02020603050405020304" pitchFamily="18" charset="0"/>
              </a:rPr>
              <a:t>workflow</a:t>
            </a:r>
            <a:r>
              <a:rPr lang="en-US" altLang="zh-CN" sz="1800" dirty="0">
                <a:latin typeface="Times New Roman" panose="02020603050405020304" pitchFamily="18" charset="0"/>
                <a:cs typeface="Times New Roman" panose="02020603050405020304" pitchFamily="18" charset="0"/>
              </a:rPr>
              <a:t> to enhance the efficiency of target tasks. </a:t>
            </a:r>
          </a:p>
          <a:p>
            <a:pPr marL="0" indent="0">
              <a:lnSpc>
                <a:spcPct val="120000"/>
              </a:lnSpc>
              <a:buNone/>
            </a:pPr>
            <a:r>
              <a:rPr lang="en-US" altLang="zh-CN" sz="1800" dirty="0">
                <a:latin typeface="Times New Roman" panose="02020603050405020304" pitchFamily="18" charset="0"/>
                <a:cs typeface="Times New Roman" panose="02020603050405020304" pitchFamily="18" charset="0"/>
              </a:rPr>
              <a:t>• We integrate a </a:t>
            </a:r>
            <a:r>
              <a:rPr lang="en-US" altLang="zh-CN" sz="1800" b="1" dirty="0">
                <a:latin typeface="Times New Roman" panose="02020603050405020304" pitchFamily="18" charset="0"/>
                <a:cs typeface="Times New Roman" panose="02020603050405020304" pitchFamily="18" charset="0"/>
              </a:rPr>
              <a:t>3D-Adapter layer </a:t>
            </a:r>
            <a:r>
              <a:rPr lang="en-US" altLang="zh-CN" sz="1800" dirty="0">
                <a:latin typeface="Times New Roman" panose="02020603050405020304" pitchFamily="18" charset="0"/>
                <a:cs typeface="Times New Roman" panose="02020603050405020304" pitchFamily="18" charset="0"/>
              </a:rPr>
              <a:t>for the first time for 3D CNNs for video analysis.</a:t>
            </a:r>
          </a:p>
          <a:p>
            <a:pPr marL="0" indent="0">
              <a:lnSpc>
                <a:spcPct val="120000"/>
              </a:lnSpc>
              <a:buNone/>
            </a:pPr>
            <a:r>
              <a:rPr lang="en-US" altLang="zh-CN" sz="1800" dirty="0">
                <a:latin typeface="Times New Roman" panose="02020603050405020304" pitchFamily="18" charset="0"/>
                <a:cs typeface="Times New Roman" panose="02020603050405020304" pitchFamily="18" charset="0"/>
              </a:rPr>
              <a:t>• We introduce a </a:t>
            </a:r>
            <a:r>
              <a:rPr lang="en-US" altLang="zh-CN" sz="1800" b="1" dirty="0">
                <a:latin typeface="Times New Roman" panose="02020603050405020304" pitchFamily="18" charset="0"/>
                <a:cs typeface="Times New Roman" panose="02020603050405020304" pitchFamily="18" charset="0"/>
              </a:rPr>
              <a:t>new annotated AQA dataset</a:t>
            </a:r>
            <a:r>
              <a:rPr lang="en-US" altLang="zh-CN" sz="1800" dirty="0">
                <a:latin typeface="Times New Roman" panose="02020603050405020304" pitchFamily="18" charset="0"/>
                <a:cs typeface="Times New Roman" panose="02020603050405020304" pitchFamily="18" charset="0"/>
              </a:rPr>
              <a:t>, PD4T, for the vision community to evaluate various actions performed by actual Parkinson’s disease patients.</a:t>
            </a:r>
          </a:p>
          <a:p>
            <a:pPr marL="0" indent="0">
              <a:lnSpc>
                <a:spcPct val="120000"/>
              </a:lnSpc>
              <a:buNone/>
            </a:pPr>
            <a:r>
              <a:rPr lang="en-US" altLang="zh-CN" sz="1800" dirty="0">
                <a:latin typeface="Times New Roman" panose="02020603050405020304" pitchFamily="18" charset="0"/>
                <a:cs typeface="Times New Roman" panose="02020603050405020304" pitchFamily="18" charset="0"/>
              </a:rPr>
              <a:t>• We present extensive </a:t>
            </a:r>
            <a:r>
              <a:rPr lang="en-US" altLang="zh-CN" sz="1800" b="1" dirty="0">
                <a:latin typeface="Times New Roman" panose="02020603050405020304" pitchFamily="18" charset="0"/>
                <a:cs typeface="Times New Roman" panose="02020603050405020304" pitchFamily="18" charset="0"/>
              </a:rPr>
              <a:t>experiments and ablations </a:t>
            </a:r>
            <a:r>
              <a:rPr lang="en-US" altLang="zh-CN" sz="1800" dirty="0">
                <a:latin typeface="Times New Roman" panose="02020603050405020304" pitchFamily="18" charset="0"/>
                <a:cs typeface="Times New Roman" panose="02020603050405020304" pitchFamily="18" charset="0"/>
              </a:rPr>
              <a:t>to demonstrate that recent state-of-the-art AQA methods can significantly benefit from our proposed continual pretraining approach.</a:t>
            </a: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NimbusRomNo9L-Regu"/>
              </a:rPr>
              <a:t>本文贡献</a:t>
            </a:r>
            <a:endParaRPr lang="en-US" altLang="zh-CN" sz="2000" dirty="0">
              <a:latin typeface="NimbusRomNo9L-Regu"/>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2024/1/18</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25</a:t>
            </a:fld>
            <a:endParaRPr lang="zh-CN" altLang="en-US"/>
          </a:p>
        </p:txBody>
      </p:sp>
    </p:spTree>
    <p:extLst>
      <p:ext uri="{BB962C8B-B14F-4D97-AF65-F5344CB8AC3E}">
        <p14:creationId xmlns:p14="http://schemas.microsoft.com/office/powerpoint/2010/main" val="2018511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4B0F20-82A6-00C0-060A-8EFA282A68B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9520F74-1AEE-59D3-AD9B-A0FAB95A76C8}"/>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6DEE6D3C-9F2C-B5E2-DA0E-FA54A9C8871B}"/>
              </a:ext>
            </a:extLst>
          </p:cNvPr>
          <p:cNvSpPr>
            <a:spLocks noGrp="1"/>
          </p:cNvSpPr>
          <p:nvPr>
            <p:ph type="dt" sz="half" idx="10"/>
          </p:nvPr>
        </p:nvSpPr>
        <p:spPr/>
        <p:txBody>
          <a:bodyPr/>
          <a:lstStyle/>
          <a:p>
            <a:fld id="{A2B860FA-A935-404B-8354-606133A2817F}" type="datetime1">
              <a:rPr lang="zh-CN" altLang="en-US" smtClean="0"/>
              <a:t>2024/1/18</a:t>
            </a:fld>
            <a:endParaRPr lang="zh-CN" altLang="en-US"/>
          </a:p>
        </p:txBody>
      </p:sp>
      <p:sp>
        <p:nvSpPr>
          <p:cNvPr id="5" name="页脚占位符 4">
            <a:extLst>
              <a:ext uri="{FF2B5EF4-FFF2-40B4-BE49-F238E27FC236}">
                <a16:creationId xmlns:a16="http://schemas.microsoft.com/office/drawing/2014/main" id="{9D6BE30A-EEE0-86FE-0B54-66681BB4FC97}"/>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E5D80F58-847F-9CF3-9117-B42A297CF2E6}"/>
              </a:ext>
            </a:extLst>
          </p:cNvPr>
          <p:cNvSpPr>
            <a:spLocks noGrp="1"/>
          </p:cNvSpPr>
          <p:nvPr>
            <p:ph type="sldNum" sz="quarter" idx="12"/>
          </p:nvPr>
        </p:nvSpPr>
        <p:spPr/>
        <p:txBody>
          <a:bodyPr/>
          <a:lstStyle/>
          <a:p>
            <a:fld id="{52108E69-35C3-4395-AB4C-CBC2CBC07E89}" type="slidenum">
              <a:rPr lang="zh-CN" altLang="en-US" smtClean="0"/>
              <a:t>26</a:t>
            </a:fld>
            <a:endParaRPr lang="zh-CN" altLang="en-US"/>
          </a:p>
        </p:txBody>
      </p:sp>
    </p:spTree>
    <p:extLst>
      <p:ext uri="{BB962C8B-B14F-4D97-AF65-F5344CB8AC3E}">
        <p14:creationId xmlns:p14="http://schemas.microsoft.com/office/powerpoint/2010/main" val="18251835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11062</TotalTime>
  <Words>4050</Words>
  <Application>Microsoft Office PowerPoint</Application>
  <PresentationFormat>宽屏</PresentationFormat>
  <Paragraphs>273</Paragraphs>
  <Slides>26</Slides>
  <Notes>16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CMMI10</vt:lpstr>
      <vt:lpstr>CMMI6</vt:lpstr>
      <vt:lpstr>CMR10</vt:lpstr>
      <vt:lpstr>CMSY10</vt:lpstr>
      <vt:lpstr>NimbusRomNo9L-Medi</vt:lpstr>
      <vt:lpstr>NimbusRomNo9L-Regu</vt:lpstr>
      <vt:lpstr>等线</vt:lpstr>
      <vt:lpstr>等线 Light</vt:lpstr>
      <vt:lpstr>Arial</vt:lpstr>
      <vt:lpstr>Cambria Math</vt:lpstr>
      <vt:lpstr>Times New Roman</vt:lpstr>
      <vt:lpstr>Office 主题​​</vt:lpstr>
      <vt:lpstr>PECoP: Parameter Efficient Continual Pretraining for Action Quality Assessment</vt:lpstr>
      <vt:lpstr>Background</vt:lpstr>
      <vt:lpstr>Background</vt:lpstr>
      <vt:lpstr>Introduction</vt:lpstr>
      <vt:lpstr>Introduction</vt:lpstr>
      <vt:lpstr>Introduction</vt:lpstr>
      <vt:lpstr>Method</vt:lpstr>
      <vt:lpstr>Method</vt:lpstr>
      <vt:lpstr>Experiments</vt:lpstr>
      <vt:lpstr>Experiments</vt:lpstr>
      <vt:lpstr>Experiments</vt:lpstr>
      <vt:lpstr>Experiments</vt:lpstr>
      <vt:lpstr>Ablation Study</vt:lpstr>
      <vt:lpstr>Ablation Study</vt:lpstr>
      <vt:lpstr>Ablation Study</vt:lpstr>
      <vt:lpstr>Ablation Study</vt:lpstr>
      <vt:lpstr>Conclusions</vt:lpstr>
      <vt:lpstr>PowerPoint 演示文稿</vt:lpstr>
      <vt:lpstr>PowerPoint 演示文稿</vt:lpstr>
      <vt:lpstr>Introduction – 1/6</vt:lpstr>
      <vt:lpstr>Introduction – 2/6</vt:lpstr>
      <vt:lpstr>Introduction – 3/6</vt:lpstr>
      <vt:lpstr>Introduction – 4/6</vt:lpstr>
      <vt:lpstr>Introduction – 5/6</vt:lpstr>
      <vt:lpstr>Introduction – 6/6</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琦玥 李</dc:creator>
  <cp:lastModifiedBy>琦玥 李</cp:lastModifiedBy>
  <cp:revision>48</cp:revision>
  <dcterms:created xsi:type="dcterms:W3CDTF">2023-01-02T07:25:47Z</dcterms:created>
  <dcterms:modified xsi:type="dcterms:W3CDTF">2024-01-18T12:29:09Z</dcterms:modified>
</cp:coreProperties>
</file>