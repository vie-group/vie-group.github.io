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04"/>
    <p:restoredTop sz="96405"/>
  </p:normalViewPr>
  <p:slideViewPr>
    <p:cSldViewPr snapToGrid="0">
      <p:cViewPr>
        <p:scale>
          <a:sx n="133" d="100"/>
          <a:sy n="133" d="100"/>
        </p:scale>
        <p:origin x="640"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0FC24D-1042-6848-AF6D-B4AE2C7C4022}" type="datetimeFigureOut">
              <a:rPr kumimoji="1" lang="zh-CN" altLang="en-US" smtClean="0"/>
              <a:t>2023/12/1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C29F67-0719-BD41-BB71-6E982C6342A7}" type="slidenum">
              <a:rPr kumimoji="1" lang="zh-CN" altLang="en-US" smtClean="0"/>
              <a:t>‹#›</a:t>
            </a:fld>
            <a:endParaRPr kumimoji="1" lang="zh-CN" altLang="en-US"/>
          </a:p>
        </p:txBody>
      </p:sp>
    </p:spTree>
    <p:extLst>
      <p:ext uri="{BB962C8B-B14F-4D97-AF65-F5344CB8AC3E}">
        <p14:creationId xmlns:p14="http://schemas.microsoft.com/office/powerpoint/2010/main" val="418426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D42ADF-0549-9E0A-4FAA-EF81C3D8AA83}"/>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ADFEDE6-5154-9399-3F67-C1520E27D9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A2C9C84-2692-18C8-B679-E60C07573DF1}"/>
              </a:ext>
            </a:extLst>
          </p:cNvPr>
          <p:cNvSpPr>
            <a:spLocks noGrp="1"/>
          </p:cNvSpPr>
          <p:nvPr>
            <p:ph type="dt" sz="half" idx="10"/>
          </p:nvPr>
        </p:nvSpPr>
        <p:spPr/>
        <p:txBody>
          <a:bodyPr/>
          <a:lstStyle/>
          <a:p>
            <a:fld id="{AAB05E84-EF9F-4949-9030-AB818224517D}"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4B8BC8A8-5827-D344-F77E-D9518C5D1CD0}"/>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F4373FCA-8A60-4B2E-588F-E8C18BFEE08A}"/>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2338728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6B841-69CD-936A-4515-82693F4BAB1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0F272FC-6AFF-8DBA-553B-372AE1EB4F77}"/>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DAD638B-DE1F-18BF-7F11-2536E58FA881}"/>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775E3019-6795-6C4D-EB12-7BCCFEB9D525}"/>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DD5FF2ED-0183-456B-1DF9-378D91D0F6B1}"/>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3807395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89D0F-80BF-E6F5-7D1A-C16A9479307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41D15455-224D-5F87-E380-BEA77BA1FD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E589E7A7-1577-0669-D814-2EFEC8461B54}"/>
              </a:ext>
            </a:extLst>
          </p:cNvPr>
          <p:cNvSpPr>
            <a:spLocks noGrp="1"/>
          </p:cNvSpPr>
          <p:nvPr>
            <p:ph type="dt" sz="half" idx="10"/>
          </p:nvPr>
        </p:nvSpPr>
        <p:spPr/>
        <p:txBody>
          <a:bodyPr/>
          <a:lstStyle/>
          <a:p>
            <a:fld id="{76975418-9A6A-DF47-9CC0-CDD310D80D58}"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5C116677-1A67-2F4C-2F8C-995CA22B0BF3}"/>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3EFC5DE7-402F-7A58-4CC9-D45871F4FF3A}"/>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4272745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42695-7CD4-5B97-1039-76F5A5B5513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27EE4BE-ED85-5972-864B-874C9FB7BA83}"/>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9BC8D8D5-EAF5-3056-266A-6D5744489C0B}"/>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77F25A7-924A-9671-92AE-1B501E4EA155}"/>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DBD6C27F-48AE-9DF2-5B66-C43983B61993}"/>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5F443CB0-ED3D-F304-A03B-30F3D5419408}"/>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341500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33D0C-E709-3D60-A16F-FF9BAF636D6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F05A492-3A73-BEE2-4037-28B8BD83BB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0193D8D-7C40-8D6A-1889-F4CE739FEF4B}"/>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19708F1-2C24-3E16-CC9E-7136A89A63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B62E7F6-157D-4695-6191-4DBA22D7A67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6624982-374F-E4CA-7351-FBF2112D4462}"/>
              </a:ext>
            </a:extLst>
          </p:cNvPr>
          <p:cNvSpPr>
            <a:spLocks noGrp="1"/>
          </p:cNvSpPr>
          <p:nvPr>
            <p:ph type="dt" sz="half" idx="10"/>
          </p:nvPr>
        </p:nvSpPr>
        <p:spPr/>
        <p:txBody>
          <a:bodyPr/>
          <a:lstStyle/>
          <a:p>
            <a:fld id="{ADF79BEA-BE7A-E745-AA20-B29ACE163272}" type="datetime1">
              <a:rPr kumimoji="1" lang="zh-CN" altLang="en-US" smtClean="0"/>
              <a:t>2023/12/1</a:t>
            </a:fld>
            <a:endParaRPr kumimoji="1" lang="zh-CN" altLang="en-US"/>
          </a:p>
        </p:txBody>
      </p:sp>
      <p:sp>
        <p:nvSpPr>
          <p:cNvPr id="8" name="页脚占位符 7">
            <a:extLst>
              <a:ext uri="{FF2B5EF4-FFF2-40B4-BE49-F238E27FC236}">
                <a16:creationId xmlns:a16="http://schemas.microsoft.com/office/drawing/2014/main" id="{2A874C45-B047-CCAB-9990-F16E7A7FF3F0}"/>
              </a:ext>
            </a:extLst>
          </p:cNvPr>
          <p:cNvSpPr>
            <a:spLocks noGrp="1"/>
          </p:cNvSpPr>
          <p:nvPr>
            <p:ph type="ftr" sz="quarter" idx="11"/>
          </p:nvPr>
        </p:nvSpPr>
        <p:spPr/>
        <p:txBody>
          <a:bodyPr/>
          <a:lstStyle/>
          <a:p>
            <a:r>
              <a:rPr kumimoji="1" lang="en" altLang="zh-CN"/>
              <a:t>YWN</a:t>
            </a:r>
            <a:endParaRPr kumimoji="1" lang="zh-CN" altLang="en-US"/>
          </a:p>
        </p:txBody>
      </p:sp>
      <p:sp>
        <p:nvSpPr>
          <p:cNvPr id="9" name="灯片编号占位符 8">
            <a:extLst>
              <a:ext uri="{FF2B5EF4-FFF2-40B4-BE49-F238E27FC236}">
                <a16:creationId xmlns:a16="http://schemas.microsoft.com/office/drawing/2014/main" id="{4B10C99E-919F-8418-E2EA-F05C602535DC}"/>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2807204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6390BA-D76A-FC83-F4C8-EE01A5662860}"/>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17215E3-3D25-D86C-EFD9-1907AD0C2D16}"/>
              </a:ext>
            </a:extLst>
          </p:cNvPr>
          <p:cNvSpPr>
            <a:spLocks noGrp="1"/>
          </p:cNvSpPr>
          <p:nvPr>
            <p:ph type="dt" sz="half" idx="10"/>
          </p:nvPr>
        </p:nvSpPr>
        <p:spPr/>
        <p:txBody>
          <a:bodyPr/>
          <a:lstStyle/>
          <a:p>
            <a:fld id="{95A5FB97-D87C-BF4B-BDA0-CCCB9E171976}" type="datetime1">
              <a:rPr kumimoji="1" lang="zh-CN" altLang="en-US" smtClean="0"/>
              <a:t>2023/12/1</a:t>
            </a:fld>
            <a:endParaRPr kumimoji="1" lang="zh-CN" altLang="en-US"/>
          </a:p>
        </p:txBody>
      </p:sp>
      <p:sp>
        <p:nvSpPr>
          <p:cNvPr id="4" name="页脚占位符 3">
            <a:extLst>
              <a:ext uri="{FF2B5EF4-FFF2-40B4-BE49-F238E27FC236}">
                <a16:creationId xmlns:a16="http://schemas.microsoft.com/office/drawing/2014/main" id="{45EBC9A5-C2E3-8CC8-218F-31E2BBA1418B}"/>
              </a:ext>
            </a:extLst>
          </p:cNvPr>
          <p:cNvSpPr>
            <a:spLocks noGrp="1"/>
          </p:cNvSpPr>
          <p:nvPr>
            <p:ph type="ftr" sz="quarter" idx="11"/>
          </p:nvPr>
        </p:nvSpPr>
        <p:spPr/>
        <p:txBody>
          <a:bodyPr/>
          <a:lstStyle/>
          <a:p>
            <a:r>
              <a:rPr kumimoji="1" lang="en" altLang="zh-CN"/>
              <a:t>YWN</a:t>
            </a:r>
            <a:endParaRPr kumimoji="1" lang="zh-CN" altLang="en-US"/>
          </a:p>
        </p:txBody>
      </p:sp>
      <p:sp>
        <p:nvSpPr>
          <p:cNvPr id="5" name="灯片编号占位符 4">
            <a:extLst>
              <a:ext uri="{FF2B5EF4-FFF2-40B4-BE49-F238E27FC236}">
                <a16:creationId xmlns:a16="http://schemas.microsoft.com/office/drawing/2014/main" id="{6E15A165-6171-D195-E749-9DADB26B84CB}"/>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962168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F0B14CD-59F8-A0BC-5D71-E43C9C4CCFD4}"/>
              </a:ext>
            </a:extLst>
          </p:cNvPr>
          <p:cNvSpPr>
            <a:spLocks noGrp="1"/>
          </p:cNvSpPr>
          <p:nvPr>
            <p:ph type="dt" sz="half" idx="10"/>
          </p:nvPr>
        </p:nvSpPr>
        <p:spPr/>
        <p:txBody>
          <a:bodyPr/>
          <a:lstStyle/>
          <a:p>
            <a:fld id="{21FEDCFC-AFA5-7348-9EF7-51A1A6CC2DF2}" type="datetime1">
              <a:rPr kumimoji="1" lang="zh-CN" altLang="en-US" smtClean="0"/>
              <a:t>2023/12/1</a:t>
            </a:fld>
            <a:endParaRPr kumimoji="1" lang="zh-CN" altLang="en-US"/>
          </a:p>
        </p:txBody>
      </p:sp>
      <p:sp>
        <p:nvSpPr>
          <p:cNvPr id="3" name="页脚占位符 2">
            <a:extLst>
              <a:ext uri="{FF2B5EF4-FFF2-40B4-BE49-F238E27FC236}">
                <a16:creationId xmlns:a16="http://schemas.microsoft.com/office/drawing/2014/main" id="{981ECC91-DBFC-655C-485C-BF836A3F1C09}"/>
              </a:ext>
            </a:extLst>
          </p:cNvPr>
          <p:cNvSpPr>
            <a:spLocks noGrp="1"/>
          </p:cNvSpPr>
          <p:nvPr>
            <p:ph type="ftr" sz="quarter" idx="11"/>
          </p:nvPr>
        </p:nvSpPr>
        <p:spPr/>
        <p:txBody>
          <a:bodyPr/>
          <a:lstStyle/>
          <a:p>
            <a:r>
              <a:rPr kumimoji="1" lang="en" altLang="zh-CN"/>
              <a:t>YWN</a:t>
            </a:r>
            <a:endParaRPr kumimoji="1" lang="zh-CN" altLang="en-US"/>
          </a:p>
        </p:txBody>
      </p:sp>
      <p:sp>
        <p:nvSpPr>
          <p:cNvPr id="4" name="灯片编号占位符 3">
            <a:extLst>
              <a:ext uri="{FF2B5EF4-FFF2-40B4-BE49-F238E27FC236}">
                <a16:creationId xmlns:a16="http://schemas.microsoft.com/office/drawing/2014/main" id="{4DCCD189-64B5-5C37-4CA4-5DABA8117274}"/>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16429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CC3AC-4211-339A-217C-BFD3D1777E3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213D95F-17C9-2D92-3024-4CF0096620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8973ED51-33A8-E7C5-6E88-AB4B0D80C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9A07E97-10B6-AEF9-7CD0-1E401E745DAF}"/>
              </a:ext>
            </a:extLst>
          </p:cNvPr>
          <p:cNvSpPr>
            <a:spLocks noGrp="1"/>
          </p:cNvSpPr>
          <p:nvPr>
            <p:ph type="dt" sz="half" idx="10"/>
          </p:nvPr>
        </p:nvSpPr>
        <p:spPr/>
        <p:txBody>
          <a:bodyPr/>
          <a:lstStyle/>
          <a:p>
            <a:fld id="{523CD1D8-99CF-0643-B62A-C5640CFEB39E}"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9002DCEC-F5C9-93A4-4488-D2EE46C3EC11}"/>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E2B79897-65F5-EC3D-6CA7-7060E27380AE}"/>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1827809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033196-88C6-8CE9-4658-E06881A25B22}"/>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B0C15F1-1552-7192-6D3A-AAA456E717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ECDCE62-442A-7B07-EA78-6C04720236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B89EAEF-B1CE-0D5D-3F07-35C1F66AF5EE}"/>
              </a:ext>
            </a:extLst>
          </p:cNvPr>
          <p:cNvSpPr>
            <a:spLocks noGrp="1"/>
          </p:cNvSpPr>
          <p:nvPr>
            <p:ph type="dt" sz="half" idx="10"/>
          </p:nvPr>
        </p:nvSpPr>
        <p:spPr/>
        <p:txBody>
          <a:bodyPr/>
          <a:lstStyle/>
          <a:p>
            <a:fld id="{FCB8B916-6050-1946-89EB-89AB3C6F6219}"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11EBA862-F52B-3CAF-5304-CFF358DA2CA6}"/>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E9BD07D9-4ECA-E1E8-1172-008EC1C9C817}"/>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1036295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22FC8D-EC46-C3AF-AEEA-3124F615A60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EAA7C2C-E970-E025-2E08-153A9C127709}"/>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EBF03CF-8E34-36CC-F59A-223A1F978D34}"/>
              </a:ext>
            </a:extLst>
          </p:cNvPr>
          <p:cNvSpPr>
            <a:spLocks noGrp="1"/>
          </p:cNvSpPr>
          <p:nvPr>
            <p:ph type="dt" sz="half" idx="10"/>
          </p:nvPr>
        </p:nvSpPr>
        <p:spPr/>
        <p:txBody>
          <a:bodyPr/>
          <a:lstStyle/>
          <a:p>
            <a:fld id="{865EE7A6-CFB7-664F-9A74-B1485319E083}"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06469379-9169-D65A-FC72-0C89519FBE10}"/>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D1A4CCA9-195B-CA6C-A7F1-23EEB17D727E}"/>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3190093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F2F0BB-CAA5-8076-72B1-F0590DD34F5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34C1A89-9551-E4C3-9D2C-28202EF8655C}"/>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5FAD128-04F9-30A4-8877-1AA6921F0D3C}"/>
              </a:ext>
            </a:extLst>
          </p:cNvPr>
          <p:cNvSpPr>
            <a:spLocks noGrp="1"/>
          </p:cNvSpPr>
          <p:nvPr>
            <p:ph type="dt" sz="half" idx="10"/>
          </p:nvPr>
        </p:nvSpPr>
        <p:spPr/>
        <p:txBody>
          <a:bodyPr/>
          <a:lstStyle/>
          <a:p>
            <a:fld id="{8C261154-F35D-454A-BDD8-E352C1C1E5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868548BC-7FF0-98E1-78E3-4A6179AE679B}"/>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E8E115E0-BB20-439D-149C-D6D435202E0F}"/>
              </a:ext>
            </a:extLst>
          </p:cNvPr>
          <p:cNvSpPr>
            <a:spLocks noGrp="1"/>
          </p:cNvSpPr>
          <p:nvPr>
            <p:ph type="sldNum" sz="quarter" idx="12"/>
          </p:nvPr>
        </p:nvSpPr>
        <p:spPr/>
        <p:txBody>
          <a:body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3724414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BC7D6A3-D0FA-ADB8-1DA0-E3A9A9469B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4A22779-E45F-A287-E8B1-008D7634CC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8680397-886F-0281-D42E-EDBBE4587D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5B1CE-EA51-B94E-9DB2-D63E7C062224}"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75EE01A3-E509-34E3-27E4-172CA4F4E3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9CF1AEDC-9E8B-1392-254A-0F6312EA6D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EA73BB-BF9B-FF4D-AE0D-A76A49C50991}" type="slidenum">
              <a:rPr kumimoji="1" lang="zh-CN" altLang="en-US" smtClean="0"/>
              <a:t>‹#›</a:t>
            </a:fld>
            <a:endParaRPr kumimoji="1" lang="zh-CN" altLang="en-US"/>
          </a:p>
        </p:txBody>
      </p:sp>
    </p:spTree>
    <p:extLst>
      <p:ext uri="{BB962C8B-B14F-4D97-AF65-F5344CB8AC3E}">
        <p14:creationId xmlns:p14="http://schemas.microsoft.com/office/powerpoint/2010/main" val="2024103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A80DC4-4CDA-0A5D-E343-A61AED89FC97}"/>
              </a:ext>
            </a:extLst>
          </p:cNvPr>
          <p:cNvSpPr>
            <a:spLocks noGrp="1"/>
          </p:cNvSpPr>
          <p:nvPr>
            <p:ph type="ctrTitle"/>
          </p:nvPr>
        </p:nvSpPr>
        <p:spPr/>
        <p:txBody>
          <a:bodyPr/>
          <a:lstStyle/>
          <a:p>
            <a:endParaRPr kumimoji="1" lang="zh-CN" altLang="en-US"/>
          </a:p>
        </p:txBody>
      </p:sp>
      <p:sp>
        <p:nvSpPr>
          <p:cNvPr id="3" name="副标题 2">
            <a:extLst>
              <a:ext uri="{FF2B5EF4-FFF2-40B4-BE49-F238E27FC236}">
                <a16:creationId xmlns:a16="http://schemas.microsoft.com/office/drawing/2014/main" id="{1B919511-025E-FAE4-C3F6-C254D4829FD1}"/>
              </a:ext>
            </a:extLst>
          </p:cNvPr>
          <p:cNvSpPr>
            <a:spLocks noGrp="1"/>
          </p:cNvSpPr>
          <p:nvPr>
            <p:ph type="subTitle" idx="1"/>
          </p:nvPr>
        </p:nvSpPr>
        <p:spPr/>
        <p:txBody>
          <a:bodyPr/>
          <a:lstStyle/>
          <a:p>
            <a:endParaRPr kumimoji="1" lang="en-US" altLang="zh-CN" dirty="0"/>
          </a:p>
          <a:p>
            <a:endParaRPr kumimoji="1" lang="en-US" altLang="zh-CN" dirty="0"/>
          </a:p>
          <a:p>
            <a:r>
              <a:rPr kumimoji="1" lang="en-US" altLang="zh-CN" dirty="0"/>
              <a:t>ICCV 2023</a:t>
            </a:r>
          </a:p>
        </p:txBody>
      </p:sp>
      <p:pic>
        <p:nvPicPr>
          <p:cNvPr id="5" name="图片 4">
            <a:extLst>
              <a:ext uri="{FF2B5EF4-FFF2-40B4-BE49-F238E27FC236}">
                <a16:creationId xmlns:a16="http://schemas.microsoft.com/office/drawing/2014/main" id="{5F35D8DD-DF8A-DC94-279A-A045955E24CC}"/>
              </a:ext>
            </a:extLst>
          </p:cNvPr>
          <p:cNvPicPr>
            <a:picLocks noChangeAspect="1"/>
          </p:cNvPicPr>
          <p:nvPr/>
        </p:nvPicPr>
        <p:blipFill>
          <a:blip r:embed="rId2"/>
          <a:stretch>
            <a:fillRect/>
          </a:stretch>
        </p:blipFill>
        <p:spPr>
          <a:xfrm>
            <a:off x="1718732" y="1122363"/>
            <a:ext cx="8754535" cy="2387600"/>
          </a:xfrm>
          <a:prstGeom prst="rect">
            <a:avLst/>
          </a:prstGeom>
        </p:spPr>
      </p:pic>
      <p:sp>
        <p:nvSpPr>
          <p:cNvPr id="6" name="日期占位符 5">
            <a:extLst>
              <a:ext uri="{FF2B5EF4-FFF2-40B4-BE49-F238E27FC236}">
                <a16:creationId xmlns:a16="http://schemas.microsoft.com/office/drawing/2014/main" id="{6222B881-9226-3CBD-2252-292B02118432}"/>
              </a:ext>
            </a:extLst>
          </p:cNvPr>
          <p:cNvSpPr>
            <a:spLocks noGrp="1"/>
          </p:cNvSpPr>
          <p:nvPr>
            <p:ph type="dt" sz="half" idx="10"/>
          </p:nvPr>
        </p:nvSpPr>
        <p:spPr/>
        <p:txBody>
          <a:bodyPr/>
          <a:lstStyle/>
          <a:p>
            <a:fld id="{B4BF46F5-4AB4-D94F-99F8-F5BECB8F8C2F}" type="datetime1">
              <a:rPr kumimoji="1" lang="zh-CN" altLang="en-US" smtClean="0"/>
              <a:t>2023/12/1</a:t>
            </a:fld>
            <a:endParaRPr kumimoji="1" lang="zh-CN" altLang="en-US"/>
          </a:p>
        </p:txBody>
      </p:sp>
      <p:sp>
        <p:nvSpPr>
          <p:cNvPr id="7" name="页脚占位符 6">
            <a:extLst>
              <a:ext uri="{FF2B5EF4-FFF2-40B4-BE49-F238E27FC236}">
                <a16:creationId xmlns:a16="http://schemas.microsoft.com/office/drawing/2014/main" id="{3B55AF7F-A2AD-1E9B-4DF3-C5809A3E8846}"/>
              </a:ext>
            </a:extLst>
          </p:cNvPr>
          <p:cNvSpPr>
            <a:spLocks noGrp="1"/>
          </p:cNvSpPr>
          <p:nvPr>
            <p:ph type="ftr" sz="quarter" idx="11"/>
          </p:nvPr>
        </p:nvSpPr>
        <p:spPr/>
        <p:txBody>
          <a:bodyPr/>
          <a:lstStyle/>
          <a:p>
            <a:r>
              <a:rPr kumimoji="1" lang="en" altLang="zh-CN"/>
              <a:t>YWN</a:t>
            </a:r>
            <a:endParaRPr kumimoji="1" lang="zh-CN" altLang="en-US"/>
          </a:p>
        </p:txBody>
      </p:sp>
      <p:sp>
        <p:nvSpPr>
          <p:cNvPr id="8" name="灯片编号占位符 7">
            <a:extLst>
              <a:ext uri="{FF2B5EF4-FFF2-40B4-BE49-F238E27FC236}">
                <a16:creationId xmlns:a16="http://schemas.microsoft.com/office/drawing/2014/main" id="{BD8CAAA3-C040-C1CD-2DD6-E0C21274BF19}"/>
              </a:ext>
            </a:extLst>
          </p:cNvPr>
          <p:cNvSpPr>
            <a:spLocks noGrp="1"/>
          </p:cNvSpPr>
          <p:nvPr>
            <p:ph type="sldNum" sz="quarter" idx="12"/>
          </p:nvPr>
        </p:nvSpPr>
        <p:spPr/>
        <p:txBody>
          <a:bodyPr/>
          <a:lstStyle/>
          <a:p>
            <a:fld id="{A8EA73BB-BF9B-FF4D-AE0D-A76A49C50991}" type="slidenum">
              <a:rPr kumimoji="1" lang="zh-CN" altLang="en-US" smtClean="0"/>
              <a:t>1</a:t>
            </a:fld>
            <a:endParaRPr kumimoji="1" lang="zh-CN" altLang="en-US"/>
          </a:p>
        </p:txBody>
      </p:sp>
    </p:spTree>
    <p:extLst>
      <p:ext uri="{BB962C8B-B14F-4D97-AF65-F5344CB8AC3E}">
        <p14:creationId xmlns:p14="http://schemas.microsoft.com/office/powerpoint/2010/main" val="839383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D9ABD-E947-B26A-B44C-3F689853ACAE}"/>
              </a:ext>
            </a:extLst>
          </p:cNvPr>
          <p:cNvSpPr>
            <a:spLocks noGrp="1"/>
          </p:cNvSpPr>
          <p:nvPr>
            <p:ph type="title"/>
          </p:nvPr>
        </p:nvSpPr>
        <p:spPr/>
        <p:txBody>
          <a:bodyPr/>
          <a:lstStyle/>
          <a:p>
            <a:r>
              <a:rPr kumimoji="1" lang="zh-CN" altLang="en-US" dirty="0"/>
              <a:t>三维重建</a:t>
            </a:r>
          </a:p>
        </p:txBody>
      </p:sp>
      <p:sp>
        <p:nvSpPr>
          <p:cNvPr id="3" name="内容占位符 2">
            <a:extLst>
              <a:ext uri="{FF2B5EF4-FFF2-40B4-BE49-F238E27FC236}">
                <a16:creationId xmlns:a16="http://schemas.microsoft.com/office/drawing/2014/main" id="{229D95C4-F20A-E96B-7B93-3B03A470F5C8}"/>
              </a:ext>
            </a:extLst>
          </p:cNvPr>
          <p:cNvSpPr>
            <a:spLocks noGrp="1"/>
          </p:cNvSpPr>
          <p:nvPr>
            <p:ph idx="1"/>
          </p:nvPr>
        </p:nvSpPr>
        <p:spPr/>
        <p:txBody>
          <a:bodyPr>
            <a:normAutofit/>
          </a:bodyPr>
          <a:lstStyle/>
          <a:p>
            <a:r>
              <a:rPr kumimoji="1" lang="zh-CN" altLang="en-US" dirty="0"/>
              <a:t>输入：</a:t>
            </a:r>
            <a:endParaRPr kumimoji="1" lang="en-US" altLang="zh-CN" dirty="0"/>
          </a:p>
          <a:p>
            <a:pPr lvl="1"/>
            <a:r>
              <a:rPr kumimoji="1" lang="zh-CN" altLang="en-US" dirty="0">
                <a:solidFill>
                  <a:schemeClr val="tx1">
                    <a:lumMod val="50000"/>
                    <a:lumOff val="50000"/>
                  </a:schemeClr>
                </a:solidFill>
              </a:rPr>
              <a:t>单视角</a:t>
            </a:r>
            <a:endParaRPr kumimoji="1" lang="en-US" altLang="zh-CN" dirty="0">
              <a:solidFill>
                <a:schemeClr val="tx1">
                  <a:lumMod val="50000"/>
                  <a:lumOff val="50000"/>
                </a:schemeClr>
              </a:solidFill>
            </a:endParaRPr>
          </a:p>
          <a:p>
            <a:pPr lvl="1"/>
            <a:r>
              <a:rPr kumimoji="1" lang="zh-CN" altLang="en-US" b="1" dirty="0"/>
              <a:t>多视角</a:t>
            </a:r>
            <a:endParaRPr kumimoji="1" lang="en-US" altLang="zh-CN" b="1" dirty="0"/>
          </a:p>
          <a:p>
            <a:endParaRPr kumimoji="1" lang="en-US" altLang="zh-CN" dirty="0"/>
          </a:p>
          <a:p>
            <a:r>
              <a:rPr kumimoji="1" lang="zh-CN" altLang="en-US" dirty="0"/>
              <a:t>三维模型表示（输出）：</a:t>
            </a:r>
            <a:endParaRPr kumimoji="1" lang="en-US" altLang="zh-CN" dirty="0"/>
          </a:p>
          <a:p>
            <a:pPr lvl="1"/>
            <a:r>
              <a:rPr kumimoji="1" lang="zh-CN" altLang="en-US" b="1" dirty="0"/>
              <a:t>体素</a:t>
            </a:r>
            <a:endParaRPr kumimoji="1" lang="en-US" altLang="zh-CN" b="1" dirty="0"/>
          </a:p>
          <a:p>
            <a:pPr lvl="1"/>
            <a:r>
              <a:rPr kumimoji="1" lang="en-US" altLang="zh-CN" dirty="0">
                <a:solidFill>
                  <a:schemeClr val="tx1">
                    <a:lumMod val="50000"/>
                    <a:lumOff val="50000"/>
                  </a:schemeClr>
                </a:solidFill>
              </a:rPr>
              <a:t>Mesh</a:t>
            </a:r>
          </a:p>
          <a:p>
            <a:pPr lvl="1"/>
            <a:r>
              <a:rPr kumimoji="1" lang="zh-CN" altLang="en-US" dirty="0">
                <a:solidFill>
                  <a:schemeClr val="tx1">
                    <a:lumMod val="50000"/>
                    <a:lumOff val="50000"/>
                  </a:schemeClr>
                </a:solidFill>
              </a:rPr>
              <a:t>点云</a:t>
            </a:r>
            <a:endParaRPr kumimoji="1" lang="en-US" altLang="zh-CN" dirty="0">
              <a:solidFill>
                <a:schemeClr val="tx1">
                  <a:lumMod val="50000"/>
                  <a:lumOff val="50000"/>
                </a:schemeClr>
              </a:solidFill>
            </a:endParaRPr>
          </a:p>
          <a:p>
            <a:pPr lvl="1"/>
            <a:r>
              <a:rPr kumimoji="1" lang="zh-CN" altLang="en-US" dirty="0">
                <a:solidFill>
                  <a:schemeClr val="tx1">
                    <a:lumMod val="50000"/>
                    <a:lumOff val="50000"/>
                  </a:schemeClr>
                </a:solidFill>
              </a:rPr>
              <a:t>深度图像</a:t>
            </a:r>
            <a:endParaRPr kumimoji="1" lang="en-US" altLang="zh-CN" dirty="0">
              <a:solidFill>
                <a:schemeClr val="tx1">
                  <a:lumMod val="50000"/>
                  <a:lumOff val="50000"/>
                </a:schemeClr>
              </a:solidFill>
            </a:endParaRPr>
          </a:p>
          <a:p>
            <a:pPr lvl="1"/>
            <a:r>
              <a:rPr kumimoji="1" lang="en-US" altLang="zh-CN" dirty="0">
                <a:solidFill>
                  <a:schemeClr val="tx1">
                    <a:lumMod val="50000"/>
                    <a:lumOff val="50000"/>
                  </a:schemeClr>
                </a:solidFill>
              </a:rPr>
              <a:t>SDF (Signed Distance Function)</a:t>
            </a:r>
            <a:endParaRPr kumimoji="1" lang="en-US" altLang="zh-CN" b="1" dirty="0"/>
          </a:p>
          <a:p>
            <a:endParaRPr kumimoji="1" lang="zh-CN" altLang="en-US" b="1" dirty="0"/>
          </a:p>
        </p:txBody>
      </p:sp>
      <p:sp>
        <p:nvSpPr>
          <p:cNvPr id="4" name="日期占位符 3">
            <a:extLst>
              <a:ext uri="{FF2B5EF4-FFF2-40B4-BE49-F238E27FC236}">
                <a16:creationId xmlns:a16="http://schemas.microsoft.com/office/drawing/2014/main" id="{B0882562-6B1B-C1F6-B615-9EB36C358A47}"/>
              </a:ext>
            </a:extLst>
          </p:cNvPr>
          <p:cNvSpPr>
            <a:spLocks noGrp="1"/>
          </p:cNvSpPr>
          <p:nvPr>
            <p:ph type="dt" sz="half" idx="10"/>
          </p:nvPr>
        </p:nvSpPr>
        <p:spPr/>
        <p:txBody>
          <a:bodyPr/>
          <a:lstStyle/>
          <a:p>
            <a:fld id="{E3E3C173-C9E4-144E-9051-9D2AD11218F9}"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8CAD63DC-7540-DF8E-3598-8FAF0EAA8BF1}"/>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4A8B2AB5-B383-9DA8-EC0A-55FCEBBE2572}"/>
              </a:ext>
            </a:extLst>
          </p:cNvPr>
          <p:cNvSpPr>
            <a:spLocks noGrp="1"/>
          </p:cNvSpPr>
          <p:nvPr>
            <p:ph type="sldNum" sz="quarter" idx="12"/>
          </p:nvPr>
        </p:nvSpPr>
        <p:spPr/>
        <p:txBody>
          <a:bodyPr/>
          <a:lstStyle/>
          <a:p>
            <a:fld id="{A8EA73BB-BF9B-FF4D-AE0D-A76A49C50991}" type="slidenum">
              <a:rPr kumimoji="1" lang="zh-CN" altLang="en-US" smtClean="0"/>
              <a:t>2</a:t>
            </a:fld>
            <a:endParaRPr kumimoji="1" lang="zh-CN" altLang="en-US"/>
          </a:p>
        </p:txBody>
      </p:sp>
      <p:pic>
        <p:nvPicPr>
          <p:cNvPr id="8" name="图片 7">
            <a:extLst>
              <a:ext uri="{FF2B5EF4-FFF2-40B4-BE49-F238E27FC236}">
                <a16:creationId xmlns:a16="http://schemas.microsoft.com/office/drawing/2014/main" id="{E75D9B80-A63A-9EE2-9DE6-ECE6FF2BDF07}"/>
              </a:ext>
            </a:extLst>
          </p:cNvPr>
          <p:cNvPicPr>
            <a:picLocks noChangeAspect="1"/>
          </p:cNvPicPr>
          <p:nvPr/>
        </p:nvPicPr>
        <p:blipFill>
          <a:blip r:embed="rId2">
            <a:duotone>
              <a:schemeClr val="accent5">
                <a:shade val="45000"/>
                <a:satMod val="135000"/>
              </a:schemeClr>
              <a:prstClr val="white"/>
            </a:duotone>
            <a:alphaModFix amt="85000"/>
            <a:extLst>
              <a:ext uri="{BEBA8EAE-BF5A-486C-A8C5-ECC9F3942E4B}">
                <a14:imgProps xmlns:a14="http://schemas.microsoft.com/office/drawing/2010/main">
                  <a14:imgLayer r:embed="rId3">
                    <a14:imgEffect>
                      <a14:backgroundRemoval t="10000" b="90000" l="10000" r="90000"/>
                    </a14:imgEffect>
                    <a14:imgEffect>
                      <a14:brightnessContrast bright="40000"/>
                    </a14:imgEffect>
                  </a14:imgLayer>
                </a14:imgProps>
              </a:ext>
            </a:extLst>
          </a:blip>
          <a:stretch>
            <a:fillRect/>
          </a:stretch>
        </p:blipFill>
        <p:spPr>
          <a:xfrm>
            <a:off x="7374215" y="3429000"/>
            <a:ext cx="3287060" cy="3287060"/>
          </a:xfrm>
          <a:prstGeom prst="rect">
            <a:avLst/>
          </a:prstGeom>
        </p:spPr>
      </p:pic>
      <p:pic>
        <p:nvPicPr>
          <p:cNvPr id="10" name="图片 9">
            <a:extLst>
              <a:ext uri="{FF2B5EF4-FFF2-40B4-BE49-F238E27FC236}">
                <a16:creationId xmlns:a16="http://schemas.microsoft.com/office/drawing/2014/main" id="{294ED7B5-7161-617B-6067-8146326B2C98}"/>
              </a:ext>
            </a:extLst>
          </p:cNvPr>
          <p:cNvPicPr>
            <a:picLocks noChangeAspect="1"/>
          </p:cNvPicPr>
          <p:nvPr/>
        </p:nvPicPr>
        <p:blipFill>
          <a:blip r:embed="rId4"/>
          <a:stretch>
            <a:fillRect/>
          </a:stretch>
        </p:blipFill>
        <p:spPr>
          <a:xfrm>
            <a:off x="10320616" y="879056"/>
            <a:ext cx="1739900" cy="1739900"/>
          </a:xfrm>
          <a:prstGeom prst="rect">
            <a:avLst/>
          </a:prstGeom>
        </p:spPr>
      </p:pic>
      <p:pic>
        <p:nvPicPr>
          <p:cNvPr id="12" name="图片 11">
            <a:extLst>
              <a:ext uri="{FF2B5EF4-FFF2-40B4-BE49-F238E27FC236}">
                <a16:creationId xmlns:a16="http://schemas.microsoft.com/office/drawing/2014/main" id="{A0750C95-CF22-FA9C-3FBF-F33B4B869C5C}"/>
              </a:ext>
            </a:extLst>
          </p:cNvPr>
          <p:cNvPicPr>
            <a:picLocks noChangeAspect="1"/>
          </p:cNvPicPr>
          <p:nvPr/>
        </p:nvPicPr>
        <p:blipFill>
          <a:blip r:embed="rId5"/>
          <a:stretch>
            <a:fillRect/>
          </a:stretch>
        </p:blipFill>
        <p:spPr>
          <a:xfrm>
            <a:off x="7440518" y="879056"/>
            <a:ext cx="1739900" cy="1739900"/>
          </a:xfrm>
          <a:prstGeom prst="rect">
            <a:avLst/>
          </a:prstGeom>
        </p:spPr>
      </p:pic>
      <p:pic>
        <p:nvPicPr>
          <p:cNvPr id="14" name="图片 13">
            <a:extLst>
              <a:ext uri="{FF2B5EF4-FFF2-40B4-BE49-F238E27FC236}">
                <a16:creationId xmlns:a16="http://schemas.microsoft.com/office/drawing/2014/main" id="{B210AAF9-EFFE-7B19-AB06-E03BF59C8647}"/>
              </a:ext>
            </a:extLst>
          </p:cNvPr>
          <p:cNvPicPr>
            <a:picLocks noChangeAspect="1"/>
          </p:cNvPicPr>
          <p:nvPr/>
        </p:nvPicPr>
        <p:blipFill>
          <a:blip r:embed="rId6"/>
          <a:stretch>
            <a:fillRect/>
          </a:stretch>
        </p:blipFill>
        <p:spPr>
          <a:xfrm>
            <a:off x="5896908" y="879056"/>
            <a:ext cx="1739900" cy="1739900"/>
          </a:xfrm>
          <a:prstGeom prst="rect">
            <a:avLst/>
          </a:prstGeom>
        </p:spPr>
      </p:pic>
      <p:pic>
        <p:nvPicPr>
          <p:cNvPr id="16" name="图片 15">
            <a:extLst>
              <a:ext uri="{FF2B5EF4-FFF2-40B4-BE49-F238E27FC236}">
                <a16:creationId xmlns:a16="http://schemas.microsoft.com/office/drawing/2014/main" id="{7CCFAC76-286B-11F7-CDA5-C3C094DD4A1E}"/>
              </a:ext>
            </a:extLst>
          </p:cNvPr>
          <p:cNvPicPr>
            <a:picLocks noChangeAspect="1"/>
          </p:cNvPicPr>
          <p:nvPr/>
        </p:nvPicPr>
        <p:blipFill>
          <a:blip r:embed="rId7"/>
          <a:stretch>
            <a:fillRect/>
          </a:stretch>
        </p:blipFill>
        <p:spPr>
          <a:xfrm>
            <a:off x="4455085" y="879056"/>
            <a:ext cx="1739900" cy="1739900"/>
          </a:xfrm>
          <a:prstGeom prst="rect">
            <a:avLst/>
          </a:prstGeom>
        </p:spPr>
      </p:pic>
      <p:sp>
        <p:nvSpPr>
          <p:cNvPr id="17" name="文本框 16">
            <a:extLst>
              <a:ext uri="{FF2B5EF4-FFF2-40B4-BE49-F238E27FC236}">
                <a16:creationId xmlns:a16="http://schemas.microsoft.com/office/drawing/2014/main" id="{A51AA36F-1C3D-2DAA-67C4-25DEBB1CE1D8}"/>
              </a:ext>
            </a:extLst>
          </p:cNvPr>
          <p:cNvSpPr txBox="1"/>
          <p:nvPr/>
        </p:nvSpPr>
        <p:spPr>
          <a:xfrm>
            <a:off x="9546045" y="1562238"/>
            <a:ext cx="774571" cy="369332"/>
          </a:xfrm>
          <a:prstGeom prst="rect">
            <a:avLst/>
          </a:prstGeom>
          <a:noFill/>
        </p:spPr>
        <p:txBody>
          <a:bodyPr wrap="none" rtlCol="0">
            <a:spAutoFit/>
          </a:bodyPr>
          <a:lstStyle/>
          <a:p>
            <a:r>
              <a:rPr kumimoji="1" lang="en-US" altLang="zh-CN" dirty="0"/>
              <a:t>… ….</a:t>
            </a:r>
            <a:endParaRPr kumimoji="1" lang="zh-CN" altLang="en-US" dirty="0"/>
          </a:p>
        </p:txBody>
      </p:sp>
    </p:spTree>
    <p:extLst>
      <p:ext uri="{BB962C8B-B14F-4D97-AF65-F5344CB8AC3E}">
        <p14:creationId xmlns:p14="http://schemas.microsoft.com/office/powerpoint/2010/main" val="1611990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EE9F77-60F7-8013-D80E-33FA97EF4B04}"/>
              </a:ext>
            </a:extLst>
          </p:cNvPr>
          <p:cNvSpPr>
            <a:spLocks noGrp="1"/>
          </p:cNvSpPr>
          <p:nvPr>
            <p:ph type="title"/>
          </p:nvPr>
        </p:nvSpPr>
        <p:spPr/>
        <p:txBody>
          <a:bodyPr/>
          <a:lstStyle/>
          <a:p>
            <a:r>
              <a:rPr kumimoji="1" lang="zh-CN" altLang="en-US" dirty="0"/>
              <a:t>多视角三维体素重建</a:t>
            </a:r>
          </a:p>
        </p:txBody>
      </p:sp>
      <p:sp>
        <p:nvSpPr>
          <p:cNvPr id="3" name="内容占位符 2">
            <a:extLst>
              <a:ext uri="{FF2B5EF4-FFF2-40B4-BE49-F238E27FC236}">
                <a16:creationId xmlns:a16="http://schemas.microsoft.com/office/drawing/2014/main" id="{C53B9DA2-6CE0-4DE0-8F93-1D67A8FF8384}"/>
              </a:ext>
            </a:extLst>
          </p:cNvPr>
          <p:cNvSpPr>
            <a:spLocks noGrp="1"/>
          </p:cNvSpPr>
          <p:nvPr>
            <p:ph idx="1"/>
          </p:nvPr>
        </p:nvSpPr>
        <p:spPr/>
        <p:txBody>
          <a:bodyPr/>
          <a:lstStyle/>
          <a:p>
            <a:r>
              <a:rPr kumimoji="1" lang="en-US" altLang="zh-CN" dirty="0"/>
              <a:t>Two</a:t>
            </a:r>
            <a:r>
              <a:rPr kumimoji="1" lang="zh-CN" altLang="en-US" dirty="0"/>
              <a:t> </a:t>
            </a:r>
            <a:r>
              <a:rPr kumimoji="1" lang="en-US" altLang="zh-CN" dirty="0"/>
              <a:t>steps</a:t>
            </a:r>
            <a:r>
              <a:rPr kumimoji="1" lang="zh-CN" altLang="en-US" dirty="0"/>
              <a:t>：</a:t>
            </a:r>
            <a:endParaRPr kumimoji="1" lang="en-US" altLang="zh-CN" dirty="0"/>
          </a:p>
          <a:p>
            <a:pPr lvl="1"/>
            <a:r>
              <a:rPr kumimoji="1" lang="en-US" altLang="zh-CN" dirty="0"/>
              <a:t>image</a:t>
            </a:r>
            <a:r>
              <a:rPr kumimoji="1" lang="zh-CN" altLang="en-US" dirty="0"/>
              <a:t> </a:t>
            </a:r>
            <a:r>
              <a:rPr kumimoji="1" lang="en-US" altLang="zh-CN" dirty="0"/>
              <a:t>feature</a:t>
            </a:r>
            <a:r>
              <a:rPr kumimoji="1" lang="zh-CN" altLang="en-US" dirty="0"/>
              <a:t> </a:t>
            </a:r>
            <a:r>
              <a:rPr kumimoji="1" lang="en-US" altLang="zh-CN" dirty="0"/>
              <a:t>extraction</a:t>
            </a:r>
          </a:p>
          <a:p>
            <a:pPr lvl="1"/>
            <a:r>
              <a:rPr kumimoji="1" lang="en-US" altLang="zh-CN" dirty="0"/>
              <a:t>shape reconstruction</a:t>
            </a:r>
          </a:p>
          <a:p>
            <a:endParaRPr kumimoji="1" lang="en-US" altLang="zh-CN" dirty="0"/>
          </a:p>
          <a:p>
            <a:r>
              <a:rPr kumimoji="1" lang="zh-CN" altLang="en-US" dirty="0"/>
              <a:t>本文主要是优化第一步</a:t>
            </a:r>
            <a:endParaRPr kumimoji="1" lang="en-US" altLang="zh-CN" dirty="0"/>
          </a:p>
          <a:p>
            <a:endParaRPr kumimoji="1" lang="zh-CN" altLang="en-US" dirty="0"/>
          </a:p>
        </p:txBody>
      </p:sp>
      <p:sp>
        <p:nvSpPr>
          <p:cNvPr id="4" name="日期占位符 3">
            <a:extLst>
              <a:ext uri="{FF2B5EF4-FFF2-40B4-BE49-F238E27FC236}">
                <a16:creationId xmlns:a16="http://schemas.microsoft.com/office/drawing/2014/main" id="{08956E28-E359-7341-CD30-1128A74AE641}"/>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A8443A16-5E17-AE8D-D1C6-2473ECFCC9E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9F8A5828-4522-531E-E0C5-E4D5A0C2C503}"/>
              </a:ext>
            </a:extLst>
          </p:cNvPr>
          <p:cNvSpPr>
            <a:spLocks noGrp="1"/>
          </p:cNvSpPr>
          <p:nvPr>
            <p:ph type="sldNum" sz="quarter" idx="12"/>
          </p:nvPr>
        </p:nvSpPr>
        <p:spPr/>
        <p:txBody>
          <a:bodyPr/>
          <a:lstStyle/>
          <a:p>
            <a:fld id="{A8EA73BB-BF9B-FF4D-AE0D-A76A49C50991}" type="slidenum">
              <a:rPr kumimoji="1" lang="zh-CN" altLang="en-US" smtClean="0"/>
              <a:t>3</a:t>
            </a:fld>
            <a:endParaRPr kumimoji="1" lang="zh-CN" altLang="en-US"/>
          </a:p>
        </p:txBody>
      </p:sp>
    </p:spTree>
    <p:extLst>
      <p:ext uri="{BB962C8B-B14F-4D97-AF65-F5344CB8AC3E}">
        <p14:creationId xmlns:p14="http://schemas.microsoft.com/office/powerpoint/2010/main" val="2888995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A98F1D-AA0B-AAF4-6C6B-F8258BA159B7}"/>
              </a:ext>
            </a:extLst>
          </p:cNvPr>
          <p:cNvSpPr>
            <a:spLocks noGrp="1"/>
          </p:cNvSpPr>
          <p:nvPr>
            <p:ph type="title"/>
          </p:nvPr>
        </p:nvSpPr>
        <p:spPr/>
        <p:txBody>
          <a:bodyPr/>
          <a:lstStyle/>
          <a:p>
            <a:r>
              <a:rPr kumimoji="1" lang="en-US" altLang="zh-CN" dirty="0"/>
              <a:t>Motivation</a:t>
            </a:r>
            <a:endParaRPr kumimoji="1" lang="zh-CN" altLang="en-US" dirty="0"/>
          </a:p>
        </p:txBody>
      </p:sp>
      <p:sp>
        <p:nvSpPr>
          <p:cNvPr id="3" name="内容占位符 2">
            <a:extLst>
              <a:ext uri="{FF2B5EF4-FFF2-40B4-BE49-F238E27FC236}">
                <a16:creationId xmlns:a16="http://schemas.microsoft.com/office/drawing/2014/main" id="{87100B15-8DAA-3879-B1C6-7705B020EC0C}"/>
              </a:ext>
            </a:extLst>
          </p:cNvPr>
          <p:cNvSpPr>
            <a:spLocks noGrp="1"/>
          </p:cNvSpPr>
          <p:nvPr>
            <p:ph idx="1"/>
          </p:nvPr>
        </p:nvSpPr>
        <p:spPr/>
        <p:txBody>
          <a:bodyPr/>
          <a:lstStyle/>
          <a:p>
            <a:r>
              <a:rPr kumimoji="1" lang="en-US" altLang="zh-CN" dirty="0"/>
              <a:t>Video</a:t>
            </a:r>
            <a:r>
              <a:rPr kumimoji="1" lang="zh-CN" altLang="en-US" dirty="0"/>
              <a:t> </a:t>
            </a:r>
            <a:r>
              <a:rPr kumimoji="1" lang="en-US" altLang="zh-CN" dirty="0"/>
              <a:t>task</a:t>
            </a:r>
            <a:r>
              <a:rPr kumimoji="1" lang="zh-CN" altLang="en-US" dirty="0"/>
              <a:t> 同样以多张图片作为输入</a:t>
            </a:r>
            <a:endParaRPr kumimoji="1" lang="en-US" altLang="zh-CN" dirty="0"/>
          </a:p>
          <a:p>
            <a:pPr lvl="1"/>
            <a:r>
              <a:rPr kumimoji="1" lang="zh-CN" altLang="en-US" dirty="0"/>
              <a:t>用</a:t>
            </a:r>
            <a:r>
              <a:rPr kumimoji="1" lang="en-US" altLang="zh-CN" dirty="0" err="1"/>
              <a:t>ViT</a:t>
            </a:r>
            <a:r>
              <a:rPr kumimoji="1" lang="zh-CN" altLang="en-US" dirty="0"/>
              <a:t>分别提取空间特征和时间特征</a:t>
            </a:r>
            <a:endParaRPr kumimoji="1" lang="en-US" altLang="zh-CN" dirty="0"/>
          </a:p>
          <a:p>
            <a:pPr lvl="1"/>
            <a:r>
              <a:rPr kumimoji="1" lang="zh-CN" altLang="en-US" dirty="0"/>
              <a:t>取得了很好的效果</a:t>
            </a:r>
            <a:endParaRPr kumimoji="1" lang="en-US" altLang="zh-CN" dirty="0"/>
          </a:p>
          <a:p>
            <a:endParaRPr kumimoji="1" lang="en-US" altLang="zh-CN" dirty="0"/>
          </a:p>
          <a:p>
            <a:r>
              <a:rPr kumimoji="1" lang="zh-CN" altLang="en-US" dirty="0"/>
              <a:t>而我们的输入图片没有时间连续性</a:t>
            </a:r>
            <a:endParaRPr kumimoji="1" lang="en-US" altLang="zh-CN" dirty="0"/>
          </a:p>
          <a:p>
            <a:pPr lvl="1"/>
            <a:r>
              <a:rPr kumimoji="1" lang="zh-CN" altLang="en-US" dirty="0"/>
              <a:t>通过寻找相似的</a:t>
            </a:r>
            <a:r>
              <a:rPr kumimoji="1" lang="en-US" altLang="zh-CN" dirty="0"/>
              <a:t>token</a:t>
            </a:r>
            <a:endParaRPr kumimoji="1" lang="zh-CN" altLang="en-US" dirty="0"/>
          </a:p>
        </p:txBody>
      </p:sp>
      <p:pic>
        <p:nvPicPr>
          <p:cNvPr id="5" name="图片 4">
            <a:extLst>
              <a:ext uri="{FF2B5EF4-FFF2-40B4-BE49-F238E27FC236}">
                <a16:creationId xmlns:a16="http://schemas.microsoft.com/office/drawing/2014/main" id="{5E1CC162-D169-F6D9-4D96-9D3DAC583DC9}"/>
              </a:ext>
            </a:extLst>
          </p:cNvPr>
          <p:cNvPicPr>
            <a:picLocks noChangeAspect="1"/>
          </p:cNvPicPr>
          <p:nvPr/>
        </p:nvPicPr>
        <p:blipFill>
          <a:blip r:embed="rId2"/>
          <a:stretch>
            <a:fillRect/>
          </a:stretch>
        </p:blipFill>
        <p:spPr>
          <a:xfrm>
            <a:off x="6622842" y="3386657"/>
            <a:ext cx="5569158" cy="2880000"/>
          </a:xfrm>
          <a:prstGeom prst="rect">
            <a:avLst/>
          </a:prstGeom>
        </p:spPr>
      </p:pic>
      <p:sp>
        <p:nvSpPr>
          <p:cNvPr id="6" name="日期占位符 5">
            <a:extLst>
              <a:ext uri="{FF2B5EF4-FFF2-40B4-BE49-F238E27FC236}">
                <a16:creationId xmlns:a16="http://schemas.microsoft.com/office/drawing/2014/main" id="{40972126-7F37-8E70-E3AA-1F94532922B7}"/>
              </a:ext>
            </a:extLst>
          </p:cNvPr>
          <p:cNvSpPr>
            <a:spLocks noGrp="1"/>
          </p:cNvSpPr>
          <p:nvPr>
            <p:ph type="dt" sz="half" idx="10"/>
          </p:nvPr>
        </p:nvSpPr>
        <p:spPr/>
        <p:txBody>
          <a:bodyPr/>
          <a:lstStyle/>
          <a:p>
            <a:fld id="{CB349B68-7096-B84E-8FAD-C24FC02A9696}" type="datetime1">
              <a:rPr kumimoji="1" lang="zh-CN" altLang="en-US" smtClean="0"/>
              <a:t>2023/12/1</a:t>
            </a:fld>
            <a:endParaRPr kumimoji="1" lang="zh-CN" altLang="en-US"/>
          </a:p>
        </p:txBody>
      </p:sp>
      <p:sp>
        <p:nvSpPr>
          <p:cNvPr id="7" name="页脚占位符 6">
            <a:extLst>
              <a:ext uri="{FF2B5EF4-FFF2-40B4-BE49-F238E27FC236}">
                <a16:creationId xmlns:a16="http://schemas.microsoft.com/office/drawing/2014/main" id="{35D8F2E5-BDCC-59DB-7CBF-7DE1100C6A28}"/>
              </a:ext>
            </a:extLst>
          </p:cNvPr>
          <p:cNvSpPr>
            <a:spLocks noGrp="1"/>
          </p:cNvSpPr>
          <p:nvPr>
            <p:ph type="ftr" sz="quarter" idx="11"/>
          </p:nvPr>
        </p:nvSpPr>
        <p:spPr/>
        <p:txBody>
          <a:bodyPr/>
          <a:lstStyle/>
          <a:p>
            <a:r>
              <a:rPr kumimoji="1" lang="en" altLang="zh-CN"/>
              <a:t>YWN</a:t>
            </a:r>
            <a:endParaRPr kumimoji="1" lang="zh-CN" altLang="en-US"/>
          </a:p>
        </p:txBody>
      </p:sp>
      <p:sp>
        <p:nvSpPr>
          <p:cNvPr id="8" name="灯片编号占位符 7">
            <a:extLst>
              <a:ext uri="{FF2B5EF4-FFF2-40B4-BE49-F238E27FC236}">
                <a16:creationId xmlns:a16="http://schemas.microsoft.com/office/drawing/2014/main" id="{38D7C7BE-8F3E-C7A1-0C99-ED02FC754241}"/>
              </a:ext>
            </a:extLst>
          </p:cNvPr>
          <p:cNvSpPr>
            <a:spLocks noGrp="1"/>
          </p:cNvSpPr>
          <p:nvPr>
            <p:ph type="sldNum" sz="quarter" idx="12"/>
          </p:nvPr>
        </p:nvSpPr>
        <p:spPr/>
        <p:txBody>
          <a:bodyPr/>
          <a:lstStyle/>
          <a:p>
            <a:fld id="{A8EA73BB-BF9B-FF4D-AE0D-A76A49C50991}" type="slidenum">
              <a:rPr kumimoji="1" lang="zh-CN" altLang="en-US" smtClean="0"/>
              <a:t>4</a:t>
            </a:fld>
            <a:endParaRPr kumimoji="1" lang="zh-CN" altLang="en-US"/>
          </a:p>
        </p:txBody>
      </p:sp>
    </p:spTree>
    <p:extLst>
      <p:ext uri="{BB962C8B-B14F-4D97-AF65-F5344CB8AC3E}">
        <p14:creationId xmlns:p14="http://schemas.microsoft.com/office/powerpoint/2010/main" val="1252885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FDE8C0-2B37-2F83-978F-2E5B5E35F299}"/>
              </a:ext>
            </a:extLst>
          </p:cNvPr>
          <p:cNvSpPr>
            <a:spLocks noGrp="1"/>
          </p:cNvSpPr>
          <p:nvPr>
            <p:ph type="title"/>
          </p:nvPr>
        </p:nvSpPr>
        <p:spPr/>
        <p:txBody>
          <a:bodyPr/>
          <a:lstStyle/>
          <a:p>
            <a:r>
              <a:rPr kumimoji="1" lang="en-US" altLang="zh-CN" dirty="0"/>
              <a:t>Feature Extraction in </a:t>
            </a:r>
            <a:r>
              <a:rPr kumimoji="1" lang="en-US" altLang="zh-CN" dirty="0" err="1"/>
              <a:t>UMIFormer</a:t>
            </a:r>
            <a:endParaRPr kumimoji="1" lang="zh-CN" altLang="en-US" dirty="0"/>
          </a:p>
        </p:txBody>
      </p:sp>
      <p:pic>
        <p:nvPicPr>
          <p:cNvPr id="8" name="内容占位符 7">
            <a:extLst>
              <a:ext uri="{FF2B5EF4-FFF2-40B4-BE49-F238E27FC236}">
                <a16:creationId xmlns:a16="http://schemas.microsoft.com/office/drawing/2014/main" id="{9EA5E704-044D-68BA-CA15-84146536B72E}"/>
              </a:ext>
            </a:extLst>
          </p:cNvPr>
          <p:cNvPicPr>
            <a:picLocks noGrp="1" noChangeAspect="1"/>
          </p:cNvPicPr>
          <p:nvPr>
            <p:ph idx="1"/>
          </p:nvPr>
        </p:nvPicPr>
        <p:blipFill>
          <a:blip r:embed="rId2"/>
          <a:stretch>
            <a:fillRect/>
          </a:stretch>
        </p:blipFill>
        <p:spPr>
          <a:xfrm>
            <a:off x="838200" y="1998520"/>
            <a:ext cx="10515600" cy="4005547"/>
          </a:xfrm>
        </p:spPr>
      </p:pic>
      <p:sp>
        <p:nvSpPr>
          <p:cNvPr id="4" name="日期占位符 3">
            <a:extLst>
              <a:ext uri="{FF2B5EF4-FFF2-40B4-BE49-F238E27FC236}">
                <a16:creationId xmlns:a16="http://schemas.microsoft.com/office/drawing/2014/main" id="{68E9EA20-5239-08AA-2E07-9F98712DDEBD}"/>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7A96386D-AA1E-5034-5E5C-42186A7B5F1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590DAD9A-63E1-D89F-4D50-AFD725E23BCA}"/>
              </a:ext>
            </a:extLst>
          </p:cNvPr>
          <p:cNvSpPr>
            <a:spLocks noGrp="1"/>
          </p:cNvSpPr>
          <p:nvPr>
            <p:ph type="sldNum" sz="quarter" idx="12"/>
          </p:nvPr>
        </p:nvSpPr>
        <p:spPr/>
        <p:txBody>
          <a:bodyPr/>
          <a:lstStyle/>
          <a:p>
            <a:fld id="{A8EA73BB-BF9B-FF4D-AE0D-A76A49C50991}" type="slidenum">
              <a:rPr kumimoji="1" lang="zh-CN" altLang="en-US" smtClean="0"/>
              <a:t>5</a:t>
            </a:fld>
            <a:endParaRPr kumimoji="1" lang="zh-CN" altLang="en-US"/>
          </a:p>
        </p:txBody>
      </p:sp>
    </p:spTree>
    <p:extLst>
      <p:ext uri="{BB962C8B-B14F-4D97-AF65-F5344CB8AC3E}">
        <p14:creationId xmlns:p14="http://schemas.microsoft.com/office/powerpoint/2010/main" val="2210892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5EDDB8-A290-C719-F32F-DCC868945CEF}"/>
              </a:ext>
            </a:extLst>
          </p:cNvPr>
          <p:cNvSpPr>
            <a:spLocks noGrp="1"/>
          </p:cNvSpPr>
          <p:nvPr>
            <p:ph type="title"/>
          </p:nvPr>
        </p:nvSpPr>
        <p:spPr/>
        <p:txBody>
          <a:bodyPr/>
          <a:lstStyle/>
          <a:p>
            <a:r>
              <a:rPr kumimoji="1" lang="en-US" altLang="zh-CN" dirty="0"/>
              <a:t>IVDB</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E815BF5-1A68-D818-E5CF-2492DB5B08C8}"/>
                  </a:ext>
                </a:extLst>
              </p:cNvPr>
              <p:cNvSpPr>
                <a:spLocks noGrp="1"/>
              </p:cNvSpPr>
              <p:nvPr>
                <p:ph idx="1"/>
              </p:nvPr>
            </p:nvSpPr>
            <p:spPr/>
            <p:txBody>
              <a:bodyPr>
                <a:normAutofit fontScale="85000" lnSpcReduction="20000"/>
              </a:bodyPr>
              <a:lstStyle/>
              <a:p>
                <a:r>
                  <a:rPr kumimoji="1" lang="zh-CN" altLang="en-US" dirty="0"/>
                  <a:t>对于每一个</a:t>
                </a:r>
                <a:r>
                  <a:rPr kumimoji="1" lang="en-US" altLang="zh-CN" dirty="0"/>
                  <a:t>Token</a:t>
                </a:r>
                <a:r>
                  <a:rPr kumimoji="1" lang="zh-CN" altLang="en-US" dirty="0"/>
                  <a:t> </a:t>
                </a:r>
                <a14:m>
                  <m:oMath xmlns:m="http://schemas.openxmlformats.org/officeDocument/2006/math">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oMath>
                </a14:m>
                <a:endParaRPr kumimoji="1" lang="en-US" altLang="zh-CN" b="0" dirty="0"/>
              </a:p>
              <a:p>
                <a:pPr lvl="1"/>
                <a:r>
                  <a:rPr kumimoji="1" lang="zh-CN" altLang="en-US" dirty="0"/>
                  <a:t>在其他所有视角分别找最近的</a:t>
                </a:r>
                <a:r>
                  <a:rPr kumimoji="1" lang="en-US" altLang="zh-CN" dirty="0"/>
                  <a:t>k</a:t>
                </a:r>
                <a:r>
                  <a:rPr kumimoji="1" lang="zh-CN" altLang="en-US" dirty="0"/>
                  <a:t>个</a:t>
                </a:r>
                <a:r>
                  <a:rPr kumimoji="1" lang="en-US" altLang="zh-CN" dirty="0"/>
                  <a:t>token </a:t>
                </a:r>
                <a14:m>
                  <m:oMath xmlns:m="http://schemas.openxmlformats.org/officeDocument/2006/math">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𝑦</m:t>
                        </m:r>
                      </m:e>
                      <m:sub>
                        <m:r>
                          <a:rPr kumimoji="1" lang="en-US" altLang="zh-CN" b="0" i="1" smtClean="0">
                            <a:latin typeface="Cambria Math" panose="02040503050406030204" pitchFamily="18" charset="0"/>
                          </a:rPr>
                          <m:t>𝑖</m:t>
                        </m:r>
                      </m:sub>
                    </m:sSub>
                  </m:oMath>
                </a14:m>
                <a:endParaRPr kumimoji="1" lang="en-US" altLang="zh-CN" dirty="0"/>
              </a:p>
              <a:p>
                <a:endParaRPr kumimoji="1" lang="en-US" altLang="zh-CN" dirty="0"/>
              </a:p>
              <a:p>
                <a14:m>
                  <m:oMath xmlns:m="http://schemas.openxmlformats.org/officeDocument/2006/math">
                    <m:sSub>
                      <m:sSubPr>
                        <m:ctrlPr>
                          <a:rPr kumimoji="1" lang="en-US" altLang="zh-CN" i="1" smtClean="0">
                            <a:latin typeface="Cambria Math" panose="02040503050406030204" pitchFamily="18" charset="0"/>
                          </a:rPr>
                        </m:ctrlPr>
                      </m:sSubPr>
                      <m:e>
                        <m:r>
                          <a:rPr kumimoji="1" lang="en-US" altLang="zh-CN" i="1" smtClean="0">
                            <a:latin typeface="Cambria Math" panose="02040503050406030204" pitchFamily="18" charset="0"/>
                          </a:rPr>
                          <m:t>𝑒</m:t>
                        </m:r>
                      </m:e>
                      <m:sub>
                        <m:r>
                          <a:rPr kumimoji="1" lang="en-US" altLang="zh-CN" b="0" i="1" smtClean="0">
                            <a:latin typeface="Cambria Math" panose="02040503050406030204" pitchFamily="18" charset="0"/>
                          </a:rPr>
                          <m:t>𝑖𝑗</m:t>
                        </m:r>
                      </m:sub>
                    </m:sSub>
                    <m:r>
                      <a:rPr kumimoji="1" lang="en-US" altLang="zh-CN" i="1" smtClean="0">
                        <a:latin typeface="Cambria Math" panose="02040503050406030204" pitchFamily="18" charset="0"/>
                      </a:rPr>
                      <m:t>=</m:t>
                    </m:r>
                    <m:r>
                      <a:rPr kumimoji="1" lang="en-US" altLang="zh-CN" b="0" i="1" smtClean="0">
                        <a:latin typeface="Cambria Math" panose="02040503050406030204" pitchFamily="18" charset="0"/>
                      </a:rPr>
                      <m:t>𝑀𝐿</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𝑃</m:t>
                        </m:r>
                      </m:e>
                      <m:sub>
                        <m:r>
                          <a:rPr kumimoji="1" lang="en-US" altLang="zh-CN" b="0" i="1" smtClean="0">
                            <a:latin typeface="Cambria Math" panose="02040503050406030204" pitchFamily="18" charset="0"/>
                          </a:rPr>
                          <m:t>𝑒𝑑𝑔𝑒</m:t>
                        </m:r>
                      </m:sub>
                    </m:sSub>
                    <m:d>
                      <m:dPr>
                        <m:ctrlPr>
                          <a:rPr kumimoji="1" lang="en-US" altLang="zh-CN" b="0" i="1" smtClean="0">
                            <a:latin typeface="Cambria Math" panose="02040503050406030204" pitchFamily="18" charset="0"/>
                          </a:rPr>
                        </m:ctrlPr>
                      </m:dPr>
                      <m:e>
                        <m:sSub>
                          <m:sSubPr>
                            <m:ctrlPr>
                              <a:rPr kumimoji="1" lang="en-US" altLang="zh-CN" i="1" smtClean="0">
                                <a:latin typeface="Cambria Math" panose="02040503050406030204" pitchFamily="18" charset="0"/>
                              </a:rPr>
                            </m:ctrlPr>
                          </m:sSubPr>
                          <m:e>
                            <m:r>
                              <a:rPr kumimoji="1" lang="en-US" altLang="zh-CN" i="1" smtClean="0">
                                <a:latin typeface="Cambria Math" panose="02040503050406030204" pitchFamily="18" charset="0"/>
                              </a:rPr>
                              <m:t>𝑦</m:t>
                            </m:r>
                          </m:e>
                          <m:sub>
                            <m:r>
                              <a:rPr kumimoji="1" lang="en-US" altLang="zh-CN" b="0" i="1" smtClean="0">
                                <a:latin typeface="Cambria Math" panose="02040503050406030204" pitchFamily="18" charset="0"/>
                              </a:rPr>
                              <m:t>𝑖𝑗</m:t>
                            </m:r>
                          </m:sub>
                        </m:sSub>
                        <m:r>
                          <a:rPr kumimoji="1" lang="en-US" altLang="zh-CN" b="0" i="1" smtClean="0">
                            <a:latin typeface="Cambria Math" panose="02040503050406030204" pitchFamily="18" charset="0"/>
                          </a:rPr>
                          <m:t>−</m:t>
                        </m:r>
                        <m:sSub>
                          <m:sSubPr>
                            <m:ctrlPr>
                              <a:rPr kumimoji="1" lang="en-US" altLang="zh-CN" i="1" smtClean="0">
                                <a:latin typeface="Cambria Math" panose="02040503050406030204" pitchFamily="18" charset="0"/>
                              </a:rPr>
                            </m:ctrlPr>
                          </m:sSubPr>
                          <m:e>
                            <m:r>
                              <a:rPr kumimoji="1" lang="en-US" altLang="zh-CN" i="1" smtClean="0">
                                <a:latin typeface="Cambria Math" panose="02040503050406030204" pitchFamily="18" charset="0"/>
                              </a:rPr>
                              <m:t>𝑥</m:t>
                            </m:r>
                          </m:e>
                          <m:sub>
                            <m:r>
                              <a:rPr kumimoji="1" lang="en-US" altLang="zh-CN" i="1" smtClean="0">
                                <a:latin typeface="Cambria Math" panose="02040503050406030204" pitchFamily="18" charset="0"/>
                              </a:rPr>
                              <m:t>𝑖</m:t>
                            </m:r>
                          </m:sub>
                        </m:sSub>
                      </m:e>
                    </m:d>
                  </m:oMath>
                </a14:m>
                <a:endParaRPr kumimoji="1" lang="en-US" altLang="zh-CN" dirty="0"/>
              </a:p>
              <a:p>
                <a14:m>
                  <m:oMath xmlns:m="http://schemas.openxmlformats.org/officeDocument/2006/math">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𝑟</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𝐹𝑢𝑠𝑖𝑜𝑛</m:t>
                    </m:r>
                    <m:d>
                      <m:dPr>
                        <m:ctrlPr>
                          <a:rPr kumimoji="1" lang="en-US" altLang="zh-CN" b="0" i="1" smtClean="0">
                            <a:latin typeface="Cambria Math" panose="02040503050406030204" pitchFamily="18" charset="0"/>
                          </a:rPr>
                        </m:ctrlPr>
                      </m:dPr>
                      <m:e>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𝑒</m:t>
                            </m:r>
                          </m:e>
                          <m:sub>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Sub>
                        <m:r>
                          <a:rPr kumimoji="1" lang="en-US" altLang="zh-CN" b="0" i="1" smtClean="0">
                            <a:latin typeface="Cambria Math" panose="02040503050406030204" pitchFamily="18" charset="0"/>
                          </a:rPr>
                          <m:t>, </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𝑒</m:t>
                            </m:r>
                          </m:e>
                          <m:sub>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2</m:t>
                            </m:r>
                          </m:sub>
                        </m:sSub>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𝑒</m:t>
                            </m:r>
                          </m:e>
                          <m:sub>
                            <m:r>
                              <a:rPr kumimoji="1" lang="en-US" altLang="zh-CN" b="0" i="1" smtClean="0">
                                <a:latin typeface="Cambria Math" panose="02040503050406030204" pitchFamily="18" charset="0"/>
                              </a:rPr>
                              <m:t>𝑖</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𝑘</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−1</m:t>
                                    </m:r>
                                  </m:e>
                                </m:d>
                              </m:e>
                            </m:d>
                          </m:sub>
                        </m:sSub>
                      </m:e>
                    </m:d>
                  </m:oMath>
                </a14:m>
                <a:endParaRPr kumimoji="1" lang="en-US" altLang="zh-CN" dirty="0"/>
              </a:p>
              <a:p>
                <a:endParaRPr kumimoji="1" lang="en-US" altLang="zh-CN" dirty="0"/>
              </a:p>
              <a:p>
                <a14:m>
                  <m:oMath xmlns:m="http://schemas.openxmlformats.org/officeDocument/2006/math">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𝑜</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𝑀𝐿</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𝑃</m:t>
                        </m:r>
                      </m:e>
                      <m:sub>
                        <m:r>
                          <a:rPr kumimoji="1" lang="en-US" altLang="zh-CN" b="0" i="1" smtClean="0">
                            <a:latin typeface="Cambria Math" panose="02040503050406030204" pitchFamily="18" charset="0"/>
                          </a:rPr>
                          <m:t>𝑜𝑠</m:t>
                        </m:r>
                      </m:sub>
                    </m:sSub>
                    <m:d>
                      <m:dPr>
                        <m:ctrlPr>
                          <a:rPr kumimoji="1" lang="en-US" altLang="zh-CN" b="0" i="1" smtClean="0">
                            <a:latin typeface="Cambria Math" panose="02040503050406030204" pitchFamily="18" charset="0"/>
                          </a:rPr>
                        </m:ctrlPr>
                      </m:dPr>
                      <m:e>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 </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𝑟</m:t>
                            </m:r>
                          </m:e>
                          <m:sub>
                            <m:r>
                              <a:rPr kumimoji="1" lang="en-US" altLang="zh-CN" b="0" i="1" smtClean="0">
                                <a:latin typeface="Cambria Math" panose="02040503050406030204" pitchFamily="18" charset="0"/>
                              </a:rPr>
                              <m:t>𝑖</m:t>
                            </m:r>
                          </m:sub>
                        </m:sSub>
                      </m:e>
                    </m:d>
                  </m:oMath>
                </a14:m>
                <a:endParaRPr kumimoji="1" lang="en-US" altLang="zh-CN" b="0" dirty="0"/>
              </a:p>
              <a:p>
                <a14:m>
                  <m:oMath xmlns:m="http://schemas.openxmlformats.org/officeDocument/2006/math">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𝑜</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𝑀𝐿</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𝑃</m:t>
                        </m:r>
                      </m:e>
                      <m:sub>
                        <m:r>
                          <a:rPr kumimoji="1" lang="en-US" altLang="zh-CN" b="0" i="1" smtClean="0">
                            <a:latin typeface="Cambria Math" panose="02040503050406030204" pitchFamily="18" charset="0"/>
                          </a:rPr>
                          <m:t>𝑜𝑤</m:t>
                        </m:r>
                      </m:sub>
                    </m:sSub>
                    <m:d>
                      <m:dPr>
                        <m:ctrlPr>
                          <a:rPr kumimoji="1" lang="en-US" altLang="zh-CN" b="0" i="1" smtClean="0">
                            <a:latin typeface="Cambria Math" panose="02040503050406030204" pitchFamily="18" charset="0"/>
                          </a:rPr>
                        </m:ctrlPr>
                      </m:dPr>
                      <m:e>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𝑟</m:t>
                            </m:r>
                          </m:e>
                          <m:sub>
                            <m:r>
                              <a:rPr kumimoji="1" lang="en-US" altLang="zh-CN" b="0" i="1" smtClean="0">
                                <a:latin typeface="Cambria Math" panose="02040503050406030204" pitchFamily="18" charset="0"/>
                              </a:rPr>
                              <m:t>𝑖</m:t>
                            </m:r>
                          </m:sub>
                        </m:sSub>
                      </m:e>
                    </m:d>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oMath>
                </a14:m>
                <a:endParaRPr kumimoji="1" lang="en-US" altLang="zh-CN" dirty="0"/>
              </a:p>
              <a:p>
                <a:endParaRPr kumimoji="1" lang="en-US" altLang="zh-CN" dirty="0"/>
              </a:p>
              <a:p>
                <a14:m>
                  <m:oMath xmlns:m="http://schemas.openxmlformats.org/officeDocument/2006/math">
                    <m:sSubSup>
                      <m:sSubSupPr>
                        <m:ctrlPr>
                          <a:rPr kumimoji="1" lang="en-US" altLang="zh-CN" b="0" i="1" smtClean="0">
                            <a:latin typeface="Cambria Math" panose="02040503050406030204" pitchFamily="18" charset="0"/>
                          </a:rPr>
                        </m:ctrlPr>
                      </m:sSubSup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up>
                        <m:r>
                          <a:rPr kumimoji="1" lang="en-US" altLang="zh-CN" b="0" i="1" smtClean="0">
                            <a:latin typeface="Cambria Math" panose="02040503050406030204" pitchFamily="18" charset="0"/>
                          </a:rPr>
                          <m:t>′</m:t>
                        </m:r>
                      </m:sup>
                    </m:sSubSup>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𝑜</m:t>
                        </m:r>
                      </m:e>
                      <m:sub>
                        <m:r>
                          <a:rPr kumimoji="1" lang="en-US" altLang="zh-CN" b="0" i="1" smtClean="0">
                            <a:latin typeface="Cambria Math" panose="02040503050406030204" pitchFamily="18" charset="0"/>
                          </a:rPr>
                          <m:t>𝑖</m:t>
                        </m:r>
                      </m:sub>
                    </m:sSub>
                  </m:oMath>
                </a14:m>
                <a:endParaRPr kumimoji="1" lang="en-US" altLang="zh-CN" dirty="0"/>
              </a:p>
              <a:p>
                <a:endParaRPr kumimoji="1" lang="zh-CN" altLang="en-US" dirty="0"/>
              </a:p>
            </p:txBody>
          </p:sp>
        </mc:Choice>
        <mc:Fallback xmlns="">
          <p:sp>
            <p:nvSpPr>
              <p:cNvPr id="3" name="内容占位符 2">
                <a:extLst>
                  <a:ext uri="{FF2B5EF4-FFF2-40B4-BE49-F238E27FC236}">
                    <a16:creationId xmlns:a16="http://schemas.microsoft.com/office/drawing/2014/main" id="{1E815BF5-1A68-D818-E5CF-2492DB5B08C8}"/>
                  </a:ext>
                </a:extLst>
              </p:cNvPr>
              <p:cNvSpPr>
                <a:spLocks noGrp="1" noRot="1" noChangeAspect="1" noMove="1" noResize="1" noEditPoints="1" noAdjustHandles="1" noChangeArrowheads="1" noChangeShapeType="1" noTextEdit="1"/>
              </p:cNvSpPr>
              <p:nvPr>
                <p:ph idx="1"/>
              </p:nvPr>
            </p:nvSpPr>
            <p:spPr>
              <a:blipFill>
                <a:blip r:embed="rId2"/>
                <a:stretch>
                  <a:fillRect l="-844" t="-3779" b="-872"/>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B5B045FE-B88A-7B6C-0703-766BEEA51621}"/>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C4709382-C4A9-4863-43E7-AC4C7C5E2D2A}"/>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ED83106B-2BD6-5783-FBAB-57CEE04AEC93}"/>
              </a:ext>
            </a:extLst>
          </p:cNvPr>
          <p:cNvSpPr>
            <a:spLocks noGrp="1"/>
          </p:cNvSpPr>
          <p:nvPr>
            <p:ph type="sldNum" sz="quarter" idx="12"/>
          </p:nvPr>
        </p:nvSpPr>
        <p:spPr/>
        <p:txBody>
          <a:bodyPr/>
          <a:lstStyle/>
          <a:p>
            <a:fld id="{A8EA73BB-BF9B-FF4D-AE0D-A76A49C50991}" type="slidenum">
              <a:rPr kumimoji="1" lang="zh-CN" altLang="en-US" smtClean="0"/>
              <a:t>6</a:t>
            </a:fld>
            <a:endParaRPr kumimoji="1" lang="zh-CN" altLang="en-US"/>
          </a:p>
        </p:txBody>
      </p:sp>
      <p:pic>
        <p:nvPicPr>
          <p:cNvPr id="10" name="图片 9">
            <a:extLst>
              <a:ext uri="{FF2B5EF4-FFF2-40B4-BE49-F238E27FC236}">
                <a16:creationId xmlns:a16="http://schemas.microsoft.com/office/drawing/2014/main" id="{41012BFC-5502-A5F3-4BA2-BBB27A532332}"/>
              </a:ext>
            </a:extLst>
          </p:cNvPr>
          <p:cNvPicPr>
            <a:picLocks noChangeAspect="1"/>
          </p:cNvPicPr>
          <p:nvPr/>
        </p:nvPicPr>
        <p:blipFill>
          <a:blip r:embed="rId3"/>
          <a:stretch>
            <a:fillRect/>
          </a:stretch>
        </p:blipFill>
        <p:spPr>
          <a:xfrm>
            <a:off x="6387830" y="136525"/>
            <a:ext cx="5577192" cy="2147129"/>
          </a:xfrm>
          <a:prstGeom prst="rect">
            <a:avLst/>
          </a:prstGeom>
        </p:spPr>
      </p:pic>
      <p:pic>
        <p:nvPicPr>
          <p:cNvPr id="12" name="图片 11">
            <a:extLst>
              <a:ext uri="{FF2B5EF4-FFF2-40B4-BE49-F238E27FC236}">
                <a16:creationId xmlns:a16="http://schemas.microsoft.com/office/drawing/2014/main" id="{9FB93838-36E0-AD48-BF96-71CB8A5FC2AF}"/>
              </a:ext>
            </a:extLst>
          </p:cNvPr>
          <p:cNvPicPr>
            <a:picLocks noChangeAspect="1"/>
          </p:cNvPicPr>
          <p:nvPr/>
        </p:nvPicPr>
        <p:blipFill>
          <a:blip r:embed="rId4"/>
          <a:stretch>
            <a:fillRect/>
          </a:stretch>
        </p:blipFill>
        <p:spPr>
          <a:xfrm>
            <a:off x="8153400" y="2617593"/>
            <a:ext cx="3052864" cy="3535275"/>
          </a:xfrm>
          <a:prstGeom prst="rect">
            <a:avLst/>
          </a:prstGeom>
        </p:spPr>
      </p:pic>
    </p:spTree>
    <p:extLst>
      <p:ext uri="{BB962C8B-B14F-4D97-AF65-F5344CB8AC3E}">
        <p14:creationId xmlns:p14="http://schemas.microsoft.com/office/powerpoint/2010/main" val="2244483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8427D-F288-3A65-FA2E-25949039D54D}"/>
              </a:ext>
            </a:extLst>
          </p:cNvPr>
          <p:cNvSpPr>
            <a:spLocks noGrp="1"/>
          </p:cNvSpPr>
          <p:nvPr>
            <p:ph type="title"/>
          </p:nvPr>
        </p:nvSpPr>
        <p:spPr/>
        <p:txBody>
          <a:bodyPr/>
          <a:lstStyle/>
          <a:p>
            <a:r>
              <a:rPr kumimoji="1" lang="en-US" altLang="zh-CN" dirty="0"/>
              <a:t>Similar-Token Merger</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CBA9A6A-24EF-FA1C-2136-FB96BEAF10F2}"/>
                  </a:ext>
                </a:extLst>
              </p:cNvPr>
              <p:cNvSpPr>
                <a:spLocks noGrp="1"/>
              </p:cNvSpPr>
              <p:nvPr>
                <p:ph idx="1"/>
              </p:nvPr>
            </p:nvSpPr>
            <p:spPr/>
            <p:txBody>
              <a:bodyPr/>
              <a:lstStyle/>
              <a:p>
                <a:r>
                  <a:rPr kumimoji="1" lang="zh-CN" altLang="en-US" sz="2000" dirty="0"/>
                  <a:t>经过</a:t>
                </a:r>
                <a:r>
                  <a:rPr kumimoji="1" lang="en-US" altLang="zh-CN" sz="2000" dirty="0"/>
                  <a:t>IVDB</a:t>
                </a:r>
                <a:r>
                  <a:rPr kumimoji="1" lang="zh-CN" altLang="en-US" sz="2000" dirty="0"/>
                  <a:t>后，</a:t>
                </a:r>
                <a:r>
                  <a:rPr kumimoji="1" lang="en-US" altLang="zh-CN" sz="2000" dirty="0"/>
                  <a:t>token</a:t>
                </a:r>
                <a:r>
                  <a:rPr kumimoji="1" lang="zh-CN" altLang="en-US" sz="2000" dirty="0"/>
                  <a:t>之间的信息有很多冗余，需要压缩</a:t>
                </a:r>
                <a:r>
                  <a:rPr kumimoji="1" lang="en-US" altLang="zh-CN" sz="2000" dirty="0"/>
                  <a:t>token</a:t>
                </a:r>
              </a:p>
              <a:p>
                <a:endParaRPr kumimoji="1" lang="en-US" altLang="zh-CN" sz="2000" dirty="0"/>
              </a:p>
              <a:p>
                <a:r>
                  <a:rPr kumimoji="1" lang="zh-CN" altLang="en-US" sz="2000" dirty="0"/>
                  <a:t>用 </a:t>
                </a:r>
                <a:r>
                  <a:rPr kumimoji="1" lang="en-US" altLang="zh-CN" sz="2000" dirty="0"/>
                  <a:t>DPC-KNN</a:t>
                </a:r>
                <a:r>
                  <a:rPr kumimoji="1" lang="zh-CN" altLang="en-US" sz="2000" dirty="0"/>
                  <a:t> 聚类将</a:t>
                </a:r>
                <a:r>
                  <a:rPr kumimoji="1" lang="en-US" altLang="zh-CN" sz="2000" dirty="0"/>
                  <a:t>token</a:t>
                </a:r>
                <a:r>
                  <a:rPr kumimoji="1" lang="zh-CN" altLang="en-US" sz="2000" dirty="0"/>
                  <a:t>分成</a:t>
                </a:r>
                <a:r>
                  <a:rPr kumimoji="1" lang="en-US" altLang="zh-CN" sz="2000" dirty="0"/>
                  <a:t>g</a:t>
                </a:r>
                <a:r>
                  <a:rPr kumimoji="1" lang="zh-CN" altLang="en-US" sz="2000" dirty="0"/>
                  <a:t>类</a:t>
                </a:r>
                <a:endParaRPr kumimoji="1" lang="en-US" altLang="zh-CN" sz="2000" dirty="0"/>
              </a:p>
              <a:p>
                <a:endParaRPr kumimoji="1" lang="en-US" altLang="zh-CN" sz="2000" dirty="0"/>
              </a:p>
              <a:p>
                <a14:m>
                  <m:oMath xmlns:m="http://schemas.openxmlformats.org/officeDocument/2006/math">
                    <m:r>
                      <a:rPr kumimoji="1" lang="en-US" altLang="zh-CN" sz="2000" b="0" i="1" smtClean="0">
                        <a:latin typeface="Cambria Math" panose="02040503050406030204" pitchFamily="18" charset="0"/>
                      </a:rPr>
                      <m:t>𝐴𝑡𝑡𝑒𝑛𝑡𝑖𝑜𝑛</m:t>
                    </m:r>
                    <m:d>
                      <m:dPr>
                        <m:ctrlPr>
                          <a:rPr kumimoji="1" lang="en-US" altLang="zh-CN" sz="2000" i="1" smtClean="0">
                            <a:latin typeface="Cambria Math" panose="02040503050406030204" pitchFamily="18" charset="0"/>
                          </a:rPr>
                        </m:ctrlPr>
                      </m:dPr>
                      <m:e>
                        <m:r>
                          <a:rPr kumimoji="1" lang="en-US" altLang="zh-CN" sz="2000" b="0" i="1" smtClean="0">
                            <a:latin typeface="Cambria Math" panose="02040503050406030204" pitchFamily="18" charset="0"/>
                          </a:rPr>
                          <m:t>𝑄</m:t>
                        </m:r>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𝐾</m:t>
                        </m:r>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𝑉</m:t>
                        </m:r>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𝑊</m:t>
                        </m:r>
                      </m:e>
                    </m:d>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𝑠𝑜𝑓𝑡𝑚𝑎𝑥</m:t>
                    </m:r>
                    <m:d>
                      <m:dPr>
                        <m:ctrlPr>
                          <a:rPr kumimoji="1" lang="en-US" altLang="zh-CN" sz="2000" i="1" smtClean="0">
                            <a:latin typeface="Cambria Math" panose="02040503050406030204" pitchFamily="18" charset="0"/>
                          </a:rPr>
                        </m:ctrlPr>
                      </m:dPr>
                      <m:e>
                        <m:f>
                          <m:fPr>
                            <m:ctrlPr>
                              <a:rPr kumimoji="1" lang="en-US" altLang="zh-CN" sz="2000" i="1" smtClean="0">
                                <a:latin typeface="Cambria Math" panose="02040503050406030204" pitchFamily="18" charset="0"/>
                              </a:rPr>
                            </m:ctrlPr>
                          </m:fPr>
                          <m:num>
                            <m:r>
                              <a:rPr kumimoji="1" lang="en-US" altLang="zh-CN" sz="2000" b="0" i="1" smtClean="0">
                                <a:latin typeface="Cambria Math" panose="02040503050406030204" pitchFamily="18" charset="0"/>
                              </a:rPr>
                              <m:t>𝑄</m:t>
                            </m:r>
                            <m:sSup>
                              <m:sSupPr>
                                <m:ctrlPr>
                                  <a:rPr kumimoji="1" lang="en-US" altLang="zh-CN" sz="2000" i="1" smtClean="0">
                                    <a:latin typeface="Cambria Math" panose="02040503050406030204" pitchFamily="18" charset="0"/>
                                  </a:rPr>
                                </m:ctrlPr>
                              </m:sSupPr>
                              <m:e>
                                <m:r>
                                  <a:rPr kumimoji="1" lang="en-US" altLang="zh-CN" sz="2000" b="0" i="1" smtClean="0">
                                    <a:latin typeface="Cambria Math" panose="02040503050406030204" pitchFamily="18" charset="0"/>
                                  </a:rPr>
                                  <m:t>𝐾</m:t>
                                </m:r>
                              </m:e>
                              <m:sup>
                                <m:r>
                                  <a:rPr kumimoji="1" lang="en-US" altLang="zh-CN" sz="2000" b="0" i="1" smtClean="0">
                                    <a:latin typeface="Cambria Math" panose="02040503050406030204" pitchFamily="18" charset="0"/>
                                  </a:rPr>
                                  <m:t>𝑇</m:t>
                                </m:r>
                              </m:sup>
                            </m:sSup>
                          </m:num>
                          <m:den>
                            <m:rad>
                              <m:radPr>
                                <m:degHide m:val="on"/>
                                <m:ctrlPr>
                                  <a:rPr kumimoji="1" lang="en-US" altLang="zh-CN" sz="2000" i="1" smtClean="0">
                                    <a:latin typeface="Cambria Math" panose="02040503050406030204" pitchFamily="18" charset="0"/>
                                  </a:rPr>
                                </m:ctrlPr>
                              </m:radPr>
                              <m:deg/>
                              <m:e>
                                <m:sSub>
                                  <m:sSubPr>
                                    <m:ctrlPr>
                                      <a:rPr kumimoji="1" lang="en-US" altLang="zh-CN" sz="200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𝑘</m:t>
                                    </m:r>
                                  </m:sub>
                                </m:sSub>
                              </m:e>
                            </m:rad>
                          </m:den>
                        </m:f>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𝑊</m:t>
                        </m:r>
                      </m:e>
                    </m:d>
                    <m:r>
                      <a:rPr kumimoji="1" lang="en-US" altLang="zh-CN" sz="2000" b="0" i="1" smtClean="0">
                        <a:latin typeface="Cambria Math" panose="02040503050406030204" pitchFamily="18" charset="0"/>
                      </a:rPr>
                      <m:t>𝑉</m:t>
                    </m:r>
                  </m:oMath>
                </a14:m>
                <a:endParaRPr kumimoji="1" lang="en-US" altLang="zh-CN" sz="2000" i="1" dirty="0"/>
              </a:p>
              <a:p>
                <a:endParaRPr kumimoji="1" lang="zh-CN" altLang="en-US" dirty="0"/>
              </a:p>
            </p:txBody>
          </p:sp>
        </mc:Choice>
        <mc:Fallback xmlns="">
          <p:sp>
            <p:nvSpPr>
              <p:cNvPr id="3" name="内容占位符 2">
                <a:extLst>
                  <a:ext uri="{FF2B5EF4-FFF2-40B4-BE49-F238E27FC236}">
                    <a16:creationId xmlns:a16="http://schemas.microsoft.com/office/drawing/2014/main" id="{DCBA9A6A-24EF-FA1C-2136-FB96BEAF10F2}"/>
                  </a:ext>
                </a:extLst>
              </p:cNvPr>
              <p:cNvSpPr>
                <a:spLocks noGrp="1" noRot="1" noChangeAspect="1" noMove="1" noResize="1" noEditPoints="1" noAdjustHandles="1" noChangeArrowheads="1" noChangeShapeType="1" noTextEdit="1"/>
              </p:cNvSpPr>
              <p:nvPr>
                <p:ph idx="1"/>
              </p:nvPr>
            </p:nvSpPr>
            <p:spPr>
              <a:blipFill>
                <a:blip r:embed="rId2"/>
                <a:stretch>
                  <a:fillRect l="-603" t="-1744"/>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C30FB2E8-5E82-90C2-F85C-87B198D72437}"/>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966F4B71-514D-94F5-8905-16865D3D51FC}"/>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FA7881A4-8463-6712-8C29-D03828D7F9FD}"/>
              </a:ext>
            </a:extLst>
          </p:cNvPr>
          <p:cNvSpPr>
            <a:spLocks noGrp="1"/>
          </p:cNvSpPr>
          <p:nvPr>
            <p:ph type="sldNum" sz="quarter" idx="12"/>
          </p:nvPr>
        </p:nvSpPr>
        <p:spPr/>
        <p:txBody>
          <a:bodyPr/>
          <a:lstStyle/>
          <a:p>
            <a:fld id="{A8EA73BB-BF9B-FF4D-AE0D-A76A49C50991}" type="slidenum">
              <a:rPr kumimoji="1" lang="zh-CN" altLang="en-US" smtClean="0"/>
              <a:t>7</a:t>
            </a:fld>
            <a:endParaRPr kumimoji="1" lang="zh-CN" altLang="en-US"/>
          </a:p>
        </p:txBody>
      </p:sp>
      <p:pic>
        <p:nvPicPr>
          <p:cNvPr id="8" name="图片 7">
            <a:extLst>
              <a:ext uri="{FF2B5EF4-FFF2-40B4-BE49-F238E27FC236}">
                <a16:creationId xmlns:a16="http://schemas.microsoft.com/office/drawing/2014/main" id="{01B7EB40-1E24-A461-983F-62DC06ECFD4E}"/>
              </a:ext>
            </a:extLst>
          </p:cNvPr>
          <p:cNvPicPr>
            <a:picLocks noChangeAspect="1"/>
          </p:cNvPicPr>
          <p:nvPr/>
        </p:nvPicPr>
        <p:blipFill>
          <a:blip r:embed="rId3"/>
          <a:stretch>
            <a:fillRect/>
          </a:stretch>
        </p:blipFill>
        <p:spPr>
          <a:xfrm>
            <a:off x="6652027" y="2614063"/>
            <a:ext cx="5390816" cy="3066890"/>
          </a:xfrm>
          <a:prstGeom prst="rect">
            <a:avLst/>
          </a:prstGeom>
        </p:spPr>
      </p:pic>
    </p:spTree>
    <p:extLst>
      <p:ext uri="{BB962C8B-B14F-4D97-AF65-F5344CB8AC3E}">
        <p14:creationId xmlns:p14="http://schemas.microsoft.com/office/powerpoint/2010/main" val="2586336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B8C0F-28D1-24FE-87A0-00A6B07BF918}"/>
              </a:ext>
            </a:extLst>
          </p:cNvPr>
          <p:cNvSpPr>
            <a:spLocks noGrp="1"/>
          </p:cNvSpPr>
          <p:nvPr>
            <p:ph type="title"/>
          </p:nvPr>
        </p:nvSpPr>
        <p:spPr/>
        <p:txBody>
          <a:bodyPr/>
          <a:lstStyle/>
          <a:p>
            <a:r>
              <a:rPr kumimoji="1" lang="en-US" altLang="zh-CN" dirty="0"/>
              <a:t>Experiments</a:t>
            </a:r>
            <a:endParaRPr kumimoji="1" lang="zh-CN" altLang="en-US" dirty="0"/>
          </a:p>
        </p:txBody>
      </p:sp>
      <p:pic>
        <p:nvPicPr>
          <p:cNvPr id="8" name="内容占位符 7">
            <a:extLst>
              <a:ext uri="{FF2B5EF4-FFF2-40B4-BE49-F238E27FC236}">
                <a16:creationId xmlns:a16="http://schemas.microsoft.com/office/drawing/2014/main" id="{ADF341F0-5832-4F6E-3CF4-CE99D1EB3BD6}"/>
              </a:ext>
            </a:extLst>
          </p:cNvPr>
          <p:cNvPicPr>
            <a:picLocks noGrp="1" noChangeAspect="1"/>
          </p:cNvPicPr>
          <p:nvPr>
            <p:ph idx="1"/>
          </p:nvPr>
        </p:nvPicPr>
        <p:blipFill>
          <a:blip r:embed="rId2"/>
          <a:stretch>
            <a:fillRect/>
          </a:stretch>
        </p:blipFill>
        <p:spPr>
          <a:xfrm>
            <a:off x="838200" y="2092259"/>
            <a:ext cx="10515600" cy="3818069"/>
          </a:xfrm>
        </p:spPr>
      </p:pic>
      <p:sp>
        <p:nvSpPr>
          <p:cNvPr id="4" name="日期占位符 3">
            <a:extLst>
              <a:ext uri="{FF2B5EF4-FFF2-40B4-BE49-F238E27FC236}">
                <a16:creationId xmlns:a16="http://schemas.microsoft.com/office/drawing/2014/main" id="{E65164FC-D22C-0CBE-77F3-6BFFFDAAE9EE}"/>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24B1224C-D17A-4E72-3126-A7192654B559}"/>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0CFB0FA2-FA53-BD4F-4893-627248C1FA6E}"/>
              </a:ext>
            </a:extLst>
          </p:cNvPr>
          <p:cNvSpPr>
            <a:spLocks noGrp="1"/>
          </p:cNvSpPr>
          <p:nvPr>
            <p:ph type="sldNum" sz="quarter" idx="12"/>
          </p:nvPr>
        </p:nvSpPr>
        <p:spPr/>
        <p:txBody>
          <a:bodyPr/>
          <a:lstStyle/>
          <a:p>
            <a:fld id="{A8EA73BB-BF9B-FF4D-AE0D-A76A49C50991}" type="slidenum">
              <a:rPr kumimoji="1" lang="zh-CN" altLang="en-US" smtClean="0"/>
              <a:t>8</a:t>
            </a:fld>
            <a:endParaRPr kumimoji="1" lang="zh-CN" altLang="en-US"/>
          </a:p>
        </p:txBody>
      </p:sp>
    </p:spTree>
    <p:extLst>
      <p:ext uri="{BB962C8B-B14F-4D97-AF65-F5344CB8AC3E}">
        <p14:creationId xmlns:p14="http://schemas.microsoft.com/office/powerpoint/2010/main" val="2718799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D620A84-3F34-078D-EF14-DF07B9926DBD}"/>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71103A80-0F8D-F486-DFB1-92926898B7A6}"/>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88EF1CDA-EE02-B3C0-C3E4-DC7C16786034}"/>
              </a:ext>
            </a:extLst>
          </p:cNvPr>
          <p:cNvSpPr>
            <a:spLocks noGrp="1"/>
          </p:cNvSpPr>
          <p:nvPr>
            <p:ph type="sldNum" sz="quarter" idx="12"/>
          </p:nvPr>
        </p:nvSpPr>
        <p:spPr/>
        <p:txBody>
          <a:bodyPr/>
          <a:lstStyle/>
          <a:p>
            <a:fld id="{A8EA73BB-BF9B-FF4D-AE0D-A76A49C50991}" type="slidenum">
              <a:rPr kumimoji="1" lang="zh-CN" altLang="en-US" smtClean="0"/>
              <a:t>9</a:t>
            </a:fld>
            <a:endParaRPr kumimoji="1" lang="zh-CN" altLang="en-US"/>
          </a:p>
        </p:txBody>
      </p:sp>
      <p:pic>
        <p:nvPicPr>
          <p:cNvPr id="8" name="图片 7">
            <a:extLst>
              <a:ext uri="{FF2B5EF4-FFF2-40B4-BE49-F238E27FC236}">
                <a16:creationId xmlns:a16="http://schemas.microsoft.com/office/drawing/2014/main" id="{B1CAE697-68C2-27AE-8C1E-9716EB3DAB6B}"/>
              </a:ext>
            </a:extLst>
          </p:cNvPr>
          <p:cNvPicPr>
            <a:picLocks noChangeAspect="1"/>
          </p:cNvPicPr>
          <p:nvPr/>
        </p:nvPicPr>
        <p:blipFill>
          <a:blip r:embed="rId2"/>
          <a:stretch>
            <a:fillRect/>
          </a:stretch>
        </p:blipFill>
        <p:spPr>
          <a:xfrm>
            <a:off x="1530435" y="136525"/>
            <a:ext cx="9131129" cy="6022953"/>
          </a:xfrm>
          <a:prstGeom prst="rect">
            <a:avLst/>
          </a:prstGeom>
        </p:spPr>
      </p:pic>
    </p:spTree>
    <p:extLst>
      <p:ext uri="{BB962C8B-B14F-4D97-AF65-F5344CB8AC3E}">
        <p14:creationId xmlns:p14="http://schemas.microsoft.com/office/powerpoint/2010/main" val="213056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86A58B-89A7-72BF-D2EF-40C44A80B931}"/>
              </a:ext>
            </a:extLst>
          </p:cNvPr>
          <p:cNvSpPr>
            <a:spLocks noGrp="1"/>
          </p:cNvSpPr>
          <p:nvPr>
            <p:ph type="title"/>
          </p:nvPr>
        </p:nvSpPr>
        <p:spPr/>
        <p:txBody>
          <a:bodyPr/>
          <a:lstStyle/>
          <a:p>
            <a:r>
              <a:rPr kumimoji="1" lang="en-US" altLang="zh-CN" dirty="0"/>
              <a:t>Ablation Study</a:t>
            </a:r>
            <a:endParaRPr kumimoji="1" lang="zh-CN" altLang="en-US" dirty="0"/>
          </a:p>
        </p:txBody>
      </p:sp>
      <p:pic>
        <p:nvPicPr>
          <p:cNvPr id="8" name="内容占位符 7">
            <a:extLst>
              <a:ext uri="{FF2B5EF4-FFF2-40B4-BE49-F238E27FC236}">
                <a16:creationId xmlns:a16="http://schemas.microsoft.com/office/drawing/2014/main" id="{247B73E5-8ACB-C004-F1A6-86656B3A948C}"/>
              </a:ext>
            </a:extLst>
          </p:cNvPr>
          <p:cNvPicPr>
            <a:picLocks noGrp="1" noChangeAspect="1"/>
          </p:cNvPicPr>
          <p:nvPr>
            <p:ph idx="1"/>
          </p:nvPr>
        </p:nvPicPr>
        <p:blipFill>
          <a:blip r:embed="rId2"/>
          <a:stretch>
            <a:fillRect/>
          </a:stretch>
        </p:blipFill>
        <p:spPr>
          <a:xfrm>
            <a:off x="153580" y="2054956"/>
            <a:ext cx="5790414" cy="3193501"/>
          </a:xfrm>
        </p:spPr>
      </p:pic>
      <p:sp>
        <p:nvSpPr>
          <p:cNvPr id="4" name="日期占位符 3">
            <a:extLst>
              <a:ext uri="{FF2B5EF4-FFF2-40B4-BE49-F238E27FC236}">
                <a16:creationId xmlns:a16="http://schemas.microsoft.com/office/drawing/2014/main" id="{A2C7BB91-2F35-312A-0EB5-C0F071894F51}"/>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390A875B-81FF-7777-3D0A-4058EB11C9F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9C3105A1-9D45-A628-DFAD-150249F0F3B7}"/>
              </a:ext>
            </a:extLst>
          </p:cNvPr>
          <p:cNvSpPr>
            <a:spLocks noGrp="1"/>
          </p:cNvSpPr>
          <p:nvPr>
            <p:ph type="sldNum" sz="quarter" idx="12"/>
          </p:nvPr>
        </p:nvSpPr>
        <p:spPr/>
        <p:txBody>
          <a:bodyPr/>
          <a:lstStyle/>
          <a:p>
            <a:fld id="{A8EA73BB-BF9B-FF4D-AE0D-A76A49C50991}" type="slidenum">
              <a:rPr kumimoji="1" lang="zh-CN" altLang="en-US" smtClean="0"/>
              <a:t>10</a:t>
            </a:fld>
            <a:endParaRPr kumimoji="1" lang="zh-CN" altLang="en-US"/>
          </a:p>
        </p:txBody>
      </p:sp>
      <p:pic>
        <p:nvPicPr>
          <p:cNvPr id="12" name="图片 11">
            <a:extLst>
              <a:ext uri="{FF2B5EF4-FFF2-40B4-BE49-F238E27FC236}">
                <a16:creationId xmlns:a16="http://schemas.microsoft.com/office/drawing/2014/main" id="{B5BE5D1A-6288-77DD-038B-E297E17DECF6}"/>
              </a:ext>
            </a:extLst>
          </p:cNvPr>
          <p:cNvPicPr>
            <a:picLocks noChangeAspect="1"/>
          </p:cNvPicPr>
          <p:nvPr/>
        </p:nvPicPr>
        <p:blipFill>
          <a:blip r:embed="rId3"/>
          <a:stretch>
            <a:fillRect/>
          </a:stretch>
        </p:blipFill>
        <p:spPr>
          <a:xfrm>
            <a:off x="6581202" y="2277017"/>
            <a:ext cx="5416685" cy="2749377"/>
          </a:xfrm>
          <a:prstGeom prst="rect">
            <a:avLst/>
          </a:prstGeom>
        </p:spPr>
      </p:pic>
    </p:spTree>
    <p:extLst>
      <p:ext uri="{BB962C8B-B14F-4D97-AF65-F5344CB8AC3E}">
        <p14:creationId xmlns:p14="http://schemas.microsoft.com/office/powerpoint/2010/main" val="3833919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42EB58-20E2-F7B7-A937-DE2F1CF692FF}"/>
              </a:ext>
            </a:extLst>
          </p:cNvPr>
          <p:cNvSpPr>
            <a:spLocks noGrp="1"/>
          </p:cNvSpPr>
          <p:nvPr>
            <p:ph type="title"/>
          </p:nvPr>
        </p:nvSpPr>
        <p:spPr/>
        <p:txBody>
          <a:bodyPr/>
          <a:lstStyle/>
          <a:p>
            <a:r>
              <a:rPr kumimoji="1" lang="en-US" altLang="zh-CN" dirty="0"/>
              <a:t>Single View</a:t>
            </a:r>
            <a:endParaRPr kumimoji="1" lang="zh-CN" altLang="en-US" dirty="0"/>
          </a:p>
        </p:txBody>
      </p:sp>
      <p:pic>
        <p:nvPicPr>
          <p:cNvPr id="8" name="内容占位符 7">
            <a:extLst>
              <a:ext uri="{FF2B5EF4-FFF2-40B4-BE49-F238E27FC236}">
                <a16:creationId xmlns:a16="http://schemas.microsoft.com/office/drawing/2014/main" id="{2C807A90-5DD9-A1E0-5C0F-ED2743E7CF49}"/>
              </a:ext>
            </a:extLst>
          </p:cNvPr>
          <p:cNvPicPr>
            <a:picLocks noGrp="1" noChangeAspect="1"/>
          </p:cNvPicPr>
          <p:nvPr>
            <p:ph idx="1"/>
          </p:nvPr>
        </p:nvPicPr>
        <p:blipFill>
          <a:blip r:embed="rId2"/>
          <a:stretch>
            <a:fillRect/>
          </a:stretch>
        </p:blipFill>
        <p:spPr>
          <a:xfrm>
            <a:off x="319391" y="2359256"/>
            <a:ext cx="5410200" cy="2139488"/>
          </a:xfrm>
        </p:spPr>
      </p:pic>
      <p:sp>
        <p:nvSpPr>
          <p:cNvPr id="4" name="日期占位符 3">
            <a:extLst>
              <a:ext uri="{FF2B5EF4-FFF2-40B4-BE49-F238E27FC236}">
                <a16:creationId xmlns:a16="http://schemas.microsoft.com/office/drawing/2014/main" id="{3DB6D478-1A56-F950-6FB7-46AF550D1ADA}"/>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EB1406B3-2FFF-33DE-DA80-8356E75562CF}"/>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C5F9E004-F653-CF19-018E-929B46DEAB69}"/>
              </a:ext>
            </a:extLst>
          </p:cNvPr>
          <p:cNvSpPr>
            <a:spLocks noGrp="1"/>
          </p:cNvSpPr>
          <p:nvPr>
            <p:ph type="sldNum" sz="quarter" idx="12"/>
          </p:nvPr>
        </p:nvSpPr>
        <p:spPr/>
        <p:txBody>
          <a:bodyPr/>
          <a:lstStyle/>
          <a:p>
            <a:fld id="{A8EA73BB-BF9B-FF4D-AE0D-A76A49C50991}" type="slidenum">
              <a:rPr kumimoji="1" lang="zh-CN" altLang="en-US" smtClean="0"/>
              <a:t>11</a:t>
            </a:fld>
            <a:endParaRPr kumimoji="1" lang="zh-CN" altLang="en-US"/>
          </a:p>
        </p:txBody>
      </p:sp>
      <p:pic>
        <p:nvPicPr>
          <p:cNvPr id="10" name="图片 9">
            <a:extLst>
              <a:ext uri="{FF2B5EF4-FFF2-40B4-BE49-F238E27FC236}">
                <a16:creationId xmlns:a16="http://schemas.microsoft.com/office/drawing/2014/main" id="{DC58D917-AA2C-88F1-FED2-77CD4A3A586A}"/>
              </a:ext>
            </a:extLst>
          </p:cNvPr>
          <p:cNvPicPr>
            <a:picLocks noChangeAspect="1"/>
          </p:cNvPicPr>
          <p:nvPr/>
        </p:nvPicPr>
        <p:blipFill>
          <a:blip r:embed="rId3"/>
          <a:stretch>
            <a:fillRect/>
          </a:stretch>
        </p:blipFill>
        <p:spPr>
          <a:xfrm>
            <a:off x="6291363" y="1606415"/>
            <a:ext cx="5467755" cy="3645170"/>
          </a:xfrm>
          <a:prstGeom prst="rect">
            <a:avLst/>
          </a:prstGeom>
        </p:spPr>
      </p:pic>
    </p:spTree>
    <p:extLst>
      <p:ext uri="{BB962C8B-B14F-4D97-AF65-F5344CB8AC3E}">
        <p14:creationId xmlns:p14="http://schemas.microsoft.com/office/powerpoint/2010/main" val="3814923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97C37-89A0-72F3-DA91-99C119CBAC82}"/>
              </a:ext>
            </a:extLst>
          </p:cNvPr>
          <p:cNvSpPr>
            <a:spLocks noGrp="1"/>
          </p:cNvSpPr>
          <p:nvPr>
            <p:ph type="title"/>
          </p:nvPr>
        </p:nvSpPr>
        <p:spPr/>
        <p:txBody>
          <a:bodyPr/>
          <a:lstStyle/>
          <a:p>
            <a:r>
              <a:rPr kumimoji="1" lang="en-US" altLang="zh-CN" dirty="0"/>
              <a:t>Visualization</a:t>
            </a:r>
            <a:endParaRPr kumimoji="1" lang="zh-CN" altLang="en-US" dirty="0"/>
          </a:p>
        </p:txBody>
      </p:sp>
      <p:pic>
        <p:nvPicPr>
          <p:cNvPr id="8" name="内容占位符 7">
            <a:extLst>
              <a:ext uri="{FF2B5EF4-FFF2-40B4-BE49-F238E27FC236}">
                <a16:creationId xmlns:a16="http://schemas.microsoft.com/office/drawing/2014/main" id="{A93EFC1B-6AA6-AA98-94AE-F9E3929E9FD3}"/>
              </a:ext>
            </a:extLst>
          </p:cNvPr>
          <p:cNvPicPr>
            <a:picLocks noGrp="1" noChangeAspect="1"/>
          </p:cNvPicPr>
          <p:nvPr>
            <p:ph idx="1"/>
          </p:nvPr>
        </p:nvPicPr>
        <p:blipFill>
          <a:blip r:embed="rId2"/>
          <a:stretch>
            <a:fillRect/>
          </a:stretch>
        </p:blipFill>
        <p:spPr>
          <a:xfrm>
            <a:off x="441239" y="2211547"/>
            <a:ext cx="5134457" cy="3422971"/>
          </a:xfrm>
        </p:spPr>
      </p:pic>
      <p:sp>
        <p:nvSpPr>
          <p:cNvPr id="4" name="日期占位符 3">
            <a:extLst>
              <a:ext uri="{FF2B5EF4-FFF2-40B4-BE49-F238E27FC236}">
                <a16:creationId xmlns:a16="http://schemas.microsoft.com/office/drawing/2014/main" id="{11A71CCB-36E0-6B5E-1762-ECBCA2C7C2EF}"/>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F4936AFB-1EDD-E93A-B9DE-50EBC19EFD2C}"/>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79844B4B-1E37-714D-F7F5-6AA1676A0D2F}"/>
              </a:ext>
            </a:extLst>
          </p:cNvPr>
          <p:cNvSpPr>
            <a:spLocks noGrp="1"/>
          </p:cNvSpPr>
          <p:nvPr>
            <p:ph type="sldNum" sz="quarter" idx="12"/>
          </p:nvPr>
        </p:nvSpPr>
        <p:spPr/>
        <p:txBody>
          <a:bodyPr/>
          <a:lstStyle/>
          <a:p>
            <a:fld id="{A8EA73BB-BF9B-FF4D-AE0D-A76A49C50991}" type="slidenum">
              <a:rPr kumimoji="1" lang="zh-CN" altLang="en-US" smtClean="0"/>
              <a:t>12</a:t>
            </a:fld>
            <a:endParaRPr kumimoji="1" lang="zh-CN" altLang="en-US"/>
          </a:p>
        </p:txBody>
      </p:sp>
      <p:pic>
        <p:nvPicPr>
          <p:cNvPr id="10" name="图片 9">
            <a:extLst>
              <a:ext uri="{FF2B5EF4-FFF2-40B4-BE49-F238E27FC236}">
                <a16:creationId xmlns:a16="http://schemas.microsoft.com/office/drawing/2014/main" id="{DAAB69DA-4D47-9585-FE79-0BF151654ABD}"/>
              </a:ext>
            </a:extLst>
          </p:cNvPr>
          <p:cNvPicPr>
            <a:picLocks noChangeAspect="1"/>
          </p:cNvPicPr>
          <p:nvPr/>
        </p:nvPicPr>
        <p:blipFill>
          <a:blip r:embed="rId3"/>
          <a:stretch>
            <a:fillRect/>
          </a:stretch>
        </p:blipFill>
        <p:spPr>
          <a:xfrm>
            <a:off x="6116660" y="1027906"/>
            <a:ext cx="5634101" cy="5019472"/>
          </a:xfrm>
          <a:prstGeom prst="rect">
            <a:avLst/>
          </a:prstGeom>
        </p:spPr>
      </p:pic>
    </p:spTree>
    <p:extLst>
      <p:ext uri="{BB962C8B-B14F-4D97-AF65-F5344CB8AC3E}">
        <p14:creationId xmlns:p14="http://schemas.microsoft.com/office/powerpoint/2010/main" val="1682808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35A3CD-5712-3D91-6630-9C2C1EDFC4F3}"/>
              </a:ext>
            </a:extLst>
          </p:cNvPr>
          <p:cNvSpPr>
            <a:spLocks noGrp="1"/>
          </p:cNvSpPr>
          <p:nvPr>
            <p:ph type="title"/>
          </p:nvPr>
        </p:nvSpPr>
        <p:spPr/>
        <p:txBody>
          <a:bodyPr/>
          <a:lstStyle/>
          <a:p>
            <a:r>
              <a:rPr kumimoji="1" lang="en-US" altLang="zh-CN" dirty="0"/>
              <a:t>Conclusion</a:t>
            </a:r>
            <a:endParaRPr kumimoji="1" lang="zh-CN" altLang="en-US" dirty="0"/>
          </a:p>
        </p:txBody>
      </p:sp>
      <p:sp>
        <p:nvSpPr>
          <p:cNvPr id="3" name="内容占位符 2">
            <a:extLst>
              <a:ext uri="{FF2B5EF4-FFF2-40B4-BE49-F238E27FC236}">
                <a16:creationId xmlns:a16="http://schemas.microsoft.com/office/drawing/2014/main" id="{08F0C938-AD2F-DDEF-CD15-E0B53C16EEE3}"/>
              </a:ext>
            </a:extLst>
          </p:cNvPr>
          <p:cNvSpPr>
            <a:spLocks noGrp="1"/>
          </p:cNvSpPr>
          <p:nvPr>
            <p:ph idx="1"/>
          </p:nvPr>
        </p:nvSpPr>
        <p:spPr/>
        <p:txBody>
          <a:bodyPr/>
          <a:lstStyle/>
          <a:p>
            <a:r>
              <a:rPr kumimoji="1" lang="zh-CN" altLang="en-US" dirty="0"/>
              <a:t>通过</a:t>
            </a:r>
            <a:r>
              <a:rPr kumimoji="1" lang="en-US" altLang="zh-CN" dirty="0"/>
              <a:t>token</a:t>
            </a:r>
            <a:r>
              <a:rPr kumimoji="1" lang="zh-CN" altLang="en-US" dirty="0"/>
              <a:t>相似性增强了视角之间的特征关联</a:t>
            </a:r>
            <a:endParaRPr kumimoji="1" lang="en-US" altLang="zh-CN" dirty="0"/>
          </a:p>
          <a:p>
            <a:r>
              <a:rPr kumimoji="1" lang="zh-CN" altLang="en-US" dirty="0"/>
              <a:t>通过聚类压缩</a:t>
            </a:r>
            <a:r>
              <a:rPr kumimoji="1" lang="en-US" altLang="zh-CN" dirty="0"/>
              <a:t>token</a:t>
            </a:r>
          </a:p>
          <a:p>
            <a:endParaRPr kumimoji="1" lang="en-US" altLang="zh-CN" dirty="0"/>
          </a:p>
          <a:p>
            <a:endParaRPr kumimoji="1" lang="en-US" altLang="zh-CN" dirty="0"/>
          </a:p>
          <a:p>
            <a:r>
              <a:rPr kumimoji="1" lang="zh-CN" altLang="en-US" dirty="0"/>
              <a:t>视角多时很消耗内存和时间</a:t>
            </a:r>
            <a:endParaRPr kumimoji="1" lang="en-US" altLang="zh-CN" dirty="0"/>
          </a:p>
          <a:p>
            <a:r>
              <a:rPr kumimoji="1" lang="zh-CN" altLang="en-US" dirty="0"/>
              <a:t>视角少时</a:t>
            </a:r>
            <a:r>
              <a:rPr kumimoji="1" lang="en-US" altLang="zh-CN" dirty="0"/>
              <a:t>IVDB</a:t>
            </a:r>
            <a:r>
              <a:rPr kumimoji="1" lang="zh-CN" altLang="en-US" dirty="0"/>
              <a:t>很难发挥作用</a:t>
            </a:r>
          </a:p>
        </p:txBody>
      </p:sp>
      <p:sp>
        <p:nvSpPr>
          <p:cNvPr id="4" name="日期占位符 3">
            <a:extLst>
              <a:ext uri="{FF2B5EF4-FFF2-40B4-BE49-F238E27FC236}">
                <a16:creationId xmlns:a16="http://schemas.microsoft.com/office/drawing/2014/main" id="{CEB0F455-7922-D982-3EED-BE5CB56621D5}"/>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75CF6220-3143-C498-D75E-965FCA8C0C8A}"/>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4678E465-E236-3A17-C27E-CB697BBE8D40}"/>
              </a:ext>
            </a:extLst>
          </p:cNvPr>
          <p:cNvSpPr>
            <a:spLocks noGrp="1"/>
          </p:cNvSpPr>
          <p:nvPr>
            <p:ph type="sldNum" sz="quarter" idx="12"/>
          </p:nvPr>
        </p:nvSpPr>
        <p:spPr/>
        <p:txBody>
          <a:bodyPr/>
          <a:lstStyle/>
          <a:p>
            <a:fld id="{A8EA73BB-BF9B-FF4D-AE0D-A76A49C50991}" type="slidenum">
              <a:rPr kumimoji="1" lang="zh-CN" altLang="en-US" smtClean="0"/>
              <a:t>13</a:t>
            </a:fld>
            <a:endParaRPr kumimoji="1" lang="zh-CN" altLang="en-US"/>
          </a:p>
        </p:txBody>
      </p:sp>
    </p:spTree>
    <p:extLst>
      <p:ext uri="{BB962C8B-B14F-4D97-AF65-F5344CB8AC3E}">
        <p14:creationId xmlns:p14="http://schemas.microsoft.com/office/powerpoint/2010/main" val="1109856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E0515-5720-1C20-EE2F-161E65C3A030}"/>
              </a:ext>
            </a:extLst>
          </p:cNvPr>
          <p:cNvSpPr>
            <a:spLocks noGrp="1"/>
          </p:cNvSpPr>
          <p:nvPr>
            <p:ph type="title"/>
          </p:nvPr>
        </p:nvSpPr>
        <p:spPr/>
        <p:txBody>
          <a:bodyPr/>
          <a:lstStyle/>
          <a:p>
            <a:r>
              <a:rPr kumimoji="1" lang="en-US" altLang="zh-CN" dirty="0"/>
              <a:t>Abstract</a:t>
            </a:r>
            <a:endParaRPr kumimoji="1" lang="zh-CN" altLang="en-US" dirty="0"/>
          </a:p>
        </p:txBody>
      </p:sp>
      <p:sp>
        <p:nvSpPr>
          <p:cNvPr id="7" name="内容占位符 6">
            <a:extLst>
              <a:ext uri="{FF2B5EF4-FFF2-40B4-BE49-F238E27FC236}">
                <a16:creationId xmlns:a16="http://schemas.microsoft.com/office/drawing/2014/main" id="{21392289-46A6-019E-9715-9012FACA7FEE}"/>
              </a:ext>
            </a:extLst>
          </p:cNvPr>
          <p:cNvSpPr>
            <a:spLocks noGrp="1"/>
          </p:cNvSpPr>
          <p:nvPr>
            <p:ph sz="half" idx="1"/>
          </p:nvPr>
        </p:nvSpPr>
        <p:spPr>
          <a:xfrm>
            <a:off x="5982512" y="136525"/>
            <a:ext cx="6209488" cy="6449100"/>
          </a:xfrm>
        </p:spPr>
        <p:txBody>
          <a:bodyPr>
            <a:noAutofit/>
          </a:bodyPr>
          <a:lstStyle/>
          <a:p>
            <a:pPr marL="0" indent="0">
              <a:lnSpc>
                <a:spcPct val="170000"/>
              </a:lnSpc>
              <a:buNone/>
            </a:pPr>
            <a:r>
              <a:rPr lang="zh-CN" altLang="en-US" sz="1400" dirty="0"/>
              <a:t>    </a:t>
            </a:r>
            <a:r>
              <a:rPr lang="en" altLang="zh-CN" sz="1400" dirty="0"/>
              <a:t>In recent years, many video tasks have achieved breakthroughs by utilizing the vision transformer and establishing spatial-temporal decoupling for feature extraction. </a:t>
            </a:r>
            <a:r>
              <a:rPr lang="en" altLang="zh-CN" sz="1400" dirty="0">
                <a:solidFill>
                  <a:schemeClr val="bg1">
                    <a:lumMod val="75000"/>
                  </a:schemeClr>
                </a:solidFill>
              </a:rPr>
              <a:t>Although multi-view 3D reconstruction also faces multiple images as input, it cannot immediately inherit their success due to completely ambiguous associations between unstructured views. There is not usable prior relationship, which is similar to the temporally-coherence property in a video. To solve this problem, we propose a novel transformer network for Unstructured Multiple Images (</a:t>
            </a:r>
            <a:r>
              <a:rPr lang="en" altLang="zh-CN" sz="1400" dirty="0" err="1">
                <a:solidFill>
                  <a:schemeClr val="bg1">
                    <a:lumMod val="75000"/>
                  </a:schemeClr>
                </a:solidFill>
              </a:rPr>
              <a:t>UMIFormer</a:t>
            </a:r>
            <a:r>
              <a:rPr lang="en" altLang="zh-CN" sz="1400" dirty="0">
                <a:solidFill>
                  <a:schemeClr val="bg1">
                    <a:lumMod val="75000"/>
                  </a:schemeClr>
                </a:solidFill>
              </a:rPr>
              <a:t>). It exploits transformer blocks for decoupled intra-view encoding and designed blocks for token rectification that mine the correlation between similar tokens from different views to achieve decoupled inter- view encoding. Afterward, all tokens acquired from various branches are compressed into a fixed-size compact representation while preserving rich information for reconstruction by leveraging the similarities between tokens. We empirically demonstrate on </a:t>
            </a:r>
            <a:r>
              <a:rPr lang="en" altLang="zh-CN" sz="1400" dirty="0" err="1">
                <a:solidFill>
                  <a:schemeClr val="bg1">
                    <a:lumMod val="75000"/>
                  </a:schemeClr>
                </a:solidFill>
              </a:rPr>
              <a:t>ShapeNet</a:t>
            </a:r>
            <a:r>
              <a:rPr lang="en" altLang="zh-CN" sz="1400" dirty="0">
                <a:solidFill>
                  <a:schemeClr val="bg1">
                    <a:lumMod val="75000"/>
                  </a:schemeClr>
                </a:solidFill>
              </a:rPr>
              <a:t> and confirm that our decoupled learning method is adaptable for unstructured multiple images. Meanwhile, the experiments also verify our model outperforms existing SOTA methods by a large margin.</a:t>
            </a:r>
            <a:endParaRPr lang="zh-CN" altLang="en-US" sz="1400" dirty="0">
              <a:solidFill>
                <a:schemeClr val="bg1">
                  <a:lumMod val="75000"/>
                </a:schemeClr>
              </a:solidFill>
            </a:endParaRPr>
          </a:p>
        </p:txBody>
      </p:sp>
      <p:sp>
        <p:nvSpPr>
          <p:cNvPr id="8" name="内容占位符 7">
            <a:extLst>
              <a:ext uri="{FF2B5EF4-FFF2-40B4-BE49-F238E27FC236}">
                <a16:creationId xmlns:a16="http://schemas.microsoft.com/office/drawing/2014/main" id="{CE540BC8-5F69-95CD-6F29-E6CC417E8E83}"/>
              </a:ext>
            </a:extLst>
          </p:cNvPr>
          <p:cNvSpPr>
            <a:spLocks noGrp="1"/>
          </p:cNvSpPr>
          <p:nvPr>
            <p:ph sz="half" idx="2"/>
          </p:nvPr>
        </p:nvSpPr>
        <p:spPr>
          <a:xfrm>
            <a:off x="687424" y="1847850"/>
            <a:ext cx="5181600" cy="4351338"/>
          </a:xfrm>
        </p:spPr>
        <p:txBody>
          <a:bodyPr>
            <a:normAutofit/>
          </a:bodyPr>
          <a:lstStyle/>
          <a:p>
            <a:r>
              <a:rPr lang="zh-CN" altLang="en-US" sz="2000" dirty="0"/>
              <a:t>介绍视频任务利用</a:t>
            </a:r>
            <a:r>
              <a:rPr lang="en-US" altLang="zh-CN" sz="2000" dirty="0"/>
              <a:t>vision</a:t>
            </a:r>
            <a:r>
              <a:rPr lang="zh-CN" altLang="en-US" sz="2000" dirty="0"/>
              <a:t> </a:t>
            </a:r>
            <a:r>
              <a:rPr lang="en-US" altLang="zh-CN" sz="2000" dirty="0"/>
              <a:t>transformer</a:t>
            </a:r>
            <a:r>
              <a:rPr lang="zh-CN" altLang="en-US" sz="2000" dirty="0"/>
              <a:t>取得了很大的进展</a:t>
            </a:r>
          </a:p>
        </p:txBody>
      </p:sp>
      <p:sp>
        <p:nvSpPr>
          <p:cNvPr id="4" name="日期占位符 3">
            <a:extLst>
              <a:ext uri="{FF2B5EF4-FFF2-40B4-BE49-F238E27FC236}">
                <a16:creationId xmlns:a16="http://schemas.microsoft.com/office/drawing/2014/main" id="{9F0BC379-8F86-EFDC-280A-ABE66C5DEE42}"/>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BC3395AB-2BCB-0AE8-F7A5-A4F8558852DE}"/>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6974FF86-2A33-0575-3B0F-1A91D1E04391}"/>
              </a:ext>
            </a:extLst>
          </p:cNvPr>
          <p:cNvSpPr>
            <a:spLocks noGrp="1"/>
          </p:cNvSpPr>
          <p:nvPr>
            <p:ph type="sldNum" sz="quarter" idx="12"/>
          </p:nvPr>
        </p:nvSpPr>
        <p:spPr/>
        <p:txBody>
          <a:bodyPr/>
          <a:lstStyle/>
          <a:p>
            <a:fld id="{A8EA73BB-BF9B-FF4D-AE0D-A76A49C50991}" type="slidenum">
              <a:rPr kumimoji="1" lang="zh-CN" altLang="en-US" smtClean="0"/>
              <a:t>14</a:t>
            </a:fld>
            <a:endParaRPr kumimoji="1" lang="zh-CN" altLang="en-US"/>
          </a:p>
        </p:txBody>
      </p:sp>
    </p:spTree>
    <p:extLst>
      <p:ext uri="{BB962C8B-B14F-4D97-AF65-F5344CB8AC3E}">
        <p14:creationId xmlns:p14="http://schemas.microsoft.com/office/powerpoint/2010/main" val="2161282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E0515-5720-1C20-EE2F-161E65C3A030}"/>
              </a:ext>
            </a:extLst>
          </p:cNvPr>
          <p:cNvSpPr>
            <a:spLocks noGrp="1"/>
          </p:cNvSpPr>
          <p:nvPr>
            <p:ph type="title"/>
          </p:nvPr>
        </p:nvSpPr>
        <p:spPr/>
        <p:txBody>
          <a:bodyPr/>
          <a:lstStyle/>
          <a:p>
            <a:r>
              <a:rPr kumimoji="1" lang="en-US" altLang="zh-CN" dirty="0"/>
              <a:t>Abstract</a:t>
            </a:r>
            <a:endParaRPr kumimoji="1" lang="zh-CN" altLang="en-US" dirty="0"/>
          </a:p>
        </p:txBody>
      </p:sp>
      <p:sp>
        <p:nvSpPr>
          <p:cNvPr id="7" name="内容占位符 6">
            <a:extLst>
              <a:ext uri="{FF2B5EF4-FFF2-40B4-BE49-F238E27FC236}">
                <a16:creationId xmlns:a16="http://schemas.microsoft.com/office/drawing/2014/main" id="{21392289-46A6-019E-9715-9012FACA7FEE}"/>
              </a:ext>
            </a:extLst>
          </p:cNvPr>
          <p:cNvSpPr>
            <a:spLocks noGrp="1"/>
          </p:cNvSpPr>
          <p:nvPr>
            <p:ph sz="half" idx="1"/>
          </p:nvPr>
        </p:nvSpPr>
        <p:spPr>
          <a:xfrm>
            <a:off x="5982512" y="136525"/>
            <a:ext cx="6209488" cy="6449100"/>
          </a:xfrm>
        </p:spPr>
        <p:txBody>
          <a:bodyPr>
            <a:noAutofit/>
          </a:bodyPr>
          <a:lstStyle/>
          <a:p>
            <a:pPr marL="0" indent="0">
              <a:lnSpc>
                <a:spcPct val="170000"/>
              </a:lnSpc>
              <a:buNone/>
            </a:pPr>
            <a:r>
              <a:rPr lang="zh-CN" altLang="en-US" sz="1400" dirty="0">
                <a:solidFill>
                  <a:schemeClr val="bg1">
                    <a:lumMod val="75000"/>
                  </a:schemeClr>
                </a:solidFill>
              </a:rPr>
              <a:t>    </a:t>
            </a:r>
            <a:r>
              <a:rPr lang="en" altLang="zh-CN" sz="1400" dirty="0">
                <a:solidFill>
                  <a:schemeClr val="bg1">
                    <a:lumMod val="75000"/>
                  </a:schemeClr>
                </a:solidFill>
              </a:rPr>
              <a:t>In recent years, many video tasks have achieved breakthroughs by utilizing the vision transformer and establishing spatial-temporal decoupling for feature extraction. </a:t>
            </a:r>
            <a:r>
              <a:rPr lang="en" altLang="zh-CN" sz="1400" dirty="0"/>
              <a:t>Although multi-view 3D reconstruction also faces multiple images as input, it cannot immediately inherit their success due to completely ambiguous associations between unstructured views. There is not usable prior relationship, which is similar to the temporally-coherence property in a video. </a:t>
            </a:r>
            <a:r>
              <a:rPr lang="en" altLang="zh-CN" sz="1400" dirty="0">
                <a:solidFill>
                  <a:schemeClr val="bg1">
                    <a:lumMod val="75000"/>
                  </a:schemeClr>
                </a:solidFill>
              </a:rPr>
              <a:t>To solve this problem, we propose a novel transformer network for Unstructured Multiple Images (</a:t>
            </a:r>
            <a:r>
              <a:rPr lang="en" altLang="zh-CN" sz="1400" dirty="0" err="1">
                <a:solidFill>
                  <a:schemeClr val="bg1">
                    <a:lumMod val="75000"/>
                  </a:schemeClr>
                </a:solidFill>
              </a:rPr>
              <a:t>UMIFormer</a:t>
            </a:r>
            <a:r>
              <a:rPr lang="en" altLang="zh-CN" sz="1400" dirty="0">
                <a:solidFill>
                  <a:schemeClr val="bg1">
                    <a:lumMod val="75000"/>
                  </a:schemeClr>
                </a:solidFill>
              </a:rPr>
              <a:t>). It exploits transformer blocks for decoupled intra-view encoding and designed blocks for token rectification that mine the correlation between similar tokens from different views to achieve decoupled inter- view encoding. Afterward, all tokens acquired from various branches are compressed into a fixed-size compact representation while preserving rich information for reconstruction by leveraging the similarities between tokens. We empirically demonstrate on </a:t>
            </a:r>
            <a:r>
              <a:rPr lang="en" altLang="zh-CN" sz="1400" dirty="0" err="1">
                <a:solidFill>
                  <a:schemeClr val="bg1">
                    <a:lumMod val="75000"/>
                  </a:schemeClr>
                </a:solidFill>
              </a:rPr>
              <a:t>ShapeNet</a:t>
            </a:r>
            <a:r>
              <a:rPr lang="en" altLang="zh-CN" sz="1400" dirty="0">
                <a:solidFill>
                  <a:schemeClr val="bg1">
                    <a:lumMod val="75000"/>
                  </a:schemeClr>
                </a:solidFill>
              </a:rPr>
              <a:t> and confirm that our decoupled learning method is adaptable for unstructured multiple images. Meanwhile, the experiments also verify our model outperforms existing SOTA methods by a large margin.</a:t>
            </a:r>
            <a:endParaRPr lang="zh-CN" altLang="en-US" sz="1400" dirty="0">
              <a:solidFill>
                <a:schemeClr val="bg1">
                  <a:lumMod val="75000"/>
                </a:schemeClr>
              </a:solidFill>
            </a:endParaRPr>
          </a:p>
        </p:txBody>
      </p:sp>
      <p:sp>
        <p:nvSpPr>
          <p:cNvPr id="8" name="内容占位符 7">
            <a:extLst>
              <a:ext uri="{FF2B5EF4-FFF2-40B4-BE49-F238E27FC236}">
                <a16:creationId xmlns:a16="http://schemas.microsoft.com/office/drawing/2014/main" id="{CE540BC8-5F69-95CD-6F29-E6CC417E8E83}"/>
              </a:ext>
            </a:extLst>
          </p:cNvPr>
          <p:cNvSpPr>
            <a:spLocks noGrp="1"/>
          </p:cNvSpPr>
          <p:nvPr>
            <p:ph sz="half" idx="2"/>
          </p:nvPr>
        </p:nvSpPr>
        <p:spPr>
          <a:xfrm>
            <a:off x="687424" y="1847850"/>
            <a:ext cx="5181600" cy="4351338"/>
          </a:xfrm>
        </p:spPr>
        <p:txBody>
          <a:bodyPr>
            <a:normAutofit/>
          </a:bodyPr>
          <a:lstStyle/>
          <a:p>
            <a:r>
              <a:rPr lang="zh-CN" altLang="en-US" sz="2000" dirty="0"/>
              <a:t>相同之处在于输入多张图片</a:t>
            </a:r>
            <a:endParaRPr lang="en-US" altLang="zh-CN" sz="2000" dirty="0"/>
          </a:p>
          <a:p>
            <a:r>
              <a:rPr lang="zh-CN" altLang="en-US" sz="2000" dirty="0"/>
              <a:t>不同之处为图片没有时间的连续性</a:t>
            </a:r>
          </a:p>
        </p:txBody>
      </p:sp>
      <p:sp>
        <p:nvSpPr>
          <p:cNvPr id="4" name="日期占位符 3">
            <a:extLst>
              <a:ext uri="{FF2B5EF4-FFF2-40B4-BE49-F238E27FC236}">
                <a16:creationId xmlns:a16="http://schemas.microsoft.com/office/drawing/2014/main" id="{9F0BC379-8F86-EFDC-280A-ABE66C5DEE42}"/>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BC3395AB-2BCB-0AE8-F7A5-A4F8558852DE}"/>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6974FF86-2A33-0575-3B0F-1A91D1E04391}"/>
              </a:ext>
            </a:extLst>
          </p:cNvPr>
          <p:cNvSpPr>
            <a:spLocks noGrp="1"/>
          </p:cNvSpPr>
          <p:nvPr>
            <p:ph type="sldNum" sz="quarter" idx="12"/>
          </p:nvPr>
        </p:nvSpPr>
        <p:spPr/>
        <p:txBody>
          <a:bodyPr/>
          <a:lstStyle/>
          <a:p>
            <a:fld id="{A8EA73BB-BF9B-FF4D-AE0D-A76A49C50991}" type="slidenum">
              <a:rPr kumimoji="1" lang="zh-CN" altLang="en-US" smtClean="0"/>
              <a:t>15</a:t>
            </a:fld>
            <a:endParaRPr kumimoji="1" lang="zh-CN" altLang="en-US"/>
          </a:p>
        </p:txBody>
      </p:sp>
    </p:spTree>
    <p:extLst>
      <p:ext uri="{BB962C8B-B14F-4D97-AF65-F5344CB8AC3E}">
        <p14:creationId xmlns:p14="http://schemas.microsoft.com/office/powerpoint/2010/main" val="3945971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E0515-5720-1C20-EE2F-161E65C3A030}"/>
              </a:ext>
            </a:extLst>
          </p:cNvPr>
          <p:cNvSpPr>
            <a:spLocks noGrp="1"/>
          </p:cNvSpPr>
          <p:nvPr>
            <p:ph type="title"/>
          </p:nvPr>
        </p:nvSpPr>
        <p:spPr/>
        <p:txBody>
          <a:bodyPr/>
          <a:lstStyle/>
          <a:p>
            <a:r>
              <a:rPr kumimoji="1" lang="en-US" altLang="zh-CN" dirty="0"/>
              <a:t>Abstract</a:t>
            </a:r>
            <a:endParaRPr kumimoji="1" lang="zh-CN" altLang="en-US" dirty="0"/>
          </a:p>
        </p:txBody>
      </p:sp>
      <p:sp>
        <p:nvSpPr>
          <p:cNvPr id="7" name="内容占位符 6">
            <a:extLst>
              <a:ext uri="{FF2B5EF4-FFF2-40B4-BE49-F238E27FC236}">
                <a16:creationId xmlns:a16="http://schemas.microsoft.com/office/drawing/2014/main" id="{21392289-46A6-019E-9715-9012FACA7FEE}"/>
              </a:ext>
            </a:extLst>
          </p:cNvPr>
          <p:cNvSpPr>
            <a:spLocks noGrp="1"/>
          </p:cNvSpPr>
          <p:nvPr>
            <p:ph sz="half" idx="1"/>
          </p:nvPr>
        </p:nvSpPr>
        <p:spPr>
          <a:xfrm>
            <a:off x="5982512" y="136525"/>
            <a:ext cx="6209488" cy="6449100"/>
          </a:xfrm>
        </p:spPr>
        <p:txBody>
          <a:bodyPr>
            <a:noAutofit/>
          </a:bodyPr>
          <a:lstStyle/>
          <a:p>
            <a:pPr marL="0" indent="0">
              <a:lnSpc>
                <a:spcPct val="170000"/>
              </a:lnSpc>
              <a:buNone/>
            </a:pPr>
            <a:r>
              <a:rPr lang="zh-CN" altLang="en-US" sz="1400" dirty="0">
                <a:solidFill>
                  <a:schemeClr val="bg1">
                    <a:lumMod val="75000"/>
                  </a:schemeClr>
                </a:solidFill>
              </a:rPr>
              <a:t>    </a:t>
            </a:r>
            <a:r>
              <a:rPr lang="en" altLang="zh-CN" sz="1400" dirty="0">
                <a:solidFill>
                  <a:schemeClr val="bg1">
                    <a:lumMod val="75000"/>
                  </a:schemeClr>
                </a:solidFill>
              </a:rPr>
              <a:t>In recent years, many video tasks have achieved breakthroughs by utilizing the vision transformer and establishing spatial-temporal decoupling for feature extraction. Although multi-view 3D reconstruction also faces multiple images as input, it cannot immediately inherit their success due to completely ambiguous associations between unstructured views. There is not usable prior relationship, which is similar to the temporally-coherence property in a video. </a:t>
            </a:r>
            <a:r>
              <a:rPr lang="en" altLang="zh-CN" sz="1400" dirty="0"/>
              <a:t>To solve this problem, we propose a novel transformer network for Unstructured Multiple Images (</a:t>
            </a:r>
            <a:r>
              <a:rPr lang="en" altLang="zh-CN" sz="1400" dirty="0" err="1"/>
              <a:t>UMIFormer</a:t>
            </a:r>
            <a:r>
              <a:rPr lang="en" altLang="zh-CN" sz="1400" dirty="0"/>
              <a:t>). It exploits transformer blocks for decoupled intra-view encoding and designed blocks for token rectification that mine the correlation between similar tokens from different views to achieve decoupled inter- view encoding. Afterward, all tokens acquired from various branches are compressed into a fixed-size compact representation while preserving rich information for reconstruction by leveraging the similarities between tokens. </a:t>
            </a:r>
            <a:r>
              <a:rPr lang="en" altLang="zh-CN" sz="1400" dirty="0">
                <a:solidFill>
                  <a:schemeClr val="bg1">
                    <a:lumMod val="75000"/>
                  </a:schemeClr>
                </a:solidFill>
              </a:rPr>
              <a:t>We empirically demonstrate on </a:t>
            </a:r>
            <a:r>
              <a:rPr lang="en" altLang="zh-CN" sz="1400" dirty="0" err="1">
                <a:solidFill>
                  <a:schemeClr val="bg1">
                    <a:lumMod val="75000"/>
                  </a:schemeClr>
                </a:solidFill>
              </a:rPr>
              <a:t>ShapeNet</a:t>
            </a:r>
            <a:r>
              <a:rPr lang="en" altLang="zh-CN" sz="1400" dirty="0">
                <a:solidFill>
                  <a:schemeClr val="bg1">
                    <a:lumMod val="75000"/>
                  </a:schemeClr>
                </a:solidFill>
              </a:rPr>
              <a:t> and confirm that our decoupled learning method is adaptable for unstructured multiple images. Meanwhile, the experiments also verify our model outperforms existing SOTA methods by a large margin.</a:t>
            </a:r>
            <a:endParaRPr lang="zh-CN" altLang="en-US" sz="1400" dirty="0">
              <a:solidFill>
                <a:schemeClr val="bg1">
                  <a:lumMod val="75000"/>
                </a:schemeClr>
              </a:solidFill>
            </a:endParaRPr>
          </a:p>
        </p:txBody>
      </p:sp>
      <p:sp>
        <p:nvSpPr>
          <p:cNvPr id="8" name="内容占位符 7">
            <a:extLst>
              <a:ext uri="{FF2B5EF4-FFF2-40B4-BE49-F238E27FC236}">
                <a16:creationId xmlns:a16="http://schemas.microsoft.com/office/drawing/2014/main" id="{CE540BC8-5F69-95CD-6F29-E6CC417E8E83}"/>
              </a:ext>
            </a:extLst>
          </p:cNvPr>
          <p:cNvSpPr>
            <a:spLocks noGrp="1"/>
          </p:cNvSpPr>
          <p:nvPr>
            <p:ph sz="half" idx="2"/>
          </p:nvPr>
        </p:nvSpPr>
        <p:spPr>
          <a:xfrm>
            <a:off x="687424" y="1847850"/>
            <a:ext cx="5181600" cy="4351338"/>
          </a:xfrm>
        </p:spPr>
        <p:txBody>
          <a:bodyPr>
            <a:normAutofit/>
          </a:bodyPr>
          <a:lstStyle/>
          <a:p>
            <a:r>
              <a:rPr lang="zh-CN" altLang="en-US" sz="2000" dirty="0"/>
              <a:t>引出</a:t>
            </a:r>
            <a:r>
              <a:rPr lang="en-US" altLang="zh-CN" sz="2000" dirty="0" err="1"/>
              <a:t>UMIFormer</a:t>
            </a:r>
            <a:endParaRPr lang="en-US" altLang="zh-CN" sz="2000" dirty="0"/>
          </a:p>
          <a:p>
            <a:r>
              <a:rPr lang="zh-CN" altLang="en-US" sz="2000" dirty="0"/>
              <a:t>探索不同视角的</a:t>
            </a:r>
            <a:r>
              <a:rPr lang="en-US" altLang="zh-CN" sz="2000" dirty="0"/>
              <a:t>Token</a:t>
            </a:r>
            <a:r>
              <a:rPr lang="zh-CN" altLang="en-US" sz="2000" dirty="0"/>
              <a:t>间的相似性来提升视角间的联系</a:t>
            </a:r>
            <a:endParaRPr lang="en-US" altLang="zh-CN" sz="2000" dirty="0"/>
          </a:p>
          <a:p>
            <a:r>
              <a:rPr lang="zh-CN" altLang="en-US" sz="2000" dirty="0"/>
              <a:t>然后将所有视角的</a:t>
            </a:r>
            <a:r>
              <a:rPr lang="en-US" altLang="zh-CN" sz="2000" dirty="0"/>
              <a:t>token</a:t>
            </a:r>
            <a:r>
              <a:rPr lang="zh-CN" altLang="en-US" sz="2000" dirty="0"/>
              <a:t>压缩</a:t>
            </a:r>
          </a:p>
        </p:txBody>
      </p:sp>
      <p:sp>
        <p:nvSpPr>
          <p:cNvPr id="4" name="日期占位符 3">
            <a:extLst>
              <a:ext uri="{FF2B5EF4-FFF2-40B4-BE49-F238E27FC236}">
                <a16:creationId xmlns:a16="http://schemas.microsoft.com/office/drawing/2014/main" id="{9F0BC379-8F86-EFDC-280A-ABE66C5DEE42}"/>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BC3395AB-2BCB-0AE8-F7A5-A4F8558852DE}"/>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6974FF86-2A33-0575-3B0F-1A91D1E04391}"/>
              </a:ext>
            </a:extLst>
          </p:cNvPr>
          <p:cNvSpPr>
            <a:spLocks noGrp="1"/>
          </p:cNvSpPr>
          <p:nvPr>
            <p:ph type="sldNum" sz="quarter" idx="12"/>
          </p:nvPr>
        </p:nvSpPr>
        <p:spPr/>
        <p:txBody>
          <a:bodyPr/>
          <a:lstStyle/>
          <a:p>
            <a:fld id="{A8EA73BB-BF9B-FF4D-AE0D-A76A49C50991}" type="slidenum">
              <a:rPr kumimoji="1" lang="zh-CN" altLang="en-US" smtClean="0"/>
              <a:t>16</a:t>
            </a:fld>
            <a:endParaRPr kumimoji="1" lang="zh-CN" altLang="en-US"/>
          </a:p>
        </p:txBody>
      </p:sp>
    </p:spTree>
    <p:extLst>
      <p:ext uri="{BB962C8B-B14F-4D97-AF65-F5344CB8AC3E}">
        <p14:creationId xmlns:p14="http://schemas.microsoft.com/office/powerpoint/2010/main" val="2629083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0E0515-5720-1C20-EE2F-161E65C3A030}"/>
              </a:ext>
            </a:extLst>
          </p:cNvPr>
          <p:cNvSpPr>
            <a:spLocks noGrp="1"/>
          </p:cNvSpPr>
          <p:nvPr>
            <p:ph type="title"/>
          </p:nvPr>
        </p:nvSpPr>
        <p:spPr/>
        <p:txBody>
          <a:bodyPr/>
          <a:lstStyle/>
          <a:p>
            <a:r>
              <a:rPr kumimoji="1" lang="en-US" altLang="zh-CN" dirty="0"/>
              <a:t>Abstract</a:t>
            </a:r>
            <a:endParaRPr kumimoji="1" lang="zh-CN" altLang="en-US" dirty="0"/>
          </a:p>
        </p:txBody>
      </p:sp>
      <p:sp>
        <p:nvSpPr>
          <p:cNvPr id="7" name="内容占位符 6">
            <a:extLst>
              <a:ext uri="{FF2B5EF4-FFF2-40B4-BE49-F238E27FC236}">
                <a16:creationId xmlns:a16="http://schemas.microsoft.com/office/drawing/2014/main" id="{21392289-46A6-019E-9715-9012FACA7FEE}"/>
              </a:ext>
            </a:extLst>
          </p:cNvPr>
          <p:cNvSpPr>
            <a:spLocks noGrp="1"/>
          </p:cNvSpPr>
          <p:nvPr>
            <p:ph sz="half" idx="1"/>
          </p:nvPr>
        </p:nvSpPr>
        <p:spPr>
          <a:xfrm>
            <a:off x="5982512" y="136525"/>
            <a:ext cx="6209488" cy="6449100"/>
          </a:xfrm>
        </p:spPr>
        <p:txBody>
          <a:bodyPr>
            <a:noAutofit/>
          </a:bodyPr>
          <a:lstStyle/>
          <a:p>
            <a:pPr marL="0" indent="0">
              <a:lnSpc>
                <a:spcPct val="170000"/>
              </a:lnSpc>
              <a:buNone/>
            </a:pPr>
            <a:r>
              <a:rPr lang="zh-CN" altLang="en-US" sz="1400" dirty="0">
                <a:solidFill>
                  <a:schemeClr val="bg1">
                    <a:lumMod val="75000"/>
                  </a:schemeClr>
                </a:solidFill>
              </a:rPr>
              <a:t>    </a:t>
            </a:r>
            <a:r>
              <a:rPr lang="en" altLang="zh-CN" sz="1400" dirty="0">
                <a:solidFill>
                  <a:schemeClr val="bg1">
                    <a:lumMod val="75000"/>
                  </a:schemeClr>
                </a:solidFill>
              </a:rPr>
              <a:t>In recent years, many video tasks have achieved breakthroughs by utilizing the vision transformer and establishing spatial-temporal decoupling for feature extraction. Although multi-view 3D reconstruction also faces multiple images as input, it cannot immediately inherit their success due to completely ambiguous associations between unstructured views. There is not usable prior relationship, which is similar to the temporally-coherence property in a video. To solve this problem, we propose a novel transformer network for Unstructured Multiple Images (</a:t>
            </a:r>
            <a:r>
              <a:rPr lang="en" altLang="zh-CN" sz="1400" dirty="0" err="1">
                <a:solidFill>
                  <a:schemeClr val="bg1">
                    <a:lumMod val="75000"/>
                  </a:schemeClr>
                </a:solidFill>
              </a:rPr>
              <a:t>UMIFormer</a:t>
            </a:r>
            <a:r>
              <a:rPr lang="en" altLang="zh-CN" sz="1400" dirty="0">
                <a:solidFill>
                  <a:schemeClr val="bg1">
                    <a:lumMod val="75000"/>
                  </a:schemeClr>
                </a:solidFill>
              </a:rPr>
              <a:t>). It exploits transformer blocks for decoupled intra-view encoding and designed blocks for token rectification that mine the correlation between similar tokens from different views to achieve decoupled inter- view encoding. Afterward, all tokens acquired from various branches are compressed into a fixed-size compact representation while preserving rich information for reconstruction by leveraging the similarities between tokens. </a:t>
            </a:r>
            <a:r>
              <a:rPr lang="en" altLang="zh-CN" sz="1400" dirty="0"/>
              <a:t>We empirically demonstrate on </a:t>
            </a:r>
            <a:r>
              <a:rPr lang="en" altLang="zh-CN" sz="1400" dirty="0" err="1"/>
              <a:t>ShapeNet</a:t>
            </a:r>
            <a:r>
              <a:rPr lang="en" altLang="zh-CN" sz="1400" dirty="0"/>
              <a:t> and confirm that our decoupled learning method is adaptable for unstructured multiple images. Meanwhile, the experiments also verify our model outperforms existing SOTA methods by a large margin.</a:t>
            </a:r>
            <a:endParaRPr lang="zh-CN" altLang="en-US" sz="1400" dirty="0"/>
          </a:p>
        </p:txBody>
      </p:sp>
      <p:sp>
        <p:nvSpPr>
          <p:cNvPr id="8" name="内容占位符 7">
            <a:extLst>
              <a:ext uri="{FF2B5EF4-FFF2-40B4-BE49-F238E27FC236}">
                <a16:creationId xmlns:a16="http://schemas.microsoft.com/office/drawing/2014/main" id="{CE540BC8-5F69-95CD-6F29-E6CC417E8E83}"/>
              </a:ext>
            </a:extLst>
          </p:cNvPr>
          <p:cNvSpPr>
            <a:spLocks noGrp="1"/>
          </p:cNvSpPr>
          <p:nvPr>
            <p:ph sz="half" idx="2"/>
          </p:nvPr>
        </p:nvSpPr>
        <p:spPr>
          <a:xfrm>
            <a:off x="687424" y="1847850"/>
            <a:ext cx="5181600" cy="4351338"/>
          </a:xfrm>
        </p:spPr>
        <p:txBody>
          <a:bodyPr>
            <a:normAutofit/>
          </a:bodyPr>
          <a:lstStyle/>
          <a:p>
            <a:r>
              <a:rPr lang="zh-CN" altLang="en-US" sz="2000" dirty="0"/>
              <a:t>实验结果</a:t>
            </a:r>
          </a:p>
        </p:txBody>
      </p:sp>
      <p:sp>
        <p:nvSpPr>
          <p:cNvPr id="4" name="日期占位符 3">
            <a:extLst>
              <a:ext uri="{FF2B5EF4-FFF2-40B4-BE49-F238E27FC236}">
                <a16:creationId xmlns:a16="http://schemas.microsoft.com/office/drawing/2014/main" id="{9F0BC379-8F86-EFDC-280A-ABE66C5DEE42}"/>
              </a:ext>
            </a:extLst>
          </p:cNvPr>
          <p:cNvSpPr>
            <a:spLocks noGrp="1"/>
          </p:cNvSpPr>
          <p:nvPr>
            <p:ph type="dt" sz="half" idx="10"/>
          </p:nvPr>
        </p:nvSpPr>
        <p:spPr/>
        <p:txBody>
          <a:bodyPr/>
          <a:lstStyle/>
          <a:p>
            <a:fld id="{09D1E538-1B1F-0146-AC98-EA6B277EAF5E}" type="datetime1">
              <a:rPr kumimoji="1" lang="zh-CN" altLang="en-US" smtClean="0"/>
              <a:t>2023/12/1</a:t>
            </a:fld>
            <a:endParaRPr kumimoji="1" lang="zh-CN" altLang="en-US"/>
          </a:p>
        </p:txBody>
      </p:sp>
      <p:sp>
        <p:nvSpPr>
          <p:cNvPr id="5" name="页脚占位符 4">
            <a:extLst>
              <a:ext uri="{FF2B5EF4-FFF2-40B4-BE49-F238E27FC236}">
                <a16:creationId xmlns:a16="http://schemas.microsoft.com/office/drawing/2014/main" id="{BC3395AB-2BCB-0AE8-F7A5-A4F8558852DE}"/>
              </a:ext>
            </a:extLst>
          </p:cNvPr>
          <p:cNvSpPr>
            <a:spLocks noGrp="1"/>
          </p:cNvSpPr>
          <p:nvPr>
            <p:ph type="ftr" sz="quarter" idx="11"/>
          </p:nvPr>
        </p:nvSpPr>
        <p:spPr/>
        <p:txBody>
          <a:bodyPr/>
          <a:lstStyle/>
          <a:p>
            <a:r>
              <a:rPr kumimoji="1" lang="en" altLang="zh-CN"/>
              <a:t>YWN</a:t>
            </a:r>
            <a:endParaRPr kumimoji="1" lang="zh-CN" altLang="en-US"/>
          </a:p>
        </p:txBody>
      </p:sp>
      <p:sp>
        <p:nvSpPr>
          <p:cNvPr id="6" name="灯片编号占位符 5">
            <a:extLst>
              <a:ext uri="{FF2B5EF4-FFF2-40B4-BE49-F238E27FC236}">
                <a16:creationId xmlns:a16="http://schemas.microsoft.com/office/drawing/2014/main" id="{6974FF86-2A33-0575-3B0F-1A91D1E04391}"/>
              </a:ext>
            </a:extLst>
          </p:cNvPr>
          <p:cNvSpPr>
            <a:spLocks noGrp="1"/>
          </p:cNvSpPr>
          <p:nvPr>
            <p:ph type="sldNum" sz="quarter" idx="12"/>
          </p:nvPr>
        </p:nvSpPr>
        <p:spPr/>
        <p:txBody>
          <a:bodyPr/>
          <a:lstStyle/>
          <a:p>
            <a:fld id="{A8EA73BB-BF9B-FF4D-AE0D-A76A49C50991}" type="slidenum">
              <a:rPr kumimoji="1" lang="zh-CN" altLang="en-US" smtClean="0"/>
              <a:t>17</a:t>
            </a:fld>
            <a:endParaRPr kumimoji="1" lang="zh-CN" altLang="en-US"/>
          </a:p>
        </p:txBody>
      </p:sp>
    </p:spTree>
    <p:extLst>
      <p:ext uri="{BB962C8B-B14F-4D97-AF65-F5344CB8AC3E}">
        <p14:creationId xmlns:p14="http://schemas.microsoft.com/office/powerpoint/2010/main" val="1660940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A7A291-FF13-ABA5-C64F-E2902E4475C8}"/>
              </a:ext>
            </a:extLst>
          </p:cNvPr>
          <p:cNvSpPr>
            <a:spLocks noGrp="1"/>
          </p:cNvSpPr>
          <p:nvPr>
            <p:ph type="title"/>
          </p:nvPr>
        </p:nvSpPr>
        <p:spPr/>
        <p:txBody>
          <a:bodyPr/>
          <a:lstStyle/>
          <a:p>
            <a:r>
              <a:rPr kumimoji="1" lang="en-US" altLang="zh-CN" dirty="0"/>
              <a:t>Introduction 1</a:t>
            </a:r>
            <a:endParaRPr kumimoji="1" lang="zh-CN" altLang="en-US" dirty="0"/>
          </a:p>
        </p:txBody>
      </p:sp>
      <p:sp>
        <p:nvSpPr>
          <p:cNvPr id="3" name="内容占位符 2">
            <a:extLst>
              <a:ext uri="{FF2B5EF4-FFF2-40B4-BE49-F238E27FC236}">
                <a16:creationId xmlns:a16="http://schemas.microsoft.com/office/drawing/2014/main" id="{B938D4EC-41D6-1FA7-2BF0-6F4FBD4FC97A}"/>
              </a:ext>
            </a:extLst>
          </p:cNvPr>
          <p:cNvSpPr>
            <a:spLocks noGrp="1"/>
          </p:cNvSpPr>
          <p:nvPr>
            <p:ph sz="half" idx="1"/>
          </p:nvPr>
        </p:nvSpPr>
        <p:spPr/>
        <p:txBody>
          <a:bodyPr>
            <a:normAutofit/>
          </a:bodyPr>
          <a:lstStyle/>
          <a:p>
            <a:r>
              <a:rPr kumimoji="1" lang="zh-CN" altLang="en-US" sz="2000" dirty="0"/>
              <a:t>介绍三维重建任务应用</a:t>
            </a:r>
            <a:endParaRPr kumimoji="1" lang="en-US" altLang="zh-CN" sz="2000" dirty="0"/>
          </a:p>
          <a:p>
            <a:endParaRPr kumimoji="1" lang="en-US" altLang="zh-CN" sz="2000" dirty="0"/>
          </a:p>
          <a:p>
            <a:r>
              <a:rPr kumimoji="1" lang="zh-CN" altLang="en-US" sz="2000" dirty="0"/>
              <a:t>分别介绍单视角和多视角的一般方法</a:t>
            </a:r>
            <a:endParaRPr kumimoji="1" lang="en-US" altLang="zh-CN" sz="2000" dirty="0"/>
          </a:p>
          <a:p>
            <a:endParaRPr kumimoji="1" lang="en-US" altLang="zh-CN" sz="2000" dirty="0"/>
          </a:p>
          <a:p>
            <a:r>
              <a:rPr kumimoji="1" lang="zh-CN" altLang="en-US" sz="2000" dirty="0"/>
              <a:t>说明本文任务是多视角三维体素重建</a:t>
            </a:r>
          </a:p>
        </p:txBody>
      </p:sp>
      <p:sp>
        <p:nvSpPr>
          <p:cNvPr id="4" name="内容占位符 3">
            <a:extLst>
              <a:ext uri="{FF2B5EF4-FFF2-40B4-BE49-F238E27FC236}">
                <a16:creationId xmlns:a16="http://schemas.microsoft.com/office/drawing/2014/main" id="{6DBE1C41-FF6A-DFA7-BA8D-66CD3A353B8C}"/>
              </a:ext>
            </a:extLst>
          </p:cNvPr>
          <p:cNvSpPr>
            <a:spLocks noGrp="1"/>
          </p:cNvSpPr>
          <p:nvPr>
            <p:ph sz="half" idx="2"/>
          </p:nvPr>
        </p:nvSpPr>
        <p:spPr>
          <a:xfrm>
            <a:off x="6172200" y="700391"/>
            <a:ext cx="5325894" cy="5476572"/>
          </a:xfrm>
        </p:spPr>
        <p:txBody>
          <a:bodyPr>
            <a:noAutofit/>
          </a:bodyPr>
          <a:lstStyle/>
          <a:p>
            <a:pPr marL="0" indent="0">
              <a:lnSpc>
                <a:spcPct val="170000"/>
              </a:lnSpc>
              <a:buNone/>
            </a:pPr>
            <a:r>
              <a:rPr kumimoji="1" lang="en" altLang="zh-CN" sz="1400" dirty="0"/>
              <a:t>    3D reconstruction, which lifts 2D view images to a 3D representation of an object, is a challenging problem. It plays an important role in numerous technologies, including intelligent driving, augmented reality and robotics. In the situation of single-view input, previous works have attempted to improve performance by strengthening the network capabilities [9, 30, 21, 13, 35] and leveraging the geometric information as priors knowledge [38, 39, 34]. However, for multi-view reconstruction, researchers concentrate on how to extract sufficient feature representation for the object shape from unstructured multiple images [5, 32, 37, 33, 29]. This paper is devoted to multi-view 3D reconstruction using the voxel representation.</a:t>
            </a:r>
          </a:p>
          <a:p>
            <a:pPr marL="0" indent="0">
              <a:lnSpc>
                <a:spcPct val="170000"/>
              </a:lnSpc>
              <a:buNone/>
            </a:pPr>
            <a:endParaRPr kumimoji="1" lang="zh-CN" altLang="en-US" sz="1400" dirty="0"/>
          </a:p>
        </p:txBody>
      </p:sp>
      <p:sp>
        <p:nvSpPr>
          <p:cNvPr id="5" name="日期占位符 4">
            <a:extLst>
              <a:ext uri="{FF2B5EF4-FFF2-40B4-BE49-F238E27FC236}">
                <a16:creationId xmlns:a16="http://schemas.microsoft.com/office/drawing/2014/main" id="{54BB8724-B485-9B6D-F1EF-119EFF3B2FBC}"/>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B24F3493-D996-B7B7-A571-DE4824C0E1AA}"/>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DEB881DC-363A-17EB-3E56-40F00A2196DC}"/>
              </a:ext>
            </a:extLst>
          </p:cNvPr>
          <p:cNvSpPr>
            <a:spLocks noGrp="1"/>
          </p:cNvSpPr>
          <p:nvPr>
            <p:ph type="sldNum" sz="quarter" idx="12"/>
          </p:nvPr>
        </p:nvSpPr>
        <p:spPr/>
        <p:txBody>
          <a:bodyPr/>
          <a:lstStyle/>
          <a:p>
            <a:fld id="{A8EA73BB-BF9B-FF4D-AE0D-A76A49C50991}" type="slidenum">
              <a:rPr kumimoji="1" lang="zh-CN" altLang="en-US" smtClean="0"/>
              <a:t>18</a:t>
            </a:fld>
            <a:endParaRPr kumimoji="1" lang="zh-CN" altLang="en-US"/>
          </a:p>
        </p:txBody>
      </p:sp>
    </p:spTree>
    <p:extLst>
      <p:ext uri="{BB962C8B-B14F-4D97-AF65-F5344CB8AC3E}">
        <p14:creationId xmlns:p14="http://schemas.microsoft.com/office/powerpoint/2010/main" val="3180800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149A07-C2D1-19D4-4102-F1A28B2A98AA}"/>
              </a:ext>
            </a:extLst>
          </p:cNvPr>
          <p:cNvSpPr>
            <a:spLocks noGrp="1"/>
          </p:cNvSpPr>
          <p:nvPr>
            <p:ph type="title"/>
          </p:nvPr>
        </p:nvSpPr>
        <p:spPr/>
        <p:txBody>
          <a:bodyPr/>
          <a:lstStyle/>
          <a:p>
            <a:r>
              <a:rPr kumimoji="1" lang="en-US" altLang="zh-CN" dirty="0"/>
              <a:t>Introduction 2</a:t>
            </a:r>
            <a:endParaRPr kumimoji="1" lang="zh-CN" altLang="en-US" dirty="0"/>
          </a:p>
        </p:txBody>
      </p:sp>
      <p:sp>
        <p:nvSpPr>
          <p:cNvPr id="3" name="内容占位符 2">
            <a:extLst>
              <a:ext uri="{FF2B5EF4-FFF2-40B4-BE49-F238E27FC236}">
                <a16:creationId xmlns:a16="http://schemas.microsoft.com/office/drawing/2014/main" id="{41FA32D9-8EFD-928C-7601-D0AE65EB0090}"/>
              </a:ext>
            </a:extLst>
          </p:cNvPr>
          <p:cNvSpPr>
            <a:spLocks noGrp="1"/>
          </p:cNvSpPr>
          <p:nvPr>
            <p:ph sz="half" idx="1"/>
          </p:nvPr>
        </p:nvSpPr>
        <p:spPr/>
        <p:txBody>
          <a:bodyPr>
            <a:normAutofit/>
          </a:bodyPr>
          <a:lstStyle/>
          <a:p>
            <a:r>
              <a:rPr kumimoji="1" lang="zh-CN" altLang="en-US" sz="2000" dirty="0"/>
              <a:t>说明多视角三维重建的一般步骤</a:t>
            </a:r>
            <a:endParaRPr kumimoji="1" lang="en-US" altLang="zh-CN" sz="2000" dirty="0"/>
          </a:p>
          <a:p>
            <a:pPr lvl="1"/>
            <a:r>
              <a:rPr kumimoji="1" lang="zh-CN" altLang="en-US" sz="1600" dirty="0"/>
              <a:t>特征提取</a:t>
            </a:r>
            <a:r>
              <a:rPr kumimoji="1" lang="en-US" altLang="zh-CN" sz="1600" dirty="0"/>
              <a:t>+</a:t>
            </a:r>
            <a:r>
              <a:rPr kumimoji="1" lang="zh-CN" altLang="en-US" sz="1600" dirty="0"/>
              <a:t>重建形状</a:t>
            </a:r>
            <a:endParaRPr kumimoji="1" lang="en-US" altLang="zh-CN" sz="1600" dirty="0"/>
          </a:p>
          <a:p>
            <a:endParaRPr kumimoji="1" lang="en-US" altLang="zh-CN" sz="2000" dirty="0"/>
          </a:p>
          <a:p>
            <a:r>
              <a:rPr kumimoji="1" lang="zh-CN" altLang="en-US" sz="2000" dirty="0"/>
              <a:t>不同的方法对于特征提取有不同的解决方式，引出下文</a:t>
            </a:r>
          </a:p>
        </p:txBody>
      </p:sp>
      <p:sp>
        <p:nvSpPr>
          <p:cNvPr id="4" name="内容占位符 3">
            <a:extLst>
              <a:ext uri="{FF2B5EF4-FFF2-40B4-BE49-F238E27FC236}">
                <a16:creationId xmlns:a16="http://schemas.microsoft.com/office/drawing/2014/main" id="{B152D1F3-CE06-C6AA-DD2D-351E7B705492}"/>
              </a:ext>
            </a:extLst>
          </p:cNvPr>
          <p:cNvSpPr>
            <a:spLocks noGrp="1"/>
          </p:cNvSpPr>
          <p:nvPr>
            <p:ph sz="half" idx="2"/>
          </p:nvPr>
        </p:nvSpPr>
        <p:spPr>
          <a:xfrm>
            <a:off x="6172200" y="739302"/>
            <a:ext cx="5181600" cy="5437661"/>
          </a:xfrm>
        </p:spPr>
        <p:txBody>
          <a:bodyPr>
            <a:normAutofit/>
          </a:bodyPr>
          <a:lstStyle/>
          <a:p>
            <a:pPr marL="0" indent="0">
              <a:lnSpc>
                <a:spcPct val="150000"/>
              </a:lnSpc>
              <a:buNone/>
            </a:pPr>
            <a:r>
              <a:rPr kumimoji="1" lang="en" altLang="zh-CN" sz="1400" dirty="0"/>
              <a:t>    In our investigation, the deep-learning-based algorithms for multi-view reconstruction typically involve two steps: feature extraction and shape reconstruction. The latter is generally accomplished using a 3D decoder module, while there are various solutions for the former including CNN- based and transformer-based methods.</a:t>
            </a:r>
            <a:endParaRPr kumimoji="1" lang="zh-CN" altLang="en-US" sz="1400" dirty="0"/>
          </a:p>
        </p:txBody>
      </p:sp>
      <p:sp>
        <p:nvSpPr>
          <p:cNvPr id="5" name="日期占位符 4">
            <a:extLst>
              <a:ext uri="{FF2B5EF4-FFF2-40B4-BE49-F238E27FC236}">
                <a16:creationId xmlns:a16="http://schemas.microsoft.com/office/drawing/2014/main" id="{D0E1BBDD-866B-B34C-F192-A22BE6B6E019}"/>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816E438F-28BD-FB22-5CBA-79DF90435917}"/>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463435D3-50AB-FEFC-1983-8965F17B8B3D}"/>
              </a:ext>
            </a:extLst>
          </p:cNvPr>
          <p:cNvSpPr>
            <a:spLocks noGrp="1"/>
          </p:cNvSpPr>
          <p:nvPr>
            <p:ph type="sldNum" sz="quarter" idx="12"/>
          </p:nvPr>
        </p:nvSpPr>
        <p:spPr/>
        <p:txBody>
          <a:bodyPr/>
          <a:lstStyle/>
          <a:p>
            <a:fld id="{A8EA73BB-BF9B-FF4D-AE0D-A76A49C50991}" type="slidenum">
              <a:rPr kumimoji="1" lang="zh-CN" altLang="en-US" smtClean="0"/>
              <a:t>19</a:t>
            </a:fld>
            <a:endParaRPr kumimoji="1" lang="zh-CN" altLang="en-US"/>
          </a:p>
        </p:txBody>
      </p:sp>
    </p:spTree>
    <p:extLst>
      <p:ext uri="{BB962C8B-B14F-4D97-AF65-F5344CB8AC3E}">
        <p14:creationId xmlns:p14="http://schemas.microsoft.com/office/powerpoint/2010/main" val="2700986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E24546-5CF3-43FD-A9C2-81DC51573568}"/>
              </a:ext>
            </a:extLst>
          </p:cNvPr>
          <p:cNvSpPr>
            <a:spLocks noGrp="1"/>
          </p:cNvSpPr>
          <p:nvPr>
            <p:ph type="title"/>
          </p:nvPr>
        </p:nvSpPr>
        <p:spPr/>
        <p:txBody>
          <a:bodyPr/>
          <a:lstStyle/>
          <a:p>
            <a:r>
              <a:rPr kumimoji="1" lang="en-US" altLang="zh-CN" dirty="0"/>
              <a:t>Introduction 3</a:t>
            </a:r>
            <a:endParaRPr kumimoji="1" lang="zh-CN" altLang="en-US" dirty="0"/>
          </a:p>
        </p:txBody>
      </p:sp>
      <p:sp>
        <p:nvSpPr>
          <p:cNvPr id="3" name="内容占位符 2">
            <a:extLst>
              <a:ext uri="{FF2B5EF4-FFF2-40B4-BE49-F238E27FC236}">
                <a16:creationId xmlns:a16="http://schemas.microsoft.com/office/drawing/2014/main" id="{DDF2A592-8E72-8939-57ED-1AB24107E4D6}"/>
              </a:ext>
            </a:extLst>
          </p:cNvPr>
          <p:cNvSpPr>
            <a:spLocks noGrp="1"/>
          </p:cNvSpPr>
          <p:nvPr>
            <p:ph sz="half" idx="1"/>
          </p:nvPr>
        </p:nvSpPr>
        <p:spPr/>
        <p:txBody>
          <a:bodyPr>
            <a:normAutofit/>
          </a:bodyPr>
          <a:lstStyle/>
          <a:p>
            <a:r>
              <a:rPr kumimoji="1" lang="zh-CN" altLang="en-US" sz="2000" dirty="0"/>
              <a:t>介绍</a:t>
            </a:r>
            <a:r>
              <a:rPr kumimoji="1" lang="en-US" altLang="zh-CN" sz="2000" dirty="0"/>
              <a:t>CNN-based </a:t>
            </a:r>
            <a:r>
              <a:rPr kumimoji="1" lang="zh-CN" altLang="en-US" sz="2000" dirty="0"/>
              <a:t>的一般做法</a:t>
            </a:r>
            <a:endParaRPr kumimoji="1" lang="en-US" altLang="zh-CN" sz="2000" dirty="0"/>
          </a:p>
          <a:p>
            <a:pPr lvl="1"/>
            <a:r>
              <a:rPr kumimoji="1" lang="zh-CN" altLang="en-US" sz="1800" dirty="0"/>
              <a:t>先提取每个视角的特征</a:t>
            </a:r>
            <a:endParaRPr kumimoji="1" lang="en-US" altLang="zh-CN" sz="1800" dirty="0"/>
          </a:p>
          <a:p>
            <a:pPr lvl="1"/>
            <a:r>
              <a:rPr kumimoji="1" lang="zh-CN" altLang="en-US" sz="1800" dirty="0"/>
              <a:t>再融合所有视角的特征</a:t>
            </a:r>
          </a:p>
        </p:txBody>
      </p:sp>
      <p:sp>
        <p:nvSpPr>
          <p:cNvPr id="4" name="内容占位符 3">
            <a:extLst>
              <a:ext uri="{FF2B5EF4-FFF2-40B4-BE49-F238E27FC236}">
                <a16:creationId xmlns:a16="http://schemas.microsoft.com/office/drawing/2014/main" id="{8F23E880-3DD0-28F9-6B21-03864C5C575D}"/>
              </a:ext>
            </a:extLst>
          </p:cNvPr>
          <p:cNvSpPr>
            <a:spLocks noGrp="1"/>
          </p:cNvSpPr>
          <p:nvPr>
            <p:ph sz="half" idx="2"/>
          </p:nvPr>
        </p:nvSpPr>
        <p:spPr>
          <a:xfrm>
            <a:off x="6172200" y="739302"/>
            <a:ext cx="5181600" cy="5437661"/>
          </a:xfrm>
        </p:spPr>
        <p:txBody>
          <a:bodyPr>
            <a:normAutofit/>
          </a:bodyPr>
          <a:lstStyle/>
          <a:p>
            <a:pPr marL="0" indent="0">
              <a:lnSpc>
                <a:spcPct val="150000"/>
              </a:lnSpc>
              <a:buNone/>
            </a:pPr>
            <a:r>
              <a:rPr kumimoji="1" lang="en" altLang="zh-CN" sz="1400" dirty="0"/>
              <a:t>    CNN-based methods usually separate the feature extraction process into two stages. </a:t>
            </a:r>
            <a:r>
              <a:rPr kumimoji="1" lang="en" altLang="zh-CN" sz="1400" b="1" dirty="0"/>
              <a:t>The first stage exploits a backbone network to encode on intra-view-dimension while the second stage processing on inter-view-dimension aggregate the features obtained from different views. </a:t>
            </a:r>
            <a:r>
              <a:rPr kumimoji="1" lang="en" altLang="zh-CN" sz="1400" dirty="0"/>
              <a:t>The fusion method can be a pooling layer [22, 19, 10], a recurrent unit [5, 11, 16] or an attention operator [37]. In addition, Pix2Vox series [32, 33] put merger after decoder, which directly fusion the voxels predicted from different views, and also achieve good results. To realize the merger adapting the global state, </a:t>
            </a:r>
            <a:r>
              <a:rPr kumimoji="1" lang="en" altLang="zh-CN" sz="1400" dirty="0" err="1"/>
              <a:t>GARNet</a:t>
            </a:r>
            <a:r>
              <a:rPr kumimoji="1" lang="en" altLang="zh-CN" sz="1400" dirty="0"/>
              <a:t> [44] sets up two fusion modules, which are located before and after the decoder respectively.</a:t>
            </a:r>
            <a:endParaRPr kumimoji="1" lang="zh-CN" altLang="en-US" sz="1400" dirty="0"/>
          </a:p>
        </p:txBody>
      </p:sp>
      <p:sp>
        <p:nvSpPr>
          <p:cNvPr id="5" name="日期占位符 4">
            <a:extLst>
              <a:ext uri="{FF2B5EF4-FFF2-40B4-BE49-F238E27FC236}">
                <a16:creationId xmlns:a16="http://schemas.microsoft.com/office/drawing/2014/main" id="{6E077E06-BF24-4623-5530-F28CE48095D4}"/>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613BB118-71A2-C242-0538-7BB724B973FA}"/>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DAC9032F-729B-8D54-E099-4E96A2CACB9D}"/>
              </a:ext>
            </a:extLst>
          </p:cNvPr>
          <p:cNvSpPr>
            <a:spLocks noGrp="1"/>
          </p:cNvSpPr>
          <p:nvPr>
            <p:ph type="sldNum" sz="quarter" idx="12"/>
          </p:nvPr>
        </p:nvSpPr>
        <p:spPr/>
        <p:txBody>
          <a:bodyPr/>
          <a:lstStyle/>
          <a:p>
            <a:fld id="{A8EA73BB-BF9B-FF4D-AE0D-A76A49C50991}" type="slidenum">
              <a:rPr kumimoji="1" lang="zh-CN" altLang="en-US" smtClean="0"/>
              <a:t>20</a:t>
            </a:fld>
            <a:endParaRPr kumimoji="1" lang="zh-CN" altLang="en-US"/>
          </a:p>
        </p:txBody>
      </p:sp>
    </p:spTree>
    <p:extLst>
      <p:ext uri="{BB962C8B-B14F-4D97-AF65-F5344CB8AC3E}">
        <p14:creationId xmlns:p14="http://schemas.microsoft.com/office/powerpoint/2010/main" val="4212571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7D4E15-7C06-C5B2-2866-F39209AA0C5B}"/>
              </a:ext>
            </a:extLst>
          </p:cNvPr>
          <p:cNvSpPr>
            <a:spLocks noGrp="1"/>
          </p:cNvSpPr>
          <p:nvPr>
            <p:ph type="title"/>
          </p:nvPr>
        </p:nvSpPr>
        <p:spPr/>
        <p:txBody>
          <a:bodyPr/>
          <a:lstStyle/>
          <a:p>
            <a:r>
              <a:rPr kumimoji="1" lang="en-US" altLang="zh-CN" dirty="0"/>
              <a:t>Introduction 4</a:t>
            </a:r>
            <a:endParaRPr kumimoji="1" lang="zh-CN" altLang="en-US" dirty="0"/>
          </a:p>
        </p:txBody>
      </p:sp>
      <p:sp>
        <p:nvSpPr>
          <p:cNvPr id="3" name="内容占位符 2">
            <a:extLst>
              <a:ext uri="{FF2B5EF4-FFF2-40B4-BE49-F238E27FC236}">
                <a16:creationId xmlns:a16="http://schemas.microsoft.com/office/drawing/2014/main" id="{3C621B20-7309-DF75-6AF3-393E7397A04F}"/>
              </a:ext>
            </a:extLst>
          </p:cNvPr>
          <p:cNvSpPr>
            <a:spLocks noGrp="1"/>
          </p:cNvSpPr>
          <p:nvPr>
            <p:ph sz="half" idx="1"/>
          </p:nvPr>
        </p:nvSpPr>
        <p:spPr/>
        <p:txBody>
          <a:bodyPr>
            <a:normAutofit/>
          </a:bodyPr>
          <a:lstStyle/>
          <a:p>
            <a:r>
              <a:rPr kumimoji="1" lang="en-US" altLang="zh-CN" sz="2000" dirty="0"/>
              <a:t>Transformer</a:t>
            </a:r>
            <a:r>
              <a:rPr kumimoji="1" lang="zh-CN" altLang="en-US" sz="2000" dirty="0"/>
              <a:t>优势在于有处理序列的自然优势，因此有方法直接将多视角当作序列，但视角少时表现很差</a:t>
            </a:r>
            <a:endParaRPr kumimoji="1" lang="en-US" altLang="zh-CN" sz="2000" dirty="0"/>
          </a:p>
          <a:p>
            <a:endParaRPr kumimoji="1" lang="en-US" altLang="zh-CN" sz="2000" dirty="0"/>
          </a:p>
          <a:p>
            <a:r>
              <a:rPr kumimoji="1" lang="zh-CN" altLang="en-US" sz="2000" dirty="0"/>
              <a:t>另一种方式是用</a:t>
            </a:r>
            <a:r>
              <a:rPr kumimoji="1" lang="en-US" altLang="zh-CN" sz="2000" dirty="0"/>
              <a:t>transformer</a:t>
            </a:r>
            <a:r>
              <a:rPr kumimoji="1" lang="zh-CN" altLang="en-US" sz="2000" dirty="0"/>
              <a:t>来提取每个视角的特征，这类方法相对比较成功，引出了</a:t>
            </a:r>
            <a:r>
              <a:rPr kumimoji="1" lang="en-US" altLang="zh-CN" sz="2000" dirty="0" err="1"/>
              <a:t>ViT</a:t>
            </a:r>
            <a:r>
              <a:rPr kumimoji="1" lang="zh-CN" altLang="en-US" sz="2000" dirty="0"/>
              <a:t>的有效性</a:t>
            </a:r>
          </a:p>
        </p:txBody>
      </p:sp>
      <p:sp>
        <p:nvSpPr>
          <p:cNvPr id="4" name="内容占位符 3">
            <a:extLst>
              <a:ext uri="{FF2B5EF4-FFF2-40B4-BE49-F238E27FC236}">
                <a16:creationId xmlns:a16="http://schemas.microsoft.com/office/drawing/2014/main" id="{5ED0999A-EFF2-3C95-84B7-A151D033805F}"/>
              </a:ext>
            </a:extLst>
          </p:cNvPr>
          <p:cNvSpPr>
            <a:spLocks noGrp="1"/>
          </p:cNvSpPr>
          <p:nvPr>
            <p:ph sz="half" idx="2"/>
          </p:nvPr>
        </p:nvSpPr>
        <p:spPr>
          <a:xfrm>
            <a:off x="6172200" y="749030"/>
            <a:ext cx="5181600" cy="5427933"/>
          </a:xfrm>
        </p:spPr>
        <p:txBody>
          <a:bodyPr>
            <a:normAutofit/>
          </a:bodyPr>
          <a:lstStyle/>
          <a:p>
            <a:pPr marL="0" indent="0">
              <a:lnSpc>
                <a:spcPct val="150000"/>
              </a:lnSpc>
              <a:buNone/>
            </a:pPr>
            <a:r>
              <a:rPr kumimoji="1" lang="en" altLang="zh-CN" sz="1400" dirty="0"/>
              <a:t>    </a:t>
            </a:r>
            <a:r>
              <a:rPr kumimoji="1" lang="en" altLang="zh-CN" sz="1400" b="1" dirty="0"/>
              <a:t>Transformer-based methods [29, 36, 26] that can directly handle views as a sequence </a:t>
            </a:r>
            <a:r>
              <a:rPr kumimoji="1" lang="en" altLang="zh-CN" sz="1400" dirty="0"/>
              <a:t>also attend global awareness. It takes natural advantage of the architecture to couple the procedures for intra-image and inter-image feature extraction. However, such approaches work poorly when </a:t>
            </a:r>
            <a:r>
              <a:rPr kumimoji="1" lang="en" altLang="zh-CN" sz="1400" b="1" dirty="0"/>
              <a:t>facing few views as input since the size of the extracted feature is too small </a:t>
            </a:r>
            <a:r>
              <a:rPr kumimoji="1" lang="en" altLang="zh-CN" sz="1400" dirty="0"/>
              <a:t>to hold enough information. In contrast, 3D-RETR [20] exploits transformer on the intra-view dimension and then aggregates the features from different views using an adaptive pooling layer. It is essentially the same method as before [22] but with a more advanced backbone network. The success of this method reminds us that the power of vision transformer (</a:t>
            </a:r>
            <a:r>
              <a:rPr kumimoji="1" lang="en" altLang="zh-CN" sz="1400" dirty="0" err="1"/>
              <a:t>ViT</a:t>
            </a:r>
            <a:r>
              <a:rPr kumimoji="1" lang="en" altLang="zh-CN" sz="1400" dirty="0"/>
              <a:t>) [6] for the representation of views cannot be understated.</a:t>
            </a:r>
            <a:endParaRPr kumimoji="1" lang="zh-CN" altLang="en-US" sz="1400" dirty="0"/>
          </a:p>
        </p:txBody>
      </p:sp>
      <p:sp>
        <p:nvSpPr>
          <p:cNvPr id="5" name="日期占位符 4">
            <a:extLst>
              <a:ext uri="{FF2B5EF4-FFF2-40B4-BE49-F238E27FC236}">
                <a16:creationId xmlns:a16="http://schemas.microsoft.com/office/drawing/2014/main" id="{90A461AD-89F1-D85B-02B4-EAB8ED07EBED}"/>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23BBF997-4914-8CA6-E4F6-E5BE2633C4ED}"/>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65D0C523-820C-C729-76B5-51FA300CFEF6}"/>
              </a:ext>
            </a:extLst>
          </p:cNvPr>
          <p:cNvSpPr>
            <a:spLocks noGrp="1"/>
          </p:cNvSpPr>
          <p:nvPr>
            <p:ph type="sldNum" sz="quarter" idx="12"/>
          </p:nvPr>
        </p:nvSpPr>
        <p:spPr/>
        <p:txBody>
          <a:bodyPr/>
          <a:lstStyle/>
          <a:p>
            <a:fld id="{A8EA73BB-BF9B-FF4D-AE0D-A76A49C50991}" type="slidenum">
              <a:rPr kumimoji="1" lang="zh-CN" altLang="en-US" smtClean="0"/>
              <a:t>21</a:t>
            </a:fld>
            <a:endParaRPr kumimoji="1" lang="zh-CN" altLang="en-US"/>
          </a:p>
        </p:txBody>
      </p:sp>
    </p:spTree>
    <p:extLst>
      <p:ext uri="{BB962C8B-B14F-4D97-AF65-F5344CB8AC3E}">
        <p14:creationId xmlns:p14="http://schemas.microsoft.com/office/powerpoint/2010/main" val="4168819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F95043-B0D5-84C6-7BDE-B3DD4A044821}"/>
              </a:ext>
            </a:extLst>
          </p:cNvPr>
          <p:cNvSpPr>
            <a:spLocks noGrp="1"/>
          </p:cNvSpPr>
          <p:nvPr>
            <p:ph type="title"/>
          </p:nvPr>
        </p:nvSpPr>
        <p:spPr/>
        <p:txBody>
          <a:bodyPr/>
          <a:lstStyle/>
          <a:p>
            <a:r>
              <a:rPr kumimoji="1" lang="en-US" altLang="zh-CN" dirty="0"/>
              <a:t>Introduction 5</a:t>
            </a:r>
            <a:endParaRPr kumimoji="1" lang="zh-CN" altLang="en-US" dirty="0"/>
          </a:p>
        </p:txBody>
      </p:sp>
      <p:sp>
        <p:nvSpPr>
          <p:cNvPr id="3" name="内容占位符 2">
            <a:extLst>
              <a:ext uri="{FF2B5EF4-FFF2-40B4-BE49-F238E27FC236}">
                <a16:creationId xmlns:a16="http://schemas.microsoft.com/office/drawing/2014/main" id="{D637250B-4C77-0684-EA17-082D78E5F86D}"/>
              </a:ext>
            </a:extLst>
          </p:cNvPr>
          <p:cNvSpPr>
            <a:spLocks noGrp="1"/>
          </p:cNvSpPr>
          <p:nvPr>
            <p:ph sz="half" idx="1"/>
          </p:nvPr>
        </p:nvSpPr>
        <p:spPr/>
        <p:txBody>
          <a:bodyPr>
            <a:normAutofit/>
          </a:bodyPr>
          <a:lstStyle/>
          <a:p>
            <a:r>
              <a:rPr kumimoji="1" lang="zh-CN" altLang="en-US" sz="2000" dirty="0"/>
              <a:t>说明</a:t>
            </a:r>
            <a:r>
              <a:rPr kumimoji="1" lang="en-US" altLang="zh-CN" sz="2000" dirty="0"/>
              <a:t>video</a:t>
            </a:r>
            <a:r>
              <a:rPr kumimoji="1" lang="zh-CN" altLang="en-US" sz="2000" dirty="0"/>
              <a:t> </a:t>
            </a:r>
            <a:r>
              <a:rPr kumimoji="1" lang="en-US" altLang="zh-CN" sz="2000" dirty="0"/>
              <a:t>task</a:t>
            </a:r>
            <a:r>
              <a:rPr kumimoji="1" lang="zh-CN" altLang="en-US" sz="2000" dirty="0"/>
              <a:t>使用</a:t>
            </a:r>
            <a:r>
              <a:rPr kumimoji="1" lang="en-US" altLang="zh-CN" sz="2000" dirty="0" err="1"/>
              <a:t>ViT</a:t>
            </a:r>
            <a:r>
              <a:rPr kumimoji="1" lang="zh-CN" altLang="en-US" sz="2000" dirty="0"/>
              <a:t>获得了很大的成功，提取了时间和空间的特征。</a:t>
            </a:r>
            <a:endParaRPr kumimoji="1" lang="en-US" altLang="zh-CN" sz="2000" dirty="0"/>
          </a:p>
          <a:p>
            <a:endParaRPr kumimoji="1" lang="en-US" altLang="zh-CN" sz="2000" dirty="0"/>
          </a:p>
          <a:p>
            <a:r>
              <a:rPr kumimoji="1" lang="zh-CN" altLang="en-US" sz="2000" dirty="0"/>
              <a:t>但</a:t>
            </a:r>
            <a:r>
              <a:rPr kumimoji="1" lang="en-US" altLang="zh-CN" sz="2000" dirty="0"/>
              <a:t>video</a:t>
            </a:r>
            <a:r>
              <a:rPr kumimoji="1" lang="zh-CN" altLang="en-US" sz="2000" dirty="0"/>
              <a:t> </a:t>
            </a:r>
            <a:r>
              <a:rPr kumimoji="1" lang="en-US" altLang="zh-CN" sz="2000" dirty="0"/>
              <a:t>task</a:t>
            </a:r>
            <a:r>
              <a:rPr kumimoji="1" lang="zh-CN" altLang="en-US" sz="2000" dirty="0"/>
              <a:t>有时间连续性，无法直接借鉴到我们的任务中</a:t>
            </a:r>
          </a:p>
        </p:txBody>
      </p:sp>
      <p:sp>
        <p:nvSpPr>
          <p:cNvPr id="4" name="内容占位符 3">
            <a:extLst>
              <a:ext uri="{FF2B5EF4-FFF2-40B4-BE49-F238E27FC236}">
                <a16:creationId xmlns:a16="http://schemas.microsoft.com/office/drawing/2014/main" id="{57436BD0-4ADE-FB03-25E7-11DDB3C52C38}"/>
              </a:ext>
            </a:extLst>
          </p:cNvPr>
          <p:cNvSpPr>
            <a:spLocks noGrp="1"/>
          </p:cNvSpPr>
          <p:nvPr>
            <p:ph sz="half" idx="2"/>
          </p:nvPr>
        </p:nvSpPr>
        <p:spPr>
          <a:xfrm>
            <a:off x="6172200" y="749030"/>
            <a:ext cx="5181600" cy="5427933"/>
          </a:xfrm>
        </p:spPr>
        <p:txBody>
          <a:bodyPr>
            <a:normAutofit/>
          </a:bodyPr>
          <a:lstStyle/>
          <a:p>
            <a:pPr marL="0" indent="0">
              <a:lnSpc>
                <a:spcPct val="150000"/>
              </a:lnSpc>
              <a:buNone/>
            </a:pPr>
            <a:r>
              <a:rPr kumimoji="1" lang="en" altLang="zh-CN" sz="1400" dirty="0"/>
              <a:t>    In video tasks that also face multiple images as input, recent works [1, 2, 14] have produced good performance </a:t>
            </a:r>
            <a:r>
              <a:rPr kumimoji="1" lang="en" altLang="zh-CN" sz="1400" b="1" dirty="0"/>
              <a:t>using </a:t>
            </a:r>
            <a:r>
              <a:rPr kumimoji="1" lang="en" altLang="zh-CN" sz="1400" b="1" dirty="0" err="1"/>
              <a:t>ViT</a:t>
            </a:r>
            <a:r>
              <a:rPr kumimoji="1" lang="en" altLang="zh-CN" sz="1400" b="1" dirty="0"/>
              <a:t> as a spatially-decoupled feature extractor and additionally establish a temporally-decoupled feature extractor</a:t>
            </a:r>
            <a:r>
              <a:rPr kumimoji="1" lang="en" altLang="zh-CN" sz="1400" dirty="0"/>
              <a:t>. They benefit from the fact that video frames are temporally coherent (as shown in Figure 1a). These approaches, </a:t>
            </a:r>
            <a:r>
              <a:rPr kumimoji="1" lang="en" altLang="zh-CN" sz="1400" b="1" dirty="0"/>
              <a:t>however</a:t>
            </a:r>
            <a:r>
              <a:rPr kumimoji="1" lang="en" altLang="zh-CN" sz="1400" dirty="0"/>
              <a:t>, cannot be directly transferred to our task since multi-view reconstruction should deal with unstructured multiple images without prior positional correspondence.</a:t>
            </a:r>
            <a:endParaRPr kumimoji="1" lang="zh-CN" altLang="en-US" sz="1400" dirty="0"/>
          </a:p>
        </p:txBody>
      </p:sp>
      <p:sp>
        <p:nvSpPr>
          <p:cNvPr id="5" name="日期占位符 4">
            <a:extLst>
              <a:ext uri="{FF2B5EF4-FFF2-40B4-BE49-F238E27FC236}">
                <a16:creationId xmlns:a16="http://schemas.microsoft.com/office/drawing/2014/main" id="{6A100432-5548-B982-400B-10A15A1F55A1}"/>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D7C4344D-0AF7-3B3E-0873-1219BFD2C42C}"/>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C05419F7-82D9-CB24-3A7F-20097DB90C6D}"/>
              </a:ext>
            </a:extLst>
          </p:cNvPr>
          <p:cNvSpPr>
            <a:spLocks noGrp="1"/>
          </p:cNvSpPr>
          <p:nvPr>
            <p:ph type="sldNum" sz="quarter" idx="12"/>
          </p:nvPr>
        </p:nvSpPr>
        <p:spPr/>
        <p:txBody>
          <a:bodyPr/>
          <a:lstStyle/>
          <a:p>
            <a:fld id="{A8EA73BB-BF9B-FF4D-AE0D-A76A49C50991}" type="slidenum">
              <a:rPr kumimoji="1" lang="zh-CN" altLang="en-US" smtClean="0"/>
              <a:t>22</a:t>
            </a:fld>
            <a:endParaRPr kumimoji="1" lang="zh-CN" altLang="en-US"/>
          </a:p>
        </p:txBody>
      </p:sp>
    </p:spTree>
    <p:extLst>
      <p:ext uri="{BB962C8B-B14F-4D97-AF65-F5344CB8AC3E}">
        <p14:creationId xmlns:p14="http://schemas.microsoft.com/office/powerpoint/2010/main" val="2612297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1E901D-D039-BA38-5B9F-207FB9F08D2F}"/>
              </a:ext>
            </a:extLst>
          </p:cNvPr>
          <p:cNvSpPr>
            <a:spLocks noGrp="1"/>
          </p:cNvSpPr>
          <p:nvPr>
            <p:ph type="title"/>
          </p:nvPr>
        </p:nvSpPr>
        <p:spPr/>
        <p:txBody>
          <a:bodyPr/>
          <a:lstStyle/>
          <a:p>
            <a:r>
              <a:rPr kumimoji="1" lang="en-US" altLang="zh-CN" dirty="0"/>
              <a:t>Introduction 6</a:t>
            </a:r>
            <a:endParaRPr kumimoji="1" lang="zh-CN" altLang="en-US" dirty="0"/>
          </a:p>
        </p:txBody>
      </p:sp>
      <p:sp>
        <p:nvSpPr>
          <p:cNvPr id="3" name="内容占位符 2">
            <a:extLst>
              <a:ext uri="{FF2B5EF4-FFF2-40B4-BE49-F238E27FC236}">
                <a16:creationId xmlns:a16="http://schemas.microsoft.com/office/drawing/2014/main" id="{FD066392-701C-C60B-9A10-9C855D64411C}"/>
              </a:ext>
            </a:extLst>
          </p:cNvPr>
          <p:cNvSpPr>
            <a:spLocks noGrp="1"/>
          </p:cNvSpPr>
          <p:nvPr>
            <p:ph sz="half" idx="1"/>
          </p:nvPr>
        </p:nvSpPr>
        <p:spPr/>
        <p:txBody>
          <a:bodyPr>
            <a:normAutofit/>
          </a:bodyPr>
          <a:lstStyle/>
          <a:p>
            <a:r>
              <a:rPr kumimoji="1" lang="zh-CN" altLang="en-US" sz="2000" dirty="0"/>
              <a:t>为了解决没有连续性的问题，提出了</a:t>
            </a:r>
            <a:r>
              <a:rPr kumimoji="1" lang="en-US" altLang="zh-CN" sz="2000" dirty="0"/>
              <a:t>IVDB</a:t>
            </a:r>
            <a:r>
              <a:rPr kumimoji="1" lang="zh-CN" altLang="en-US" sz="2000" dirty="0"/>
              <a:t>，来寻找视角之间的相似性。</a:t>
            </a:r>
          </a:p>
        </p:txBody>
      </p:sp>
      <p:sp>
        <p:nvSpPr>
          <p:cNvPr id="4" name="内容占位符 3">
            <a:extLst>
              <a:ext uri="{FF2B5EF4-FFF2-40B4-BE49-F238E27FC236}">
                <a16:creationId xmlns:a16="http://schemas.microsoft.com/office/drawing/2014/main" id="{E8FCFA58-2F60-AE7F-2C8D-BC9D381293B0}"/>
              </a:ext>
            </a:extLst>
          </p:cNvPr>
          <p:cNvSpPr>
            <a:spLocks noGrp="1"/>
          </p:cNvSpPr>
          <p:nvPr>
            <p:ph sz="half" idx="2"/>
          </p:nvPr>
        </p:nvSpPr>
        <p:spPr>
          <a:xfrm>
            <a:off x="6172200" y="749030"/>
            <a:ext cx="5181600" cy="5427933"/>
          </a:xfrm>
        </p:spPr>
        <p:txBody>
          <a:bodyPr>
            <a:normAutofit/>
          </a:bodyPr>
          <a:lstStyle/>
          <a:p>
            <a:pPr marL="0" indent="0">
              <a:lnSpc>
                <a:spcPct val="150000"/>
              </a:lnSpc>
              <a:buNone/>
            </a:pPr>
            <a:r>
              <a:rPr kumimoji="1" lang="en" altLang="zh-CN" sz="1400" dirty="0"/>
              <a:t>    To address this problem, we propose a novel inter-view- decoupled block (IVDB) based on mining the correlation between similar patches from different views (as shown in Figure 1b). It can be inserted between the blocks of </a:t>
            </a:r>
            <a:r>
              <a:rPr kumimoji="1" lang="en" altLang="zh-CN" sz="1400" dirty="0" err="1"/>
              <a:t>ViT</a:t>
            </a:r>
            <a:r>
              <a:rPr kumimoji="1" lang="en" altLang="zh-CN" sz="1400" dirty="0"/>
              <a:t> to create a transformer encoder for unstructured multiple images. This model maintains the advantages of </a:t>
            </a:r>
            <a:r>
              <a:rPr kumimoji="1" lang="en" altLang="zh-CN" sz="1400" dirty="0" err="1"/>
              <a:t>ViT</a:t>
            </a:r>
            <a:r>
              <a:rPr kumimoji="1" lang="en" altLang="zh-CN" sz="1400" dirty="0"/>
              <a:t> initialization pre-trained on large-scale datasets while alternating decoupling the intra- and inter-view encoding processes. Moreover, by clustering the tokens according to their similarities and exploiting a down-sampling transformer block, the tokens from all branches are compressed into a fixed- size compact representation, ensuring relatively steady performance for the varying number of views input.</a:t>
            </a:r>
            <a:endParaRPr kumimoji="1" lang="zh-CN" altLang="en-US" sz="1400" dirty="0"/>
          </a:p>
        </p:txBody>
      </p:sp>
      <p:sp>
        <p:nvSpPr>
          <p:cNvPr id="5" name="日期占位符 4">
            <a:extLst>
              <a:ext uri="{FF2B5EF4-FFF2-40B4-BE49-F238E27FC236}">
                <a16:creationId xmlns:a16="http://schemas.microsoft.com/office/drawing/2014/main" id="{E5C6279F-1F76-21B4-3EAE-B42899B3B475}"/>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D33DEFB2-9B6C-8AD0-6EFB-DB1AFCF97466}"/>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A8F829C3-C6D2-E271-1912-055FD17D0AC2}"/>
              </a:ext>
            </a:extLst>
          </p:cNvPr>
          <p:cNvSpPr>
            <a:spLocks noGrp="1"/>
          </p:cNvSpPr>
          <p:nvPr>
            <p:ph type="sldNum" sz="quarter" idx="12"/>
          </p:nvPr>
        </p:nvSpPr>
        <p:spPr/>
        <p:txBody>
          <a:bodyPr/>
          <a:lstStyle/>
          <a:p>
            <a:fld id="{A8EA73BB-BF9B-FF4D-AE0D-A76A49C50991}" type="slidenum">
              <a:rPr kumimoji="1" lang="zh-CN" altLang="en-US" smtClean="0"/>
              <a:t>23</a:t>
            </a:fld>
            <a:endParaRPr kumimoji="1" lang="zh-CN" altLang="en-US"/>
          </a:p>
        </p:txBody>
      </p:sp>
    </p:spTree>
    <p:extLst>
      <p:ext uri="{BB962C8B-B14F-4D97-AF65-F5344CB8AC3E}">
        <p14:creationId xmlns:p14="http://schemas.microsoft.com/office/powerpoint/2010/main" val="1471837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BD4AFB-66CB-B222-6C52-6D77AAADEDFC}"/>
              </a:ext>
            </a:extLst>
          </p:cNvPr>
          <p:cNvSpPr>
            <a:spLocks noGrp="1"/>
          </p:cNvSpPr>
          <p:nvPr>
            <p:ph type="title"/>
          </p:nvPr>
        </p:nvSpPr>
        <p:spPr/>
        <p:txBody>
          <a:bodyPr/>
          <a:lstStyle/>
          <a:p>
            <a:r>
              <a:rPr kumimoji="1" lang="en-US" altLang="zh-CN" dirty="0"/>
              <a:t>Introduction 7</a:t>
            </a:r>
            <a:endParaRPr kumimoji="1" lang="zh-CN" altLang="en-US" dirty="0"/>
          </a:p>
        </p:txBody>
      </p:sp>
      <p:sp>
        <p:nvSpPr>
          <p:cNvPr id="3" name="内容占位符 2">
            <a:extLst>
              <a:ext uri="{FF2B5EF4-FFF2-40B4-BE49-F238E27FC236}">
                <a16:creationId xmlns:a16="http://schemas.microsoft.com/office/drawing/2014/main" id="{CE64E882-16A1-68B6-3271-366BE5EBD73E}"/>
              </a:ext>
            </a:extLst>
          </p:cNvPr>
          <p:cNvSpPr>
            <a:spLocks noGrp="1"/>
          </p:cNvSpPr>
          <p:nvPr>
            <p:ph sz="half" idx="1"/>
          </p:nvPr>
        </p:nvSpPr>
        <p:spPr/>
        <p:txBody>
          <a:bodyPr>
            <a:normAutofit/>
          </a:bodyPr>
          <a:lstStyle/>
          <a:p>
            <a:r>
              <a:rPr kumimoji="1" lang="zh-CN" altLang="en-US" sz="2000" dirty="0"/>
              <a:t>本文的贡献</a:t>
            </a:r>
            <a:endParaRPr kumimoji="1" lang="en-US" altLang="zh-CN" sz="2000" dirty="0"/>
          </a:p>
          <a:p>
            <a:pPr lvl="1"/>
            <a:r>
              <a:rPr kumimoji="1" lang="zh-CN" altLang="en-US" sz="1600" dirty="0"/>
              <a:t>第一个用</a:t>
            </a:r>
            <a:r>
              <a:rPr kumimoji="1" lang="en-US" altLang="zh-CN" sz="1600" dirty="0"/>
              <a:t>transformer</a:t>
            </a:r>
            <a:r>
              <a:rPr kumimoji="1" lang="zh-CN" altLang="en-US" sz="1600" dirty="0"/>
              <a:t>来分别提取视角内和视角间的特征</a:t>
            </a:r>
            <a:endParaRPr kumimoji="1" lang="en-US" altLang="zh-CN" sz="1600" dirty="0"/>
          </a:p>
          <a:p>
            <a:pPr lvl="1"/>
            <a:endParaRPr kumimoji="1" lang="en-US" altLang="zh-CN" sz="1600" dirty="0"/>
          </a:p>
          <a:p>
            <a:pPr lvl="1"/>
            <a:r>
              <a:rPr kumimoji="1" lang="zh-CN" altLang="en-US" sz="1600" dirty="0"/>
              <a:t>提出了</a:t>
            </a:r>
            <a:r>
              <a:rPr kumimoji="1" lang="en-US" altLang="zh-CN" sz="1600" dirty="0"/>
              <a:t>IVDB</a:t>
            </a:r>
            <a:r>
              <a:rPr kumimoji="1" lang="zh-CN" altLang="en-US" sz="1600" dirty="0"/>
              <a:t>和</a:t>
            </a:r>
            <a:r>
              <a:rPr kumimoji="1" lang="en-US" altLang="zh-CN" sz="1600" dirty="0"/>
              <a:t>STM</a:t>
            </a:r>
          </a:p>
          <a:p>
            <a:pPr lvl="1"/>
            <a:endParaRPr kumimoji="1" lang="en-US" altLang="zh-CN" sz="1600" dirty="0"/>
          </a:p>
          <a:p>
            <a:pPr lvl="1"/>
            <a:r>
              <a:rPr kumimoji="1" lang="zh-CN" altLang="en-US" sz="1600" dirty="0"/>
              <a:t>效果好</a:t>
            </a:r>
          </a:p>
        </p:txBody>
      </p:sp>
      <p:sp>
        <p:nvSpPr>
          <p:cNvPr id="4" name="内容占位符 3">
            <a:extLst>
              <a:ext uri="{FF2B5EF4-FFF2-40B4-BE49-F238E27FC236}">
                <a16:creationId xmlns:a16="http://schemas.microsoft.com/office/drawing/2014/main" id="{B2C94698-8B32-DF7A-CFE8-A6BC6D1E7123}"/>
              </a:ext>
            </a:extLst>
          </p:cNvPr>
          <p:cNvSpPr>
            <a:spLocks noGrp="1"/>
          </p:cNvSpPr>
          <p:nvPr>
            <p:ph sz="half" idx="2"/>
          </p:nvPr>
        </p:nvSpPr>
        <p:spPr>
          <a:xfrm>
            <a:off x="6172200" y="856034"/>
            <a:ext cx="5181600" cy="5320929"/>
          </a:xfrm>
        </p:spPr>
        <p:txBody>
          <a:bodyPr>
            <a:normAutofit/>
          </a:bodyPr>
          <a:lstStyle/>
          <a:p>
            <a:pPr marL="0" indent="0">
              <a:lnSpc>
                <a:spcPct val="150000"/>
              </a:lnSpc>
              <a:buNone/>
            </a:pPr>
            <a:r>
              <a:rPr kumimoji="1" lang="en" altLang="zh-CN" sz="1400" dirty="0"/>
              <a:t>In detail, our contributions are as follows:</a:t>
            </a:r>
          </a:p>
          <a:p>
            <a:pPr>
              <a:lnSpc>
                <a:spcPct val="150000"/>
              </a:lnSpc>
            </a:pPr>
            <a:r>
              <a:rPr kumimoji="1" lang="en" altLang="zh-CN" sz="1400" dirty="0"/>
              <a:t>To our best knowledge, we are the first to propose a transformer network that alternates decoupled intra- and inter-view feature extraction for multi-view 3D reconstruction, a problem facing unstructured multiple images as input.</a:t>
            </a:r>
          </a:p>
          <a:p>
            <a:pPr>
              <a:lnSpc>
                <a:spcPct val="150000"/>
              </a:lnSpc>
            </a:pPr>
            <a:r>
              <a:rPr kumimoji="1" lang="en" altLang="zh-CN" sz="1400" dirty="0"/>
              <a:t>Leveraging the correlations between similar tokens, we proposes a novel inter-view-decoupled block (IVDB) that rectifies the tokens according to the related information from other views and a similar-token merger (STM) that compresses the features from all branches.</a:t>
            </a:r>
          </a:p>
          <a:p>
            <a:pPr>
              <a:lnSpc>
                <a:spcPct val="150000"/>
              </a:lnSpc>
            </a:pPr>
            <a:r>
              <a:rPr kumimoji="1" lang="en" altLang="zh-CN" sz="1400" dirty="0"/>
              <a:t>Experiments on </a:t>
            </a:r>
            <a:r>
              <a:rPr kumimoji="1" lang="en" altLang="zh-CN" sz="1400" dirty="0" err="1"/>
              <a:t>ShapeNet</a:t>
            </a:r>
            <a:r>
              <a:rPr kumimoji="1" lang="en" altLang="zh-CN" sz="1400" dirty="0"/>
              <a:t> [4] verify that our method achieves performance better than previous SOTA methods by a large margin and has the potential to be more robust for multi-view reconstruction when increasing training consumption.</a:t>
            </a:r>
            <a:endParaRPr kumimoji="1" lang="zh-CN" altLang="en-US" sz="1400" dirty="0"/>
          </a:p>
        </p:txBody>
      </p:sp>
      <p:sp>
        <p:nvSpPr>
          <p:cNvPr id="5" name="日期占位符 4">
            <a:extLst>
              <a:ext uri="{FF2B5EF4-FFF2-40B4-BE49-F238E27FC236}">
                <a16:creationId xmlns:a16="http://schemas.microsoft.com/office/drawing/2014/main" id="{03AA364A-3DE4-6FA6-84B8-769A8F091B6D}"/>
              </a:ext>
            </a:extLst>
          </p:cNvPr>
          <p:cNvSpPr>
            <a:spLocks noGrp="1"/>
          </p:cNvSpPr>
          <p:nvPr>
            <p:ph type="dt" sz="half" idx="10"/>
          </p:nvPr>
        </p:nvSpPr>
        <p:spPr/>
        <p:txBody>
          <a:bodyPr/>
          <a:lstStyle/>
          <a:p>
            <a:fld id="{DDEF2DC0-0CF6-4746-B154-6350E8701925}" type="datetime1">
              <a:rPr kumimoji="1" lang="zh-CN" altLang="en-US" smtClean="0"/>
              <a:t>2023/12/1</a:t>
            </a:fld>
            <a:endParaRPr kumimoji="1" lang="zh-CN" altLang="en-US"/>
          </a:p>
        </p:txBody>
      </p:sp>
      <p:sp>
        <p:nvSpPr>
          <p:cNvPr id="6" name="页脚占位符 5">
            <a:extLst>
              <a:ext uri="{FF2B5EF4-FFF2-40B4-BE49-F238E27FC236}">
                <a16:creationId xmlns:a16="http://schemas.microsoft.com/office/drawing/2014/main" id="{B32F5D2D-66ED-477A-5488-77E7B70D802B}"/>
              </a:ext>
            </a:extLst>
          </p:cNvPr>
          <p:cNvSpPr>
            <a:spLocks noGrp="1"/>
          </p:cNvSpPr>
          <p:nvPr>
            <p:ph type="ftr" sz="quarter" idx="11"/>
          </p:nvPr>
        </p:nvSpPr>
        <p:spPr/>
        <p:txBody>
          <a:bodyPr/>
          <a:lstStyle/>
          <a:p>
            <a:r>
              <a:rPr kumimoji="1" lang="en" altLang="zh-CN"/>
              <a:t>YWN</a:t>
            </a:r>
            <a:endParaRPr kumimoji="1" lang="zh-CN" altLang="en-US"/>
          </a:p>
        </p:txBody>
      </p:sp>
      <p:sp>
        <p:nvSpPr>
          <p:cNvPr id="7" name="灯片编号占位符 6">
            <a:extLst>
              <a:ext uri="{FF2B5EF4-FFF2-40B4-BE49-F238E27FC236}">
                <a16:creationId xmlns:a16="http://schemas.microsoft.com/office/drawing/2014/main" id="{CAD7D273-E666-990F-C689-92190A536A28}"/>
              </a:ext>
            </a:extLst>
          </p:cNvPr>
          <p:cNvSpPr>
            <a:spLocks noGrp="1"/>
          </p:cNvSpPr>
          <p:nvPr>
            <p:ph type="sldNum" sz="quarter" idx="12"/>
          </p:nvPr>
        </p:nvSpPr>
        <p:spPr/>
        <p:txBody>
          <a:bodyPr/>
          <a:lstStyle/>
          <a:p>
            <a:fld id="{A8EA73BB-BF9B-FF4D-AE0D-A76A49C50991}" type="slidenum">
              <a:rPr kumimoji="1" lang="zh-CN" altLang="en-US" smtClean="0"/>
              <a:t>24</a:t>
            </a:fld>
            <a:endParaRPr kumimoji="1" lang="zh-CN" altLang="en-US"/>
          </a:p>
        </p:txBody>
      </p:sp>
    </p:spTree>
    <p:extLst>
      <p:ext uri="{BB962C8B-B14F-4D97-AF65-F5344CB8AC3E}">
        <p14:creationId xmlns:p14="http://schemas.microsoft.com/office/powerpoint/2010/main" val="3857443127"/>
      </p:ext>
    </p:extLst>
  </p:cSld>
  <p:clrMapOvr>
    <a:masterClrMapping/>
  </p:clrMapOvr>
</p:sld>
</file>

<file path=ppt/theme/theme1.xml><?xml version="1.0" encoding="utf-8"?>
<a:theme xmlns:a="http://schemas.openxmlformats.org/drawingml/2006/main" name="Office 主题​​">
  <a:themeElements>
    <a:clrScheme name="纸张">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TotalTime>
  <Words>2057</Words>
  <Application>Microsoft Macintosh PowerPoint</Application>
  <PresentationFormat>宽屏</PresentationFormat>
  <Paragraphs>186</Paragraphs>
  <Slides>24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24</vt:i4>
      </vt:variant>
    </vt:vector>
  </HeadingPairs>
  <TitlesOfParts>
    <vt:vector size="28" baseType="lpstr">
      <vt:lpstr>等线</vt:lpstr>
      <vt:lpstr>Arial</vt:lpstr>
      <vt:lpstr>Cambria Math</vt:lpstr>
      <vt:lpstr>Office 主题​​</vt:lpstr>
      <vt:lpstr>PowerPoint 演示文稿</vt:lpstr>
      <vt:lpstr>三维重建</vt:lpstr>
      <vt:lpstr>多视角三维体素重建</vt:lpstr>
      <vt:lpstr>Motivation</vt:lpstr>
      <vt:lpstr>Feature Extraction in UMIFormer</vt:lpstr>
      <vt:lpstr>IVDB</vt:lpstr>
      <vt:lpstr>Similar-Token Merger</vt:lpstr>
      <vt:lpstr>Experiments</vt:lpstr>
      <vt:lpstr>PowerPoint 演示文稿</vt:lpstr>
      <vt:lpstr>Ablation Study</vt:lpstr>
      <vt:lpstr>Single View</vt:lpstr>
      <vt:lpstr>Visualization</vt:lpstr>
      <vt:lpstr>Conclusion</vt:lpstr>
      <vt:lpstr>Abstract</vt:lpstr>
      <vt:lpstr>Abstract</vt:lpstr>
      <vt:lpstr>Abstract</vt:lpstr>
      <vt:lpstr>Abstract</vt:lpstr>
      <vt:lpstr>Introduction 1</vt:lpstr>
      <vt:lpstr>Introduction 2</vt:lpstr>
      <vt:lpstr>Introduction 3</vt:lpstr>
      <vt:lpstr>Introduction 4</vt:lpstr>
      <vt:lpstr>Introduction 5</vt:lpstr>
      <vt:lpstr>Introduction 6</vt:lpstr>
      <vt:lpstr>Introduction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炜宁 叶</dc:creator>
  <cp:lastModifiedBy>炜宁 叶</cp:lastModifiedBy>
  <cp:revision>69</cp:revision>
  <dcterms:created xsi:type="dcterms:W3CDTF">2023-11-28T07:53:06Z</dcterms:created>
  <dcterms:modified xsi:type="dcterms:W3CDTF">2023-12-01T08:40:11Z</dcterms:modified>
</cp:coreProperties>
</file>