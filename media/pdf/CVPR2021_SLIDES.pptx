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7" r:id="rId4"/>
    <p:sldId id="286" r:id="rId5"/>
    <p:sldId id="287" r:id="rId6"/>
    <p:sldId id="267" r:id="rId7"/>
    <p:sldId id="274" r:id="rId8"/>
    <p:sldId id="273" r:id="rId9"/>
    <p:sldId id="272" r:id="rId10"/>
    <p:sldId id="271" r:id="rId11"/>
    <p:sldId id="270" r:id="rId12"/>
    <p:sldId id="269" r:id="rId13"/>
    <p:sldId id="268" r:id="rId14"/>
    <p:sldId id="266" r:id="rId15"/>
    <p:sldId id="264" r:id="rId16"/>
    <p:sldId id="277" r:id="rId17"/>
    <p:sldId id="276" r:id="rId18"/>
    <p:sldId id="275" r:id="rId19"/>
    <p:sldId id="281" r:id="rId20"/>
    <p:sldId id="282" r:id="rId21"/>
    <p:sldId id="279" r:id="rId22"/>
    <p:sldId id="278" r:id="rId23"/>
    <p:sldId id="280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DCDB"/>
    <a:srgbClr val="DDE5F3"/>
    <a:srgbClr val="DBE3F1"/>
    <a:srgbClr val="D3DAE9"/>
    <a:srgbClr val="CDD4E2"/>
    <a:srgbClr val="890000"/>
    <a:srgbClr val="C34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6"/>
    <p:restoredTop sz="67868"/>
  </p:normalViewPr>
  <p:slideViewPr>
    <p:cSldViewPr snapToGrid="0" snapToObjects="1">
      <p:cViewPr>
        <p:scale>
          <a:sx n="65" d="100"/>
          <a:sy n="65" d="100"/>
        </p:scale>
        <p:origin x="616" y="352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chang/Desktop/CVPR2021&#24320;&#20250;&#26448;&#26009;/Poster-Plo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Path!$C$1</c:f>
              <c:strCache>
                <c:ptCount val="1"/>
                <c:pt idx="0">
                  <c:v>Simulated Data</c:v>
                </c:pt>
              </c:strCache>
            </c:strRef>
          </c:tx>
          <c:spPr>
            <a:solidFill>
              <a:srgbClr val="4B72B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3C-6A41-9AD2-549FC04FC930}"/>
              </c:ext>
            </c:extLst>
          </c:dPt>
          <c:dPt>
            <c:idx val="1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3C-6A41-9AD2-549FC04FC930}"/>
              </c:ext>
            </c:extLst>
          </c:dPt>
          <c:dPt>
            <c:idx val="2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3C-6A41-9AD2-549FC04FC930}"/>
              </c:ext>
            </c:extLst>
          </c:dPt>
          <c:dPt>
            <c:idx val="3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3C-6A41-9AD2-549FC04FC930}"/>
              </c:ext>
            </c:extLst>
          </c:dPt>
          <c:dPt>
            <c:idx val="4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03C-6A41-9AD2-549FC04FC930}"/>
              </c:ext>
            </c:extLst>
          </c:dPt>
          <c:dPt>
            <c:idx val="5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03C-6A41-9AD2-549FC04FC930}"/>
              </c:ext>
            </c:extLst>
          </c:dPt>
          <c:dPt>
            <c:idx val="6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03C-6A41-9AD2-549FC04FC930}"/>
              </c:ext>
            </c:extLst>
          </c:dPt>
          <c:cat>
            <c:strRef>
              <c:f>Path!$A$2:$A$8</c:f>
              <c:strCache>
                <c:ptCount val="7"/>
                <c:pt idx="0">
                  <c:v>V</c:v>
                </c:pt>
                <c:pt idx="1">
                  <c:v>T</c:v>
                </c:pt>
                <c:pt idx="2">
                  <c:v>P</c:v>
                </c:pt>
                <c:pt idx="3">
                  <c:v>E</c:v>
                </c:pt>
                <c:pt idx="4">
                  <c:v>VT</c:v>
                </c:pt>
                <c:pt idx="5">
                  <c:v>VTP</c:v>
                </c:pt>
                <c:pt idx="6">
                  <c:v>VTPE</c:v>
                </c:pt>
              </c:strCache>
            </c:strRef>
          </c:cat>
          <c:val>
            <c:numRef>
              <c:f>Path!$C$2:$C$8</c:f>
              <c:numCache>
                <c:formatCode>0.00_ </c:formatCode>
                <c:ptCount val="7"/>
                <c:pt idx="0">
                  <c:v>0.68100000000000005</c:v>
                </c:pt>
                <c:pt idx="1">
                  <c:v>0.67300000000000004</c:v>
                </c:pt>
                <c:pt idx="2">
                  <c:v>0.55400000000000005</c:v>
                </c:pt>
                <c:pt idx="3">
                  <c:v>0.56000000000000005</c:v>
                </c:pt>
                <c:pt idx="4">
                  <c:v>0.72599999999999998</c:v>
                </c:pt>
                <c:pt idx="5">
                  <c:v>0.77900000000000003</c:v>
                </c:pt>
                <c:pt idx="6">
                  <c:v>0.80500000000000005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03C-6A41-9AD2-549FC04FC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649277456"/>
        <c:axId val="649279136"/>
      </c:barChart>
      <c:catAx>
        <c:axId val="649277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49279136"/>
        <c:crosses val="autoZero"/>
        <c:auto val="1"/>
        <c:lblAlgn val="ctr"/>
        <c:lblOffset val="100"/>
        <c:noMultiLvlLbl val="0"/>
      </c:catAx>
      <c:valAx>
        <c:axId val="649279136"/>
        <c:scaling>
          <c:orientation val="minMax"/>
          <c:max val="0.85000000000000009"/>
          <c:min val="0.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49277456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Path!$B$1</c:f>
              <c:strCache>
                <c:ptCount val="1"/>
                <c:pt idx="0">
                  <c:v>Clinical Data</c:v>
                </c:pt>
              </c:strCache>
            </c:strRef>
          </c:tx>
          <c:spPr>
            <a:solidFill>
              <a:srgbClr val="C34E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F9-814C-9E91-4964F64EC1B9}"/>
              </c:ext>
            </c:extLst>
          </c:dPt>
          <c:dPt>
            <c:idx val="1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F9-814C-9E91-4964F64EC1B9}"/>
              </c:ext>
            </c:extLst>
          </c:dPt>
          <c:dPt>
            <c:idx val="2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CF9-814C-9E91-4964F64EC1B9}"/>
              </c:ext>
            </c:extLst>
          </c:dPt>
          <c:dPt>
            <c:idx val="3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CF9-814C-9E91-4964F64EC1B9}"/>
              </c:ext>
            </c:extLst>
          </c:dPt>
          <c:dPt>
            <c:idx val="4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CF9-814C-9E91-4964F64EC1B9}"/>
              </c:ext>
            </c:extLst>
          </c:dPt>
          <c:dPt>
            <c:idx val="5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CF9-814C-9E91-4964F64EC1B9}"/>
              </c:ext>
            </c:extLst>
          </c:dPt>
          <c:dPt>
            <c:idx val="6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CF9-814C-9E91-4964F64EC1B9}"/>
              </c:ext>
            </c:extLst>
          </c:dPt>
          <c:cat>
            <c:strRef>
              <c:f>Path!$A$2:$A$8</c:f>
              <c:strCache>
                <c:ptCount val="7"/>
                <c:pt idx="0">
                  <c:v>V</c:v>
                </c:pt>
                <c:pt idx="1">
                  <c:v>T</c:v>
                </c:pt>
                <c:pt idx="2">
                  <c:v>P</c:v>
                </c:pt>
                <c:pt idx="3">
                  <c:v>E</c:v>
                </c:pt>
                <c:pt idx="4">
                  <c:v>VT</c:v>
                </c:pt>
                <c:pt idx="5">
                  <c:v>VTP</c:v>
                </c:pt>
                <c:pt idx="6">
                  <c:v>VTPE</c:v>
                </c:pt>
              </c:strCache>
            </c:strRef>
          </c:cat>
          <c:val>
            <c:numRef>
              <c:f>Path!$B$2:$B$8</c:f>
              <c:numCache>
                <c:formatCode>0.00_ </c:formatCode>
                <c:ptCount val="7"/>
                <c:pt idx="0">
                  <c:v>0.20100000000000001</c:v>
                </c:pt>
                <c:pt idx="1">
                  <c:v>0.25</c:v>
                </c:pt>
                <c:pt idx="2">
                  <c:v>0.46899999999999997</c:v>
                </c:pt>
                <c:pt idx="3">
                  <c:v>0.24099999999999999</c:v>
                </c:pt>
                <c:pt idx="4">
                  <c:v>0.26800000000000002</c:v>
                </c:pt>
                <c:pt idx="5">
                  <c:v>0.52500000000000002</c:v>
                </c:pt>
                <c:pt idx="6">
                  <c:v>0.56499999999999995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CF9-814C-9E91-4964F64EC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1"/>
        <c:axId val="13648432"/>
        <c:axId val="14163248"/>
      </c:barChart>
      <c:catAx>
        <c:axId val="13648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163248"/>
        <c:crosses val="autoZero"/>
        <c:auto val="1"/>
        <c:lblAlgn val="ctr"/>
        <c:lblOffset val="100"/>
        <c:noMultiLvlLbl val="0"/>
      </c:catAx>
      <c:valAx>
        <c:axId val="14163248"/>
        <c:scaling>
          <c:orientation val="minMax"/>
          <c:max val="0.60000000000000009"/>
          <c:min val="0.1500000000000000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648432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Path!$C$1</c:f>
              <c:strCache>
                <c:ptCount val="1"/>
                <c:pt idx="0">
                  <c:v>Simulated Data</c:v>
                </c:pt>
              </c:strCache>
            </c:strRef>
          </c:tx>
          <c:spPr>
            <a:solidFill>
              <a:srgbClr val="4B72B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3C-6A41-9AD2-549FC04FC930}"/>
              </c:ext>
            </c:extLst>
          </c:dPt>
          <c:dPt>
            <c:idx val="1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3C-6A41-9AD2-549FC04FC930}"/>
              </c:ext>
            </c:extLst>
          </c:dPt>
          <c:dPt>
            <c:idx val="2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3C-6A41-9AD2-549FC04FC930}"/>
              </c:ext>
            </c:extLst>
          </c:dPt>
          <c:dPt>
            <c:idx val="3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3C-6A41-9AD2-549FC04FC930}"/>
              </c:ext>
            </c:extLst>
          </c:dPt>
          <c:dPt>
            <c:idx val="4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03C-6A41-9AD2-549FC04FC930}"/>
              </c:ext>
            </c:extLst>
          </c:dPt>
          <c:dPt>
            <c:idx val="5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03C-6A41-9AD2-549FC04FC930}"/>
              </c:ext>
            </c:extLst>
          </c:dPt>
          <c:dPt>
            <c:idx val="6"/>
            <c:invertIfNegative val="0"/>
            <c:bubble3D val="0"/>
            <c:spPr>
              <a:solidFill>
                <a:srgbClr val="4B72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03C-6A41-9AD2-549FC04FC930}"/>
              </c:ext>
            </c:extLst>
          </c:dPt>
          <c:cat>
            <c:strRef>
              <c:f>Path!$A$2:$A$8</c:f>
              <c:strCache>
                <c:ptCount val="7"/>
                <c:pt idx="0">
                  <c:v>V</c:v>
                </c:pt>
                <c:pt idx="1">
                  <c:v>T</c:v>
                </c:pt>
                <c:pt idx="2">
                  <c:v>P</c:v>
                </c:pt>
                <c:pt idx="3">
                  <c:v>E</c:v>
                </c:pt>
                <c:pt idx="4">
                  <c:v>VT</c:v>
                </c:pt>
                <c:pt idx="5">
                  <c:v>VTP</c:v>
                </c:pt>
                <c:pt idx="6">
                  <c:v>VTPE</c:v>
                </c:pt>
              </c:strCache>
            </c:strRef>
          </c:cat>
          <c:val>
            <c:numRef>
              <c:f>Path!$C$2:$C$8</c:f>
              <c:numCache>
                <c:formatCode>0.00_ </c:formatCode>
                <c:ptCount val="7"/>
                <c:pt idx="0">
                  <c:v>0.68100000000000005</c:v>
                </c:pt>
                <c:pt idx="1">
                  <c:v>0.67300000000000004</c:v>
                </c:pt>
                <c:pt idx="2">
                  <c:v>0.55400000000000005</c:v>
                </c:pt>
                <c:pt idx="3">
                  <c:v>0.56000000000000005</c:v>
                </c:pt>
                <c:pt idx="4">
                  <c:v>0.72599999999999998</c:v>
                </c:pt>
                <c:pt idx="5">
                  <c:v>0.77900000000000003</c:v>
                </c:pt>
                <c:pt idx="6">
                  <c:v>0.80500000000000005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03C-6A41-9AD2-549FC04FC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649277456"/>
        <c:axId val="649279136"/>
      </c:barChart>
      <c:catAx>
        <c:axId val="649277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49279136"/>
        <c:crosses val="autoZero"/>
        <c:auto val="1"/>
        <c:lblAlgn val="ctr"/>
        <c:lblOffset val="100"/>
        <c:noMultiLvlLbl val="0"/>
      </c:catAx>
      <c:valAx>
        <c:axId val="649279136"/>
        <c:scaling>
          <c:orientation val="minMax"/>
          <c:max val="0.85000000000000009"/>
          <c:min val="0.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49277456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Path!$B$1</c:f>
              <c:strCache>
                <c:ptCount val="1"/>
                <c:pt idx="0">
                  <c:v>Clinical Data</c:v>
                </c:pt>
              </c:strCache>
            </c:strRef>
          </c:tx>
          <c:spPr>
            <a:solidFill>
              <a:srgbClr val="C34E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F9-814C-9E91-4964F64EC1B9}"/>
              </c:ext>
            </c:extLst>
          </c:dPt>
          <c:dPt>
            <c:idx val="1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F9-814C-9E91-4964F64EC1B9}"/>
              </c:ext>
            </c:extLst>
          </c:dPt>
          <c:dPt>
            <c:idx val="2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CF9-814C-9E91-4964F64EC1B9}"/>
              </c:ext>
            </c:extLst>
          </c:dPt>
          <c:dPt>
            <c:idx val="3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CF9-814C-9E91-4964F64EC1B9}"/>
              </c:ext>
            </c:extLst>
          </c:dPt>
          <c:dPt>
            <c:idx val="4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CF9-814C-9E91-4964F64EC1B9}"/>
              </c:ext>
            </c:extLst>
          </c:dPt>
          <c:dPt>
            <c:idx val="5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CF9-814C-9E91-4964F64EC1B9}"/>
              </c:ext>
            </c:extLst>
          </c:dPt>
          <c:dPt>
            <c:idx val="6"/>
            <c:invertIfNegative val="0"/>
            <c:bubble3D val="0"/>
            <c:spPr>
              <a:solidFill>
                <a:srgbClr val="C34E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CF9-814C-9E91-4964F64EC1B9}"/>
              </c:ext>
            </c:extLst>
          </c:dPt>
          <c:cat>
            <c:strRef>
              <c:f>Path!$A$2:$A$8</c:f>
              <c:strCache>
                <c:ptCount val="7"/>
                <c:pt idx="0">
                  <c:v>V</c:v>
                </c:pt>
                <c:pt idx="1">
                  <c:v>T</c:v>
                </c:pt>
                <c:pt idx="2">
                  <c:v>P</c:v>
                </c:pt>
                <c:pt idx="3">
                  <c:v>E</c:v>
                </c:pt>
                <c:pt idx="4">
                  <c:v>VT</c:v>
                </c:pt>
                <c:pt idx="5">
                  <c:v>VTP</c:v>
                </c:pt>
                <c:pt idx="6">
                  <c:v>VTPE</c:v>
                </c:pt>
              </c:strCache>
            </c:strRef>
          </c:cat>
          <c:val>
            <c:numRef>
              <c:f>Path!$B$2:$B$8</c:f>
              <c:numCache>
                <c:formatCode>0.00_ </c:formatCode>
                <c:ptCount val="7"/>
                <c:pt idx="0">
                  <c:v>0.20100000000000001</c:v>
                </c:pt>
                <c:pt idx="1">
                  <c:v>0.25</c:v>
                </c:pt>
                <c:pt idx="2">
                  <c:v>0.46899999999999997</c:v>
                </c:pt>
                <c:pt idx="3">
                  <c:v>0.24099999999999999</c:v>
                </c:pt>
                <c:pt idx="4">
                  <c:v>0.26800000000000002</c:v>
                </c:pt>
                <c:pt idx="5">
                  <c:v>0.52500000000000002</c:v>
                </c:pt>
                <c:pt idx="6">
                  <c:v>0.56499999999999995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CF9-814C-9E91-4964F64EC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1"/>
        <c:axId val="13648432"/>
        <c:axId val="14163248"/>
      </c:barChart>
      <c:catAx>
        <c:axId val="13648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163248"/>
        <c:crosses val="autoZero"/>
        <c:auto val="1"/>
        <c:lblAlgn val="ctr"/>
        <c:lblOffset val="100"/>
        <c:noMultiLvlLbl val="0"/>
      </c:catAx>
      <c:valAx>
        <c:axId val="14163248"/>
        <c:scaling>
          <c:orientation val="minMax"/>
          <c:max val="0.60000000000000009"/>
          <c:min val="0.1500000000000000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648432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STOA!$E$1</c:f>
              <c:strCache>
                <c:ptCount val="1"/>
                <c:pt idx="0">
                  <c:v>Simulated Data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46-C44C-B589-66656AC8F8A3}"/>
              </c:ext>
            </c:extLst>
          </c:dPt>
          <c:dPt>
            <c:idx val="3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46-C44C-B589-66656AC8F8A3}"/>
              </c:ext>
            </c:extLst>
          </c:dPt>
          <c:dPt>
            <c:idx val="4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46-C44C-B589-66656AC8F8A3}"/>
              </c:ext>
            </c:extLst>
          </c:dPt>
          <c:dPt>
            <c:idx val="5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46-C44C-B589-66656AC8F8A3}"/>
              </c:ext>
            </c:extLst>
          </c:dPt>
          <c:dPt>
            <c:idx val="6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746-C44C-B589-66656AC8F8A3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746-C44C-B589-66656AC8F8A3}"/>
              </c:ext>
            </c:extLst>
          </c:dPt>
          <c:cat>
            <c:strRef>
              <c:f>STOA!$D$2:$D$9</c:f>
              <c:strCache>
                <c:ptCount val="8"/>
                <c:pt idx="0">
                  <c:v>USDL</c:v>
                </c:pt>
                <c:pt idx="1">
                  <c:v>Ours-VP</c:v>
                </c:pt>
                <c:pt idx="2">
                  <c:v>ST-GCN</c:v>
                </c:pt>
                <c:pt idx="3">
                  <c:v>TSN</c:v>
                </c:pt>
                <c:pt idx="4">
                  <c:v>JRG</c:v>
                </c:pt>
                <c:pt idx="5">
                  <c:v>AIM</c:v>
                </c:pt>
                <c:pt idx="6">
                  <c:v>Ours-VTP</c:v>
                </c:pt>
                <c:pt idx="7">
                  <c:v>Ours-VTPE</c:v>
                </c:pt>
              </c:strCache>
            </c:strRef>
          </c:cat>
          <c:val>
            <c:numRef>
              <c:f>STOA!$E$2:$E$9</c:f>
              <c:numCache>
                <c:formatCode>0.00_ </c:formatCode>
                <c:ptCount val="8"/>
                <c:pt idx="0">
                  <c:v>0.63</c:v>
                </c:pt>
                <c:pt idx="1">
                  <c:v>0.73</c:v>
                </c:pt>
                <c:pt idx="2">
                  <c:v>0.43</c:v>
                </c:pt>
                <c:pt idx="3">
                  <c:v>0.46</c:v>
                </c:pt>
                <c:pt idx="4">
                  <c:v>0.56999999999999995</c:v>
                </c:pt>
                <c:pt idx="5">
                  <c:v>0.71</c:v>
                </c:pt>
                <c:pt idx="6">
                  <c:v>0.78</c:v>
                </c:pt>
                <c:pt idx="7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746-C44C-B589-66656AC8F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72908448"/>
        <c:axId val="822213680"/>
      </c:barChart>
      <c:catAx>
        <c:axId val="97290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2213680"/>
        <c:crosses val="autoZero"/>
        <c:auto val="1"/>
        <c:lblAlgn val="ctr"/>
        <c:lblOffset val="100"/>
        <c:noMultiLvlLbl val="0"/>
      </c:catAx>
      <c:valAx>
        <c:axId val="822213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2908448"/>
        <c:crosses val="autoZero"/>
        <c:crossBetween val="between"/>
        <c:majorUnit val="0.30000000000000004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STOA!$B$1</c:f>
              <c:strCache>
                <c:ptCount val="1"/>
                <c:pt idx="0">
                  <c:v>Clinical Data</c:v>
                </c:pt>
              </c:strCache>
            </c:strRef>
          </c:tx>
          <c:spPr>
            <a:solidFill>
              <a:srgbClr val="C34D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79-9A42-915E-2CE695A00A2A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779-9A42-915E-2CE695A00A2A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779-9A42-915E-2CE695A00A2A}"/>
              </c:ext>
            </c:extLst>
          </c:dPt>
          <c:cat>
            <c:strRef>
              <c:f>STOA!$A$2:$A$6</c:f>
              <c:strCache>
                <c:ptCount val="5"/>
                <c:pt idx="0">
                  <c:v>USDL</c:v>
                </c:pt>
                <c:pt idx="1">
                  <c:v>Ours-VT</c:v>
                </c:pt>
                <c:pt idx="2">
                  <c:v>Liu et al.</c:v>
                </c:pt>
                <c:pt idx="3">
                  <c:v>Ours-VTP</c:v>
                </c:pt>
                <c:pt idx="4">
                  <c:v>Ours-VTPE</c:v>
                </c:pt>
              </c:strCache>
            </c:strRef>
          </c:cat>
          <c:val>
            <c:numRef>
              <c:f>STOA!$B$2:$B$6</c:f>
              <c:numCache>
                <c:formatCode>0.00_ </c:formatCode>
                <c:ptCount val="5"/>
                <c:pt idx="0">
                  <c:v>0.161</c:v>
                </c:pt>
                <c:pt idx="1">
                  <c:v>0.26800000000000002</c:v>
                </c:pt>
                <c:pt idx="2">
                  <c:v>0.46899999999999997</c:v>
                </c:pt>
                <c:pt idx="3">
                  <c:v>0.52500000000000002</c:v>
                </c:pt>
                <c:pt idx="4">
                  <c:v>0.56499999999999995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79-9A42-915E-2CE695A00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72908448"/>
        <c:axId val="822213680"/>
      </c:barChart>
      <c:catAx>
        <c:axId val="97290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2213680"/>
        <c:crosses val="autoZero"/>
        <c:auto val="1"/>
        <c:lblAlgn val="ctr"/>
        <c:lblOffset val="100"/>
        <c:noMultiLvlLbl val="0"/>
      </c:catAx>
      <c:valAx>
        <c:axId val="822213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2908448"/>
        <c:crosses val="autoZero"/>
        <c:crossBetween val="between"/>
        <c:min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STOA!$E$1</c:f>
              <c:strCache>
                <c:ptCount val="1"/>
                <c:pt idx="0">
                  <c:v>Simulated Data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46-C44C-B589-66656AC8F8A3}"/>
              </c:ext>
            </c:extLst>
          </c:dPt>
          <c:dPt>
            <c:idx val="3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46-C44C-B589-66656AC8F8A3}"/>
              </c:ext>
            </c:extLst>
          </c:dPt>
          <c:dPt>
            <c:idx val="4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46-C44C-B589-66656AC8F8A3}"/>
              </c:ext>
            </c:extLst>
          </c:dPt>
          <c:dPt>
            <c:idx val="5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46-C44C-B589-66656AC8F8A3}"/>
              </c:ext>
            </c:extLst>
          </c:dPt>
          <c:dPt>
            <c:idx val="6"/>
            <c:invertIfNegative val="0"/>
            <c:bubble3D val="0"/>
            <c:spPr>
              <a:solidFill>
                <a:srgbClr val="C34D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746-C44C-B589-66656AC8F8A3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746-C44C-B589-66656AC8F8A3}"/>
              </c:ext>
            </c:extLst>
          </c:dPt>
          <c:cat>
            <c:strRef>
              <c:f>STOA!$D$2:$D$9</c:f>
              <c:strCache>
                <c:ptCount val="8"/>
                <c:pt idx="0">
                  <c:v>USDL</c:v>
                </c:pt>
                <c:pt idx="1">
                  <c:v>Ours-VP</c:v>
                </c:pt>
                <c:pt idx="2">
                  <c:v>ST-GCN</c:v>
                </c:pt>
                <c:pt idx="3">
                  <c:v>TSN</c:v>
                </c:pt>
                <c:pt idx="4">
                  <c:v>JRG</c:v>
                </c:pt>
                <c:pt idx="5">
                  <c:v>AIM</c:v>
                </c:pt>
                <c:pt idx="6">
                  <c:v>Ours-VTP</c:v>
                </c:pt>
                <c:pt idx="7">
                  <c:v>Ours-VTPE</c:v>
                </c:pt>
              </c:strCache>
            </c:strRef>
          </c:cat>
          <c:val>
            <c:numRef>
              <c:f>STOA!$E$2:$E$9</c:f>
              <c:numCache>
                <c:formatCode>0.00_ </c:formatCode>
                <c:ptCount val="8"/>
                <c:pt idx="0">
                  <c:v>0.63</c:v>
                </c:pt>
                <c:pt idx="1">
                  <c:v>0.73</c:v>
                </c:pt>
                <c:pt idx="2">
                  <c:v>0.43</c:v>
                </c:pt>
                <c:pt idx="3">
                  <c:v>0.46</c:v>
                </c:pt>
                <c:pt idx="4">
                  <c:v>0.56999999999999995</c:v>
                </c:pt>
                <c:pt idx="5">
                  <c:v>0.71</c:v>
                </c:pt>
                <c:pt idx="6">
                  <c:v>0.78</c:v>
                </c:pt>
                <c:pt idx="7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746-C44C-B589-66656AC8F8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72908448"/>
        <c:axId val="822213680"/>
      </c:barChart>
      <c:catAx>
        <c:axId val="97290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2213680"/>
        <c:crosses val="autoZero"/>
        <c:auto val="1"/>
        <c:lblAlgn val="ctr"/>
        <c:lblOffset val="100"/>
        <c:noMultiLvlLbl val="0"/>
      </c:catAx>
      <c:valAx>
        <c:axId val="822213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2908448"/>
        <c:crosses val="autoZero"/>
        <c:crossBetween val="between"/>
        <c:majorUnit val="0.30000000000000004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STOA!$B$1</c:f>
              <c:strCache>
                <c:ptCount val="1"/>
                <c:pt idx="0">
                  <c:v>Clinical Data</c:v>
                </c:pt>
              </c:strCache>
            </c:strRef>
          </c:tx>
          <c:spPr>
            <a:solidFill>
              <a:srgbClr val="C34D5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779-9A42-915E-2CE695A00A2A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779-9A42-915E-2CE695A00A2A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779-9A42-915E-2CE695A00A2A}"/>
              </c:ext>
            </c:extLst>
          </c:dPt>
          <c:cat>
            <c:strRef>
              <c:f>STOA!$A$2:$A$6</c:f>
              <c:strCache>
                <c:ptCount val="5"/>
                <c:pt idx="0">
                  <c:v>USDL</c:v>
                </c:pt>
                <c:pt idx="1">
                  <c:v>Ours-VT</c:v>
                </c:pt>
                <c:pt idx="2">
                  <c:v>Liu et al.</c:v>
                </c:pt>
                <c:pt idx="3">
                  <c:v>Ours-VTP</c:v>
                </c:pt>
                <c:pt idx="4">
                  <c:v>Ours-VTPE</c:v>
                </c:pt>
              </c:strCache>
            </c:strRef>
          </c:cat>
          <c:val>
            <c:numRef>
              <c:f>STOA!$B$2:$B$6</c:f>
              <c:numCache>
                <c:formatCode>0.00_ </c:formatCode>
                <c:ptCount val="5"/>
                <c:pt idx="0">
                  <c:v>0.161</c:v>
                </c:pt>
                <c:pt idx="1">
                  <c:v>0.26800000000000002</c:v>
                </c:pt>
                <c:pt idx="2">
                  <c:v>0.46899999999999997</c:v>
                </c:pt>
                <c:pt idx="3">
                  <c:v>0.52500000000000002</c:v>
                </c:pt>
                <c:pt idx="4">
                  <c:v>0.56499999999999995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79-9A42-915E-2CE695A00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72908448"/>
        <c:axId val="822213680"/>
      </c:barChart>
      <c:catAx>
        <c:axId val="97290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2213680"/>
        <c:crosses val="autoZero"/>
        <c:auto val="1"/>
        <c:lblAlgn val="ctr"/>
        <c:lblOffset val="100"/>
        <c:noMultiLvlLbl val="0"/>
      </c:catAx>
      <c:valAx>
        <c:axId val="822213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2908448"/>
        <c:crosses val="autoZero"/>
        <c:crossBetween val="between"/>
        <c:min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7B84A-3194-DA4B-B733-061A7F2F4691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DE3A9-970D-5344-BF91-8C673548B41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61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Hi, welcome to this video. I am </a:t>
            </a:r>
            <a:r>
              <a:rPr kumimoji="1" lang="en-US" altLang="zh-CN" dirty="0" err="1"/>
              <a:t>daochang</a:t>
            </a:r>
            <a:r>
              <a:rPr kumimoji="1" lang="en-US" altLang="zh-CN" dirty="0"/>
              <a:t> Liu from </a:t>
            </a:r>
            <a:r>
              <a:rPr kumimoji="1" lang="en-US" altLang="zh-CN" dirty="0" err="1"/>
              <a:t>peking</a:t>
            </a:r>
            <a:r>
              <a:rPr kumimoji="1" lang="en-US" altLang="zh-CN" dirty="0"/>
              <a:t> university.</a:t>
            </a:r>
          </a:p>
          <a:p>
            <a:r>
              <a:rPr kumimoji="1" lang="en-US" altLang="zh-CN" dirty="0"/>
              <a:t>In this video, I am going to introduce our framework for automatic surgical skill assessment.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495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 task is to automatically predict how well a surgery is performed using the video of the surgery.</a:t>
            </a:r>
          </a:p>
          <a:p>
            <a:r>
              <a:rPr kumimoji="1" lang="en-US" altLang="zh-CN" dirty="0"/>
              <a:t>The input can be videos captured by the built-in cameras in surgical devices or other external cameras. </a:t>
            </a:r>
          </a:p>
          <a:p>
            <a:r>
              <a:rPr kumimoji="1" lang="en-US" altLang="zh-CN" dirty="0"/>
              <a:t>And the output will be some skill scores in terms of technical skills, procedural skills or others.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0557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 motivation of automatic skill assessment is that surgical skills are very important for the patients, but also very </a:t>
            </a:r>
            <a:r>
              <a:rPr kumimoji="1" lang="e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time-consuming to assess manually.</a:t>
            </a:r>
          </a:p>
          <a:p>
            <a:endParaRPr kumimoji="1" lang="e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kumimoji="1" lang="e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surgical videos and computer vision techniques could be a good way to automate this process, and it could </a:t>
            </a:r>
            <a:r>
              <a:rPr kumimoji="1" lang="en-US" altLang="zh-CN" dirty="0"/>
              <a:t>have applications in surgical training, quality control, and the design of automatic surgical robots.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2705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" altLang="zh-CN" sz="1100" b="1" dirty="0">
                <a:solidFill>
                  <a:srgbClr val="890000"/>
                </a:solidFill>
              </a:rPr>
              <a:t>Surgical skill assessment is a difficult task because surgical skills are very complex and have many aspects.</a:t>
            </a:r>
          </a:p>
          <a:p>
            <a:pPr algn="ctr"/>
            <a:endParaRPr lang="en" altLang="zh-CN" sz="1100" b="1" dirty="0">
              <a:solidFill>
                <a:srgbClr val="890000"/>
              </a:solidFill>
            </a:endParaRPr>
          </a:p>
          <a:p>
            <a:pPr algn="ctr"/>
            <a:r>
              <a:rPr lang="en" altLang="zh-CN" sz="1100" b="1" dirty="0">
                <a:solidFill>
                  <a:srgbClr val="890000"/>
                </a:solidFill>
              </a:rPr>
              <a:t>In this project, we discuss a lot with our partner surgeons and identify three important aspects of surgical skills that are suitable</a:t>
            </a:r>
          </a:p>
          <a:p>
            <a:pPr algn="ctr"/>
            <a:r>
              <a:rPr lang="en" altLang="zh-CN" sz="1100" b="1" dirty="0">
                <a:solidFill>
                  <a:srgbClr val="890000"/>
                </a:solidFill>
              </a:rPr>
              <a:t>for automatic assessment.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9351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" altLang="zh-CN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first one is the usage of surgical tools, which could tell us about the instrument proficiency and motion efficiency of the surgeon.</a:t>
            </a:r>
          </a:p>
          <a:p>
            <a:pPr algn="ctr"/>
            <a:r>
              <a:rPr lang="en" altLang="zh-CN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second aspect to use surgical field clearness as a skill proxy.</a:t>
            </a:r>
          </a:p>
          <a:p>
            <a:pPr algn="ctr"/>
            <a:r>
              <a:rPr lang="en" altLang="zh-CN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third aspect is the pattern of the events during the surgery, which is related to the surgeon’s knowledge about the procedure.</a:t>
            </a:r>
            <a:endParaRPr lang="zh-CN" altLang="en-US" sz="1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" altLang="zh-CN" sz="1100" b="1" dirty="0">
              <a:solidFill>
                <a:srgbClr val="890000"/>
              </a:solidFill>
            </a:endParaRPr>
          </a:p>
          <a:p>
            <a:pPr algn="ctr"/>
            <a:r>
              <a:rPr lang="en" altLang="zh-CN" sz="1100" b="1" dirty="0">
                <a:solidFill>
                  <a:srgbClr val="890000"/>
                </a:solidFill>
              </a:rPr>
              <a:t>In summary, </a:t>
            </a:r>
            <a:r>
              <a:rPr lang="en-US" altLang="zh-CN" sz="1100" b="1" dirty="0">
                <a:solidFill>
                  <a:srgbClr val="890000"/>
                </a:solidFill>
              </a:rPr>
              <a:t>a</a:t>
            </a:r>
            <a:r>
              <a:rPr lang="en" altLang="zh-CN" sz="1100" b="1" dirty="0">
                <a:solidFill>
                  <a:srgbClr val="890000"/>
                </a:solidFill>
              </a:rPr>
              <a:t> </a:t>
            </a:r>
            <a:r>
              <a:rPr lang="en-US" altLang="zh-CN" sz="1100" b="1" dirty="0">
                <a:solidFill>
                  <a:srgbClr val="890000"/>
                </a:solidFill>
              </a:rPr>
              <a:t>high-skilled surgeon is more likely to have a smooth and focused tool trajectory, a good visibility of the surgical field, and a linear pattern of events.</a:t>
            </a:r>
            <a:endParaRPr lang="en" altLang="zh-CN" sz="1100" b="1" dirty="0">
              <a:solidFill>
                <a:srgbClr val="890000"/>
              </a:solidFill>
            </a:endParaRPr>
          </a:p>
          <a:p>
            <a:pPr algn="ctr"/>
            <a:endParaRPr lang="en" altLang="zh-CN" sz="1100" b="1" dirty="0">
              <a:solidFill>
                <a:srgbClr val="89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938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After knowing these different aspects of surgical skills, we propose a multi-path framework for automatic skill assessment, which tries to incorporate all the aspects together.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6175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The input to our framework is a surgical </a:t>
            </a:r>
            <a:r>
              <a:rPr kumimoji="1" lang="en-US" altLang="zh-CN" dirty="0" err="1"/>
              <a:t>video,and</a:t>
            </a:r>
            <a:r>
              <a:rPr kumimoji="1" lang="en-US" altLang="zh-CN" dirty="0"/>
              <a:t> there are multiple paths.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Each path takes care of a skill aspect, and there are four paths in total, corresponding to tools, proxies, events and a visual baseline.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9356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In each path, features, that are specific to each aspect, are extracted from the video,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5407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 then embedded by some encoding functions.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2550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 embeddings are then passed into some score functions to get a score sequence in each path, which indicates how well the surgery is performed at every time step.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4823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On the other hand, the input features are gathered in a path dependency module to model the relationships among aspects.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167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 aggregation of the features will be passed into some weight functions to get a weigh sequence for each path, which indicates the importance at every time step.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580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Then, the scores are weighted by the weight sequence and fused across paths to get the final video-level skill prediction.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417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Besides, we use contrastive learning to handle the lack of labeled data, by letting the model predict the future based on the past.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Ok, so far is for our multi-path framework.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7638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 proposed framework is evaluated on two surgical datasets, one is a public dataset of simulated suturing, needing-passing and knot-tying, the other is our clinical dataset of laparoscopic </a:t>
            </a:r>
            <a:r>
              <a:rPr lang="en" altLang="zh-C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Gastrectomy.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0391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343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7456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 the experiment, we compared the performance between each single path and combinations of multiple paths.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8298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On both of the simulated and clinical datasets, we found that using multiple paths is better than using single path.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6253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Our framework is also compared to some state-of-the-art methods.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In these two plots, </a:t>
            </a:r>
            <a:r>
              <a:rPr kumimoji="1" lang="en-US" altLang="zh-CN" sz="1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altLang="zh-CN" sz="1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ars with the same color can be directly compared.</a:t>
            </a:r>
            <a:endParaRPr lang="zh-CN" altLang="en-US" sz="12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2751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 each colored group, our framework has the best performance.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448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Then come to our conclusion, we proposed a</a:t>
            </a:r>
            <a:r>
              <a:rPr lang="e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flexible multi-path framework to assess surgical skills, which is effective on both simulated and clinical surgeries.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dirty="0">
                <a:solidFill>
                  <a:srgbClr val="990000"/>
                </a:solidFill>
              </a:rPr>
              <a:t>Future works</a:t>
            </a:r>
            <a:r>
              <a:rPr lang="en" altLang="zh-CN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could focus on using more paths and better functions in the framework.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also very important to have more labeled clinical data for both learning and evaluation.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8734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Thanks for watching and welcome to post your questions and read our paper </a:t>
            </a:r>
            <a:r>
              <a:rPr kumimoji="1" lang="en-US" altLang="zh-CN"/>
              <a:t>for more </a:t>
            </a:r>
            <a:r>
              <a:rPr kumimoji="1" lang="en-US" altLang="zh-CN" dirty="0"/>
              <a:t>details.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6DE3A9-970D-5344-BF91-8C673548B410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12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98727-7739-F347-B3CA-5E00F9184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1C6CFA-05F8-B94F-9592-45F861D72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B4872-8FDD-3743-B405-2328F1BD4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F0E86-0AF5-B94D-B9D6-8CE70F36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6092C-24F6-C645-8884-FA3244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8442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F1065-D3DF-FA48-8FD7-2B9C5979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DC71F-C90E-F846-B080-B1ABBC87B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232056-8A60-2E47-A654-78815FC2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0AA20C-3472-484C-AC41-A89DE9E4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075D11-1F84-0048-A984-A8DFA111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438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5D41C-452E-6747-BA68-C5C91F3C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9EE411-BB2B-F24E-A7A1-1F34873A6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DC9CCD-F398-094D-97C4-6FAFEB72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2C028-DCC8-3543-8BB1-5BEC9999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7F40B-09A7-9045-8DD4-A0225433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2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4684C-54E3-8E4A-9082-67AECB8A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314B7-ECF5-F14B-A1AE-87A69A50E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109EA0-4861-164A-AA3C-70F17B8E6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D7D5FA-F62C-D24F-8A07-B74B7B63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DEB693-17CB-D740-851D-53CFDEA3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BCBDEF-080B-894E-9FC9-EA4AC613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159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216BB-C26E-DA4A-B59A-CA86098B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8EA716-6C73-FA41-A38F-CCC8D0FF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0A124A-86C4-0C49-B860-FFD9887F5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6ACB4C-39C3-184B-AA89-A7DD946AD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87928B-AC83-A342-8F51-649BF2C5F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4352F0-9F2A-D54B-95D5-B0812DB1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C02356-95C1-F441-B129-D739F08B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451E1C-1552-FD4C-90DC-A65E2791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7F42F-9505-D947-AC73-AFD0CB87E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61D443-6F50-F94F-A8D5-1C12262A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374033-6E3E-A34B-9721-F98573A6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4C3593-D45C-0445-830D-919D55D0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384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02068E-91AA-FB44-8804-EAF0A8C2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F8C8DE-7F4F-0C43-9787-ABDB9522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1695CB-54F5-6342-B6B1-BA9B195D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826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DFD20-EB67-5A4C-B533-FF444F6B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EB0D80-BBD1-FB4F-B787-D3FA1F81C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A1058D-E9AE-CA43-909C-2B830E1D4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62FA6B-BBAA-B946-94D7-2A7EEEEC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5E4AD-EC11-894C-A928-92A74ABB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97EA5-FB63-3B47-AADF-DED5E1C7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90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15C82-B0B1-5A44-B42D-6C6994FF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C8CC86-7FC1-BB44-BE2F-6E3DDEF92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9EE850-95D7-534C-AE14-1B4873568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2D59B8-2896-D447-A8A7-53FD7186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DBF5D4-24FE-DB42-BB7E-8E18D3D7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F833BC-9ED3-2649-9ADB-B295F9BC0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485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3DC33-13F7-1A42-AA9D-3FD342D0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DA8CE-814F-5649-85E3-F395AC2CD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07104-46C0-864A-9064-9FBAAEE6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584EC-2FCE-F54A-B184-683A042B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B2F8E-14F1-9346-B885-CBA36251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9642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B62E4A-3481-1B4F-B868-59AC96E77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1A706D-8467-1649-BF69-1AFBB2B45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B24B7A-A162-C54E-8688-430FE299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66A8BB-31FF-0147-9678-6FBBFA24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443AFF-9660-AF4F-8411-8062298E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420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4F246F-40E4-E847-87B5-6C86EBA0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CE27A6-061A-E44D-8CC8-0458F6F6A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5B68B8-05B4-C94A-B0A7-B6F65B103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6B626-B555-2547-B861-28CCD415D8A7}" type="datetimeFigureOut">
              <a:rPr kumimoji="1" lang="zh-CN" altLang="en-US" smtClean="0"/>
              <a:t>2021/5/27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CEA70-715E-7B44-A339-4D2C3BB8B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06205-F6AE-C04E-8A06-2C3F63CE4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40198-2C77-D34D-A0DD-78E4541C11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832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9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1.png"/><Relationship Id="rId25" Type="http://schemas.openxmlformats.org/officeDocument/2006/relationships/image" Target="../media/image6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60.png"/><Relationship Id="rId24" Type="http://schemas.openxmlformats.org/officeDocument/2006/relationships/image" Target="../media/image12.png"/><Relationship Id="rId5" Type="http://schemas.openxmlformats.org/officeDocument/2006/relationships/image" Target="../media/image7.png"/><Relationship Id="rId23" Type="http://schemas.openxmlformats.org/officeDocument/2006/relationships/image" Target="../media/image10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90.png"/><Relationship Id="rId22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26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1.png"/><Relationship Id="rId7" Type="http://schemas.openxmlformats.org/officeDocument/2006/relationships/image" Target="../media/image60.png"/><Relationship Id="rId25" Type="http://schemas.openxmlformats.org/officeDocument/2006/relationships/image" Target="../media/image12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0.emf"/><Relationship Id="rId11" Type="http://schemas.openxmlformats.org/officeDocument/2006/relationships/image" Target="../media/image100.png"/><Relationship Id="rId24" Type="http://schemas.openxmlformats.org/officeDocument/2006/relationships/image" Target="../media/image15.png"/><Relationship Id="rId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image" Target="../media/image90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1.emf"/><Relationship Id="rId22" Type="http://schemas.openxmlformats.org/officeDocument/2006/relationships/image" Target="../media/image22.png"/><Relationship Id="rId27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26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1.png"/><Relationship Id="rId7" Type="http://schemas.openxmlformats.org/officeDocument/2006/relationships/image" Target="../media/image60.png"/><Relationship Id="rId12" Type="http://schemas.openxmlformats.org/officeDocument/2006/relationships/image" Target="../media/image17.png"/><Relationship Id="rId25" Type="http://schemas.openxmlformats.org/officeDocument/2006/relationships/image" Target="../media/image12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0.emf"/><Relationship Id="rId11" Type="http://schemas.openxmlformats.org/officeDocument/2006/relationships/image" Target="../media/image100.png"/><Relationship Id="rId24" Type="http://schemas.openxmlformats.org/officeDocument/2006/relationships/image" Target="../media/image15.png"/><Relationship Id="rId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image" Target="../media/image90.png"/><Relationship Id="rId19" Type="http://schemas.openxmlformats.org/officeDocument/2006/relationships/image" Target="../media/image160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1.emf"/><Relationship Id="rId22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8.png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1.png"/><Relationship Id="rId7" Type="http://schemas.openxmlformats.org/officeDocument/2006/relationships/image" Target="../media/image60.png"/><Relationship Id="rId12" Type="http://schemas.openxmlformats.org/officeDocument/2006/relationships/image" Target="../media/image17.png"/><Relationship Id="rId25" Type="http://schemas.openxmlformats.org/officeDocument/2006/relationships/image" Target="../media/image23.png"/><Relationship Id="rId2" Type="http://schemas.openxmlformats.org/officeDocument/2006/relationships/audio" Target="../media/media12.m4a"/><Relationship Id="rId16" Type="http://schemas.openxmlformats.org/officeDocument/2006/relationships/image" Target="../media/image13.emf"/><Relationship Id="rId20" Type="http://schemas.openxmlformats.org/officeDocument/2006/relationships/image" Target="../media/image170.png"/><Relationship Id="rId1" Type="http://schemas.microsoft.com/office/2007/relationships/media" Target="../media/media12.m4a"/><Relationship Id="rId6" Type="http://schemas.openxmlformats.org/officeDocument/2006/relationships/image" Target="../media/image10.emf"/><Relationship Id="rId11" Type="http://schemas.openxmlformats.org/officeDocument/2006/relationships/image" Target="../media/image100.png"/><Relationship Id="rId24" Type="http://schemas.openxmlformats.org/officeDocument/2006/relationships/image" Target="../media/image15.png"/><Relationship Id="rId5" Type="http://schemas.openxmlformats.org/officeDocument/2006/relationships/image" Target="../media/image7.png"/><Relationship Id="rId15" Type="http://schemas.openxmlformats.org/officeDocument/2006/relationships/image" Target="../media/image20.png"/><Relationship Id="rId23" Type="http://schemas.openxmlformats.org/officeDocument/2006/relationships/image" Target="../media/image11.png"/><Relationship Id="rId28" Type="http://schemas.openxmlformats.org/officeDocument/2006/relationships/image" Target="../media/image6.png"/><Relationship Id="rId10" Type="http://schemas.openxmlformats.org/officeDocument/2006/relationships/image" Target="../media/image90.png"/><Relationship Id="rId19" Type="http://schemas.openxmlformats.org/officeDocument/2006/relationships/image" Target="../media/image160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11.emf"/><Relationship Id="rId14" Type="http://schemas.openxmlformats.org/officeDocument/2006/relationships/image" Target="../media/image12.emf"/><Relationship Id="rId22" Type="http://schemas.openxmlformats.org/officeDocument/2006/relationships/image" Target="../media/image22.png"/><Relationship Id="rId27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7.png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1.png"/><Relationship Id="rId7" Type="http://schemas.openxmlformats.org/officeDocument/2006/relationships/image" Target="../media/image10.emf"/><Relationship Id="rId12" Type="http://schemas.openxmlformats.org/officeDocument/2006/relationships/image" Target="../media/image100.png"/><Relationship Id="rId17" Type="http://schemas.openxmlformats.org/officeDocument/2006/relationships/image" Target="../media/image13.emf"/><Relationship Id="rId25" Type="http://schemas.openxmlformats.org/officeDocument/2006/relationships/image" Target="../media/image23.png"/><Relationship Id="rId2" Type="http://schemas.openxmlformats.org/officeDocument/2006/relationships/audio" Target="../media/media13.m4a"/><Relationship Id="rId16" Type="http://schemas.openxmlformats.org/officeDocument/2006/relationships/image" Target="../media/image20.png"/><Relationship Id="rId20" Type="http://schemas.openxmlformats.org/officeDocument/2006/relationships/image" Target="../media/image170.png"/><Relationship Id="rId1" Type="http://schemas.microsoft.com/office/2007/relationships/media" Target="../media/media13.m4a"/><Relationship Id="rId6" Type="http://schemas.openxmlformats.org/officeDocument/2006/relationships/image" Target="../media/image7.png"/><Relationship Id="rId11" Type="http://schemas.openxmlformats.org/officeDocument/2006/relationships/image" Target="../media/image90.png"/><Relationship Id="rId24" Type="http://schemas.openxmlformats.org/officeDocument/2006/relationships/image" Target="../media/image15.png"/><Relationship Id="rId5" Type="http://schemas.openxmlformats.org/officeDocument/2006/relationships/image" Target="../media/image25.png"/><Relationship Id="rId15" Type="http://schemas.openxmlformats.org/officeDocument/2006/relationships/image" Target="../media/image12.emf"/><Relationship Id="rId23" Type="http://schemas.openxmlformats.org/officeDocument/2006/relationships/image" Target="../media/image11.png"/><Relationship Id="rId28" Type="http://schemas.openxmlformats.org/officeDocument/2006/relationships/image" Target="../media/image6.png"/><Relationship Id="rId10" Type="http://schemas.openxmlformats.org/officeDocument/2006/relationships/image" Target="../media/image11.emf"/><Relationship Id="rId19" Type="http://schemas.openxmlformats.org/officeDocument/2006/relationships/image" Target="../media/image160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70.png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17.png"/><Relationship Id="rId18" Type="http://schemas.openxmlformats.org/officeDocument/2006/relationships/image" Target="../media/image26.png"/><Relationship Id="rId26" Type="http://schemas.openxmlformats.org/officeDocument/2006/relationships/image" Target="../media/image28.pn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60.png"/><Relationship Id="rId7" Type="http://schemas.openxmlformats.org/officeDocument/2006/relationships/image" Target="../media/image10.emf"/><Relationship Id="rId12" Type="http://schemas.openxmlformats.org/officeDocument/2006/relationships/image" Target="../media/image100.png"/><Relationship Id="rId17" Type="http://schemas.openxmlformats.org/officeDocument/2006/relationships/image" Target="../media/image13.emf"/><Relationship Id="rId25" Type="http://schemas.openxmlformats.org/officeDocument/2006/relationships/image" Target="../media/image11.png"/><Relationship Id="rId2" Type="http://schemas.openxmlformats.org/officeDocument/2006/relationships/audio" Target="../media/media14.m4a"/><Relationship Id="rId16" Type="http://schemas.openxmlformats.org/officeDocument/2006/relationships/image" Target="../media/image20.png"/><Relationship Id="rId20" Type="http://schemas.openxmlformats.org/officeDocument/2006/relationships/image" Target="../media/image180.png"/><Relationship Id="rId29" Type="http://schemas.openxmlformats.org/officeDocument/2006/relationships/image" Target="../media/image12.png"/><Relationship Id="rId1" Type="http://schemas.microsoft.com/office/2007/relationships/media" Target="../media/media14.m4a"/><Relationship Id="rId6" Type="http://schemas.openxmlformats.org/officeDocument/2006/relationships/image" Target="../media/image7.png"/><Relationship Id="rId11" Type="http://schemas.openxmlformats.org/officeDocument/2006/relationships/image" Target="../media/image90.png"/><Relationship Id="rId24" Type="http://schemas.openxmlformats.org/officeDocument/2006/relationships/image" Target="../media/image22.png"/><Relationship Id="rId32" Type="http://schemas.openxmlformats.org/officeDocument/2006/relationships/image" Target="../media/image6.png"/><Relationship Id="rId5" Type="http://schemas.openxmlformats.org/officeDocument/2006/relationships/image" Target="../media/image25.png"/><Relationship Id="rId15" Type="http://schemas.openxmlformats.org/officeDocument/2006/relationships/image" Target="../media/image12.emf"/><Relationship Id="rId23" Type="http://schemas.openxmlformats.org/officeDocument/2006/relationships/image" Target="../media/image21.png"/><Relationship Id="rId28" Type="http://schemas.openxmlformats.org/officeDocument/2006/relationships/image" Target="../media/image23.png"/><Relationship Id="rId10" Type="http://schemas.openxmlformats.org/officeDocument/2006/relationships/image" Target="../media/image11.emf"/><Relationship Id="rId19" Type="http://schemas.openxmlformats.org/officeDocument/2006/relationships/image" Target="../media/image27.png"/><Relationship Id="rId31" Type="http://schemas.openxmlformats.org/officeDocument/2006/relationships/image" Target="../media/image24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70.png"/><Relationship Id="rId14" Type="http://schemas.openxmlformats.org/officeDocument/2006/relationships/image" Target="../media/image18.png"/><Relationship Id="rId22" Type="http://schemas.openxmlformats.org/officeDocument/2006/relationships/image" Target="../media/image170.png"/><Relationship Id="rId27" Type="http://schemas.openxmlformats.org/officeDocument/2006/relationships/image" Target="../media/image15.png"/><Relationship Id="rId30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0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BAC28E6-533D-8F43-BC13-92D44CEB07FC}"/>
              </a:ext>
            </a:extLst>
          </p:cNvPr>
          <p:cNvSpPr/>
          <p:nvPr/>
        </p:nvSpPr>
        <p:spPr>
          <a:xfrm>
            <a:off x="259179" y="222414"/>
            <a:ext cx="11673642" cy="4613654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C6D9D31-9C23-1341-A1F2-ADB8490AD34C}"/>
              </a:ext>
            </a:extLst>
          </p:cNvPr>
          <p:cNvSpPr/>
          <p:nvPr/>
        </p:nvSpPr>
        <p:spPr>
          <a:xfrm>
            <a:off x="485866" y="1802031"/>
            <a:ext cx="11460583" cy="76944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en-US" sz="4400" b="1" dirty="0">
                <a:solidFill>
                  <a:schemeClr val="bg1"/>
                </a:solidFill>
                <a:latin typeface="Candara" panose="020E0502030303020204" pitchFamily="34" charset="0"/>
                <a:cs typeface="Mangal" panose="02040503050203030202" pitchFamily="18" charset="0"/>
              </a:rPr>
              <a:t>Towards Unified Surgical Skill Assessment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943F0BC-F24F-6E45-B5B9-B342474A01E5}"/>
              </a:ext>
            </a:extLst>
          </p:cNvPr>
          <p:cNvSpPr/>
          <p:nvPr/>
        </p:nvSpPr>
        <p:spPr>
          <a:xfrm>
            <a:off x="523033" y="3401909"/>
            <a:ext cx="117727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 err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Daochang</a:t>
            </a:r>
            <a:r>
              <a:rPr lang="en-US" altLang="en-US" sz="2000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 Liu, </a:t>
            </a:r>
            <a:r>
              <a:rPr lang="en-US" altLang="en-US" sz="2000" dirty="0" err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Qiyue</a:t>
            </a:r>
            <a:r>
              <a:rPr lang="en-US" altLang="en-US" sz="2000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 Li, </a:t>
            </a:r>
            <a:r>
              <a:rPr lang="en-US" altLang="en-US" sz="2000" dirty="0" err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Tingting</a:t>
            </a:r>
            <a:r>
              <a:rPr lang="en-US" altLang="en-US" sz="2000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 Jiang, </a:t>
            </a:r>
            <a:r>
              <a:rPr lang="en-US" altLang="en-US" sz="2000" dirty="0" err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Yizhou</a:t>
            </a:r>
            <a:r>
              <a:rPr lang="en-US" altLang="en-US" sz="2000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 Wang, </a:t>
            </a:r>
            <a:r>
              <a:rPr lang="en-US" altLang="en-US" sz="2000" dirty="0" err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Rulin</a:t>
            </a:r>
            <a:r>
              <a:rPr lang="en-US" altLang="en-US" sz="2000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 Miao, Fei Shan, </a:t>
            </a:r>
            <a:r>
              <a:rPr lang="en-US" altLang="en-US" sz="2000" dirty="0" err="1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Ziyu</a:t>
            </a:r>
            <a:r>
              <a:rPr lang="en-US" altLang="en-US" sz="2000" dirty="0">
                <a:solidFill>
                  <a:schemeClr val="bg1"/>
                </a:solidFill>
                <a:latin typeface="Helvetica" pitchFamily="2" charset="0"/>
                <a:cs typeface="Calibri" panose="020F0502020204030204" pitchFamily="34" charset="0"/>
              </a:rPr>
              <a:t> Li</a:t>
            </a:r>
            <a:endParaRPr lang="zh-CN" altLang="en-US" sz="2000" dirty="0">
              <a:solidFill>
                <a:schemeClr val="bg1"/>
              </a:solidFill>
              <a:latin typeface="Helvetica" pitchFamily="2" charset="0"/>
              <a:cs typeface="Calibri" panose="020F050202020403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7D37289-5EA8-F644-A6FA-6B369740C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79" y="464063"/>
            <a:ext cx="1320070" cy="371850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71B51047-09BF-E144-AB57-517280B089D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494" t="34442" r="10895" b="33668"/>
          <a:stretch/>
        </p:blipFill>
        <p:spPr>
          <a:xfrm>
            <a:off x="526084" y="5311007"/>
            <a:ext cx="3276000" cy="972000"/>
          </a:xfrm>
          <a:prstGeom prst="rect">
            <a:avLst/>
          </a:prstGeom>
        </p:spPr>
      </p:pic>
      <p:pic>
        <p:nvPicPr>
          <p:cNvPr id="7" name="Picture 13">
            <a:extLst>
              <a:ext uri="{FF2B5EF4-FFF2-40B4-BE49-F238E27FC236}">
                <a16:creationId xmlns:a16="http://schemas.microsoft.com/office/drawing/2014/main" id="{E3031A86-37E1-224C-951E-9DD731C326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762" y="5251054"/>
            <a:ext cx="2905036" cy="10260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526ADAC-DE7E-8F4F-88D0-25A6E775D8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9997" y="5810923"/>
            <a:ext cx="1523023" cy="410862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1B10088-AFF2-5E4E-883D-2BFDBA4145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6"/>
          <a:stretch/>
        </p:blipFill>
        <p:spPr bwMode="auto">
          <a:xfrm>
            <a:off x="7626796" y="5749165"/>
            <a:ext cx="1776939" cy="53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音频 24">
            <a:hlinkClick r:id="" action="ppaction://media"/>
            <a:extLst>
              <a:ext uri="{FF2B5EF4-FFF2-40B4-BE49-F238E27FC236}">
                <a16:creationId xmlns:a16="http://schemas.microsoft.com/office/drawing/2014/main" id="{3931E958-3027-D64B-9131-1A47D0E354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21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51"/>
    </mc:Choice>
    <mc:Fallback>
      <p:transition spd="slow" advTm="120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59121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Automatic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CD13AE3-830C-EF47-9DB5-12FB15FD2724}"/>
              </a:ext>
            </a:extLst>
          </p:cNvPr>
          <p:cNvGrpSpPr/>
          <p:nvPr/>
        </p:nvGrpSpPr>
        <p:grpSpPr>
          <a:xfrm>
            <a:off x="227396" y="1190332"/>
            <a:ext cx="11376536" cy="2850290"/>
            <a:chOff x="163601" y="1084007"/>
            <a:chExt cx="11376536" cy="285029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671CC5C-6965-4343-9120-68BB9BEE6F83}"/>
                </a:ext>
              </a:extLst>
            </p:cNvPr>
            <p:cNvSpPr txBox="1"/>
            <p:nvPr/>
          </p:nvSpPr>
          <p:spPr>
            <a:xfrm>
              <a:off x="8150880" y="1959850"/>
              <a:ext cx="1320643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2800" b="0" i="1" dirty="0">
                  <a:solidFill>
                    <a:schemeClr val="bg1">
                      <a:lumMod val="50000"/>
                    </a:schemeClr>
                  </a:solidFill>
                  <a:latin typeface="Gill Sans MT" panose="020B0502020104020203" pitchFamily="34" charset="0"/>
                </a:rPr>
                <a:t>3.6 / 5.0</a:t>
              </a: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7283E85-7C38-124E-9FAC-6815823FDE30}"/>
                </a:ext>
              </a:extLst>
            </p:cNvPr>
            <p:cNvGrpSpPr/>
            <p:nvPr/>
          </p:nvGrpSpPr>
          <p:grpSpPr>
            <a:xfrm>
              <a:off x="2662171" y="1755770"/>
              <a:ext cx="1297203" cy="839046"/>
              <a:chOff x="454157" y="2425741"/>
              <a:chExt cx="1189167" cy="769167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F44E6C3-C6CA-DE48-B6D7-44B6ABB0F9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853B8474-A0F2-E74C-9BFD-B98DC7FB1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062E0E1A-B54C-2241-A497-0936904957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739D7B6D-56A2-1445-8542-DBBF0307D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44FCF40-5206-1F41-A45C-BBFBF608AB8C}"/>
                </a:ext>
              </a:extLst>
            </p:cNvPr>
            <p:cNvSpPr/>
            <p:nvPr/>
          </p:nvSpPr>
          <p:spPr>
            <a:xfrm>
              <a:off x="163601" y="3010967"/>
              <a:ext cx="629434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dirty="0">
                  <a:latin typeface="+mj-lt"/>
                </a:rPr>
                <a:t>Laparoscopic camera</a:t>
              </a:r>
            </a:p>
            <a:p>
              <a:pPr algn="ctr"/>
              <a:r>
                <a:rPr lang="en" altLang="zh-CN" dirty="0">
                  <a:latin typeface="+mj-lt"/>
                </a:rPr>
                <a:t>Surgical robots</a:t>
              </a:r>
            </a:p>
            <a:p>
              <a:pPr algn="ctr"/>
              <a:r>
                <a:rPr lang="en" altLang="zh-CN" dirty="0">
                  <a:latin typeface="+mj-lt"/>
                </a:rPr>
                <a:t>External devices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F26E410-BCF4-8040-B1B9-9FAE4D236315}"/>
                </a:ext>
              </a:extLst>
            </p:cNvPr>
            <p:cNvSpPr/>
            <p:nvPr/>
          </p:nvSpPr>
          <p:spPr>
            <a:xfrm>
              <a:off x="6082266" y="3010967"/>
              <a:ext cx="5457871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dirty="0">
                  <a:latin typeface="+mj-lt"/>
                </a:rPr>
                <a:t>Technical metrics</a:t>
              </a:r>
            </a:p>
            <a:p>
              <a:pPr algn="ctr"/>
              <a:r>
                <a:rPr lang="en" altLang="zh-CN" dirty="0">
                  <a:latin typeface="+mj-lt"/>
                </a:rPr>
                <a:t>Procedural metrics</a:t>
              </a:r>
            </a:p>
            <a:p>
              <a:pPr algn="ctr"/>
              <a:r>
                <a:rPr lang="en" altLang="zh-CN" dirty="0">
                  <a:latin typeface="+mj-lt"/>
                </a:rPr>
                <a:t>Other metrics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24B4C2-6E5A-2949-B77E-9851A52375C4}"/>
                </a:ext>
              </a:extLst>
            </p:cNvPr>
            <p:cNvSpPr/>
            <p:nvPr/>
          </p:nvSpPr>
          <p:spPr>
            <a:xfrm>
              <a:off x="6501121" y="1084007"/>
              <a:ext cx="462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2400" b="1" dirty="0">
                  <a:solidFill>
                    <a:srgbClr val="990000"/>
                  </a:solidFill>
                  <a:latin typeface="+mj-lt"/>
                </a:rPr>
                <a:t>Output: </a:t>
              </a:r>
              <a:r>
                <a:rPr lang="en" altLang="zh-CN" sz="2400" dirty="0">
                  <a:solidFill>
                    <a:srgbClr val="990000"/>
                  </a:solidFill>
                  <a:latin typeface="+mj-lt"/>
                </a:rPr>
                <a:t>Skill Score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3DBFF4C-394E-E149-AEC1-4333378DB9F1}"/>
                </a:ext>
              </a:extLst>
            </p:cNvPr>
            <p:cNvSpPr/>
            <p:nvPr/>
          </p:nvSpPr>
          <p:spPr>
            <a:xfrm>
              <a:off x="1000692" y="1084007"/>
              <a:ext cx="462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2400" b="1" dirty="0">
                  <a:solidFill>
                    <a:srgbClr val="990000"/>
                  </a:solidFill>
                  <a:latin typeface="+mj-lt"/>
                </a:rPr>
                <a:t>Input: </a:t>
              </a:r>
              <a:r>
                <a:rPr lang="en" altLang="zh-CN" sz="2400" dirty="0">
                  <a:solidFill>
                    <a:srgbClr val="990000"/>
                  </a:solidFill>
                  <a:latin typeface="+mj-lt"/>
                </a:rPr>
                <a:t>Surgical Video</a:t>
              </a:r>
            </a:p>
          </p:txBody>
        </p:sp>
        <p:sp>
          <p:nvSpPr>
            <p:cNvPr id="8" name="右箭头 7">
              <a:extLst>
                <a:ext uri="{FF2B5EF4-FFF2-40B4-BE49-F238E27FC236}">
                  <a16:creationId xmlns:a16="http://schemas.microsoft.com/office/drawing/2014/main" id="{1B38CCE2-A99E-9844-A498-86DC58B2A800}"/>
                </a:ext>
              </a:extLst>
            </p:cNvPr>
            <p:cNvSpPr/>
            <p:nvPr/>
          </p:nvSpPr>
          <p:spPr>
            <a:xfrm>
              <a:off x="5721995" y="1891018"/>
              <a:ext cx="657521" cy="339945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45" name="音频 44">
            <a:hlinkClick r:id="" action="ppaction://media"/>
            <a:extLst>
              <a:ext uri="{FF2B5EF4-FFF2-40B4-BE49-F238E27FC236}">
                <a16:creationId xmlns:a16="http://schemas.microsoft.com/office/drawing/2014/main" id="{E148DDE4-95A9-FA4E-92E4-3FFE9D9536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89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384"/>
    </mc:Choice>
    <mc:Fallback>
      <p:transition spd="slow" advTm="243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59121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Automatic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CD13AE3-830C-EF47-9DB5-12FB15FD2724}"/>
              </a:ext>
            </a:extLst>
          </p:cNvPr>
          <p:cNvGrpSpPr/>
          <p:nvPr/>
        </p:nvGrpSpPr>
        <p:grpSpPr>
          <a:xfrm>
            <a:off x="227396" y="1190332"/>
            <a:ext cx="11376536" cy="4973189"/>
            <a:chOff x="163601" y="1084007"/>
            <a:chExt cx="11376536" cy="4973189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671CC5C-6965-4343-9120-68BB9BEE6F83}"/>
                </a:ext>
              </a:extLst>
            </p:cNvPr>
            <p:cNvSpPr txBox="1"/>
            <p:nvPr/>
          </p:nvSpPr>
          <p:spPr>
            <a:xfrm>
              <a:off x="8150880" y="1959850"/>
              <a:ext cx="1320643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zh-CN" sz="2800" b="0" i="1" dirty="0">
                  <a:solidFill>
                    <a:schemeClr val="bg1">
                      <a:lumMod val="50000"/>
                    </a:schemeClr>
                  </a:solidFill>
                  <a:latin typeface="Gill Sans MT" panose="020B0502020104020203" pitchFamily="34" charset="0"/>
                </a:rPr>
                <a:t>3.6 / 5.0</a:t>
              </a: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7283E85-7C38-124E-9FAC-6815823FDE30}"/>
                </a:ext>
              </a:extLst>
            </p:cNvPr>
            <p:cNvGrpSpPr/>
            <p:nvPr/>
          </p:nvGrpSpPr>
          <p:grpSpPr>
            <a:xfrm>
              <a:off x="2662171" y="1755770"/>
              <a:ext cx="1297203" cy="839046"/>
              <a:chOff x="454157" y="2425741"/>
              <a:chExt cx="1189167" cy="769167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F44E6C3-C6CA-DE48-B6D7-44B6ABB0F9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853B8474-A0F2-E74C-9BFD-B98DC7FB1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30" name="图片 29">
                <a:extLst>
                  <a:ext uri="{FF2B5EF4-FFF2-40B4-BE49-F238E27FC236}">
                    <a16:creationId xmlns:a16="http://schemas.microsoft.com/office/drawing/2014/main" id="{062E0E1A-B54C-2241-A497-0936904957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739D7B6D-56A2-1445-8542-DBBF0307D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44FCF40-5206-1F41-A45C-BBFBF608AB8C}"/>
                </a:ext>
              </a:extLst>
            </p:cNvPr>
            <p:cNvSpPr/>
            <p:nvPr/>
          </p:nvSpPr>
          <p:spPr>
            <a:xfrm>
              <a:off x="163601" y="3010967"/>
              <a:ext cx="629434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dirty="0">
                  <a:latin typeface="+mj-lt"/>
                </a:rPr>
                <a:t>Laparoscopic camera</a:t>
              </a:r>
            </a:p>
            <a:p>
              <a:pPr algn="ctr"/>
              <a:r>
                <a:rPr lang="en" altLang="zh-CN" dirty="0">
                  <a:latin typeface="+mj-lt"/>
                </a:rPr>
                <a:t>Surgical robots</a:t>
              </a:r>
            </a:p>
            <a:p>
              <a:pPr algn="ctr"/>
              <a:r>
                <a:rPr lang="en" altLang="zh-CN" dirty="0">
                  <a:latin typeface="+mj-lt"/>
                </a:rPr>
                <a:t>External devices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F26E410-BCF4-8040-B1B9-9FAE4D236315}"/>
                </a:ext>
              </a:extLst>
            </p:cNvPr>
            <p:cNvSpPr/>
            <p:nvPr/>
          </p:nvSpPr>
          <p:spPr>
            <a:xfrm>
              <a:off x="6082266" y="3010967"/>
              <a:ext cx="5457871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dirty="0">
                  <a:latin typeface="+mj-lt"/>
                </a:rPr>
                <a:t>Technical metrics</a:t>
              </a:r>
            </a:p>
            <a:p>
              <a:pPr algn="ctr"/>
              <a:r>
                <a:rPr lang="en" altLang="zh-CN" dirty="0">
                  <a:latin typeface="+mj-lt"/>
                </a:rPr>
                <a:t>Procedural metrics</a:t>
              </a:r>
            </a:p>
            <a:p>
              <a:pPr algn="ctr"/>
              <a:r>
                <a:rPr lang="en" altLang="zh-CN" dirty="0">
                  <a:latin typeface="+mj-lt"/>
                </a:rPr>
                <a:t>Other metrics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3124B4C2-6E5A-2949-B77E-9851A52375C4}"/>
                </a:ext>
              </a:extLst>
            </p:cNvPr>
            <p:cNvSpPr/>
            <p:nvPr/>
          </p:nvSpPr>
          <p:spPr>
            <a:xfrm>
              <a:off x="6501121" y="1084007"/>
              <a:ext cx="462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2400" b="1" dirty="0">
                  <a:solidFill>
                    <a:srgbClr val="990000"/>
                  </a:solidFill>
                  <a:latin typeface="+mj-lt"/>
                </a:rPr>
                <a:t>Output: </a:t>
              </a:r>
              <a:r>
                <a:rPr lang="en" altLang="zh-CN" sz="2400" dirty="0">
                  <a:solidFill>
                    <a:srgbClr val="990000"/>
                  </a:solidFill>
                  <a:latin typeface="+mj-lt"/>
                </a:rPr>
                <a:t>Skill Score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3DBFF4C-394E-E149-AEC1-4333378DB9F1}"/>
                </a:ext>
              </a:extLst>
            </p:cNvPr>
            <p:cNvSpPr/>
            <p:nvPr/>
          </p:nvSpPr>
          <p:spPr>
            <a:xfrm>
              <a:off x="1000692" y="1084007"/>
              <a:ext cx="462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" altLang="zh-CN" sz="2400" b="1" dirty="0">
                  <a:solidFill>
                    <a:srgbClr val="990000"/>
                  </a:solidFill>
                  <a:latin typeface="+mj-lt"/>
                </a:rPr>
                <a:t>Input: </a:t>
              </a:r>
              <a:r>
                <a:rPr lang="en" altLang="zh-CN" sz="2400" dirty="0">
                  <a:solidFill>
                    <a:srgbClr val="990000"/>
                  </a:solidFill>
                  <a:latin typeface="+mj-lt"/>
                </a:rPr>
                <a:t>Surgical Video</a:t>
              </a: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EC828A9-C3F2-1442-9E2B-54E61393446C}"/>
                </a:ext>
              </a:extLst>
            </p:cNvPr>
            <p:cNvGrpSpPr/>
            <p:nvPr/>
          </p:nvGrpSpPr>
          <p:grpSpPr>
            <a:xfrm>
              <a:off x="372123" y="4350448"/>
              <a:ext cx="11060943" cy="1706748"/>
              <a:chOff x="372123" y="4350448"/>
              <a:chExt cx="11060943" cy="1706748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3D29C22-C2EB-CB4B-AEC0-4C8DAC4838E1}"/>
                  </a:ext>
                </a:extLst>
              </p:cNvPr>
              <p:cNvSpPr/>
              <p:nvPr/>
            </p:nvSpPr>
            <p:spPr>
              <a:xfrm>
                <a:off x="372123" y="4856867"/>
                <a:ext cx="58772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2400" dirty="0">
                    <a:latin typeface="+mj-lt"/>
                  </a:rPr>
                  <a:t>Crucial for patient safety</a:t>
                </a:r>
              </a:p>
              <a:p>
                <a:pPr algn="ctr"/>
                <a:r>
                  <a:rPr lang="en" altLang="zh-CN" sz="2400" dirty="0">
                    <a:latin typeface="+mj-lt"/>
                  </a:rPr>
                  <a:t>Laborious manual assessment</a:t>
                </a:r>
              </a:p>
              <a:p>
                <a:pPr algn="ctr"/>
                <a:r>
                  <a:rPr lang="en" altLang="zh-CN" sz="2400" dirty="0">
                    <a:latin typeface="+mj-lt"/>
                  </a:rPr>
                  <a:t>Enormous videos from ORs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787D5CC-385D-1C4B-95C1-87A892CED63B}"/>
                  </a:ext>
                </a:extLst>
              </p:cNvPr>
              <p:cNvSpPr/>
              <p:nvPr/>
            </p:nvSpPr>
            <p:spPr>
              <a:xfrm>
                <a:off x="6189336" y="4856867"/>
                <a:ext cx="524373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" altLang="zh-CN" sz="2400" dirty="0">
                    <a:latin typeface="+mj-lt"/>
                  </a:rPr>
                  <a:t>Efficient surgical training </a:t>
                </a:r>
              </a:p>
              <a:p>
                <a:pPr algn="ctr"/>
                <a:r>
                  <a:rPr lang="en" altLang="zh-CN" sz="2400" dirty="0">
                    <a:latin typeface="+mj-lt"/>
                  </a:rPr>
                  <a:t>Surgical quality control</a:t>
                </a:r>
              </a:p>
              <a:p>
                <a:pPr algn="ctr"/>
                <a:r>
                  <a:rPr lang="en" altLang="zh-CN" sz="2400" dirty="0">
                    <a:latin typeface="+mj-lt"/>
                  </a:rPr>
                  <a:t>Automatic surgical robots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73FEB1AF-EB4B-344D-A19B-9C73E044A099}"/>
                  </a:ext>
                </a:extLst>
              </p:cNvPr>
              <p:cNvSpPr/>
              <p:nvPr/>
            </p:nvSpPr>
            <p:spPr>
              <a:xfrm>
                <a:off x="1213082" y="4350448"/>
                <a:ext cx="41953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" altLang="zh-CN" sz="2400" b="1" dirty="0">
                    <a:solidFill>
                      <a:srgbClr val="4B72B1"/>
                    </a:solidFill>
                    <a:latin typeface="+mj-lt"/>
                  </a:rPr>
                  <a:t>Why automatic skill assessment</a:t>
                </a: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C74B7CE-FC84-7746-AC56-AF2DF1764F51}"/>
                  </a:ext>
                </a:extLst>
              </p:cNvPr>
              <p:cNvSpPr/>
              <p:nvPr/>
            </p:nvSpPr>
            <p:spPr>
              <a:xfrm>
                <a:off x="7935801" y="4350448"/>
                <a:ext cx="175080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" altLang="zh-CN" sz="2400" b="1" dirty="0">
                    <a:solidFill>
                      <a:srgbClr val="4B72B1"/>
                    </a:solidFill>
                    <a:latin typeface="+mj-lt"/>
                  </a:rPr>
                  <a:t>Applications</a:t>
                </a:r>
              </a:p>
            </p:txBody>
          </p:sp>
        </p:grpSp>
        <p:sp>
          <p:nvSpPr>
            <p:cNvPr id="8" name="右箭头 7">
              <a:extLst>
                <a:ext uri="{FF2B5EF4-FFF2-40B4-BE49-F238E27FC236}">
                  <a16:creationId xmlns:a16="http://schemas.microsoft.com/office/drawing/2014/main" id="{1B38CCE2-A99E-9844-A498-86DC58B2A800}"/>
                </a:ext>
              </a:extLst>
            </p:cNvPr>
            <p:cNvSpPr/>
            <p:nvPr/>
          </p:nvSpPr>
          <p:spPr>
            <a:xfrm>
              <a:off x="5721995" y="1891018"/>
              <a:ext cx="657521" cy="339945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9" name="音频 18">
            <a:hlinkClick r:id="" action="ppaction://media"/>
            <a:extLst>
              <a:ext uri="{FF2B5EF4-FFF2-40B4-BE49-F238E27FC236}">
                <a16:creationId xmlns:a16="http://schemas.microsoft.com/office/drawing/2014/main" id="{314BB9B6-1A7D-224F-BBA8-394E136D95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4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662"/>
    </mc:Choice>
    <mc:Fallback>
      <p:transition spd="slow" advTm="286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5604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Different Aspects of Surgical Skills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508B3B-AC13-954A-AA06-3D837B43B273}"/>
              </a:ext>
            </a:extLst>
          </p:cNvPr>
          <p:cNvSpPr txBox="1"/>
          <p:nvPr/>
        </p:nvSpPr>
        <p:spPr>
          <a:xfrm rot="16200000">
            <a:off x="-92806" y="4643754"/>
            <a:ext cx="222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Low Skill</a:t>
            </a:r>
            <a:endParaRPr kumimoji="1" lang="zh-CN" altLang="en-US" sz="2400" b="1" dirty="0">
              <a:latin typeface="+mj-lt"/>
              <a:cs typeface="DejaVu Sans Book" panose="020B0603030804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A0C107F-1B03-EE4A-9FF3-A7CB4BF5F88D}"/>
              </a:ext>
            </a:extLst>
          </p:cNvPr>
          <p:cNvSpPr txBox="1"/>
          <p:nvPr/>
        </p:nvSpPr>
        <p:spPr>
          <a:xfrm rot="16200000">
            <a:off x="-285996" y="2681135"/>
            <a:ext cx="2613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High Skill</a:t>
            </a:r>
            <a:endParaRPr kumimoji="1" lang="zh-CN" altLang="en-US" sz="2400" b="1" dirty="0">
              <a:latin typeface="+mj-lt"/>
              <a:cs typeface="DejaVu Sans Book" panose="020B0603030804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04A566-28B9-9743-981C-CE89944ED21C}"/>
              </a:ext>
            </a:extLst>
          </p:cNvPr>
          <p:cNvGrpSpPr/>
          <p:nvPr/>
        </p:nvGrpSpPr>
        <p:grpSpPr>
          <a:xfrm>
            <a:off x="2175170" y="6254201"/>
            <a:ext cx="8806051" cy="307777"/>
            <a:chOff x="1985729" y="6218789"/>
            <a:chExt cx="8806051" cy="307777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661B59B-2612-1F4A-8665-AE9F8A3E8750}"/>
                </a:ext>
              </a:extLst>
            </p:cNvPr>
            <p:cNvGrpSpPr/>
            <p:nvPr/>
          </p:nvGrpSpPr>
          <p:grpSpPr>
            <a:xfrm>
              <a:off x="6799542" y="6218789"/>
              <a:ext cx="1787560" cy="307777"/>
              <a:chOff x="4380676" y="4587024"/>
              <a:chExt cx="1155329" cy="198921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0B8EC12-037A-9040-8BFA-16FE20BF44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80676" y="4589783"/>
                <a:ext cx="180000" cy="180000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E697E71-3FF8-B643-8A21-5C16D696C105}"/>
                  </a:ext>
                </a:extLst>
              </p:cNvPr>
              <p:cNvSpPr/>
              <p:nvPr/>
            </p:nvSpPr>
            <p:spPr>
              <a:xfrm>
                <a:off x="4594031" y="4587024"/>
                <a:ext cx="941974" cy="198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Procedural Event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7CEB12A-AD5B-CE4C-ADAF-B37244CE5037}"/>
                </a:ext>
              </a:extLst>
            </p:cNvPr>
            <p:cNvGrpSpPr/>
            <p:nvPr/>
          </p:nvGrpSpPr>
          <p:grpSpPr>
            <a:xfrm>
              <a:off x="9183992" y="6218789"/>
              <a:ext cx="1607788" cy="307777"/>
              <a:chOff x="2192974" y="4583320"/>
              <a:chExt cx="1039140" cy="198921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2324281-1F0C-3147-8351-FBAA63469B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92974" y="4589783"/>
                <a:ext cx="180000" cy="180000"/>
              </a:xfrm>
              <a:prstGeom prst="ellipse">
                <a:avLst/>
              </a:prstGeom>
              <a:solidFill>
                <a:srgbClr val="C34E4F"/>
              </a:solidFill>
              <a:ln>
                <a:solidFill>
                  <a:srgbClr val="C34E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EEDAA12-3CDA-8D46-A855-85403AAFB567}"/>
                  </a:ext>
                </a:extLst>
              </p:cNvPr>
              <p:cNvSpPr/>
              <p:nvPr/>
            </p:nvSpPr>
            <p:spPr>
              <a:xfrm>
                <a:off x="2422754" y="4583320"/>
                <a:ext cx="809360" cy="198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Adverse Event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24E17A2-2778-2949-9380-BFF89BC96F0E}"/>
                </a:ext>
              </a:extLst>
            </p:cNvPr>
            <p:cNvGrpSpPr/>
            <p:nvPr/>
          </p:nvGrpSpPr>
          <p:grpSpPr>
            <a:xfrm>
              <a:off x="1985729" y="6218789"/>
              <a:ext cx="1794590" cy="307777"/>
              <a:chOff x="2572625" y="3790258"/>
              <a:chExt cx="1159874" cy="198921"/>
            </a:xfrm>
          </p:grpSpPr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B24D5893-55AB-9E49-8623-E49A43A34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2625" y="3883529"/>
                <a:ext cx="260573" cy="0"/>
              </a:xfrm>
              <a:prstGeom prst="line">
                <a:avLst/>
              </a:prstGeom>
              <a:ln w="50800" cap="rnd" cmpd="thinThick">
                <a:solidFill>
                  <a:srgbClr val="4B72B1"/>
                </a:solidFill>
                <a:round/>
                <a:headEnd type="oval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F4BE823-E424-BC4A-9D08-E032EDF349F3}"/>
                  </a:ext>
                </a:extLst>
              </p:cNvPr>
              <p:cNvSpPr/>
              <p:nvPr/>
            </p:nvSpPr>
            <p:spPr>
              <a:xfrm>
                <a:off x="2843362" y="3790258"/>
                <a:ext cx="889137" cy="198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Tool Movement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BDEC9433-CACF-CB49-A603-C248C56109C5}"/>
                </a:ext>
              </a:extLst>
            </p:cNvPr>
            <p:cNvGrpSpPr/>
            <p:nvPr/>
          </p:nvGrpSpPr>
          <p:grpSpPr>
            <a:xfrm>
              <a:off x="4437364" y="6218789"/>
              <a:ext cx="1727714" cy="307777"/>
              <a:chOff x="4422880" y="3720109"/>
              <a:chExt cx="1116650" cy="198922"/>
            </a:xfrm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DE22B6E2-E50C-FA4D-A684-5F364AA74A72}"/>
                  </a:ext>
                </a:extLst>
              </p:cNvPr>
              <p:cNvSpPr/>
              <p:nvPr/>
            </p:nvSpPr>
            <p:spPr>
              <a:xfrm>
                <a:off x="4422880" y="3721257"/>
                <a:ext cx="173307" cy="180109"/>
              </a:xfrm>
              <a:prstGeom prst="ellipse">
                <a:avLst/>
              </a:prstGeom>
              <a:noFill/>
              <a:ln w="76200" cap="rnd" cmpd="tri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C8729EA-AF9B-5446-A6AC-811B20DC095B}"/>
                  </a:ext>
                </a:extLst>
              </p:cNvPr>
              <p:cNvSpPr/>
              <p:nvPr/>
            </p:nvSpPr>
            <p:spPr>
              <a:xfrm>
                <a:off x="4674223" y="3720109"/>
                <a:ext cx="865307" cy="198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Dissection Area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657E66C-D047-E84C-801A-90DF64BA78A3}"/>
              </a:ext>
            </a:extLst>
          </p:cNvPr>
          <p:cNvGrpSpPr/>
          <p:nvPr/>
        </p:nvGrpSpPr>
        <p:grpSpPr>
          <a:xfrm>
            <a:off x="4597835" y="1213464"/>
            <a:ext cx="2998459" cy="4318157"/>
            <a:chOff x="4678172" y="1213464"/>
            <a:chExt cx="2998459" cy="4318157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0406339-CB54-DC45-B56D-D2952466363E}"/>
                </a:ext>
              </a:extLst>
            </p:cNvPr>
            <p:cNvSpPr txBox="1"/>
            <p:nvPr/>
          </p:nvSpPr>
          <p:spPr>
            <a:xfrm>
              <a:off x="4678172" y="1213464"/>
              <a:ext cx="299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Field Clearness</a:t>
              </a:r>
            </a:p>
            <a:p>
              <a:pPr algn="ctr"/>
              <a:r>
                <a:rPr kumimoji="1" lang="en-US" altLang="zh-CN" sz="16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e.g., Skill Proxy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B7450FB-5350-3D47-ADBD-72040A73F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9340" y="4217552"/>
              <a:ext cx="2336123" cy="131406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088CB0B-C71A-3E44-A8E6-71BB24002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9341" y="2254933"/>
              <a:ext cx="2336121" cy="131406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1BFDFD1-0CF3-7B4B-A147-F8ABA726A2A6}"/>
              </a:ext>
            </a:extLst>
          </p:cNvPr>
          <p:cNvGrpSpPr/>
          <p:nvPr/>
        </p:nvGrpSpPr>
        <p:grpSpPr>
          <a:xfrm>
            <a:off x="1367414" y="1225362"/>
            <a:ext cx="2872749" cy="4293991"/>
            <a:chOff x="1063774" y="1225362"/>
            <a:chExt cx="2872749" cy="4293991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59C394E-47E6-BC46-BBFC-07FA34255FFF}"/>
                </a:ext>
              </a:extLst>
            </p:cNvPr>
            <p:cNvSpPr txBox="1"/>
            <p:nvPr/>
          </p:nvSpPr>
          <p:spPr>
            <a:xfrm>
              <a:off x="1063774" y="1225362"/>
              <a:ext cx="2872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Tool Usage</a:t>
              </a: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3BBA2AE-0D5A-8246-9D40-F9CFAC254158}"/>
                </a:ext>
              </a:extLst>
            </p:cNvPr>
            <p:cNvGrpSpPr/>
            <p:nvPr/>
          </p:nvGrpSpPr>
          <p:grpSpPr>
            <a:xfrm>
              <a:off x="1671163" y="4229820"/>
              <a:ext cx="1657971" cy="1289533"/>
              <a:chOff x="8576842" y="4159527"/>
              <a:chExt cx="2005209" cy="1559607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037D63F-E80C-8440-A153-740098D9CF0D}"/>
                  </a:ext>
                </a:extLst>
              </p:cNvPr>
              <p:cNvSpPr/>
              <p:nvPr/>
            </p:nvSpPr>
            <p:spPr>
              <a:xfrm>
                <a:off x="8968640" y="4304807"/>
                <a:ext cx="1192942" cy="1239760"/>
              </a:xfrm>
              <a:prstGeom prst="ellipse">
                <a:avLst/>
              </a:prstGeom>
              <a:noFill/>
              <a:ln w="101600" cap="rnd" cmpd="tri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8" name="任意形状 47">
                <a:extLst>
                  <a:ext uri="{FF2B5EF4-FFF2-40B4-BE49-F238E27FC236}">
                    <a16:creationId xmlns:a16="http://schemas.microsoft.com/office/drawing/2014/main" id="{FE7B413C-53A2-FC42-B04E-E11404D15783}"/>
                  </a:ext>
                </a:extLst>
              </p:cNvPr>
              <p:cNvSpPr/>
              <p:nvPr/>
            </p:nvSpPr>
            <p:spPr>
              <a:xfrm>
                <a:off x="8576842" y="4159527"/>
                <a:ext cx="2005209" cy="1559607"/>
              </a:xfrm>
              <a:custGeom>
                <a:avLst/>
                <a:gdLst>
                  <a:gd name="connsiteX0" fmla="*/ 314992 w 1601532"/>
                  <a:gd name="connsiteY0" fmla="*/ 1419321 h 1440631"/>
                  <a:gd name="connsiteX1" fmla="*/ 1484574 w 1601532"/>
                  <a:gd name="connsiteY1" fmla="*/ 600614 h 1440631"/>
                  <a:gd name="connsiteX2" fmla="*/ 772192 w 1601532"/>
                  <a:gd name="connsiteY2" fmla="*/ 962121 h 1440631"/>
                  <a:gd name="connsiteX3" fmla="*/ 1367616 w 1601532"/>
                  <a:gd name="connsiteY3" fmla="*/ 451758 h 1440631"/>
                  <a:gd name="connsiteX4" fmla="*/ 846620 w 1601532"/>
                  <a:gd name="connsiteY4" fmla="*/ 717572 h 1440631"/>
                  <a:gd name="connsiteX5" fmla="*/ 602071 w 1601532"/>
                  <a:gd name="connsiteY5" fmla="*/ 387963 h 1440631"/>
                  <a:gd name="connsiteX6" fmla="*/ 6648 w 1601532"/>
                  <a:gd name="connsiteY6" fmla="*/ 653777 h 1440631"/>
                  <a:gd name="connsiteX7" fmla="*/ 314992 w 1601532"/>
                  <a:gd name="connsiteY7" fmla="*/ 1079079 h 1440631"/>
                  <a:gd name="connsiteX8" fmla="*/ 814723 w 1601532"/>
                  <a:gd name="connsiteY8" fmla="*/ 37088 h 1440631"/>
                  <a:gd name="connsiteX9" fmla="*/ 1133699 w 1601532"/>
                  <a:gd name="connsiteY9" fmla="*/ 292270 h 1440631"/>
                  <a:gd name="connsiteX10" fmla="*/ 644602 w 1601532"/>
                  <a:gd name="connsiteY10" fmla="*/ 866428 h 1440631"/>
                  <a:gd name="connsiteX11" fmla="*/ 527644 w 1601532"/>
                  <a:gd name="connsiteY11" fmla="*/ 1142874 h 1440631"/>
                  <a:gd name="connsiteX12" fmla="*/ 878518 w 1601532"/>
                  <a:gd name="connsiteY12" fmla="*/ 1440586 h 1440631"/>
                  <a:gd name="connsiteX13" fmla="*/ 1027374 w 1601532"/>
                  <a:gd name="connsiteY13" fmla="*/ 1121609 h 1440631"/>
                  <a:gd name="connsiteX14" fmla="*/ 1505839 w 1601532"/>
                  <a:gd name="connsiteY14" fmla="*/ 813265 h 1440631"/>
                  <a:gd name="connsiteX15" fmla="*/ 1218760 w 1601532"/>
                  <a:gd name="connsiteY15" fmla="*/ 1110977 h 1440631"/>
                  <a:gd name="connsiteX16" fmla="*/ 1399513 w 1601532"/>
                  <a:gd name="connsiteY16" fmla="*/ 1025916 h 1440631"/>
                  <a:gd name="connsiteX17" fmla="*/ 1601532 w 1601532"/>
                  <a:gd name="connsiteY17" fmla="*/ 1238568 h 1440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01532" h="1440631">
                    <a:moveTo>
                      <a:pt x="314992" y="1419321"/>
                    </a:moveTo>
                    <a:cubicBezTo>
                      <a:pt x="861683" y="1048067"/>
                      <a:pt x="1408374" y="676814"/>
                      <a:pt x="1484574" y="600614"/>
                    </a:cubicBezTo>
                    <a:cubicBezTo>
                      <a:pt x="1560774" y="524414"/>
                      <a:pt x="791685" y="986930"/>
                      <a:pt x="772192" y="962121"/>
                    </a:cubicBezTo>
                    <a:cubicBezTo>
                      <a:pt x="752699" y="937312"/>
                      <a:pt x="1355211" y="492516"/>
                      <a:pt x="1367616" y="451758"/>
                    </a:cubicBezTo>
                    <a:cubicBezTo>
                      <a:pt x="1380021" y="411000"/>
                      <a:pt x="974211" y="728204"/>
                      <a:pt x="846620" y="717572"/>
                    </a:cubicBezTo>
                    <a:cubicBezTo>
                      <a:pt x="719029" y="706940"/>
                      <a:pt x="742066" y="398595"/>
                      <a:pt x="602071" y="387963"/>
                    </a:cubicBezTo>
                    <a:cubicBezTo>
                      <a:pt x="462076" y="377331"/>
                      <a:pt x="54494" y="538591"/>
                      <a:pt x="6648" y="653777"/>
                    </a:cubicBezTo>
                    <a:cubicBezTo>
                      <a:pt x="-41198" y="768963"/>
                      <a:pt x="180313" y="1181860"/>
                      <a:pt x="314992" y="1079079"/>
                    </a:cubicBezTo>
                    <a:cubicBezTo>
                      <a:pt x="449671" y="976298"/>
                      <a:pt x="678272" y="168223"/>
                      <a:pt x="814723" y="37088"/>
                    </a:cubicBezTo>
                    <a:cubicBezTo>
                      <a:pt x="951174" y="-94047"/>
                      <a:pt x="1162053" y="154047"/>
                      <a:pt x="1133699" y="292270"/>
                    </a:cubicBezTo>
                    <a:cubicBezTo>
                      <a:pt x="1105345" y="430493"/>
                      <a:pt x="745611" y="724661"/>
                      <a:pt x="644602" y="866428"/>
                    </a:cubicBezTo>
                    <a:cubicBezTo>
                      <a:pt x="543593" y="1008195"/>
                      <a:pt x="488658" y="1047181"/>
                      <a:pt x="527644" y="1142874"/>
                    </a:cubicBezTo>
                    <a:cubicBezTo>
                      <a:pt x="566630" y="1238567"/>
                      <a:pt x="795230" y="1444130"/>
                      <a:pt x="878518" y="1440586"/>
                    </a:cubicBezTo>
                    <a:cubicBezTo>
                      <a:pt x="961806" y="1437042"/>
                      <a:pt x="922821" y="1226162"/>
                      <a:pt x="1027374" y="1121609"/>
                    </a:cubicBezTo>
                    <a:cubicBezTo>
                      <a:pt x="1131927" y="1017056"/>
                      <a:pt x="1473941" y="815037"/>
                      <a:pt x="1505839" y="813265"/>
                    </a:cubicBezTo>
                    <a:cubicBezTo>
                      <a:pt x="1537737" y="811493"/>
                      <a:pt x="1236481" y="1075535"/>
                      <a:pt x="1218760" y="1110977"/>
                    </a:cubicBezTo>
                    <a:cubicBezTo>
                      <a:pt x="1201039" y="1146419"/>
                      <a:pt x="1335718" y="1004651"/>
                      <a:pt x="1399513" y="1025916"/>
                    </a:cubicBezTo>
                    <a:cubicBezTo>
                      <a:pt x="1463308" y="1047181"/>
                      <a:pt x="1532420" y="1142874"/>
                      <a:pt x="1601532" y="1238568"/>
                    </a:cubicBezTo>
                  </a:path>
                </a:pathLst>
              </a:custGeom>
              <a:noFill/>
              <a:ln w="76200" cap="rnd" cmpd="thinThick">
                <a:solidFill>
                  <a:srgbClr val="4B72B1"/>
                </a:solidFill>
                <a:round/>
                <a:headEnd type="oval"/>
                <a:tailEnd type="arrow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6048C4BE-05A2-C04D-BFCB-52DDC643B0CC}"/>
                </a:ext>
              </a:extLst>
            </p:cNvPr>
            <p:cNvGrpSpPr/>
            <p:nvPr/>
          </p:nvGrpSpPr>
          <p:grpSpPr>
            <a:xfrm>
              <a:off x="1728812" y="2281014"/>
              <a:ext cx="1542673" cy="1261907"/>
              <a:chOff x="4719137" y="4238289"/>
              <a:chExt cx="1846231" cy="1510217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D58BAB63-9A06-2F4B-BC5C-1F7A39D92AFE}"/>
                  </a:ext>
                </a:extLst>
              </p:cNvPr>
              <p:cNvSpPr/>
              <p:nvPr/>
            </p:nvSpPr>
            <p:spPr>
              <a:xfrm>
                <a:off x="5185759" y="4238289"/>
                <a:ext cx="1192941" cy="1239759"/>
              </a:xfrm>
              <a:prstGeom prst="ellipse">
                <a:avLst/>
              </a:prstGeom>
              <a:noFill/>
              <a:ln w="101600" cap="rnd" cmpd="tri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" name="任意形状 55">
                <a:extLst>
                  <a:ext uri="{FF2B5EF4-FFF2-40B4-BE49-F238E27FC236}">
                    <a16:creationId xmlns:a16="http://schemas.microsoft.com/office/drawing/2014/main" id="{212859A1-2ADA-0046-8BFA-30045C04A8DA}"/>
                  </a:ext>
                </a:extLst>
              </p:cNvPr>
              <p:cNvSpPr/>
              <p:nvPr/>
            </p:nvSpPr>
            <p:spPr>
              <a:xfrm>
                <a:off x="4719137" y="4318506"/>
                <a:ext cx="1846231" cy="1430000"/>
              </a:xfrm>
              <a:custGeom>
                <a:avLst/>
                <a:gdLst>
                  <a:gd name="connsiteX0" fmla="*/ 108155 w 1193250"/>
                  <a:gd name="connsiteY0" fmla="*/ 924233 h 924233"/>
                  <a:gd name="connsiteX1" fmla="*/ 678426 w 1193250"/>
                  <a:gd name="connsiteY1" fmla="*/ 422787 h 924233"/>
                  <a:gd name="connsiteX2" fmla="*/ 1150374 w 1193250"/>
                  <a:gd name="connsiteY2" fmla="*/ 363794 h 924233"/>
                  <a:gd name="connsiteX3" fmla="*/ 1101213 w 1193250"/>
                  <a:gd name="connsiteY3" fmla="*/ 172065 h 924233"/>
                  <a:gd name="connsiteX4" fmla="*/ 530942 w 1193250"/>
                  <a:gd name="connsiteY4" fmla="*/ 226142 h 924233"/>
                  <a:gd name="connsiteX5" fmla="*/ 462116 w 1193250"/>
                  <a:gd name="connsiteY5" fmla="*/ 393291 h 924233"/>
                  <a:gd name="connsiteX6" fmla="*/ 717755 w 1193250"/>
                  <a:gd name="connsiteY6" fmla="*/ 560439 h 924233"/>
                  <a:gd name="connsiteX7" fmla="*/ 776748 w 1193250"/>
                  <a:gd name="connsiteY7" fmla="*/ 235975 h 924233"/>
                  <a:gd name="connsiteX8" fmla="*/ 565355 w 1193250"/>
                  <a:gd name="connsiteY8" fmla="*/ 349046 h 924233"/>
                  <a:gd name="connsiteX9" fmla="*/ 825910 w 1193250"/>
                  <a:gd name="connsiteY9" fmla="*/ 481781 h 924233"/>
                  <a:gd name="connsiteX10" fmla="*/ 889819 w 1193250"/>
                  <a:gd name="connsiteY10" fmla="*/ 290052 h 924233"/>
                  <a:gd name="connsiteX11" fmla="*/ 585019 w 1193250"/>
                  <a:gd name="connsiteY11" fmla="*/ 49162 h 924233"/>
                  <a:gd name="connsiteX12" fmla="*/ 0 w 1193250"/>
                  <a:gd name="connsiteY12" fmla="*/ 0 h 924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93250" h="924233">
                    <a:moveTo>
                      <a:pt x="108155" y="924233"/>
                    </a:moveTo>
                    <a:cubicBezTo>
                      <a:pt x="306439" y="720213"/>
                      <a:pt x="504723" y="516193"/>
                      <a:pt x="678426" y="422787"/>
                    </a:cubicBezTo>
                    <a:cubicBezTo>
                      <a:pt x="852129" y="329380"/>
                      <a:pt x="1079910" y="405581"/>
                      <a:pt x="1150374" y="363794"/>
                    </a:cubicBezTo>
                    <a:cubicBezTo>
                      <a:pt x="1220838" y="322007"/>
                      <a:pt x="1204452" y="195007"/>
                      <a:pt x="1101213" y="172065"/>
                    </a:cubicBezTo>
                    <a:cubicBezTo>
                      <a:pt x="997974" y="149123"/>
                      <a:pt x="637458" y="189271"/>
                      <a:pt x="530942" y="226142"/>
                    </a:cubicBezTo>
                    <a:cubicBezTo>
                      <a:pt x="424426" y="263013"/>
                      <a:pt x="430981" y="337575"/>
                      <a:pt x="462116" y="393291"/>
                    </a:cubicBezTo>
                    <a:cubicBezTo>
                      <a:pt x="493251" y="449007"/>
                      <a:pt x="665316" y="586658"/>
                      <a:pt x="717755" y="560439"/>
                    </a:cubicBezTo>
                    <a:cubicBezTo>
                      <a:pt x="770194" y="534220"/>
                      <a:pt x="802148" y="271207"/>
                      <a:pt x="776748" y="235975"/>
                    </a:cubicBezTo>
                    <a:cubicBezTo>
                      <a:pt x="751348" y="200743"/>
                      <a:pt x="557161" y="308078"/>
                      <a:pt x="565355" y="349046"/>
                    </a:cubicBezTo>
                    <a:cubicBezTo>
                      <a:pt x="573549" y="390014"/>
                      <a:pt x="771833" y="491613"/>
                      <a:pt x="825910" y="481781"/>
                    </a:cubicBezTo>
                    <a:cubicBezTo>
                      <a:pt x="879987" y="471949"/>
                      <a:pt x="929967" y="362155"/>
                      <a:pt x="889819" y="290052"/>
                    </a:cubicBezTo>
                    <a:cubicBezTo>
                      <a:pt x="849671" y="217949"/>
                      <a:pt x="733322" y="97504"/>
                      <a:pt x="585019" y="49162"/>
                    </a:cubicBezTo>
                    <a:cubicBezTo>
                      <a:pt x="436716" y="820"/>
                      <a:pt x="218358" y="410"/>
                      <a:pt x="0" y="0"/>
                    </a:cubicBezTo>
                  </a:path>
                </a:pathLst>
              </a:custGeom>
              <a:noFill/>
              <a:ln w="76200" cap="rnd" cmpd="thinThick">
                <a:solidFill>
                  <a:srgbClr val="4B72B1"/>
                </a:solidFill>
                <a:round/>
                <a:headEnd type="oval"/>
                <a:tailEnd type="arrow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459000-583B-3B45-AF0E-FF025A8C194D}"/>
              </a:ext>
            </a:extLst>
          </p:cNvPr>
          <p:cNvGrpSpPr/>
          <p:nvPr/>
        </p:nvGrpSpPr>
        <p:grpSpPr>
          <a:xfrm>
            <a:off x="8258768" y="1225362"/>
            <a:ext cx="2966876" cy="4054829"/>
            <a:chOff x="8453900" y="1225362"/>
            <a:chExt cx="2966876" cy="4054829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C15BAF8-1EF8-DB41-99D7-0612080D15F8}"/>
                </a:ext>
              </a:extLst>
            </p:cNvPr>
            <p:cNvSpPr txBox="1"/>
            <p:nvPr/>
          </p:nvSpPr>
          <p:spPr>
            <a:xfrm>
              <a:off x="8453900" y="1225362"/>
              <a:ext cx="29668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Event Pattern</a:t>
              </a:r>
              <a:endParaRPr kumimoji="1" lang="zh-CN" altLang="en-US" sz="2400" b="1" dirty="0">
                <a:latin typeface="+mj-lt"/>
                <a:cs typeface="DejaVu Sans Book" panose="020B0603030804020204" pitchFamily="34" charset="0"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23DCE88-CF9B-1C45-A77C-7AF31149393D}"/>
                </a:ext>
              </a:extLst>
            </p:cNvPr>
            <p:cNvGrpSpPr>
              <a:grpSpLocks noChangeAspect="1"/>
            </p:cNvGrpSpPr>
            <p:nvPr/>
          </p:nvGrpSpPr>
          <p:grpSpPr>
            <a:xfrm flipV="1">
              <a:off x="8726584" y="2714458"/>
              <a:ext cx="2421509" cy="395019"/>
              <a:chOff x="1254119" y="4936398"/>
              <a:chExt cx="2371628" cy="386882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9487B8F-180A-8647-A1B1-93864FAD4E06}"/>
                  </a:ext>
                </a:extLst>
              </p:cNvPr>
              <p:cNvGrpSpPr/>
              <p:nvPr/>
            </p:nvGrpSpPr>
            <p:grpSpPr>
              <a:xfrm rot="1800000">
                <a:off x="1254119" y="4939086"/>
                <a:ext cx="1091737" cy="381504"/>
                <a:chOff x="1189571" y="4939086"/>
                <a:chExt cx="1091737" cy="381504"/>
              </a:xfrm>
            </p:grpSpPr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3FEAE3B5-EF22-4E4B-B4A9-F8FDE5BB93A6}"/>
                    </a:ext>
                  </a:extLst>
                </p:cNvPr>
                <p:cNvSpPr/>
                <p:nvPr/>
              </p:nvSpPr>
              <p:spPr>
                <a:xfrm>
                  <a:off x="1189571" y="4939086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D3284F8E-C1F2-C84B-990C-4D07F1BD41A4}"/>
                    </a:ext>
                  </a:extLst>
                </p:cNvPr>
                <p:cNvSpPr/>
                <p:nvPr/>
              </p:nvSpPr>
              <p:spPr>
                <a:xfrm>
                  <a:off x="1899804" y="4939086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5" name="右箭头 44">
                  <a:extLst>
                    <a:ext uri="{FF2B5EF4-FFF2-40B4-BE49-F238E27FC236}">
                      <a16:creationId xmlns:a16="http://schemas.microsoft.com/office/drawing/2014/main" id="{DAD30ADE-E396-2E46-BFEA-88E9467E8F0F}"/>
                    </a:ext>
                  </a:extLst>
                </p:cNvPr>
                <p:cNvSpPr/>
                <p:nvPr/>
              </p:nvSpPr>
              <p:spPr>
                <a:xfrm rot="120000">
                  <a:off x="1629756" y="5025338"/>
                  <a:ext cx="230002" cy="198243"/>
                </a:xfrm>
                <a:prstGeom prst="rightArrow">
                  <a:avLst/>
                </a:prstGeom>
                <a:solidFill>
                  <a:srgbClr val="DADADA"/>
                </a:solidFill>
                <a:ln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</p:grpSp>
          <p:sp>
            <p:nvSpPr>
              <p:cNvPr id="38" name="右箭头 37">
                <a:extLst>
                  <a:ext uri="{FF2B5EF4-FFF2-40B4-BE49-F238E27FC236}">
                    <a16:creationId xmlns:a16="http://schemas.microsoft.com/office/drawing/2014/main" id="{2A5BAB88-DBD1-D24A-9D8E-2A7F232A1083}"/>
                  </a:ext>
                </a:extLst>
              </p:cNvPr>
              <p:cNvSpPr/>
              <p:nvPr/>
            </p:nvSpPr>
            <p:spPr>
              <a:xfrm rot="19560000">
                <a:off x="2330672" y="5030717"/>
                <a:ext cx="230002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B3FDA766-ABE2-F440-AB5C-560728C2679E}"/>
                  </a:ext>
                </a:extLst>
              </p:cNvPr>
              <p:cNvGrpSpPr/>
              <p:nvPr/>
            </p:nvGrpSpPr>
            <p:grpSpPr>
              <a:xfrm rot="1800000">
                <a:off x="2524692" y="4936398"/>
                <a:ext cx="1101055" cy="386882"/>
                <a:chOff x="2610037" y="4933708"/>
                <a:chExt cx="1101055" cy="386882"/>
              </a:xfrm>
            </p:grpSpPr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9FB47F48-D3B5-FB48-AD0A-15B8F38F1042}"/>
                    </a:ext>
                  </a:extLst>
                </p:cNvPr>
                <p:cNvSpPr/>
                <p:nvPr/>
              </p:nvSpPr>
              <p:spPr>
                <a:xfrm>
                  <a:off x="2610037" y="4939086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7294582E-C97D-E041-8563-DE8D4B609889}"/>
                    </a:ext>
                  </a:extLst>
                </p:cNvPr>
                <p:cNvSpPr/>
                <p:nvPr/>
              </p:nvSpPr>
              <p:spPr>
                <a:xfrm>
                  <a:off x="3329588" y="4933708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2" name="右箭头 41">
                  <a:extLst>
                    <a:ext uri="{FF2B5EF4-FFF2-40B4-BE49-F238E27FC236}">
                      <a16:creationId xmlns:a16="http://schemas.microsoft.com/office/drawing/2014/main" id="{B378F3DA-0853-1546-B3F2-E1526686BB07}"/>
                    </a:ext>
                  </a:extLst>
                </p:cNvPr>
                <p:cNvSpPr/>
                <p:nvPr/>
              </p:nvSpPr>
              <p:spPr>
                <a:xfrm rot="180000">
                  <a:off x="3055600" y="5034655"/>
                  <a:ext cx="230002" cy="198243"/>
                </a:xfrm>
                <a:prstGeom prst="rightArrow">
                  <a:avLst/>
                </a:prstGeom>
                <a:solidFill>
                  <a:srgbClr val="DADADA"/>
                </a:solidFill>
                <a:ln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</p:grp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8B83958D-CC1C-9346-B9A3-CE3E55B095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90536" y="4468981"/>
              <a:ext cx="2293605" cy="811210"/>
              <a:chOff x="8232047" y="3089134"/>
              <a:chExt cx="2281058" cy="806772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5AA8AD02-77AB-934A-A981-8B7217FC62A4}"/>
                  </a:ext>
                </a:extLst>
              </p:cNvPr>
              <p:cNvSpPr/>
              <p:nvPr/>
            </p:nvSpPr>
            <p:spPr>
              <a:xfrm>
                <a:off x="8232047" y="3504400"/>
                <a:ext cx="381504" cy="381504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9FF90052-BB90-DC4C-A118-3196B392F0A9}"/>
                  </a:ext>
                </a:extLst>
              </p:cNvPr>
              <p:cNvSpPr/>
              <p:nvPr/>
            </p:nvSpPr>
            <p:spPr>
              <a:xfrm>
                <a:off x="8865231" y="3504400"/>
                <a:ext cx="381504" cy="381504"/>
              </a:xfrm>
              <a:prstGeom prst="ellipse">
                <a:avLst/>
              </a:prstGeom>
              <a:solidFill>
                <a:srgbClr val="C34E4F"/>
              </a:solidFill>
              <a:ln>
                <a:solidFill>
                  <a:srgbClr val="C34E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B51A02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BF9507AA-7EF4-F548-81C0-B8A7FBEEBBAC}"/>
                  </a:ext>
                </a:extLst>
              </p:cNvPr>
              <p:cNvSpPr/>
              <p:nvPr/>
            </p:nvSpPr>
            <p:spPr>
              <a:xfrm>
                <a:off x="9498415" y="3504400"/>
                <a:ext cx="381504" cy="381504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71062CB5-F88C-D547-AB69-5A89819B1E3A}"/>
                  </a:ext>
                </a:extLst>
              </p:cNvPr>
              <p:cNvSpPr/>
              <p:nvPr/>
            </p:nvSpPr>
            <p:spPr>
              <a:xfrm>
                <a:off x="10131601" y="3514402"/>
                <a:ext cx="381504" cy="381504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7" name="右箭头 66">
                <a:extLst>
                  <a:ext uri="{FF2B5EF4-FFF2-40B4-BE49-F238E27FC236}">
                    <a16:creationId xmlns:a16="http://schemas.microsoft.com/office/drawing/2014/main" id="{8A372DC0-FCBF-4B4D-9127-CD8D23DABDB4}"/>
                  </a:ext>
                </a:extLst>
              </p:cNvPr>
              <p:cNvSpPr/>
              <p:nvPr/>
            </p:nvSpPr>
            <p:spPr>
              <a:xfrm>
                <a:off x="8669112" y="3596031"/>
                <a:ext cx="140558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8" name="右箭头 67">
                <a:extLst>
                  <a:ext uri="{FF2B5EF4-FFF2-40B4-BE49-F238E27FC236}">
                    <a16:creationId xmlns:a16="http://schemas.microsoft.com/office/drawing/2014/main" id="{26E68003-5D5D-DA4F-AEEF-C1C97AD29BE7}"/>
                  </a:ext>
                </a:extLst>
              </p:cNvPr>
              <p:cNvSpPr/>
              <p:nvPr/>
            </p:nvSpPr>
            <p:spPr>
              <a:xfrm>
                <a:off x="9302296" y="3596031"/>
                <a:ext cx="140558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9" name="右箭头 68">
                <a:extLst>
                  <a:ext uri="{FF2B5EF4-FFF2-40B4-BE49-F238E27FC236}">
                    <a16:creationId xmlns:a16="http://schemas.microsoft.com/office/drawing/2014/main" id="{6FEF0D90-52E1-A744-9EBB-60B2C13C67BA}"/>
                  </a:ext>
                </a:extLst>
              </p:cNvPr>
              <p:cNvSpPr/>
              <p:nvPr/>
            </p:nvSpPr>
            <p:spPr>
              <a:xfrm>
                <a:off x="9935480" y="3606033"/>
                <a:ext cx="140558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70" name="上弧形箭头 69">
                <a:extLst>
                  <a:ext uri="{FF2B5EF4-FFF2-40B4-BE49-F238E27FC236}">
                    <a16:creationId xmlns:a16="http://schemas.microsoft.com/office/drawing/2014/main" id="{A00B4988-8456-C44F-AB9C-A1BBCCBBB847}"/>
                  </a:ext>
                </a:extLst>
              </p:cNvPr>
              <p:cNvSpPr/>
              <p:nvPr/>
            </p:nvSpPr>
            <p:spPr>
              <a:xfrm flipH="1" flipV="1">
                <a:off x="9652920" y="3151512"/>
                <a:ext cx="698665" cy="297905"/>
              </a:xfrm>
              <a:prstGeom prst="curvedUp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71" name="上弧形箭头 70">
                <a:extLst>
                  <a:ext uri="{FF2B5EF4-FFF2-40B4-BE49-F238E27FC236}">
                    <a16:creationId xmlns:a16="http://schemas.microsoft.com/office/drawing/2014/main" id="{39B1E575-B8E0-D242-B48D-57D8EF09B5FA}"/>
                  </a:ext>
                </a:extLst>
              </p:cNvPr>
              <p:cNvSpPr/>
              <p:nvPr/>
            </p:nvSpPr>
            <p:spPr>
              <a:xfrm flipH="1" flipV="1">
                <a:off x="8384994" y="3089134"/>
                <a:ext cx="1187089" cy="361800"/>
              </a:xfrm>
              <a:prstGeom prst="curvedUp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Avenir Book" panose="02000503020000020003" pitchFamily="2" charset="0"/>
                </a:endParaRPr>
              </a:p>
            </p:txBody>
          </p:sp>
        </p:grpSp>
      </p:grp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4BE854EC-B720-9245-A74F-DA633FC2A9BC}"/>
              </a:ext>
            </a:extLst>
          </p:cNvPr>
          <p:cNvCxnSpPr>
            <a:cxnSpLocks/>
          </p:cNvCxnSpPr>
          <p:nvPr/>
        </p:nvCxnSpPr>
        <p:spPr>
          <a:xfrm flipV="1">
            <a:off x="7969096" y="2331187"/>
            <a:ext cx="0" cy="3188271"/>
          </a:xfrm>
          <a:prstGeom prst="line">
            <a:avLst/>
          </a:prstGeom>
          <a:ln w="25400" cmpd="sng">
            <a:solidFill>
              <a:srgbClr val="D0CECE">
                <a:alpha val="52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3D78F9F-6FED-9E4B-A406-E9FED938292D}"/>
              </a:ext>
            </a:extLst>
          </p:cNvPr>
          <p:cNvCxnSpPr>
            <a:cxnSpLocks/>
          </p:cNvCxnSpPr>
          <p:nvPr/>
        </p:nvCxnSpPr>
        <p:spPr>
          <a:xfrm flipV="1">
            <a:off x="4266598" y="2331187"/>
            <a:ext cx="0" cy="3188271"/>
          </a:xfrm>
          <a:prstGeom prst="line">
            <a:avLst/>
          </a:prstGeom>
          <a:ln w="25400" cmpd="sng">
            <a:solidFill>
              <a:srgbClr val="D0CECE">
                <a:alpha val="52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音频 31">
            <a:hlinkClick r:id="" action="ppaction://media"/>
            <a:extLst>
              <a:ext uri="{FF2B5EF4-FFF2-40B4-BE49-F238E27FC236}">
                <a16:creationId xmlns:a16="http://schemas.microsoft.com/office/drawing/2014/main" id="{1A8526DE-3D44-B347-B717-CD2788C40F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95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38"/>
    </mc:Choice>
    <mc:Fallback>
      <p:transition spd="slow" advTm="183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5604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Different Aspects of Surgical Skills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508B3B-AC13-954A-AA06-3D837B43B273}"/>
              </a:ext>
            </a:extLst>
          </p:cNvPr>
          <p:cNvSpPr txBox="1"/>
          <p:nvPr/>
        </p:nvSpPr>
        <p:spPr>
          <a:xfrm rot="16200000">
            <a:off x="-92806" y="4643754"/>
            <a:ext cx="222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Low Skill</a:t>
            </a:r>
            <a:endParaRPr kumimoji="1" lang="zh-CN" altLang="en-US" sz="2400" b="1" dirty="0">
              <a:latin typeface="+mj-lt"/>
              <a:cs typeface="DejaVu Sans Book" panose="020B0603030804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A0C107F-1B03-EE4A-9FF3-A7CB4BF5F88D}"/>
              </a:ext>
            </a:extLst>
          </p:cNvPr>
          <p:cNvSpPr txBox="1"/>
          <p:nvPr/>
        </p:nvSpPr>
        <p:spPr>
          <a:xfrm rot="16200000">
            <a:off x="-285996" y="2681135"/>
            <a:ext cx="2613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High Skill</a:t>
            </a:r>
            <a:endParaRPr kumimoji="1" lang="zh-CN" altLang="en-US" sz="2400" b="1" dirty="0">
              <a:latin typeface="+mj-lt"/>
              <a:cs typeface="DejaVu Sans Book" panose="020B0603030804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04A566-28B9-9743-981C-CE89944ED21C}"/>
              </a:ext>
            </a:extLst>
          </p:cNvPr>
          <p:cNvGrpSpPr/>
          <p:nvPr/>
        </p:nvGrpSpPr>
        <p:grpSpPr>
          <a:xfrm>
            <a:off x="2175170" y="6254201"/>
            <a:ext cx="8806051" cy="307777"/>
            <a:chOff x="1985729" y="6218789"/>
            <a:chExt cx="8806051" cy="307777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661B59B-2612-1F4A-8665-AE9F8A3E8750}"/>
                </a:ext>
              </a:extLst>
            </p:cNvPr>
            <p:cNvGrpSpPr/>
            <p:nvPr/>
          </p:nvGrpSpPr>
          <p:grpSpPr>
            <a:xfrm>
              <a:off x="6799542" y="6218789"/>
              <a:ext cx="1787560" cy="307777"/>
              <a:chOff x="4380676" y="4587024"/>
              <a:chExt cx="1155329" cy="198921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0B8EC12-037A-9040-8BFA-16FE20BF44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80676" y="4589783"/>
                <a:ext cx="180000" cy="180000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E697E71-3FF8-B643-8A21-5C16D696C105}"/>
                  </a:ext>
                </a:extLst>
              </p:cNvPr>
              <p:cNvSpPr/>
              <p:nvPr/>
            </p:nvSpPr>
            <p:spPr>
              <a:xfrm>
                <a:off x="4594031" y="4587024"/>
                <a:ext cx="941974" cy="198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Procedural Event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7CEB12A-AD5B-CE4C-ADAF-B37244CE5037}"/>
                </a:ext>
              </a:extLst>
            </p:cNvPr>
            <p:cNvGrpSpPr/>
            <p:nvPr/>
          </p:nvGrpSpPr>
          <p:grpSpPr>
            <a:xfrm>
              <a:off x="9183992" y="6218789"/>
              <a:ext cx="1607788" cy="307777"/>
              <a:chOff x="2192974" y="4583320"/>
              <a:chExt cx="1039140" cy="198921"/>
            </a:xfrm>
          </p:grpSpPr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2324281-1F0C-3147-8351-FBAA63469B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92974" y="4589783"/>
                <a:ext cx="180000" cy="180000"/>
              </a:xfrm>
              <a:prstGeom prst="ellipse">
                <a:avLst/>
              </a:prstGeom>
              <a:solidFill>
                <a:srgbClr val="C34E4F"/>
              </a:solidFill>
              <a:ln>
                <a:solidFill>
                  <a:srgbClr val="C34E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EEDAA12-3CDA-8D46-A855-85403AAFB567}"/>
                  </a:ext>
                </a:extLst>
              </p:cNvPr>
              <p:cNvSpPr/>
              <p:nvPr/>
            </p:nvSpPr>
            <p:spPr>
              <a:xfrm>
                <a:off x="2422754" y="4583320"/>
                <a:ext cx="809360" cy="198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Adverse Event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24E17A2-2778-2949-9380-BFF89BC96F0E}"/>
                </a:ext>
              </a:extLst>
            </p:cNvPr>
            <p:cNvGrpSpPr/>
            <p:nvPr/>
          </p:nvGrpSpPr>
          <p:grpSpPr>
            <a:xfrm>
              <a:off x="1985729" y="6218789"/>
              <a:ext cx="1794590" cy="307777"/>
              <a:chOff x="2572625" y="3790258"/>
              <a:chExt cx="1159874" cy="198921"/>
            </a:xfrm>
          </p:grpSpPr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B24D5893-55AB-9E49-8623-E49A43A34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2625" y="3883529"/>
                <a:ext cx="260573" cy="0"/>
              </a:xfrm>
              <a:prstGeom prst="line">
                <a:avLst/>
              </a:prstGeom>
              <a:ln w="50800" cap="rnd" cmpd="thinThick">
                <a:solidFill>
                  <a:srgbClr val="4B72B1"/>
                </a:solidFill>
                <a:round/>
                <a:headEnd type="oval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F4BE823-E424-BC4A-9D08-E032EDF349F3}"/>
                  </a:ext>
                </a:extLst>
              </p:cNvPr>
              <p:cNvSpPr/>
              <p:nvPr/>
            </p:nvSpPr>
            <p:spPr>
              <a:xfrm>
                <a:off x="2843362" y="3790258"/>
                <a:ext cx="889137" cy="198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Tool Movement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BDEC9433-CACF-CB49-A603-C248C56109C5}"/>
                </a:ext>
              </a:extLst>
            </p:cNvPr>
            <p:cNvGrpSpPr/>
            <p:nvPr/>
          </p:nvGrpSpPr>
          <p:grpSpPr>
            <a:xfrm>
              <a:off x="4437364" y="6218789"/>
              <a:ext cx="1727714" cy="307777"/>
              <a:chOff x="4422880" y="3720109"/>
              <a:chExt cx="1116650" cy="198922"/>
            </a:xfrm>
          </p:grpSpPr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DE22B6E2-E50C-FA4D-A684-5F364AA74A72}"/>
                  </a:ext>
                </a:extLst>
              </p:cNvPr>
              <p:cNvSpPr/>
              <p:nvPr/>
            </p:nvSpPr>
            <p:spPr>
              <a:xfrm>
                <a:off x="4422880" y="3721257"/>
                <a:ext cx="173307" cy="180109"/>
              </a:xfrm>
              <a:prstGeom prst="ellipse">
                <a:avLst/>
              </a:prstGeom>
              <a:noFill/>
              <a:ln w="76200" cap="rnd" cmpd="tri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3C8729EA-AF9B-5446-A6AC-811B20DC095B}"/>
                  </a:ext>
                </a:extLst>
              </p:cNvPr>
              <p:cNvSpPr/>
              <p:nvPr/>
            </p:nvSpPr>
            <p:spPr>
              <a:xfrm>
                <a:off x="4674223" y="3720109"/>
                <a:ext cx="865307" cy="198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  <a:cs typeface="Futura Medium" panose="020B0602020204020303" pitchFamily="34" charset="-79"/>
                  </a:rPr>
                  <a:t>Dissection Area</a:t>
                </a:r>
                <a:endPara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657E66C-D047-E84C-801A-90DF64BA78A3}"/>
              </a:ext>
            </a:extLst>
          </p:cNvPr>
          <p:cNvGrpSpPr/>
          <p:nvPr/>
        </p:nvGrpSpPr>
        <p:grpSpPr>
          <a:xfrm>
            <a:off x="4597835" y="1213464"/>
            <a:ext cx="2998459" cy="4318157"/>
            <a:chOff x="4678172" y="1213464"/>
            <a:chExt cx="2998459" cy="4318157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0406339-CB54-DC45-B56D-D2952466363E}"/>
                </a:ext>
              </a:extLst>
            </p:cNvPr>
            <p:cNvSpPr txBox="1"/>
            <p:nvPr/>
          </p:nvSpPr>
          <p:spPr>
            <a:xfrm>
              <a:off x="4678172" y="1213464"/>
              <a:ext cx="29984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Field Clearness</a:t>
              </a:r>
            </a:p>
            <a:p>
              <a:pPr algn="ctr"/>
              <a:r>
                <a:rPr kumimoji="1" lang="en-US" altLang="zh-CN" sz="16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e.g., Skill Proxy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B7450FB-5350-3D47-ADBD-72040A73F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9340" y="4217552"/>
              <a:ext cx="2336123" cy="131406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088CB0B-C71A-3E44-A8E6-71BB24002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9341" y="2254933"/>
              <a:ext cx="2336121" cy="131406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1BFDFD1-0CF3-7B4B-A147-F8ABA726A2A6}"/>
              </a:ext>
            </a:extLst>
          </p:cNvPr>
          <p:cNvGrpSpPr/>
          <p:nvPr/>
        </p:nvGrpSpPr>
        <p:grpSpPr>
          <a:xfrm>
            <a:off x="1367414" y="1225362"/>
            <a:ext cx="2872749" cy="4293991"/>
            <a:chOff x="1063774" y="1225362"/>
            <a:chExt cx="2872749" cy="4293991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59C394E-47E6-BC46-BBFC-07FA34255FFF}"/>
                </a:ext>
              </a:extLst>
            </p:cNvPr>
            <p:cNvSpPr txBox="1"/>
            <p:nvPr/>
          </p:nvSpPr>
          <p:spPr>
            <a:xfrm>
              <a:off x="1063774" y="1225362"/>
              <a:ext cx="2872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Tool Usage</a:t>
              </a: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3BBA2AE-0D5A-8246-9D40-F9CFAC254158}"/>
                </a:ext>
              </a:extLst>
            </p:cNvPr>
            <p:cNvGrpSpPr/>
            <p:nvPr/>
          </p:nvGrpSpPr>
          <p:grpSpPr>
            <a:xfrm>
              <a:off x="1671163" y="4229820"/>
              <a:ext cx="1657971" cy="1289533"/>
              <a:chOff x="8576842" y="4159527"/>
              <a:chExt cx="2005209" cy="1559607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037D63F-E80C-8440-A153-740098D9CF0D}"/>
                  </a:ext>
                </a:extLst>
              </p:cNvPr>
              <p:cNvSpPr/>
              <p:nvPr/>
            </p:nvSpPr>
            <p:spPr>
              <a:xfrm>
                <a:off x="8968640" y="4304807"/>
                <a:ext cx="1192942" cy="1239760"/>
              </a:xfrm>
              <a:prstGeom prst="ellipse">
                <a:avLst/>
              </a:prstGeom>
              <a:noFill/>
              <a:ln w="101600" cap="rnd" cmpd="tri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48" name="任意形状 47">
                <a:extLst>
                  <a:ext uri="{FF2B5EF4-FFF2-40B4-BE49-F238E27FC236}">
                    <a16:creationId xmlns:a16="http://schemas.microsoft.com/office/drawing/2014/main" id="{FE7B413C-53A2-FC42-B04E-E11404D15783}"/>
                  </a:ext>
                </a:extLst>
              </p:cNvPr>
              <p:cNvSpPr/>
              <p:nvPr/>
            </p:nvSpPr>
            <p:spPr>
              <a:xfrm>
                <a:off x="8576842" y="4159527"/>
                <a:ext cx="2005209" cy="1559607"/>
              </a:xfrm>
              <a:custGeom>
                <a:avLst/>
                <a:gdLst>
                  <a:gd name="connsiteX0" fmla="*/ 314992 w 1601532"/>
                  <a:gd name="connsiteY0" fmla="*/ 1419321 h 1440631"/>
                  <a:gd name="connsiteX1" fmla="*/ 1484574 w 1601532"/>
                  <a:gd name="connsiteY1" fmla="*/ 600614 h 1440631"/>
                  <a:gd name="connsiteX2" fmla="*/ 772192 w 1601532"/>
                  <a:gd name="connsiteY2" fmla="*/ 962121 h 1440631"/>
                  <a:gd name="connsiteX3" fmla="*/ 1367616 w 1601532"/>
                  <a:gd name="connsiteY3" fmla="*/ 451758 h 1440631"/>
                  <a:gd name="connsiteX4" fmla="*/ 846620 w 1601532"/>
                  <a:gd name="connsiteY4" fmla="*/ 717572 h 1440631"/>
                  <a:gd name="connsiteX5" fmla="*/ 602071 w 1601532"/>
                  <a:gd name="connsiteY5" fmla="*/ 387963 h 1440631"/>
                  <a:gd name="connsiteX6" fmla="*/ 6648 w 1601532"/>
                  <a:gd name="connsiteY6" fmla="*/ 653777 h 1440631"/>
                  <a:gd name="connsiteX7" fmla="*/ 314992 w 1601532"/>
                  <a:gd name="connsiteY7" fmla="*/ 1079079 h 1440631"/>
                  <a:gd name="connsiteX8" fmla="*/ 814723 w 1601532"/>
                  <a:gd name="connsiteY8" fmla="*/ 37088 h 1440631"/>
                  <a:gd name="connsiteX9" fmla="*/ 1133699 w 1601532"/>
                  <a:gd name="connsiteY9" fmla="*/ 292270 h 1440631"/>
                  <a:gd name="connsiteX10" fmla="*/ 644602 w 1601532"/>
                  <a:gd name="connsiteY10" fmla="*/ 866428 h 1440631"/>
                  <a:gd name="connsiteX11" fmla="*/ 527644 w 1601532"/>
                  <a:gd name="connsiteY11" fmla="*/ 1142874 h 1440631"/>
                  <a:gd name="connsiteX12" fmla="*/ 878518 w 1601532"/>
                  <a:gd name="connsiteY12" fmla="*/ 1440586 h 1440631"/>
                  <a:gd name="connsiteX13" fmla="*/ 1027374 w 1601532"/>
                  <a:gd name="connsiteY13" fmla="*/ 1121609 h 1440631"/>
                  <a:gd name="connsiteX14" fmla="*/ 1505839 w 1601532"/>
                  <a:gd name="connsiteY14" fmla="*/ 813265 h 1440631"/>
                  <a:gd name="connsiteX15" fmla="*/ 1218760 w 1601532"/>
                  <a:gd name="connsiteY15" fmla="*/ 1110977 h 1440631"/>
                  <a:gd name="connsiteX16" fmla="*/ 1399513 w 1601532"/>
                  <a:gd name="connsiteY16" fmla="*/ 1025916 h 1440631"/>
                  <a:gd name="connsiteX17" fmla="*/ 1601532 w 1601532"/>
                  <a:gd name="connsiteY17" fmla="*/ 1238568 h 1440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01532" h="1440631">
                    <a:moveTo>
                      <a:pt x="314992" y="1419321"/>
                    </a:moveTo>
                    <a:cubicBezTo>
                      <a:pt x="861683" y="1048067"/>
                      <a:pt x="1408374" y="676814"/>
                      <a:pt x="1484574" y="600614"/>
                    </a:cubicBezTo>
                    <a:cubicBezTo>
                      <a:pt x="1560774" y="524414"/>
                      <a:pt x="791685" y="986930"/>
                      <a:pt x="772192" y="962121"/>
                    </a:cubicBezTo>
                    <a:cubicBezTo>
                      <a:pt x="752699" y="937312"/>
                      <a:pt x="1355211" y="492516"/>
                      <a:pt x="1367616" y="451758"/>
                    </a:cubicBezTo>
                    <a:cubicBezTo>
                      <a:pt x="1380021" y="411000"/>
                      <a:pt x="974211" y="728204"/>
                      <a:pt x="846620" y="717572"/>
                    </a:cubicBezTo>
                    <a:cubicBezTo>
                      <a:pt x="719029" y="706940"/>
                      <a:pt x="742066" y="398595"/>
                      <a:pt x="602071" y="387963"/>
                    </a:cubicBezTo>
                    <a:cubicBezTo>
                      <a:pt x="462076" y="377331"/>
                      <a:pt x="54494" y="538591"/>
                      <a:pt x="6648" y="653777"/>
                    </a:cubicBezTo>
                    <a:cubicBezTo>
                      <a:pt x="-41198" y="768963"/>
                      <a:pt x="180313" y="1181860"/>
                      <a:pt x="314992" y="1079079"/>
                    </a:cubicBezTo>
                    <a:cubicBezTo>
                      <a:pt x="449671" y="976298"/>
                      <a:pt x="678272" y="168223"/>
                      <a:pt x="814723" y="37088"/>
                    </a:cubicBezTo>
                    <a:cubicBezTo>
                      <a:pt x="951174" y="-94047"/>
                      <a:pt x="1162053" y="154047"/>
                      <a:pt x="1133699" y="292270"/>
                    </a:cubicBezTo>
                    <a:cubicBezTo>
                      <a:pt x="1105345" y="430493"/>
                      <a:pt x="745611" y="724661"/>
                      <a:pt x="644602" y="866428"/>
                    </a:cubicBezTo>
                    <a:cubicBezTo>
                      <a:pt x="543593" y="1008195"/>
                      <a:pt x="488658" y="1047181"/>
                      <a:pt x="527644" y="1142874"/>
                    </a:cubicBezTo>
                    <a:cubicBezTo>
                      <a:pt x="566630" y="1238567"/>
                      <a:pt x="795230" y="1444130"/>
                      <a:pt x="878518" y="1440586"/>
                    </a:cubicBezTo>
                    <a:cubicBezTo>
                      <a:pt x="961806" y="1437042"/>
                      <a:pt x="922821" y="1226162"/>
                      <a:pt x="1027374" y="1121609"/>
                    </a:cubicBezTo>
                    <a:cubicBezTo>
                      <a:pt x="1131927" y="1017056"/>
                      <a:pt x="1473941" y="815037"/>
                      <a:pt x="1505839" y="813265"/>
                    </a:cubicBezTo>
                    <a:cubicBezTo>
                      <a:pt x="1537737" y="811493"/>
                      <a:pt x="1236481" y="1075535"/>
                      <a:pt x="1218760" y="1110977"/>
                    </a:cubicBezTo>
                    <a:cubicBezTo>
                      <a:pt x="1201039" y="1146419"/>
                      <a:pt x="1335718" y="1004651"/>
                      <a:pt x="1399513" y="1025916"/>
                    </a:cubicBezTo>
                    <a:cubicBezTo>
                      <a:pt x="1463308" y="1047181"/>
                      <a:pt x="1532420" y="1142874"/>
                      <a:pt x="1601532" y="1238568"/>
                    </a:cubicBezTo>
                  </a:path>
                </a:pathLst>
              </a:custGeom>
              <a:noFill/>
              <a:ln w="76200" cap="rnd" cmpd="thinThick">
                <a:solidFill>
                  <a:srgbClr val="4B72B1"/>
                </a:solidFill>
                <a:round/>
                <a:headEnd type="oval"/>
                <a:tailEnd type="arrow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6048C4BE-05A2-C04D-BFCB-52DDC643B0CC}"/>
                </a:ext>
              </a:extLst>
            </p:cNvPr>
            <p:cNvGrpSpPr/>
            <p:nvPr/>
          </p:nvGrpSpPr>
          <p:grpSpPr>
            <a:xfrm>
              <a:off x="1728812" y="2281014"/>
              <a:ext cx="1542673" cy="1261907"/>
              <a:chOff x="4719137" y="4238289"/>
              <a:chExt cx="1846231" cy="1510217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D58BAB63-9A06-2F4B-BC5C-1F7A39D92AFE}"/>
                  </a:ext>
                </a:extLst>
              </p:cNvPr>
              <p:cNvSpPr/>
              <p:nvPr/>
            </p:nvSpPr>
            <p:spPr>
              <a:xfrm>
                <a:off x="5185759" y="4238289"/>
                <a:ext cx="1192941" cy="1239759"/>
              </a:xfrm>
              <a:prstGeom prst="ellipse">
                <a:avLst/>
              </a:prstGeom>
              <a:noFill/>
              <a:ln w="101600" cap="rnd" cmpd="tri">
                <a:solidFill>
                  <a:schemeClr val="bg1">
                    <a:lumMod val="85000"/>
                  </a:schemeClr>
                </a:solidFill>
                <a:prstDash val="solid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" name="任意形状 55">
                <a:extLst>
                  <a:ext uri="{FF2B5EF4-FFF2-40B4-BE49-F238E27FC236}">
                    <a16:creationId xmlns:a16="http://schemas.microsoft.com/office/drawing/2014/main" id="{212859A1-2ADA-0046-8BFA-30045C04A8DA}"/>
                  </a:ext>
                </a:extLst>
              </p:cNvPr>
              <p:cNvSpPr/>
              <p:nvPr/>
            </p:nvSpPr>
            <p:spPr>
              <a:xfrm>
                <a:off x="4719137" y="4318506"/>
                <a:ext cx="1846231" cy="1430000"/>
              </a:xfrm>
              <a:custGeom>
                <a:avLst/>
                <a:gdLst>
                  <a:gd name="connsiteX0" fmla="*/ 108155 w 1193250"/>
                  <a:gd name="connsiteY0" fmla="*/ 924233 h 924233"/>
                  <a:gd name="connsiteX1" fmla="*/ 678426 w 1193250"/>
                  <a:gd name="connsiteY1" fmla="*/ 422787 h 924233"/>
                  <a:gd name="connsiteX2" fmla="*/ 1150374 w 1193250"/>
                  <a:gd name="connsiteY2" fmla="*/ 363794 h 924233"/>
                  <a:gd name="connsiteX3" fmla="*/ 1101213 w 1193250"/>
                  <a:gd name="connsiteY3" fmla="*/ 172065 h 924233"/>
                  <a:gd name="connsiteX4" fmla="*/ 530942 w 1193250"/>
                  <a:gd name="connsiteY4" fmla="*/ 226142 h 924233"/>
                  <a:gd name="connsiteX5" fmla="*/ 462116 w 1193250"/>
                  <a:gd name="connsiteY5" fmla="*/ 393291 h 924233"/>
                  <a:gd name="connsiteX6" fmla="*/ 717755 w 1193250"/>
                  <a:gd name="connsiteY6" fmla="*/ 560439 h 924233"/>
                  <a:gd name="connsiteX7" fmla="*/ 776748 w 1193250"/>
                  <a:gd name="connsiteY7" fmla="*/ 235975 h 924233"/>
                  <a:gd name="connsiteX8" fmla="*/ 565355 w 1193250"/>
                  <a:gd name="connsiteY8" fmla="*/ 349046 h 924233"/>
                  <a:gd name="connsiteX9" fmla="*/ 825910 w 1193250"/>
                  <a:gd name="connsiteY9" fmla="*/ 481781 h 924233"/>
                  <a:gd name="connsiteX10" fmla="*/ 889819 w 1193250"/>
                  <a:gd name="connsiteY10" fmla="*/ 290052 h 924233"/>
                  <a:gd name="connsiteX11" fmla="*/ 585019 w 1193250"/>
                  <a:gd name="connsiteY11" fmla="*/ 49162 h 924233"/>
                  <a:gd name="connsiteX12" fmla="*/ 0 w 1193250"/>
                  <a:gd name="connsiteY12" fmla="*/ 0 h 924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93250" h="924233">
                    <a:moveTo>
                      <a:pt x="108155" y="924233"/>
                    </a:moveTo>
                    <a:cubicBezTo>
                      <a:pt x="306439" y="720213"/>
                      <a:pt x="504723" y="516193"/>
                      <a:pt x="678426" y="422787"/>
                    </a:cubicBezTo>
                    <a:cubicBezTo>
                      <a:pt x="852129" y="329380"/>
                      <a:pt x="1079910" y="405581"/>
                      <a:pt x="1150374" y="363794"/>
                    </a:cubicBezTo>
                    <a:cubicBezTo>
                      <a:pt x="1220838" y="322007"/>
                      <a:pt x="1204452" y="195007"/>
                      <a:pt x="1101213" y="172065"/>
                    </a:cubicBezTo>
                    <a:cubicBezTo>
                      <a:pt x="997974" y="149123"/>
                      <a:pt x="637458" y="189271"/>
                      <a:pt x="530942" y="226142"/>
                    </a:cubicBezTo>
                    <a:cubicBezTo>
                      <a:pt x="424426" y="263013"/>
                      <a:pt x="430981" y="337575"/>
                      <a:pt x="462116" y="393291"/>
                    </a:cubicBezTo>
                    <a:cubicBezTo>
                      <a:pt x="493251" y="449007"/>
                      <a:pt x="665316" y="586658"/>
                      <a:pt x="717755" y="560439"/>
                    </a:cubicBezTo>
                    <a:cubicBezTo>
                      <a:pt x="770194" y="534220"/>
                      <a:pt x="802148" y="271207"/>
                      <a:pt x="776748" y="235975"/>
                    </a:cubicBezTo>
                    <a:cubicBezTo>
                      <a:pt x="751348" y="200743"/>
                      <a:pt x="557161" y="308078"/>
                      <a:pt x="565355" y="349046"/>
                    </a:cubicBezTo>
                    <a:cubicBezTo>
                      <a:pt x="573549" y="390014"/>
                      <a:pt x="771833" y="491613"/>
                      <a:pt x="825910" y="481781"/>
                    </a:cubicBezTo>
                    <a:cubicBezTo>
                      <a:pt x="879987" y="471949"/>
                      <a:pt x="929967" y="362155"/>
                      <a:pt x="889819" y="290052"/>
                    </a:cubicBezTo>
                    <a:cubicBezTo>
                      <a:pt x="849671" y="217949"/>
                      <a:pt x="733322" y="97504"/>
                      <a:pt x="585019" y="49162"/>
                    </a:cubicBezTo>
                    <a:cubicBezTo>
                      <a:pt x="436716" y="820"/>
                      <a:pt x="218358" y="410"/>
                      <a:pt x="0" y="0"/>
                    </a:cubicBezTo>
                  </a:path>
                </a:pathLst>
              </a:custGeom>
              <a:noFill/>
              <a:ln w="76200" cap="rnd" cmpd="thinThick">
                <a:solidFill>
                  <a:srgbClr val="4B72B1"/>
                </a:solidFill>
                <a:round/>
                <a:headEnd type="oval"/>
                <a:tailEnd type="arrow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459000-583B-3B45-AF0E-FF025A8C194D}"/>
              </a:ext>
            </a:extLst>
          </p:cNvPr>
          <p:cNvGrpSpPr/>
          <p:nvPr/>
        </p:nvGrpSpPr>
        <p:grpSpPr>
          <a:xfrm>
            <a:off x="8258768" y="1225362"/>
            <a:ext cx="2966876" cy="4054829"/>
            <a:chOff x="8453900" y="1225362"/>
            <a:chExt cx="2966876" cy="4054829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C15BAF8-1EF8-DB41-99D7-0612080D15F8}"/>
                </a:ext>
              </a:extLst>
            </p:cNvPr>
            <p:cNvSpPr txBox="1"/>
            <p:nvPr/>
          </p:nvSpPr>
          <p:spPr>
            <a:xfrm>
              <a:off x="8453900" y="1225362"/>
              <a:ext cx="29668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+mj-lt"/>
                  <a:ea typeface="DejaVu Sans Book" panose="020B0603030804020204" pitchFamily="34" charset="0"/>
                  <a:cs typeface="DejaVu Sans Book" panose="020B0603030804020204" pitchFamily="34" charset="0"/>
                </a:rPr>
                <a:t>Event Pattern</a:t>
              </a:r>
              <a:endParaRPr kumimoji="1" lang="zh-CN" altLang="en-US" sz="2400" b="1" dirty="0">
                <a:latin typeface="+mj-lt"/>
                <a:cs typeface="DejaVu Sans Book" panose="020B0603030804020204" pitchFamily="34" charset="0"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23DCE88-CF9B-1C45-A77C-7AF31149393D}"/>
                </a:ext>
              </a:extLst>
            </p:cNvPr>
            <p:cNvGrpSpPr>
              <a:grpSpLocks noChangeAspect="1"/>
            </p:cNvGrpSpPr>
            <p:nvPr/>
          </p:nvGrpSpPr>
          <p:grpSpPr>
            <a:xfrm flipV="1">
              <a:off x="8726584" y="2714458"/>
              <a:ext cx="2421509" cy="395019"/>
              <a:chOff x="1254119" y="4936398"/>
              <a:chExt cx="2371628" cy="386882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9487B8F-180A-8647-A1B1-93864FAD4E06}"/>
                  </a:ext>
                </a:extLst>
              </p:cNvPr>
              <p:cNvGrpSpPr/>
              <p:nvPr/>
            </p:nvGrpSpPr>
            <p:grpSpPr>
              <a:xfrm rot="1800000">
                <a:off x="1254119" y="4939086"/>
                <a:ext cx="1091737" cy="381504"/>
                <a:chOff x="1189571" y="4939086"/>
                <a:chExt cx="1091737" cy="381504"/>
              </a:xfrm>
            </p:grpSpPr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3FEAE3B5-EF22-4E4B-B4A9-F8FDE5BB93A6}"/>
                    </a:ext>
                  </a:extLst>
                </p:cNvPr>
                <p:cNvSpPr/>
                <p:nvPr/>
              </p:nvSpPr>
              <p:spPr>
                <a:xfrm>
                  <a:off x="1189571" y="4939086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D3284F8E-C1F2-C84B-990C-4D07F1BD41A4}"/>
                    </a:ext>
                  </a:extLst>
                </p:cNvPr>
                <p:cNvSpPr/>
                <p:nvPr/>
              </p:nvSpPr>
              <p:spPr>
                <a:xfrm>
                  <a:off x="1899804" y="4939086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5" name="右箭头 44">
                  <a:extLst>
                    <a:ext uri="{FF2B5EF4-FFF2-40B4-BE49-F238E27FC236}">
                      <a16:creationId xmlns:a16="http://schemas.microsoft.com/office/drawing/2014/main" id="{DAD30ADE-E396-2E46-BFEA-88E9467E8F0F}"/>
                    </a:ext>
                  </a:extLst>
                </p:cNvPr>
                <p:cNvSpPr/>
                <p:nvPr/>
              </p:nvSpPr>
              <p:spPr>
                <a:xfrm rot="120000">
                  <a:off x="1629756" y="5025338"/>
                  <a:ext cx="230002" cy="198243"/>
                </a:xfrm>
                <a:prstGeom prst="rightArrow">
                  <a:avLst/>
                </a:prstGeom>
                <a:solidFill>
                  <a:srgbClr val="DADADA"/>
                </a:solidFill>
                <a:ln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</p:grpSp>
          <p:sp>
            <p:nvSpPr>
              <p:cNvPr id="38" name="右箭头 37">
                <a:extLst>
                  <a:ext uri="{FF2B5EF4-FFF2-40B4-BE49-F238E27FC236}">
                    <a16:creationId xmlns:a16="http://schemas.microsoft.com/office/drawing/2014/main" id="{2A5BAB88-DBD1-D24A-9D8E-2A7F232A1083}"/>
                  </a:ext>
                </a:extLst>
              </p:cNvPr>
              <p:cNvSpPr/>
              <p:nvPr/>
            </p:nvSpPr>
            <p:spPr>
              <a:xfrm rot="19560000">
                <a:off x="2330672" y="5030717"/>
                <a:ext cx="230002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B3FDA766-ABE2-F440-AB5C-560728C2679E}"/>
                  </a:ext>
                </a:extLst>
              </p:cNvPr>
              <p:cNvGrpSpPr/>
              <p:nvPr/>
            </p:nvGrpSpPr>
            <p:grpSpPr>
              <a:xfrm rot="1800000">
                <a:off x="2524692" y="4936398"/>
                <a:ext cx="1101055" cy="386882"/>
                <a:chOff x="2610037" y="4933708"/>
                <a:chExt cx="1101055" cy="386882"/>
              </a:xfrm>
            </p:grpSpPr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9FB47F48-D3B5-FB48-AD0A-15B8F38F1042}"/>
                    </a:ext>
                  </a:extLst>
                </p:cNvPr>
                <p:cNvSpPr/>
                <p:nvPr/>
              </p:nvSpPr>
              <p:spPr>
                <a:xfrm>
                  <a:off x="2610037" y="4939086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7294582E-C97D-E041-8563-DE8D4B609889}"/>
                    </a:ext>
                  </a:extLst>
                </p:cNvPr>
                <p:cNvSpPr/>
                <p:nvPr/>
              </p:nvSpPr>
              <p:spPr>
                <a:xfrm>
                  <a:off x="3329588" y="4933708"/>
                  <a:ext cx="381504" cy="381504"/>
                </a:xfrm>
                <a:prstGeom prst="ellipse">
                  <a:avLst/>
                </a:prstGeom>
                <a:solidFill>
                  <a:srgbClr val="4B72B1"/>
                </a:solidFill>
                <a:ln>
                  <a:solidFill>
                    <a:srgbClr val="4B72B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  <p:sp>
              <p:nvSpPr>
                <p:cNvPr id="42" name="右箭头 41">
                  <a:extLst>
                    <a:ext uri="{FF2B5EF4-FFF2-40B4-BE49-F238E27FC236}">
                      <a16:creationId xmlns:a16="http://schemas.microsoft.com/office/drawing/2014/main" id="{B378F3DA-0853-1546-B3F2-E1526686BB07}"/>
                    </a:ext>
                  </a:extLst>
                </p:cNvPr>
                <p:cNvSpPr/>
                <p:nvPr/>
              </p:nvSpPr>
              <p:spPr>
                <a:xfrm rot="180000">
                  <a:off x="3055600" y="5034655"/>
                  <a:ext cx="230002" cy="198243"/>
                </a:xfrm>
                <a:prstGeom prst="rightArrow">
                  <a:avLst/>
                </a:prstGeom>
                <a:solidFill>
                  <a:srgbClr val="DADADA"/>
                </a:solidFill>
                <a:ln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>
                    <a:solidFill>
                      <a:schemeClr val="bg1"/>
                    </a:solidFill>
                    <a:latin typeface="Avenir Book" panose="02000503020000020003" pitchFamily="2" charset="0"/>
                  </a:endParaRPr>
                </a:p>
              </p:txBody>
            </p:sp>
          </p:grp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8B83958D-CC1C-9346-B9A3-CE3E55B095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790536" y="4468981"/>
              <a:ext cx="2293605" cy="811210"/>
              <a:chOff x="8232047" y="3089134"/>
              <a:chExt cx="2281058" cy="806772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5AA8AD02-77AB-934A-A981-8B7217FC62A4}"/>
                  </a:ext>
                </a:extLst>
              </p:cNvPr>
              <p:cNvSpPr/>
              <p:nvPr/>
            </p:nvSpPr>
            <p:spPr>
              <a:xfrm>
                <a:off x="8232047" y="3504400"/>
                <a:ext cx="381504" cy="381504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9FF90052-BB90-DC4C-A118-3196B392F0A9}"/>
                  </a:ext>
                </a:extLst>
              </p:cNvPr>
              <p:cNvSpPr/>
              <p:nvPr/>
            </p:nvSpPr>
            <p:spPr>
              <a:xfrm>
                <a:off x="8865231" y="3504400"/>
                <a:ext cx="381504" cy="381504"/>
              </a:xfrm>
              <a:prstGeom prst="ellipse">
                <a:avLst/>
              </a:prstGeom>
              <a:solidFill>
                <a:srgbClr val="C34E4F"/>
              </a:solidFill>
              <a:ln>
                <a:solidFill>
                  <a:srgbClr val="C34E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B51A02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BF9507AA-7EF4-F548-81C0-B8A7FBEEBBAC}"/>
                  </a:ext>
                </a:extLst>
              </p:cNvPr>
              <p:cNvSpPr/>
              <p:nvPr/>
            </p:nvSpPr>
            <p:spPr>
              <a:xfrm>
                <a:off x="9498415" y="3504400"/>
                <a:ext cx="381504" cy="381504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71062CB5-F88C-D547-AB69-5A89819B1E3A}"/>
                  </a:ext>
                </a:extLst>
              </p:cNvPr>
              <p:cNvSpPr/>
              <p:nvPr/>
            </p:nvSpPr>
            <p:spPr>
              <a:xfrm>
                <a:off x="10131601" y="3514402"/>
                <a:ext cx="381504" cy="381504"/>
              </a:xfrm>
              <a:prstGeom prst="ellipse">
                <a:avLst/>
              </a:prstGeom>
              <a:solidFill>
                <a:srgbClr val="4B72B1"/>
              </a:solidFill>
              <a:ln>
                <a:solidFill>
                  <a:srgbClr val="4B72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7" name="右箭头 66">
                <a:extLst>
                  <a:ext uri="{FF2B5EF4-FFF2-40B4-BE49-F238E27FC236}">
                    <a16:creationId xmlns:a16="http://schemas.microsoft.com/office/drawing/2014/main" id="{8A372DC0-FCBF-4B4D-9127-CD8D23DABDB4}"/>
                  </a:ext>
                </a:extLst>
              </p:cNvPr>
              <p:cNvSpPr/>
              <p:nvPr/>
            </p:nvSpPr>
            <p:spPr>
              <a:xfrm>
                <a:off x="8669112" y="3596031"/>
                <a:ext cx="140558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8" name="右箭头 67">
                <a:extLst>
                  <a:ext uri="{FF2B5EF4-FFF2-40B4-BE49-F238E27FC236}">
                    <a16:creationId xmlns:a16="http://schemas.microsoft.com/office/drawing/2014/main" id="{26E68003-5D5D-DA4F-AEEF-C1C97AD29BE7}"/>
                  </a:ext>
                </a:extLst>
              </p:cNvPr>
              <p:cNvSpPr/>
              <p:nvPr/>
            </p:nvSpPr>
            <p:spPr>
              <a:xfrm>
                <a:off x="9302296" y="3596031"/>
                <a:ext cx="140558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69" name="右箭头 68">
                <a:extLst>
                  <a:ext uri="{FF2B5EF4-FFF2-40B4-BE49-F238E27FC236}">
                    <a16:creationId xmlns:a16="http://schemas.microsoft.com/office/drawing/2014/main" id="{6FEF0D90-52E1-A744-9EBB-60B2C13C67BA}"/>
                  </a:ext>
                </a:extLst>
              </p:cNvPr>
              <p:cNvSpPr/>
              <p:nvPr/>
            </p:nvSpPr>
            <p:spPr>
              <a:xfrm>
                <a:off x="9935480" y="3606033"/>
                <a:ext cx="140558" cy="198243"/>
              </a:xfrm>
              <a:prstGeom prst="right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70" name="上弧形箭头 69">
                <a:extLst>
                  <a:ext uri="{FF2B5EF4-FFF2-40B4-BE49-F238E27FC236}">
                    <a16:creationId xmlns:a16="http://schemas.microsoft.com/office/drawing/2014/main" id="{A00B4988-8456-C44F-AB9C-A1BBCCBBB847}"/>
                  </a:ext>
                </a:extLst>
              </p:cNvPr>
              <p:cNvSpPr/>
              <p:nvPr/>
            </p:nvSpPr>
            <p:spPr>
              <a:xfrm flipH="1" flipV="1">
                <a:off x="9652920" y="3151512"/>
                <a:ext cx="698665" cy="297905"/>
              </a:xfrm>
              <a:prstGeom prst="curvedUp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Avenir Book" panose="02000503020000020003" pitchFamily="2" charset="0"/>
                </a:endParaRPr>
              </a:p>
            </p:txBody>
          </p:sp>
          <p:sp>
            <p:nvSpPr>
              <p:cNvPr id="71" name="上弧形箭头 70">
                <a:extLst>
                  <a:ext uri="{FF2B5EF4-FFF2-40B4-BE49-F238E27FC236}">
                    <a16:creationId xmlns:a16="http://schemas.microsoft.com/office/drawing/2014/main" id="{39B1E575-B8E0-D242-B48D-57D8EF09B5FA}"/>
                  </a:ext>
                </a:extLst>
              </p:cNvPr>
              <p:cNvSpPr/>
              <p:nvPr/>
            </p:nvSpPr>
            <p:spPr>
              <a:xfrm flipH="1" flipV="1">
                <a:off x="8384994" y="3089134"/>
                <a:ext cx="1187089" cy="361800"/>
              </a:xfrm>
              <a:prstGeom prst="curvedUpArrow">
                <a:avLst/>
              </a:prstGeom>
              <a:solidFill>
                <a:srgbClr val="DADADA"/>
              </a:solidFill>
              <a:ln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chemeClr val="tx1"/>
                  </a:solidFill>
                  <a:latin typeface="Avenir Book" panose="02000503020000020003" pitchFamily="2" charset="0"/>
                </a:endParaRPr>
              </a:p>
            </p:txBody>
          </p:sp>
        </p:grpSp>
      </p:grpSp>
      <p:cxnSp>
        <p:nvCxnSpPr>
          <p:cNvPr id="72" name="直线连接符 71">
            <a:extLst>
              <a:ext uri="{FF2B5EF4-FFF2-40B4-BE49-F238E27FC236}">
                <a16:creationId xmlns:a16="http://schemas.microsoft.com/office/drawing/2014/main" id="{4BE854EC-B720-9245-A74F-DA633FC2A9BC}"/>
              </a:ext>
            </a:extLst>
          </p:cNvPr>
          <p:cNvCxnSpPr>
            <a:cxnSpLocks/>
          </p:cNvCxnSpPr>
          <p:nvPr/>
        </p:nvCxnSpPr>
        <p:spPr>
          <a:xfrm flipV="1">
            <a:off x="7969096" y="2331187"/>
            <a:ext cx="0" cy="3188271"/>
          </a:xfrm>
          <a:prstGeom prst="line">
            <a:avLst/>
          </a:prstGeom>
          <a:ln w="25400" cmpd="sng">
            <a:solidFill>
              <a:srgbClr val="D0CECE">
                <a:alpha val="52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3D78F9F-6FED-9E4B-A406-E9FED938292D}"/>
              </a:ext>
            </a:extLst>
          </p:cNvPr>
          <p:cNvCxnSpPr>
            <a:cxnSpLocks/>
          </p:cNvCxnSpPr>
          <p:nvPr/>
        </p:nvCxnSpPr>
        <p:spPr>
          <a:xfrm flipV="1">
            <a:off x="4266598" y="2331187"/>
            <a:ext cx="0" cy="3188271"/>
          </a:xfrm>
          <a:prstGeom prst="line">
            <a:avLst/>
          </a:prstGeom>
          <a:ln w="25400" cmpd="sng">
            <a:solidFill>
              <a:srgbClr val="D0CECE">
                <a:alpha val="52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音频 9">
            <a:hlinkClick r:id="" action="ppaction://media"/>
            <a:extLst>
              <a:ext uri="{FF2B5EF4-FFF2-40B4-BE49-F238E27FC236}">
                <a16:creationId xmlns:a16="http://schemas.microsoft.com/office/drawing/2014/main" id="{98747574-462B-3749-865C-6B59A5A45C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94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959"/>
    </mc:Choice>
    <mc:Fallback>
      <p:transition spd="slow" advTm="389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2E42D760-78BD-9B4A-BE25-FC09A97303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96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693"/>
    </mc:Choice>
    <mc:Fallback>
      <p:transition spd="slow" advTm="146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44E9624-0A43-9540-BA27-2952BA436C21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6B722076-8CD9-C348-A982-2BC5618E15BE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音频 3">
            <a:hlinkClick r:id="" action="ppaction://media"/>
            <a:extLst>
              <a:ext uri="{FF2B5EF4-FFF2-40B4-BE49-F238E27FC236}">
                <a16:creationId xmlns:a16="http://schemas.microsoft.com/office/drawing/2014/main" id="{93996CF0-8CBC-444B-B0F4-2520FAFDA4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75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85"/>
    </mc:Choice>
    <mc:Fallback>
      <p:transition spd="slow" advTm="17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09C7F817-BCEE-6B4A-932E-7E366B580BD6}"/>
              </a:ext>
            </a:extLst>
          </p:cNvPr>
          <p:cNvGrpSpPr/>
          <p:nvPr/>
        </p:nvGrpSpPr>
        <p:grpSpPr>
          <a:xfrm>
            <a:off x="2655721" y="4945866"/>
            <a:ext cx="665962" cy="129691"/>
            <a:chOff x="2749511" y="5175911"/>
            <a:chExt cx="665962" cy="129691"/>
          </a:xfrm>
        </p:grpSpPr>
        <p:cxnSp>
          <p:nvCxnSpPr>
            <p:cNvPr id="151" name="直线连接符 150">
              <a:extLst>
                <a:ext uri="{FF2B5EF4-FFF2-40B4-BE49-F238E27FC236}">
                  <a16:creationId xmlns:a16="http://schemas.microsoft.com/office/drawing/2014/main" id="{7B3D6EBA-6D86-1D48-BE28-F294461B9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9511" y="5175911"/>
              <a:ext cx="665962" cy="5681"/>
            </a:xfrm>
            <a:prstGeom prst="line">
              <a:avLst/>
            </a:prstGeom>
            <a:ln w="76200" cap="sq" cmpd="thickThin">
              <a:solidFill>
                <a:srgbClr val="C44E5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线连接符 151">
              <a:extLst>
                <a:ext uri="{FF2B5EF4-FFF2-40B4-BE49-F238E27FC236}">
                  <a16:creationId xmlns:a16="http://schemas.microsoft.com/office/drawing/2014/main" id="{5F91F447-B8D3-C742-946F-439FC8114AC3}"/>
                </a:ext>
              </a:extLst>
            </p:cNvPr>
            <p:cNvCxnSpPr>
              <a:cxnSpLocks/>
            </p:cNvCxnSpPr>
            <p:nvPr/>
          </p:nvCxnSpPr>
          <p:spPr>
            <a:xfrm>
              <a:off x="2749511" y="5305602"/>
              <a:ext cx="665962" cy="0"/>
            </a:xfrm>
            <a:prstGeom prst="line">
              <a:avLst/>
            </a:prstGeom>
            <a:ln w="76200" cap="sq" cmpd="thinThick">
              <a:solidFill>
                <a:srgbClr val="C44E5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3D36C80-61CD-1442-92CA-59504412B6D1}"/>
              </a:ext>
            </a:extLst>
          </p:cNvPr>
          <p:cNvGrpSpPr/>
          <p:nvPr/>
        </p:nvGrpSpPr>
        <p:grpSpPr>
          <a:xfrm>
            <a:off x="2655721" y="2356395"/>
            <a:ext cx="665962" cy="129691"/>
            <a:chOff x="2709862" y="1487701"/>
            <a:chExt cx="665962" cy="129691"/>
          </a:xfrm>
        </p:grpSpPr>
        <p:cxnSp>
          <p:nvCxnSpPr>
            <p:cNvPr id="167" name="直线连接符 166">
              <a:extLst>
                <a:ext uri="{FF2B5EF4-FFF2-40B4-BE49-F238E27FC236}">
                  <a16:creationId xmlns:a16="http://schemas.microsoft.com/office/drawing/2014/main" id="{08ED8151-9790-314D-B030-F3CE806563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9862" y="1487701"/>
              <a:ext cx="665962" cy="5681"/>
            </a:xfrm>
            <a:prstGeom prst="line">
              <a:avLst/>
            </a:prstGeom>
            <a:ln w="76200" cap="sq" cmpd="thickThin">
              <a:solidFill>
                <a:srgbClr val="4C72B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线连接符 167">
              <a:extLst>
                <a:ext uri="{FF2B5EF4-FFF2-40B4-BE49-F238E27FC236}">
                  <a16:creationId xmlns:a16="http://schemas.microsoft.com/office/drawing/2014/main" id="{45FDA139-00E6-714C-8145-0B4B893C5B16}"/>
                </a:ext>
              </a:extLst>
            </p:cNvPr>
            <p:cNvCxnSpPr>
              <a:cxnSpLocks/>
            </p:cNvCxnSpPr>
            <p:nvPr/>
          </p:nvCxnSpPr>
          <p:spPr>
            <a:xfrm>
              <a:off x="2709862" y="1617392"/>
              <a:ext cx="665962" cy="0"/>
            </a:xfrm>
            <a:prstGeom prst="line">
              <a:avLst/>
            </a:prstGeom>
            <a:ln w="76200" cap="sq" cmpd="thinThick">
              <a:solidFill>
                <a:srgbClr val="4C72B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ECD412DB-AEDD-B94D-9A37-EDC47D14B80C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05E4E85-E6FA-ED46-AB66-5F8A25A25AE8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5" name="音频 4">
            <a:hlinkClick r:id="" action="ppaction://media"/>
            <a:extLst>
              <a:ext uri="{FF2B5EF4-FFF2-40B4-BE49-F238E27FC236}">
                <a16:creationId xmlns:a16="http://schemas.microsoft.com/office/drawing/2014/main" id="{12625CB9-34B7-734F-8D1C-ECF622503C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87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79"/>
    </mc:Choice>
    <mc:Fallback>
      <p:transition spd="slow" advTm="82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573C98F7-C273-6D4E-BC3B-7DABF7093214}"/>
              </a:ext>
            </a:extLst>
          </p:cNvPr>
          <p:cNvGrpSpPr/>
          <p:nvPr/>
        </p:nvGrpSpPr>
        <p:grpSpPr>
          <a:xfrm>
            <a:off x="2655721" y="4826045"/>
            <a:ext cx="3127037" cy="369332"/>
            <a:chOff x="2321689" y="4504925"/>
            <a:chExt cx="3127037" cy="369332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09C7F817-BCEE-6B4A-932E-7E366B580BD6}"/>
                </a:ext>
              </a:extLst>
            </p:cNvPr>
            <p:cNvGrpSpPr/>
            <p:nvPr/>
          </p:nvGrpSpPr>
          <p:grpSpPr>
            <a:xfrm>
              <a:off x="2321689" y="4624746"/>
              <a:ext cx="665962" cy="129691"/>
              <a:chOff x="2749511" y="5175911"/>
              <a:chExt cx="665962" cy="129691"/>
            </a:xfrm>
          </p:grpSpPr>
          <p:cxnSp>
            <p:nvCxnSpPr>
              <p:cNvPr id="151" name="直线连接符 150">
                <a:extLst>
                  <a:ext uri="{FF2B5EF4-FFF2-40B4-BE49-F238E27FC236}">
                    <a16:creationId xmlns:a16="http://schemas.microsoft.com/office/drawing/2014/main" id="{7B3D6EBA-6D86-1D48-BE28-F294461B93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49511" y="5175911"/>
                <a:ext cx="665962" cy="5681"/>
              </a:xfrm>
              <a:prstGeom prst="line">
                <a:avLst/>
              </a:prstGeom>
              <a:ln w="76200" cap="sq" cmpd="thickThin">
                <a:solidFill>
                  <a:srgbClr val="C44E5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线连接符 151">
                <a:extLst>
                  <a:ext uri="{FF2B5EF4-FFF2-40B4-BE49-F238E27FC236}">
                    <a16:creationId xmlns:a16="http://schemas.microsoft.com/office/drawing/2014/main" id="{5F91F447-B8D3-C742-946F-439FC8114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9511" y="5305602"/>
                <a:ext cx="665962" cy="0"/>
              </a:xfrm>
              <a:prstGeom prst="line">
                <a:avLst/>
              </a:prstGeom>
              <a:ln w="76200" cap="sq" cmpd="thinThick">
                <a:solidFill>
                  <a:srgbClr val="C44E5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233A5C76-BC10-294F-B3CA-6D254077F295}"/>
                    </a:ext>
                  </a:extLst>
                </p:cNvPr>
                <p:cNvSpPr txBox="1"/>
                <p:nvPr/>
              </p:nvSpPr>
              <p:spPr>
                <a:xfrm>
                  <a:off x="3233274" y="4504925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18D2164-6B7A-C444-9CDE-06EF0A77B3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274" y="4504925"/>
                  <a:ext cx="1303867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9AD1B1A3-7CA1-2D4A-AF22-3C1B58D2BB37}"/>
                </a:ext>
              </a:extLst>
            </p:cNvPr>
            <p:cNvGrpSpPr/>
            <p:nvPr/>
          </p:nvGrpSpPr>
          <p:grpSpPr>
            <a:xfrm>
              <a:off x="4782764" y="4624746"/>
              <a:ext cx="665962" cy="129691"/>
              <a:chOff x="4647414" y="5249487"/>
              <a:chExt cx="665962" cy="129691"/>
            </a:xfrm>
          </p:grpSpPr>
          <p:cxnSp>
            <p:nvCxnSpPr>
              <p:cNvPr id="149" name="直线连接符 148">
                <a:extLst>
                  <a:ext uri="{FF2B5EF4-FFF2-40B4-BE49-F238E27FC236}">
                    <a16:creationId xmlns:a16="http://schemas.microsoft.com/office/drawing/2014/main" id="{0BB17818-DDFB-604C-AA88-BB0E664948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47414" y="5249487"/>
                <a:ext cx="665962" cy="5681"/>
              </a:xfrm>
              <a:prstGeom prst="line">
                <a:avLst/>
              </a:prstGeom>
              <a:ln w="76200" cap="sq" cmpd="tri">
                <a:solidFill>
                  <a:srgbClr val="C44E5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线连接符 149">
                <a:extLst>
                  <a:ext uri="{FF2B5EF4-FFF2-40B4-BE49-F238E27FC236}">
                    <a16:creationId xmlns:a16="http://schemas.microsoft.com/office/drawing/2014/main" id="{A79F8FAC-DC67-8F43-B3C7-746029BD64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7414" y="5379178"/>
                <a:ext cx="665962" cy="0"/>
              </a:xfrm>
              <a:prstGeom prst="line">
                <a:avLst/>
              </a:prstGeom>
              <a:ln w="76200" cap="sq" cmpd="tri">
                <a:solidFill>
                  <a:srgbClr val="C44E5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7" name="直线箭头连接符 146">
              <a:extLst>
                <a:ext uri="{FF2B5EF4-FFF2-40B4-BE49-F238E27FC236}">
                  <a16:creationId xmlns:a16="http://schemas.microsoft.com/office/drawing/2014/main" id="{CEEF30CB-27C6-4D42-86D7-43BE770A049F}"/>
                </a:ext>
              </a:extLst>
            </p:cNvPr>
            <p:cNvCxnSpPr>
              <a:cxnSpLocks/>
            </p:cNvCxnSpPr>
            <p:nvPr/>
          </p:nvCxnSpPr>
          <p:spPr>
            <a:xfrm>
              <a:off x="3178668" y="4689591"/>
              <a:ext cx="389105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A658452C-EAB8-C34B-AE90-00A3BEB2BC50}"/>
                </a:ext>
              </a:extLst>
            </p:cNvPr>
            <p:cNvCxnSpPr>
              <a:cxnSpLocks/>
            </p:cNvCxnSpPr>
            <p:nvPr/>
          </p:nvCxnSpPr>
          <p:spPr>
            <a:xfrm>
              <a:off x="4192131" y="4689591"/>
              <a:ext cx="389105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120087C1-331B-C442-A705-C628F8994BEC}"/>
              </a:ext>
            </a:extLst>
          </p:cNvPr>
          <p:cNvGrpSpPr/>
          <p:nvPr/>
        </p:nvGrpSpPr>
        <p:grpSpPr>
          <a:xfrm>
            <a:off x="2655721" y="2236574"/>
            <a:ext cx="3127037" cy="369332"/>
            <a:chOff x="2321689" y="1829655"/>
            <a:chExt cx="3127037" cy="369332"/>
          </a:xfrm>
        </p:grpSpPr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23D36C80-61CD-1442-92CA-59504412B6D1}"/>
                </a:ext>
              </a:extLst>
            </p:cNvPr>
            <p:cNvGrpSpPr/>
            <p:nvPr/>
          </p:nvGrpSpPr>
          <p:grpSpPr>
            <a:xfrm>
              <a:off x="2321689" y="1949476"/>
              <a:ext cx="665962" cy="129691"/>
              <a:chOff x="2709862" y="1487701"/>
              <a:chExt cx="665962" cy="129691"/>
            </a:xfrm>
          </p:grpSpPr>
          <p:cxnSp>
            <p:nvCxnSpPr>
              <p:cNvPr id="167" name="直线连接符 166">
                <a:extLst>
                  <a:ext uri="{FF2B5EF4-FFF2-40B4-BE49-F238E27FC236}">
                    <a16:creationId xmlns:a16="http://schemas.microsoft.com/office/drawing/2014/main" id="{08ED8151-9790-314D-B030-F3CE806563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9862" y="1487701"/>
                <a:ext cx="665962" cy="5681"/>
              </a:xfrm>
              <a:prstGeom prst="line">
                <a:avLst/>
              </a:prstGeom>
              <a:ln w="76200" cap="sq" cmpd="thickThin">
                <a:solidFill>
                  <a:srgbClr val="4C72B0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线连接符 167">
                <a:extLst>
                  <a:ext uri="{FF2B5EF4-FFF2-40B4-BE49-F238E27FC236}">
                    <a16:creationId xmlns:a16="http://schemas.microsoft.com/office/drawing/2014/main" id="{45FDA139-00E6-714C-8145-0B4B893C5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09862" y="1617392"/>
                <a:ext cx="665962" cy="0"/>
              </a:xfrm>
              <a:prstGeom prst="line">
                <a:avLst/>
              </a:prstGeom>
              <a:ln w="76200" cap="sq" cmpd="thinThick">
                <a:solidFill>
                  <a:srgbClr val="4C72B0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62B7B131-8231-A74D-90A0-E99C05B3D810}"/>
                    </a:ext>
                  </a:extLst>
                </p:cNvPr>
                <p:cNvSpPr txBox="1"/>
                <p:nvPr/>
              </p:nvSpPr>
              <p:spPr>
                <a:xfrm>
                  <a:off x="3233274" y="1829655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46FCBA6-FB75-BB46-B138-13F6781D4A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3274" y="1829655"/>
                  <a:ext cx="130386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252CECEF-66E8-2342-BD72-A250CD7409E3}"/>
                </a:ext>
              </a:extLst>
            </p:cNvPr>
            <p:cNvGrpSpPr/>
            <p:nvPr/>
          </p:nvGrpSpPr>
          <p:grpSpPr>
            <a:xfrm>
              <a:off x="4782764" y="1949476"/>
              <a:ext cx="665962" cy="129691"/>
              <a:chOff x="3989498" y="1494737"/>
              <a:chExt cx="665962" cy="129691"/>
            </a:xfrm>
          </p:grpSpPr>
          <p:cxnSp>
            <p:nvCxnSpPr>
              <p:cNvPr id="165" name="直线连接符 164">
                <a:extLst>
                  <a:ext uri="{FF2B5EF4-FFF2-40B4-BE49-F238E27FC236}">
                    <a16:creationId xmlns:a16="http://schemas.microsoft.com/office/drawing/2014/main" id="{06EC3CE9-D790-A240-919F-771D8BE8A4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89498" y="1494737"/>
                <a:ext cx="665962" cy="5681"/>
              </a:xfrm>
              <a:prstGeom prst="line">
                <a:avLst/>
              </a:prstGeom>
              <a:ln w="76200" cap="sq" cmpd="tri">
                <a:solidFill>
                  <a:srgbClr val="4C72B0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线连接符 165">
                <a:extLst>
                  <a:ext uri="{FF2B5EF4-FFF2-40B4-BE49-F238E27FC236}">
                    <a16:creationId xmlns:a16="http://schemas.microsoft.com/office/drawing/2014/main" id="{1A54AD72-B69E-E84C-847F-75E29600B1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9498" y="1624428"/>
                <a:ext cx="665962" cy="0"/>
              </a:xfrm>
              <a:prstGeom prst="line">
                <a:avLst/>
              </a:prstGeom>
              <a:ln w="76200" cap="sq" cmpd="tri">
                <a:solidFill>
                  <a:srgbClr val="4C72B0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3" name="直线箭头连接符 162">
              <a:extLst>
                <a:ext uri="{FF2B5EF4-FFF2-40B4-BE49-F238E27FC236}">
                  <a16:creationId xmlns:a16="http://schemas.microsoft.com/office/drawing/2014/main" id="{9D2EB334-BA63-AD44-892D-EBD42978F382}"/>
                </a:ext>
              </a:extLst>
            </p:cNvPr>
            <p:cNvCxnSpPr>
              <a:cxnSpLocks/>
            </p:cNvCxnSpPr>
            <p:nvPr/>
          </p:nvCxnSpPr>
          <p:spPr>
            <a:xfrm>
              <a:off x="3181377" y="2014321"/>
              <a:ext cx="389105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线箭头连接符 163">
              <a:extLst>
                <a:ext uri="{FF2B5EF4-FFF2-40B4-BE49-F238E27FC236}">
                  <a16:creationId xmlns:a16="http://schemas.microsoft.com/office/drawing/2014/main" id="{232DEFE2-4C17-6647-84AD-7611DD528575}"/>
                </a:ext>
              </a:extLst>
            </p:cNvPr>
            <p:cNvCxnSpPr>
              <a:cxnSpLocks/>
            </p:cNvCxnSpPr>
            <p:nvPr/>
          </p:nvCxnSpPr>
          <p:spPr>
            <a:xfrm>
              <a:off x="4194840" y="2014321"/>
              <a:ext cx="389105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DB47B32-2149-A142-AD43-4E40BA8FAC56}"/>
              </a:ext>
            </a:extLst>
          </p:cNvPr>
          <p:cNvSpPr/>
          <p:nvPr/>
        </p:nvSpPr>
        <p:spPr>
          <a:xfrm>
            <a:off x="4644246" y="462733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235EFA2-BD56-ED44-AB3A-43198037305E}"/>
              </a:ext>
            </a:extLst>
          </p:cNvPr>
          <p:cNvSpPr/>
          <p:nvPr/>
        </p:nvSpPr>
        <p:spPr>
          <a:xfrm>
            <a:off x="4644246" y="2535074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50AD915-C691-5F47-97A6-3AC09798473B}"/>
              </a:ext>
            </a:extLst>
          </p:cNvPr>
          <p:cNvGrpSpPr/>
          <p:nvPr/>
        </p:nvGrpSpPr>
        <p:grpSpPr>
          <a:xfrm>
            <a:off x="9448835" y="2079408"/>
            <a:ext cx="2510760" cy="360996"/>
            <a:chOff x="9561379" y="4157163"/>
            <a:chExt cx="2510760" cy="360996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3B7F01E7-1D28-8E4D-B133-9AA89437ECA0}"/>
                </a:ext>
              </a:extLst>
            </p:cNvPr>
            <p:cNvSpPr/>
            <p:nvPr/>
          </p:nvSpPr>
          <p:spPr>
            <a:xfrm>
              <a:off x="9778522" y="4157163"/>
              <a:ext cx="2293617" cy="360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ncod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2B5E11BA-03F2-F247-8AD3-7C0CC10EE57F}"/>
                    </a:ext>
                  </a:extLst>
                </p:cNvPr>
                <p:cNvSpPr txBox="1"/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40F5F83-607A-D84A-B487-815E982A4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29412" r="-23529"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/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blipFill>
                <a:blip r:embed="rId22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/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blipFill>
                <a:blip r:embed="rId24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线连接符 45">
            <a:extLst>
              <a:ext uri="{FF2B5EF4-FFF2-40B4-BE49-F238E27FC236}">
                <a16:creationId xmlns:a16="http://schemas.microsoft.com/office/drawing/2014/main" id="{36639EB8-420E-8840-BFF3-50EBC0D831D0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BBCB38A2-1473-0745-9FF4-198F86BBD592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646DCDB7-2E8B-CD4A-9CF3-83EB85BA7C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4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20"/>
    </mc:Choice>
    <mc:Fallback>
      <p:transition spd="slow" advTm="36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62D50597-8CBA-6B4D-AE0A-ADD68C0B650E}"/>
              </a:ext>
            </a:extLst>
          </p:cNvPr>
          <p:cNvPicPr>
            <a:picLocks/>
          </p:cNvPicPr>
          <p:nvPr/>
        </p:nvPicPr>
        <p:blipFill rotWithShape="1">
          <a:blip r:embed="rId6"/>
          <a:srcRect l="40820" t="13918" r="51264" b="43582"/>
          <a:stretch/>
        </p:blipFill>
        <p:spPr>
          <a:xfrm>
            <a:off x="7522235" y="4577423"/>
            <a:ext cx="1005882" cy="648000"/>
          </a:xfrm>
          <a:prstGeom prst="rect">
            <a:avLst/>
          </a:prstGeom>
        </p:spPr>
      </p:pic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8327189-9D47-BA46-8595-7FD3D22A3C53}"/>
              </a:ext>
            </a:extLst>
          </p:cNvPr>
          <p:cNvGrpSpPr/>
          <p:nvPr/>
        </p:nvGrpSpPr>
        <p:grpSpPr>
          <a:xfrm>
            <a:off x="2655721" y="4826045"/>
            <a:ext cx="4716333" cy="369332"/>
            <a:chOff x="2321689" y="4400563"/>
            <a:chExt cx="4716333" cy="369332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73C98F7-C273-6D4E-BC3B-7DABF7093214}"/>
                </a:ext>
              </a:extLst>
            </p:cNvPr>
            <p:cNvGrpSpPr/>
            <p:nvPr/>
          </p:nvGrpSpPr>
          <p:grpSpPr>
            <a:xfrm>
              <a:off x="2321689" y="4400563"/>
              <a:ext cx="3127037" cy="369332"/>
              <a:chOff x="2321689" y="4504925"/>
              <a:chExt cx="3127037" cy="369332"/>
            </a:xfrm>
          </p:grpSpPr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09C7F817-BCEE-6B4A-932E-7E366B580BD6}"/>
                  </a:ext>
                </a:extLst>
              </p:cNvPr>
              <p:cNvGrpSpPr/>
              <p:nvPr/>
            </p:nvGrpSpPr>
            <p:grpSpPr>
              <a:xfrm>
                <a:off x="2321689" y="4624746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51" name="直线连接符 150">
                  <a:extLst>
                    <a:ext uri="{FF2B5EF4-FFF2-40B4-BE49-F238E27FC236}">
                      <a16:creationId xmlns:a16="http://schemas.microsoft.com/office/drawing/2014/main" id="{7B3D6EBA-6D86-1D48-BE28-F294461B93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线连接符 151">
                  <a:extLst>
                    <a:ext uri="{FF2B5EF4-FFF2-40B4-BE49-F238E27FC236}">
                      <a16:creationId xmlns:a16="http://schemas.microsoft.com/office/drawing/2014/main" id="{5F91F447-B8D3-C742-946F-439FC8114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233A5C76-BC10-294F-B3CA-6D254077F295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18D2164-6B7A-C444-9CDE-06EF0A77B3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9AD1B1A3-7CA1-2D4A-AF22-3C1B58D2BB37}"/>
                  </a:ext>
                </a:extLst>
              </p:cNvPr>
              <p:cNvGrpSpPr/>
              <p:nvPr/>
            </p:nvGrpSpPr>
            <p:grpSpPr>
              <a:xfrm>
                <a:off x="4782764" y="4624746"/>
                <a:ext cx="665962" cy="129691"/>
                <a:chOff x="4647414" y="5249487"/>
                <a:chExt cx="665962" cy="129691"/>
              </a:xfrm>
            </p:grpSpPr>
            <p:cxnSp>
              <p:nvCxnSpPr>
                <p:cNvPr id="149" name="直线连接符 148">
                  <a:extLst>
                    <a:ext uri="{FF2B5EF4-FFF2-40B4-BE49-F238E27FC236}">
                      <a16:creationId xmlns:a16="http://schemas.microsoft.com/office/drawing/2014/main" id="{0BB17818-DDFB-604C-AA88-BB0E66494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7414" y="524948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线连接符 149">
                  <a:extLst>
                    <a:ext uri="{FF2B5EF4-FFF2-40B4-BE49-F238E27FC236}">
                      <a16:creationId xmlns:a16="http://schemas.microsoft.com/office/drawing/2014/main" id="{A79F8FAC-DC67-8F43-B3C7-746029BD6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47414" y="537917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直线箭头连接符 146">
                <a:extLst>
                  <a:ext uri="{FF2B5EF4-FFF2-40B4-BE49-F238E27FC236}">
                    <a16:creationId xmlns:a16="http://schemas.microsoft.com/office/drawing/2014/main" id="{CEEF30CB-27C6-4D42-86D7-43BE770A0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668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箭头连接符 147">
                <a:extLst>
                  <a:ext uri="{FF2B5EF4-FFF2-40B4-BE49-F238E27FC236}">
                    <a16:creationId xmlns:a16="http://schemas.microsoft.com/office/drawing/2014/main" id="{A658452C-EAB8-C34B-AE90-00A3BEB2B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2131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FADEF2-7A8D-6C49-A29D-EBBD5E3014C8}"/>
                    </a:ext>
                  </a:extLst>
                </p:cNvPr>
                <p:cNvSpPr txBox="1"/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5D43E0-DD35-3248-9AC5-E6D615785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F6C3BF0-5FB0-B546-9816-2EC967F6B943}"/>
                </a:ext>
              </a:extLst>
            </p:cNvPr>
            <p:cNvGrpSpPr/>
            <p:nvPr/>
          </p:nvGrpSpPr>
          <p:grpSpPr>
            <a:xfrm>
              <a:off x="5635454" y="4583077"/>
              <a:ext cx="1402568" cy="0"/>
              <a:chOff x="4668126" y="5527791"/>
              <a:chExt cx="1402568" cy="0"/>
            </a:xfrm>
          </p:grpSpPr>
          <p:cxnSp>
            <p:nvCxnSpPr>
              <p:cNvPr id="142" name="直线箭头连接符 141">
                <a:extLst>
                  <a:ext uri="{FF2B5EF4-FFF2-40B4-BE49-F238E27FC236}">
                    <a16:creationId xmlns:a16="http://schemas.microsoft.com/office/drawing/2014/main" id="{59F290BD-4ED0-6143-831D-AEADAC995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线箭头连接符 142">
                <a:extLst>
                  <a:ext uri="{FF2B5EF4-FFF2-40B4-BE49-F238E27FC236}">
                    <a16:creationId xmlns:a16="http://schemas.microsoft.com/office/drawing/2014/main" id="{ED990F67-1E9D-9446-BADC-7757771A0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178CA47D-2197-994C-A16C-D73C047DB5FD}"/>
              </a:ext>
            </a:extLst>
          </p:cNvPr>
          <p:cNvPicPr>
            <a:picLocks/>
          </p:cNvPicPr>
          <p:nvPr/>
        </p:nvPicPr>
        <p:blipFill rotWithShape="1">
          <a:blip r:embed="rId9"/>
          <a:srcRect l="24427" t="34814" r="67656" b="22685"/>
          <a:stretch/>
        </p:blipFill>
        <p:spPr>
          <a:xfrm>
            <a:off x="7522235" y="2078458"/>
            <a:ext cx="1005882" cy="648000"/>
          </a:xfrm>
          <a:prstGeom prst="rect">
            <a:avLst/>
          </a:prstGeom>
        </p:spPr>
      </p:pic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7FEACC6-2FAA-6246-9FDF-2E45FF5E4D20}"/>
              </a:ext>
            </a:extLst>
          </p:cNvPr>
          <p:cNvGrpSpPr/>
          <p:nvPr/>
        </p:nvGrpSpPr>
        <p:grpSpPr>
          <a:xfrm>
            <a:off x="2655721" y="2236574"/>
            <a:ext cx="4714473" cy="369332"/>
            <a:chOff x="2321689" y="1690321"/>
            <a:chExt cx="4714473" cy="369332"/>
          </a:xfrm>
        </p:grpSpPr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120087C1-331B-C442-A705-C628F8994BEC}"/>
                </a:ext>
              </a:extLst>
            </p:cNvPr>
            <p:cNvGrpSpPr/>
            <p:nvPr/>
          </p:nvGrpSpPr>
          <p:grpSpPr>
            <a:xfrm>
              <a:off x="2321689" y="1690321"/>
              <a:ext cx="3127037" cy="369332"/>
              <a:chOff x="2321689" y="1829655"/>
              <a:chExt cx="3127037" cy="369332"/>
            </a:xfrm>
          </p:grpSpPr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23D36C80-61CD-1442-92CA-59504412B6D1}"/>
                  </a:ext>
                </a:extLst>
              </p:cNvPr>
              <p:cNvGrpSpPr/>
              <p:nvPr/>
            </p:nvGrpSpPr>
            <p:grpSpPr>
              <a:xfrm>
                <a:off x="2321689" y="1949476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67" name="直线连接符 166">
                  <a:extLst>
                    <a:ext uri="{FF2B5EF4-FFF2-40B4-BE49-F238E27FC236}">
                      <a16:creationId xmlns:a16="http://schemas.microsoft.com/office/drawing/2014/main" id="{08ED8151-9790-314D-B030-F3CE8065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线连接符 167">
                  <a:extLst>
                    <a:ext uri="{FF2B5EF4-FFF2-40B4-BE49-F238E27FC236}">
                      <a16:creationId xmlns:a16="http://schemas.microsoft.com/office/drawing/2014/main" id="{45FDA139-00E6-714C-8145-0B4B893C5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62B7B131-8231-A74D-90A0-E99C05B3D810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46FCBA6-FB75-BB46-B138-13F6781D4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252CECEF-66E8-2342-BD72-A250CD7409E3}"/>
                  </a:ext>
                </a:extLst>
              </p:cNvPr>
              <p:cNvGrpSpPr/>
              <p:nvPr/>
            </p:nvGrpSpPr>
            <p:grpSpPr>
              <a:xfrm>
                <a:off x="4782764" y="1949476"/>
                <a:ext cx="665962" cy="129691"/>
                <a:chOff x="3989498" y="1494737"/>
                <a:chExt cx="665962" cy="129691"/>
              </a:xfrm>
            </p:grpSpPr>
            <p:cxnSp>
              <p:nvCxnSpPr>
                <p:cNvPr id="165" name="直线连接符 164">
                  <a:extLst>
                    <a:ext uri="{FF2B5EF4-FFF2-40B4-BE49-F238E27FC236}">
                      <a16:creationId xmlns:a16="http://schemas.microsoft.com/office/drawing/2014/main" id="{06EC3CE9-D790-A240-919F-771D8BE8A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89498" y="149473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线连接符 165">
                  <a:extLst>
                    <a:ext uri="{FF2B5EF4-FFF2-40B4-BE49-F238E27FC236}">
                      <a16:creationId xmlns:a16="http://schemas.microsoft.com/office/drawing/2014/main" id="{1A54AD72-B69E-E84C-847F-75E29600B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9498" y="162442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线箭头连接符 162">
                <a:extLst>
                  <a:ext uri="{FF2B5EF4-FFF2-40B4-BE49-F238E27FC236}">
                    <a16:creationId xmlns:a16="http://schemas.microsoft.com/office/drawing/2014/main" id="{9D2EB334-BA63-AD44-892D-EBD42978F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377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箭头连接符 163">
                <a:extLst>
                  <a:ext uri="{FF2B5EF4-FFF2-40B4-BE49-F238E27FC236}">
                    <a16:creationId xmlns:a16="http://schemas.microsoft.com/office/drawing/2014/main" id="{232DEFE2-4C17-6647-84AD-7611DD528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40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54136B1-B764-B144-9B57-1FA1E2794A71}"/>
                    </a:ext>
                  </a:extLst>
                </p:cNvPr>
                <p:cNvSpPr txBox="1"/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1B966BA-015A-4B44-9507-35EE93BCD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5CB61484-73D9-E949-A6C0-213EFC181345}"/>
                </a:ext>
              </a:extLst>
            </p:cNvPr>
            <p:cNvGrpSpPr/>
            <p:nvPr/>
          </p:nvGrpSpPr>
          <p:grpSpPr>
            <a:xfrm>
              <a:off x="5633594" y="1874987"/>
              <a:ext cx="1402568" cy="0"/>
              <a:chOff x="4668126" y="5527791"/>
              <a:chExt cx="1402568" cy="0"/>
            </a:xfrm>
          </p:grpSpPr>
          <p:cxnSp>
            <p:nvCxnSpPr>
              <p:cNvPr id="158" name="直线箭头连接符 157">
                <a:extLst>
                  <a:ext uri="{FF2B5EF4-FFF2-40B4-BE49-F238E27FC236}">
                    <a16:creationId xmlns:a16="http://schemas.microsoft.com/office/drawing/2014/main" id="{6757EDE7-7809-E643-9D8A-B136154B5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箭头连接符 158">
                <a:extLst>
                  <a:ext uri="{FF2B5EF4-FFF2-40B4-BE49-F238E27FC236}">
                    <a16:creationId xmlns:a16="http://schemas.microsoft.com/office/drawing/2014/main" id="{670F2DAD-E718-0846-BA50-FC495D64C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DB47B32-2149-A142-AD43-4E40BA8FAC56}"/>
              </a:ext>
            </a:extLst>
          </p:cNvPr>
          <p:cNvSpPr/>
          <p:nvPr/>
        </p:nvSpPr>
        <p:spPr>
          <a:xfrm>
            <a:off x="4644246" y="462733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7805C086-2D96-054D-A747-38657F451AF3}"/>
              </a:ext>
            </a:extLst>
          </p:cNvPr>
          <p:cNvSpPr/>
          <p:nvPr/>
        </p:nvSpPr>
        <p:spPr>
          <a:xfrm>
            <a:off x="7284718" y="5060561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08D1D8B-BFBB-724C-A270-6181A2D1D1F7}"/>
              </a:ext>
            </a:extLst>
          </p:cNvPr>
          <p:cNvSpPr/>
          <p:nvPr/>
        </p:nvSpPr>
        <p:spPr>
          <a:xfrm>
            <a:off x="7284718" y="2660807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235EFA2-BD56-ED44-AB3A-43198037305E}"/>
              </a:ext>
            </a:extLst>
          </p:cNvPr>
          <p:cNvSpPr/>
          <p:nvPr/>
        </p:nvSpPr>
        <p:spPr>
          <a:xfrm>
            <a:off x="4644246" y="2535074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50AD915-C691-5F47-97A6-3AC09798473B}"/>
              </a:ext>
            </a:extLst>
          </p:cNvPr>
          <p:cNvGrpSpPr/>
          <p:nvPr/>
        </p:nvGrpSpPr>
        <p:grpSpPr>
          <a:xfrm>
            <a:off x="9448835" y="2079408"/>
            <a:ext cx="2510760" cy="668837"/>
            <a:chOff x="9561379" y="4157163"/>
            <a:chExt cx="2510760" cy="668837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3B7F01E7-1D28-8E4D-B133-9AA89437ECA0}"/>
                </a:ext>
              </a:extLst>
            </p:cNvPr>
            <p:cNvSpPr/>
            <p:nvPr/>
          </p:nvSpPr>
          <p:spPr>
            <a:xfrm>
              <a:off x="9778522" y="4157163"/>
              <a:ext cx="2293617" cy="668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ncod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S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cor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2B5E11BA-03F2-F247-8AD3-7C0CC10EE57F}"/>
                    </a:ext>
                  </a:extLst>
                </p:cNvPr>
                <p:cNvSpPr txBox="1"/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40F5F83-607A-D84A-B487-815E982A4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29412" r="-23529"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670FC185-6DDF-D746-BFFB-93787C1FE672}"/>
                    </a:ext>
                  </a:extLst>
                </p:cNvPr>
                <p:cNvSpPr txBox="1"/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8EF45E5B-62EE-4345-864C-AD8223903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8750" r="-18750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/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blipFill>
                <a:blip r:embed="rId23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/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blipFill>
                <a:blip r:embed="rId2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/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blipFill>
                <a:blip r:embed="rId25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/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blipFill>
                <a:blip r:embed="rId2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81D5CDF0-212E-2044-A606-527E557CE071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B380519F-C934-9243-9184-84F49AEBA751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A6DC4507-5260-7740-A3D6-9EBEA9424F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47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17"/>
    </mc:Choice>
    <mc:Fallback>
      <p:transition spd="slow" advTm="114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62D50597-8CBA-6B4D-AE0A-ADD68C0B650E}"/>
              </a:ext>
            </a:extLst>
          </p:cNvPr>
          <p:cNvPicPr>
            <a:picLocks/>
          </p:cNvPicPr>
          <p:nvPr/>
        </p:nvPicPr>
        <p:blipFill rotWithShape="1">
          <a:blip r:embed="rId6"/>
          <a:srcRect l="40820" t="13918" r="51264" b="43582"/>
          <a:stretch/>
        </p:blipFill>
        <p:spPr>
          <a:xfrm>
            <a:off x="7522235" y="4577423"/>
            <a:ext cx="1005882" cy="648000"/>
          </a:xfrm>
          <a:prstGeom prst="rect">
            <a:avLst/>
          </a:prstGeom>
        </p:spPr>
      </p:pic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8327189-9D47-BA46-8595-7FD3D22A3C53}"/>
              </a:ext>
            </a:extLst>
          </p:cNvPr>
          <p:cNvGrpSpPr/>
          <p:nvPr/>
        </p:nvGrpSpPr>
        <p:grpSpPr>
          <a:xfrm>
            <a:off x="2655721" y="4826045"/>
            <a:ext cx="4716333" cy="369332"/>
            <a:chOff x="2321689" y="4400563"/>
            <a:chExt cx="4716333" cy="369332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73C98F7-C273-6D4E-BC3B-7DABF7093214}"/>
                </a:ext>
              </a:extLst>
            </p:cNvPr>
            <p:cNvGrpSpPr/>
            <p:nvPr/>
          </p:nvGrpSpPr>
          <p:grpSpPr>
            <a:xfrm>
              <a:off x="2321689" y="4400563"/>
              <a:ext cx="3127037" cy="369332"/>
              <a:chOff x="2321689" y="4504925"/>
              <a:chExt cx="3127037" cy="369332"/>
            </a:xfrm>
          </p:grpSpPr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09C7F817-BCEE-6B4A-932E-7E366B580BD6}"/>
                  </a:ext>
                </a:extLst>
              </p:cNvPr>
              <p:cNvGrpSpPr/>
              <p:nvPr/>
            </p:nvGrpSpPr>
            <p:grpSpPr>
              <a:xfrm>
                <a:off x="2321689" y="4624746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51" name="直线连接符 150">
                  <a:extLst>
                    <a:ext uri="{FF2B5EF4-FFF2-40B4-BE49-F238E27FC236}">
                      <a16:creationId xmlns:a16="http://schemas.microsoft.com/office/drawing/2014/main" id="{7B3D6EBA-6D86-1D48-BE28-F294461B93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线连接符 151">
                  <a:extLst>
                    <a:ext uri="{FF2B5EF4-FFF2-40B4-BE49-F238E27FC236}">
                      <a16:creationId xmlns:a16="http://schemas.microsoft.com/office/drawing/2014/main" id="{5F91F447-B8D3-C742-946F-439FC8114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233A5C76-BC10-294F-B3CA-6D254077F295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18D2164-6B7A-C444-9CDE-06EF0A77B3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9AD1B1A3-7CA1-2D4A-AF22-3C1B58D2BB37}"/>
                  </a:ext>
                </a:extLst>
              </p:cNvPr>
              <p:cNvGrpSpPr/>
              <p:nvPr/>
            </p:nvGrpSpPr>
            <p:grpSpPr>
              <a:xfrm>
                <a:off x="4782764" y="4624746"/>
                <a:ext cx="665962" cy="129691"/>
                <a:chOff x="4647414" y="5249487"/>
                <a:chExt cx="665962" cy="129691"/>
              </a:xfrm>
            </p:grpSpPr>
            <p:cxnSp>
              <p:nvCxnSpPr>
                <p:cNvPr id="149" name="直线连接符 148">
                  <a:extLst>
                    <a:ext uri="{FF2B5EF4-FFF2-40B4-BE49-F238E27FC236}">
                      <a16:creationId xmlns:a16="http://schemas.microsoft.com/office/drawing/2014/main" id="{0BB17818-DDFB-604C-AA88-BB0E66494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7414" y="524948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线连接符 149">
                  <a:extLst>
                    <a:ext uri="{FF2B5EF4-FFF2-40B4-BE49-F238E27FC236}">
                      <a16:creationId xmlns:a16="http://schemas.microsoft.com/office/drawing/2014/main" id="{A79F8FAC-DC67-8F43-B3C7-746029BD6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47414" y="537917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直线箭头连接符 146">
                <a:extLst>
                  <a:ext uri="{FF2B5EF4-FFF2-40B4-BE49-F238E27FC236}">
                    <a16:creationId xmlns:a16="http://schemas.microsoft.com/office/drawing/2014/main" id="{CEEF30CB-27C6-4D42-86D7-43BE770A0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668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箭头连接符 147">
                <a:extLst>
                  <a:ext uri="{FF2B5EF4-FFF2-40B4-BE49-F238E27FC236}">
                    <a16:creationId xmlns:a16="http://schemas.microsoft.com/office/drawing/2014/main" id="{A658452C-EAB8-C34B-AE90-00A3BEB2B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2131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FADEF2-7A8D-6C49-A29D-EBBD5E3014C8}"/>
                    </a:ext>
                  </a:extLst>
                </p:cNvPr>
                <p:cNvSpPr txBox="1"/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5D43E0-DD35-3248-9AC5-E6D615785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F6C3BF0-5FB0-B546-9816-2EC967F6B943}"/>
                </a:ext>
              </a:extLst>
            </p:cNvPr>
            <p:cNvGrpSpPr/>
            <p:nvPr/>
          </p:nvGrpSpPr>
          <p:grpSpPr>
            <a:xfrm>
              <a:off x="5635454" y="4583077"/>
              <a:ext cx="1402568" cy="0"/>
              <a:chOff x="4668126" y="5527791"/>
              <a:chExt cx="1402568" cy="0"/>
            </a:xfrm>
          </p:grpSpPr>
          <p:cxnSp>
            <p:nvCxnSpPr>
              <p:cNvPr id="142" name="直线箭头连接符 141">
                <a:extLst>
                  <a:ext uri="{FF2B5EF4-FFF2-40B4-BE49-F238E27FC236}">
                    <a16:creationId xmlns:a16="http://schemas.microsoft.com/office/drawing/2014/main" id="{59F290BD-4ED0-6143-831D-AEADAC995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线箭头连接符 142">
                <a:extLst>
                  <a:ext uri="{FF2B5EF4-FFF2-40B4-BE49-F238E27FC236}">
                    <a16:creationId xmlns:a16="http://schemas.microsoft.com/office/drawing/2014/main" id="{ED990F67-1E9D-9446-BADC-7757771A0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178CA47D-2197-994C-A16C-D73C047DB5FD}"/>
              </a:ext>
            </a:extLst>
          </p:cNvPr>
          <p:cNvPicPr>
            <a:picLocks/>
          </p:cNvPicPr>
          <p:nvPr/>
        </p:nvPicPr>
        <p:blipFill rotWithShape="1">
          <a:blip r:embed="rId9"/>
          <a:srcRect l="24427" t="34814" r="67656" b="22685"/>
          <a:stretch/>
        </p:blipFill>
        <p:spPr>
          <a:xfrm>
            <a:off x="7522235" y="2078458"/>
            <a:ext cx="1005882" cy="648000"/>
          </a:xfrm>
          <a:prstGeom prst="rect">
            <a:avLst/>
          </a:prstGeom>
        </p:spPr>
      </p:pic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7FEACC6-2FAA-6246-9FDF-2E45FF5E4D20}"/>
              </a:ext>
            </a:extLst>
          </p:cNvPr>
          <p:cNvGrpSpPr/>
          <p:nvPr/>
        </p:nvGrpSpPr>
        <p:grpSpPr>
          <a:xfrm>
            <a:off x="2655721" y="2236574"/>
            <a:ext cx="4714473" cy="369332"/>
            <a:chOff x="2321689" y="1690321"/>
            <a:chExt cx="4714473" cy="369332"/>
          </a:xfrm>
        </p:grpSpPr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120087C1-331B-C442-A705-C628F8994BEC}"/>
                </a:ext>
              </a:extLst>
            </p:cNvPr>
            <p:cNvGrpSpPr/>
            <p:nvPr/>
          </p:nvGrpSpPr>
          <p:grpSpPr>
            <a:xfrm>
              <a:off x="2321689" y="1690321"/>
              <a:ext cx="3127037" cy="369332"/>
              <a:chOff x="2321689" y="1829655"/>
              <a:chExt cx="3127037" cy="369332"/>
            </a:xfrm>
          </p:grpSpPr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23D36C80-61CD-1442-92CA-59504412B6D1}"/>
                  </a:ext>
                </a:extLst>
              </p:cNvPr>
              <p:cNvGrpSpPr/>
              <p:nvPr/>
            </p:nvGrpSpPr>
            <p:grpSpPr>
              <a:xfrm>
                <a:off x="2321689" y="1949476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67" name="直线连接符 166">
                  <a:extLst>
                    <a:ext uri="{FF2B5EF4-FFF2-40B4-BE49-F238E27FC236}">
                      <a16:creationId xmlns:a16="http://schemas.microsoft.com/office/drawing/2014/main" id="{08ED8151-9790-314D-B030-F3CE8065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线连接符 167">
                  <a:extLst>
                    <a:ext uri="{FF2B5EF4-FFF2-40B4-BE49-F238E27FC236}">
                      <a16:creationId xmlns:a16="http://schemas.microsoft.com/office/drawing/2014/main" id="{45FDA139-00E6-714C-8145-0B4B893C5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62B7B131-8231-A74D-90A0-E99C05B3D810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46FCBA6-FB75-BB46-B138-13F6781D4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252CECEF-66E8-2342-BD72-A250CD7409E3}"/>
                  </a:ext>
                </a:extLst>
              </p:cNvPr>
              <p:cNvGrpSpPr/>
              <p:nvPr/>
            </p:nvGrpSpPr>
            <p:grpSpPr>
              <a:xfrm>
                <a:off x="4782764" y="1949476"/>
                <a:ext cx="665962" cy="129691"/>
                <a:chOff x="3989498" y="1494737"/>
                <a:chExt cx="665962" cy="129691"/>
              </a:xfrm>
            </p:grpSpPr>
            <p:cxnSp>
              <p:nvCxnSpPr>
                <p:cNvPr id="165" name="直线连接符 164">
                  <a:extLst>
                    <a:ext uri="{FF2B5EF4-FFF2-40B4-BE49-F238E27FC236}">
                      <a16:creationId xmlns:a16="http://schemas.microsoft.com/office/drawing/2014/main" id="{06EC3CE9-D790-A240-919F-771D8BE8A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89498" y="149473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线连接符 165">
                  <a:extLst>
                    <a:ext uri="{FF2B5EF4-FFF2-40B4-BE49-F238E27FC236}">
                      <a16:creationId xmlns:a16="http://schemas.microsoft.com/office/drawing/2014/main" id="{1A54AD72-B69E-E84C-847F-75E29600B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9498" y="162442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线箭头连接符 162">
                <a:extLst>
                  <a:ext uri="{FF2B5EF4-FFF2-40B4-BE49-F238E27FC236}">
                    <a16:creationId xmlns:a16="http://schemas.microsoft.com/office/drawing/2014/main" id="{9D2EB334-BA63-AD44-892D-EBD42978F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377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箭头连接符 163">
                <a:extLst>
                  <a:ext uri="{FF2B5EF4-FFF2-40B4-BE49-F238E27FC236}">
                    <a16:creationId xmlns:a16="http://schemas.microsoft.com/office/drawing/2014/main" id="{232DEFE2-4C17-6647-84AD-7611DD528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40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54136B1-B764-B144-9B57-1FA1E2794A71}"/>
                    </a:ext>
                  </a:extLst>
                </p:cNvPr>
                <p:cNvSpPr txBox="1"/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1B966BA-015A-4B44-9507-35EE93BCD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5CB61484-73D9-E949-A6C0-213EFC181345}"/>
                </a:ext>
              </a:extLst>
            </p:cNvPr>
            <p:cNvGrpSpPr/>
            <p:nvPr/>
          </p:nvGrpSpPr>
          <p:grpSpPr>
            <a:xfrm>
              <a:off x="5633594" y="1874987"/>
              <a:ext cx="1402568" cy="0"/>
              <a:chOff x="4668126" y="5527791"/>
              <a:chExt cx="1402568" cy="0"/>
            </a:xfrm>
          </p:grpSpPr>
          <p:cxnSp>
            <p:nvCxnSpPr>
              <p:cNvPr id="158" name="直线箭头连接符 157">
                <a:extLst>
                  <a:ext uri="{FF2B5EF4-FFF2-40B4-BE49-F238E27FC236}">
                    <a16:creationId xmlns:a16="http://schemas.microsoft.com/office/drawing/2014/main" id="{6757EDE7-7809-E643-9D8A-B136154B5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箭头连接符 158">
                <a:extLst>
                  <a:ext uri="{FF2B5EF4-FFF2-40B4-BE49-F238E27FC236}">
                    <a16:creationId xmlns:a16="http://schemas.microsoft.com/office/drawing/2014/main" id="{670F2DAD-E718-0846-BA50-FC495D64C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/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blipFill>
                <a:blip r:embed="rId12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80DCA64D-67D8-E042-898C-A6A868127BDE}"/>
              </a:ext>
            </a:extLst>
          </p:cNvPr>
          <p:cNvGrpSpPr/>
          <p:nvPr/>
        </p:nvGrpSpPr>
        <p:grpSpPr>
          <a:xfrm>
            <a:off x="4119093" y="3332811"/>
            <a:ext cx="1008589" cy="885639"/>
            <a:chOff x="3920966" y="3112912"/>
            <a:chExt cx="1008589" cy="885639"/>
          </a:xfrm>
        </p:grpSpPr>
        <p:sp>
          <p:nvSpPr>
            <p:cNvPr id="171" name="双中括号 170">
              <a:extLst>
                <a:ext uri="{FF2B5EF4-FFF2-40B4-BE49-F238E27FC236}">
                  <a16:creationId xmlns:a16="http://schemas.microsoft.com/office/drawing/2014/main" id="{C6C3D38D-9F2D-714C-994B-9205DF4ABBB3}"/>
                </a:ext>
              </a:extLst>
            </p:cNvPr>
            <p:cNvSpPr/>
            <p:nvPr/>
          </p:nvSpPr>
          <p:spPr>
            <a:xfrm>
              <a:off x="3920966" y="3112912"/>
              <a:ext cx="1008589" cy="885639"/>
            </a:xfrm>
            <a:prstGeom prst="bracketPair">
              <a:avLst/>
            </a:prstGeom>
            <a:ln w="508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CD88F030-57E1-BB4B-96E6-DB35F0E7FCFC}"/>
                </a:ext>
              </a:extLst>
            </p:cNvPr>
            <p:cNvGrpSpPr/>
            <p:nvPr/>
          </p:nvGrpSpPr>
          <p:grpSpPr>
            <a:xfrm>
              <a:off x="4092279" y="3340022"/>
              <a:ext cx="665962" cy="431419"/>
              <a:chOff x="4102613" y="3336559"/>
              <a:chExt cx="665962" cy="431419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05D9E9B2-3ED8-B14E-A999-8FDF429D2EEF}"/>
                  </a:ext>
                </a:extLst>
              </p:cNvPr>
              <p:cNvGrpSpPr/>
              <p:nvPr/>
            </p:nvGrpSpPr>
            <p:grpSpPr>
              <a:xfrm>
                <a:off x="4102613" y="3638287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77" name="直线连接符 176">
                  <a:extLst>
                    <a:ext uri="{FF2B5EF4-FFF2-40B4-BE49-F238E27FC236}">
                      <a16:creationId xmlns:a16="http://schemas.microsoft.com/office/drawing/2014/main" id="{1F8D69FC-2C45-6F43-A8BC-1EB6F5608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线连接符 177">
                  <a:extLst>
                    <a:ext uri="{FF2B5EF4-FFF2-40B4-BE49-F238E27FC236}">
                      <a16:creationId xmlns:a16="http://schemas.microsoft.com/office/drawing/2014/main" id="{D865AF40-4D5E-8246-9CED-71F911237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91B4BFB1-4440-3242-BEE2-F15706739C35}"/>
                  </a:ext>
                </a:extLst>
              </p:cNvPr>
              <p:cNvGrpSpPr/>
              <p:nvPr/>
            </p:nvGrpSpPr>
            <p:grpSpPr>
              <a:xfrm>
                <a:off x="4102613" y="3336559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75" name="直线连接符 174">
                  <a:extLst>
                    <a:ext uri="{FF2B5EF4-FFF2-40B4-BE49-F238E27FC236}">
                      <a16:creationId xmlns:a16="http://schemas.microsoft.com/office/drawing/2014/main" id="{8B83BA8C-61A2-6B43-9C04-C7BD869C5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线连接符 175">
                  <a:extLst>
                    <a:ext uri="{FF2B5EF4-FFF2-40B4-BE49-F238E27FC236}">
                      <a16:creationId xmlns:a16="http://schemas.microsoft.com/office/drawing/2014/main" id="{3E92F5D6-05F3-324B-8B7D-31ECE2CB2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79" name="直线箭头连接符 178">
            <a:extLst>
              <a:ext uri="{FF2B5EF4-FFF2-40B4-BE49-F238E27FC236}">
                <a16:creationId xmlns:a16="http://schemas.microsoft.com/office/drawing/2014/main" id="{7F333A91-E837-0644-93BF-5E97F61B5A3F}"/>
              </a:ext>
            </a:extLst>
          </p:cNvPr>
          <p:cNvCxnSpPr>
            <a:cxnSpLocks/>
          </p:cNvCxnSpPr>
          <p:nvPr/>
        </p:nvCxnSpPr>
        <p:spPr>
          <a:xfrm flipH="1" flipV="1">
            <a:off x="3005382" y="4037816"/>
            <a:ext cx="1906" cy="69299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58D81235-5CE0-594A-B8DC-0C4A886FA522}"/>
              </a:ext>
            </a:extLst>
          </p:cNvPr>
          <p:cNvCxnSpPr>
            <a:cxnSpLocks/>
          </p:cNvCxnSpPr>
          <p:nvPr/>
        </p:nvCxnSpPr>
        <p:spPr>
          <a:xfrm>
            <a:off x="3006335" y="2701145"/>
            <a:ext cx="0" cy="715306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98A14948-86E8-E745-8428-314B5D91CCE0}"/>
              </a:ext>
            </a:extLst>
          </p:cNvPr>
          <p:cNvCxnSpPr>
            <a:cxnSpLocks/>
          </p:cNvCxnSpPr>
          <p:nvPr/>
        </p:nvCxnSpPr>
        <p:spPr>
          <a:xfrm>
            <a:off x="3289025" y="3772477"/>
            <a:ext cx="642953" cy="2084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DB47B32-2149-A142-AD43-4E40BA8FAC56}"/>
              </a:ext>
            </a:extLst>
          </p:cNvPr>
          <p:cNvSpPr/>
          <p:nvPr/>
        </p:nvSpPr>
        <p:spPr>
          <a:xfrm>
            <a:off x="4644246" y="462733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7805C086-2D96-054D-A747-38657F451AF3}"/>
              </a:ext>
            </a:extLst>
          </p:cNvPr>
          <p:cNvSpPr/>
          <p:nvPr/>
        </p:nvSpPr>
        <p:spPr>
          <a:xfrm>
            <a:off x="7284718" y="5060561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08D1D8B-BFBB-724C-A270-6181A2D1D1F7}"/>
              </a:ext>
            </a:extLst>
          </p:cNvPr>
          <p:cNvSpPr/>
          <p:nvPr/>
        </p:nvSpPr>
        <p:spPr>
          <a:xfrm>
            <a:off x="7284718" y="2660807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235EFA2-BD56-ED44-AB3A-43198037305E}"/>
              </a:ext>
            </a:extLst>
          </p:cNvPr>
          <p:cNvSpPr/>
          <p:nvPr/>
        </p:nvSpPr>
        <p:spPr>
          <a:xfrm>
            <a:off x="4644246" y="2535074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9E9F3F8-DA50-594D-BE50-39FB7D76B02E}"/>
              </a:ext>
            </a:extLst>
          </p:cNvPr>
          <p:cNvSpPr/>
          <p:nvPr/>
        </p:nvSpPr>
        <p:spPr>
          <a:xfrm>
            <a:off x="2869140" y="2991256"/>
            <a:ext cx="23951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Dependency Module</a:t>
            </a:r>
            <a:endParaRPr kumimoji="1" lang="zh-CN" alt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30F0B35C-C373-8342-BECB-6429604A8A29}"/>
              </a:ext>
            </a:extLst>
          </p:cNvPr>
          <p:cNvGrpSpPr/>
          <p:nvPr/>
        </p:nvGrpSpPr>
        <p:grpSpPr>
          <a:xfrm>
            <a:off x="9447136" y="4201221"/>
            <a:ext cx="2512459" cy="360996"/>
            <a:chOff x="9559680" y="1694096"/>
            <a:chExt cx="2512459" cy="360996"/>
          </a:xfrm>
        </p:grpSpPr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1BC637B0-2FBA-814A-88A4-47ACC58E7593}"/>
                </a:ext>
              </a:extLst>
            </p:cNvPr>
            <p:cNvSpPr/>
            <p:nvPr/>
          </p:nvSpPr>
          <p:spPr>
            <a:xfrm>
              <a:off x="9778522" y="1694096"/>
              <a:ext cx="2293617" cy="360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A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ggregat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ion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DB29650D-92EC-814F-B69B-CD2956A50829}"/>
                    </a:ext>
                  </a:extLst>
                </p:cNvPr>
                <p:cNvSpPr txBox="1"/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7329FDFB-9E91-2942-AF75-EB0B156E6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9412" r="-23529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50AD915-C691-5F47-97A6-3AC09798473B}"/>
              </a:ext>
            </a:extLst>
          </p:cNvPr>
          <p:cNvGrpSpPr/>
          <p:nvPr/>
        </p:nvGrpSpPr>
        <p:grpSpPr>
          <a:xfrm>
            <a:off x="9448835" y="2079408"/>
            <a:ext cx="2510760" cy="668837"/>
            <a:chOff x="9561379" y="4157163"/>
            <a:chExt cx="2510760" cy="668837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3B7F01E7-1D28-8E4D-B133-9AA89437ECA0}"/>
                </a:ext>
              </a:extLst>
            </p:cNvPr>
            <p:cNvSpPr/>
            <p:nvPr/>
          </p:nvSpPr>
          <p:spPr>
            <a:xfrm>
              <a:off x="9778522" y="4157163"/>
              <a:ext cx="2293617" cy="668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ncod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S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cor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2B5E11BA-03F2-F247-8AD3-7C0CC10EE57F}"/>
                    </a:ext>
                  </a:extLst>
                </p:cNvPr>
                <p:cNvSpPr txBox="1"/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40F5F83-607A-D84A-B487-815E982A4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29412" r="-23529"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670FC185-6DDF-D746-BFFB-93787C1FE672}"/>
                    </a:ext>
                  </a:extLst>
                </p:cNvPr>
                <p:cNvSpPr txBox="1"/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8EF45E5B-62EE-4345-864C-AD8223903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8750" r="-18750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/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blipFill>
                <a:blip r:embed="rId23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/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blipFill>
                <a:blip r:embed="rId2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/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blipFill>
                <a:blip r:embed="rId25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/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圆角矩形 121">
            <a:extLst>
              <a:ext uri="{FF2B5EF4-FFF2-40B4-BE49-F238E27FC236}">
                <a16:creationId xmlns:a16="http://schemas.microsoft.com/office/drawing/2014/main" id="{A6E3F202-EE61-7D4B-8489-4F1212285465}"/>
              </a:ext>
            </a:extLst>
          </p:cNvPr>
          <p:cNvSpPr/>
          <p:nvPr/>
        </p:nvSpPr>
        <p:spPr>
          <a:xfrm>
            <a:off x="2594499" y="2965988"/>
            <a:ext cx="4247376" cy="1531386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ysClr val="windowText" lastClr="000000"/>
              </a:solidFill>
            </a:endParaRPr>
          </a:p>
        </p:txBody>
      </p: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B5EB5EB4-63B8-7D40-B3AB-880587A89565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173984AE-8760-DF48-8018-2BB8DDFDF90A}"/>
              </a:ext>
            </a:extLst>
          </p:cNvPr>
          <p:cNvSpPr/>
          <p:nvPr/>
        </p:nvSpPr>
        <p:spPr>
          <a:xfrm>
            <a:off x="297291" y="5840083"/>
            <a:ext cx="45638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the relationships among aspects</a:t>
            </a:r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8DD59912-A14C-8346-AD2D-4E0DE234B348}"/>
              </a:ext>
            </a:extLst>
          </p:cNvPr>
          <p:cNvCxnSpPr>
            <a:cxnSpLocks/>
          </p:cNvCxnSpPr>
          <p:nvPr/>
        </p:nvCxnSpPr>
        <p:spPr>
          <a:xfrm flipH="1">
            <a:off x="3760360" y="4207207"/>
            <a:ext cx="1" cy="1548729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F6C77102-42A8-CF41-9ACA-D65E23746AFA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60D2019E-502C-2B41-AD07-B72C499767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22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08"/>
    </mc:Choice>
    <mc:Fallback>
      <p:transition spd="slow" advTm="9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4188BC90-27A1-A74C-AFD1-798D2E2CF0F1}"/>
              </a:ext>
            </a:extLst>
          </p:cNvPr>
          <p:cNvSpPr/>
          <p:nvPr/>
        </p:nvSpPr>
        <p:spPr>
          <a:xfrm>
            <a:off x="2594499" y="2965988"/>
            <a:ext cx="4247376" cy="1531386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ysClr val="windowText" lastClr="000000"/>
              </a:solidFill>
            </a:endParaRPr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8696631D-E454-DE49-ACB8-2169A7D7D87E}"/>
              </a:ext>
            </a:extLst>
          </p:cNvPr>
          <p:cNvCxnSpPr>
            <a:cxnSpLocks/>
          </p:cNvCxnSpPr>
          <p:nvPr/>
        </p:nvCxnSpPr>
        <p:spPr>
          <a:xfrm>
            <a:off x="6633230" y="3390655"/>
            <a:ext cx="585693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62D50597-8CBA-6B4D-AE0A-ADD68C0B650E}"/>
              </a:ext>
            </a:extLst>
          </p:cNvPr>
          <p:cNvPicPr>
            <a:picLocks/>
          </p:cNvPicPr>
          <p:nvPr/>
        </p:nvPicPr>
        <p:blipFill rotWithShape="1">
          <a:blip r:embed="rId6"/>
          <a:srcRect l="40820" t="13918" r="51264" b="43582"/>
          <a:stretch/>
        </p:blipFill>
        <p:spPr>
          <a:xfrm>
            <a:off x="7522235" y="4577423"/>
            <a:ext cx="1005882" cy="648000"/>
          </a:xfrm>
          <a:prstGeom prst="rect">
            <a:avLst/>
          </a:prstGeom>
        </p:spPr>
      </p:pic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8327189-9D47-BA46-8595-7FD3D22A3C53}"/>
              </a:ext>
            </a:extLst>
          </p:cNvPr>
          <p:cNvGrpSpPr/>
          <p:nvPr/>
        </p:nvGrpSpPr>
        <p:grpSpPr>
          <a:xfrm>
            <a:off x="2655721" y="4826045"/>
            <a:ext cx="4716333" cy="369332"/>
            <a:chOff x="2321689" y="4400563"/>
            <a:chExt cx="4716333" cy="369332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73C98F7-C273-6D4E-BC3B-7DABF7093214}"/>
                </a:ext>
              </a:extLst>
            </p:cNvPr>
            <p:cNvGrpSpPr/>
            <p:nvPr/>
          </p:nvGrpSpPr>
          <p:grpSpPr>
            <a:xfrm>
              <a:off x="2321689" y="4400563"/>
              <a:ext cx="3127037" cy="369332"/>
              <a:chOff x="2321689" y="4504925"/>
              <a:chExt cx="3127037" cy="369332"/>
            </a:xfrm>
          </p:grpSpPr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09C7F817-BCEE-6B4A-932E-7E366B580BD6}"/>
                  </a:ext>
                </a:extLst>
              </p:cNvPr>
              <p:cNvGrpSpPr/>
              <p:nvPr/>
            </p:nvGrpSpPr>
            <p:grpSpPr>
              <a:xfrm>
                <a:off x="2321689" y="4624746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51" name="直线连接符 150">
                  <a:extLst>
                    <a:ext uri="{FF2B5EF4-FFF2-40B4-BE49-F238E27FC236}">
                      <a16:creationId xmlns:a16="http://schemas.microsoft.com/office/drawing/2014/main" id="{7B3D6EBA-6D86-1D48-BE28-F294461B93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线连接符 151">
                  <a:extLst>
                    <a:ext uri="{FF2B5EF4-FFF2-40B4-BE49-F238E27FC236}">
                      <a16:creationId xmlns:a16="http://schemas.microsoft.com/office/drawing/2014/main" id="{5F91F447-B8D3-C742-946F-439FC8114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233A5C76-BC10-294F-B3CA-6D254077F295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18D2164-6B7A-C444-9CDE-06EF0A77B3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9AD1B1A3-7CA1-2D4A-AF22-3C1B58D2BB37}"/>
                  </a:ext>
                </a:extLst>
              </p:cNvPr>
              <p:cNvGrpSpPr/>
              <p:nvPr/>
            </p:nvGrpSpPr>
            <p:grpSpPr>
              <a:xfrm>
                <a:off x="4782764" y="4624746"/>
                <a:ext cx="665962" cy="129691"/>
                <a:chOff x="4647414" y="5249487"/>
                <a:chExt cx="665962" cy="129691"/>
              </a:xfrm>
            </p:grpSpPr>
            <p:cxnSp>
              <p:nvCxnSpPr>
                <p:cNvPr id="149" name="直线连接符 148">
                  <a:extLst>
                    <a:ext uri="{FF2B5EF4-FFF2-40B4-BE49-F238E27FC236}">
                      <a16:creationId xmlns:a16="http://schemas.microsoft.com/office/drawing/2014/main" id="{0BB17818-DDFB-604C-AA88-BB0E66494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7414" y="524948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线连接符 149">
                  <a:extLst>
                    <a:ext uri="{FF2B5EF4-FFF2-40B4-BE49-F238E27FC236}">
                      <a16:creationId xmlns:a16="http://schemas.microsoft.com/office/drawing/2014/main" id="{A79F8FAC-DC67-8F43-B3C7-746029BD6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47414" y="537917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直线箭头连接符 146">
                <a:extLst>
                  <a:ext uri="{FF2B5EF4-FFF2-40B4-BE49-F238E27FC236}">
                    <a16:creationId xmlns:a16="http://schemas.microsoft.com/office/drawing/2014/main" id="{CEEF30CB-27C6-4D42-86D7-43BE770A0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668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箭头连接符 147">
                <a:extLst>
                  <a:ext uri="{FF2B5EF4-FFF2-40B4-BE49-F238E27FC236}">
                    <a16:creationId xmlns:a16="http://schemas.microsoft.com/office/drawing/2014/main" id="{A658452C-EAB8-C34B-AE90-00A3BEB2B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2131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FADEF2-7A8D-6C49-A29D-EBBD5E3014C8}"/>
                    </a:ext>
                  </a:extLst>
                </p:cNvPr>
                <p:cNvSpPr txBox="1"/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5D43E0-DD35-3248-9AC5-E6D615785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F6C3BF0-5FB0-B546-9816-2EC967F6B943}"/>
                </a:ext>
              </a:extLst>
            </p:cNvPr>
            <p:cNvGrpSpPr/>
            <p:nvPr/>
          </p:nvGrpSpPr>
          <p:grpSpPr>
            <a:xfrm>
              <a:off x="5635454" y="4583077"/>
              <a:ext cx="1402568" cy="0"/>
              <a:chOff x="4668126" y="5527791"/>
              <a:chExt cx="1402568" cy="0"/>
            </a:xfrm>
          </p:grpSpPr>
          <p:cxnSp>
            <p:nvCxnSpPr>
              <p:cNvPr id="142" name="直线箭头连接符 141">
                <a:extLst>
                  <a:ext uri="{FF2B5EF4-FFF2-40B4-BE49-F238E27FC236}">
                    <a16:creationId xmlns:a16="http://schemas.microsoft.com/office/drawing/2014/main" id="{59F290BD-4ED0-6143-831D-AEADAC995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线箭头连接符 142">
                <a:extLst>
                  <a:ext uri="{FF2B5EF4-FFF2-40B4-BE49-F238E27FC236}">
                    <a16:creationId xmlns:a16="http://schemas.microsoft.com/office/drawing/2014/main" id="{ED990F67-1E9D-9446-BADC-7757771A0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178CA47D-2197-994C-A16C-D73C047DB5FD}"/>
              </a:ext>
            </a:extLst>
          </p:cNvPr>
          <p:cNvPicPr>
            <a:picLocks/>
          </p:cNvPicPr>
          <p:nvPr/>
        </p:nvPicPr>
        <p:blipFill rotWithShape="1">
          <a:blip r:embed="rId9"/>
          <a:srcRect l="24427" t="34814" r="67656" b="22685"/>
          <a:stretch/>
        </p:blipFill>
        <p:spPr>
          <a:xfrm>
            <a:off x="7522235" y="2078458"/>
            <a:ext cx="1005882" cy="648000"/>
          </a:xfrm>
          <a:prstGeom prst="rect">
            <a:avLst/>
          </a:prstGeom>
        </p:spPr>
      </p:pic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7FEACC6-2FAA-6246-9FDF-2E45FF5E4D20}"/>
              </a:ext>
            </a:extLst>
          </p:cNvPr>
          <p:cNvGrpSpPr/>
          <p:nvPr/>
        </p:nvGrpSpPr>
        <p:grpSpPr>
          <a:xfrm>
            <a:off x="2655721" y="2236574"/>
            <a:ext cx="4714473" cy="369332"/>
            <a:chOff x="2321689" y="1690321"/>
            <a:chExt cx="4714473" cy="369332"/>
          </a:xfrm>
        </p:grpSpPr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120087C1-331B-C442-A705-C628F8994BEC}"/>
                </a:ext>
              </a:extLst>
            </p:cNvPr>
            <p:cNvGrpSpPr/>
            <p:nvPr/>
          </p:nvGrpSpPr>
          <p:grpSpPr>
            <a:xfrm>
              <a:off x="2321689" y="1690321"/>
              <a:ext cx="3127037" cy="369332"/>
              <a:chOff x="2321689" y="1829655"/>
              <a:chExt cx="3127037" cy="369332"/>
            </a:xfrm>
          </p:grpSpPr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23D36C80-61CD-1442-92CA-59504412B6D1}"/>
                  </a:ext>
                </a:extLst>
              </p:cNvPr>
              <p:cNvGrpSpPr/>
              <p:nvPr/>
            </p:nvGrpSpPr>
            <p:grpSpPr>
              <a:xfrm>
                <a:off x="2321689" y="1949476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67" name="直线连接符 166">
                  <a:extLst>
                    <a:ext uri="{FF2B5EF4-FFF2-40B4-BE49-F238E27FC236}">
                      <a16:creationId xmlns:a16="http://schemas.microsoft.com/office/drawing/2014/main" id="{08ED8151-9790-314D-B030-F3CE8065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线连接符 167">
                  <a:extLst>
                    <a:ext uri="{FF2B5EF4-FFF2-40B4-BE49-F238E27FC236}">
                      <a16:creationId xmlns:a16="http://schemas.microsoft.com/office/drawing/2014/main" id="{45FDA139-00E6-714C-8145-0B4B893C5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62B7B131-8231-A74D-90A0-E99C05B3D810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46FCBA6-FB75-BB46-B138-13F6781D4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252CECEF-66E8-2342-BD72-A250CD7409E3}"/>
                  </a:ext>
                </a:extLst>
              </p:cNvPr>
              <p:cNvGrpSpPr/>
              <p:nvPr/>
            </p:nvGrpSpPr>
            <p:grpSpPr>
              <a:xfrm>
                <a:off x="4782764" y="1949476"/>
                <a:ext cx="665962" cy="129691"/>
                <a:chOff x="3989498" y="1494737"/>
                <a:chExt cx="665962" cy="129691"/>
              </a:xfrm>
            </p:grpSpPr>
            <p:cxnSp>
              <p:nvCxnSpPr>
                <p:cNvPr id="165" name="直线连接符 164">
                  <a:extLst>
                    <a:ext uri="{FF2B5EF4-FFF2-40B4-BE49-F238E27FC236}">
                      <a16:creationId xmlns:a16="http://schemas.microsoft.com/office/drawing/2014/main" id="{06EC3CE9-D790-A240-919F-771D8BE8A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89498" y="149473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线连接符 165">
                  <a:extLst>
                    <a:ext uri="{FF2B5EF4-FFF2-40B4-BE49-F238E27FC236}">
                      <a16:creationId xmlns:a16="http://schemas.microsoft.com/office/drawing/2014/main" id="{1A54AD72-B69E-E84C-847F-75E29600B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9498" y="162442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线箭头连接符 162">
                <a:extLst>
                  <a:ext uri="{FF2B5EF4-FFF2-40B4-BE49-F238E27FC236}">
                    <a16:creationId xmlns:a16="http://schemas.microsoft.com/office/drawing/2014/main" id="{9D2EB334-BA63-AD44-892D-EBD42978F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377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箭头连接符 163">
                <a:extLst>
                  <a:ext uri="{FF2B5EF4-FFF2-40B4-BE49-F238E27FC236}">
                    <a16:creationId xmlns:a16="http://schemas.microsoft.com/office/drawing/2014/main" id="{232DEFE2-4C17-6647-84AD-7611DD528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40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54136B1-B764-B144-9B57-1FA1E2794A71}"/>
                    </a:ext>
                  </a:extLst>
                </p:cNvPr>
                <p:cNvSpPr txBox="1"/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1B966BA-015A-4B44-9507-35EE93BCD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5CB61484-73D9-E949-A6C0-213EFC181345}"/>
                </a:ext>
              </a:extLst>
            </p:cNvPr>
            <p:cNvGrpSpPr/>
            <p:nvPr/>
          </p:nvGrpSpPr>
          <p:grpSpPr>
            <a:xfrm>
              <a:off x="5633594" y="1874987"/>
              <a:ext cx="1402568" cy="0"/>
              <a:chOff x="4668126" y="5527791"/>
              <a:chExt cx="1402568" cy="0"/>
            </a:xfrm>
          </p:grpSpPr>
          <p:cxnSp>
            <p:nvCxnSpPr>
              <p:cNvPr id="158" name="直线箭头连接符 157">
                <a:extLst>
                  <a:ext uri="{FF2B5EF4-FFF2-40B4-BE49-F238E27FC236}">
                    <a16:creationId xmlns:a16="http://schemas.microsoft.com/office/drawing/2014/main" id="{6757EDE7-7809-E643-9D8A-B136154B5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箭头连接符 158">
                <a:extLst>
                  <a:ext uri="{FF2B5EF4-FFF2-40B4-BE49-F238E27FC236}">
                    <a16:creationId xmlns:a16="http://schemas.microsoft.com/office/drawing/2014/main" id="{670F2DAD-E718-0846-BA50-FC495D64C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/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blipFill>
                <a:blip r:embed="rId12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80DCA64D-67D8-E042-898C-A6A868127BDE}"/>
              </a:ext>
            </a:extLst>
          </p:cNvPr>
          <p:cNvGrpSpPr/>
          <p:nvPr/>
        </p:nvGrpSpPr>
        <p:grpSpPr>
          <a:xfrm>
            <a:off x="4119093" y="3332811"/>
            <a:ext cx="1008589" cy="885639"/>
            <a:chOff x="3920966" y="3112912"/>
            <a:chExt cx="1008589" cy="885639"/>
          </a:xfrm>
        </p:grpSpPr>
        <p:sp>
          <p:nvSpPr>
            <p:cNvPr id="171" name="双中括号 170">
              <a:extLst>
                <a:ext uri="{FF2B5EF4-FFF2-40B4-BE49-F238E27FC236}">
                  <a16:creationId xmlns:a16="http://schemas.microsoft.com/office/drawing/2014/main" id="{C6C3D38D-9F2D-714C-994B-9205DF4ABBB3}"/>
                </a:ext>
              </a:extLst>
            </p:cNvPr>
            <p:cNvSpPr/>
            <p:nvPr/>
          </p:nvSpPr>
          <p:spPr>
            <a:xfrm>
              <a:off x="3920966" y="3112912"/>
              <a:ext cx="1008589" cy="885639"/>
            </a:xfrm>
            <a:prstGeom prst="bracketPair">
              <a:avLst/>
            </a:prstGeom>
            <a:ln w="508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CD88F030-57E1-BB4B-96E6-DB35F0E7FCFC}"/>
                </a:ext>
              </a:extLst>
            </p:cNvPr>
            <p:cNvGrpSpPr/>
            <p:nvPr/>
          </p:nvGrpSpPr>
          <p:grpSpPr>
            <a:xfrm>
              <a:off x="4092279" y="3340022"/>
              <a:ext cx="665962" cy="431419"/>
              <a:chOff x="4102613" y="3336559"/>
              <a:chExt cx="665962" cy="431419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05D9E9B2-3ED8-B14E-A999-8FDF429D2EEF}"/>
                  </a:ext>
                </a:extLst>
              </p:cNvPr>
              <p:cNvGrpSpPr/>
              <p:nvPr/>
            </p:nvGrpSpPr>
            <p:grpSpPr>
              <a:xfrm>
                <a:off x="4102613" y="3638287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77" name="直线连接符 176">
                  <a:extLst>
                    <a:ext uri="{FF2B5EF4-FFF2-40B4-BE49-F238E27FC236}">
                      <a16:creationId xmlns:a16="http://schemas.microsoft.com/office/drawing/2014/main" id="{1F8D69FC-2C45-6F43-A8BC-1EB6F5608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线连接符 177">
                  <a:extLst>
                    <a:ext uri="{FF2B5EF4-FFF2-40B4-BE49-F238E27FC236}">
                      <a16:creationId xmlns:a16="http://schemas.microsoft.com/office/drawing/2014/main" id="{D865AF40-4D5E-8246-9CED-71F911237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91B4BFB1-4440-3242-BEE2-F15706739C35}"/>
                  </a:ext>
                </a:extLst>
              </p:cNvPr>
              <p:cNvGrpSpPr/>
              <p:nvPr/>
            </p:nvGrpSpPr>
            <p:grpSpPr>
              <a:xfrm>
                <a:off x="4102613" y="3336559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75" name="直线连接符 174">
                  <a:extLst>
                    <a:ext uri="{FF2B5EF4-FFF2-40B4-BE49-F238E27FC236}">
                      <a16:creationId xmlns:a16="http://schemas.microsoft.com/office/drawing/2014/main" id="{8B83BA8C-61A2-6B43-9C04-C7BD869C5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线连接符 175">
                  <a:extLst>
                    <a:ext uri="{FF2B5EF4-FFF2-40B4-BE49-F238E27FC236}">
                      <a16:creationId xmlns:a16="http://schemas.microsoft.com/office/drawing/2014/main" id="{3E92F5D6-05F3-324B-8B7D-31ECE2CB2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79" name="直线箭头连接符 178">
            <a:extLst>
              <a:ext uri="{FF2B5EF4-FFF2-40B4-BE49-F238E27FC236}">
                <a16:creationId xmlns:a16="http://schemas.microsoft.com/office/drawing/2014/main" id="{7F333A91-E837-0644-93BF-5E97F61B5A3F}"/>
              </a:ext>
            </a:extLst>
          </p:cNvPr>
          <p:cNvCxnSpPr>
            <a:cxnSpLocks/>
          </p:cNvCxnSpPr>
          <p:nvPr/>
        </p:nvCxnSpPr>
        <p:spPr>
          <a:xfrm flipH="1" flipV="1">
            <a:off x="3005382" y="4037816"/>
            <a:ext cx="1906" cy="69299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58D81235-5CE0-594A-B8DC-0C4A886FA522}"/>
              </a:ext>
            </a:extLst>
          </p:cNvPr>
          <p:cNvCxnSpPr>
            <a:cxnSpLocks/>
          </p:cNvCxnSpPr>
          <p:nvPr/>
        </p:nvCxnSpPr>
        <p:spPr>
          <a:xfrm>
            <a:off x="3006335" y="2701145"/>
            <a:ext cx="0" cy="715306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98A14948-86E8-E745-8428-314B5D91CCE0}"/>
              </a:ext>
            </a:extLst>
          </p:cNvPr>
          <p:cNvCxnSpPr>
            <a:cxnSpLocks/>
          </p:cNvCxnSpPr>
          <p:nvPr/>
        </p:nvCxnSpPr>
        <p:spPr>
          <a:xfrm>
            <a:off x="3289025" y="3772477"/>
            <a:ext cx="642953" cy="2084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4ACAC84-3A77-214A-9F03-E986BB2E7A76}"/>
                  </a:ext>
                </a:extLst>
              </p:cNvPr>
              <p:cNvSpPr txBox="1"/>
              <p:nvPr/>
            </p:nvSpPr>
            <p:spPr>
              <a:xfrm>
                <a:off x="5657625" y="3937981"/>
                <a:ext cx="1303867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5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5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5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5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4ACAC84-3A77-214A-9F03-E986BB2E7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625" y="3937981"/>
                <a:ext cx="1303867" cy="384721"/>
              </a:xfrm>
              <a:prstGeom prst="rect">
                <a:avLst/>
              </a:prstGeom>
              <a:blipFill>
                <a:blip r:embed="rId1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3" name="图片 182">
            <a:extLst>
              <a:ext uri="{FF2B5EF4-FFF2-40B4-BE49-F238E27FC236}">
                <a16:creationId xmlns:a16="http://schemas.microsoft.com/office/drawing/2014/main" id="{AA4B3FD1-D85F-0241-ABB0-EA4D4210E7A7}"/>
              </a:ext>
            </a:extLst>
          </p:cNvPr>
          <p:cNvPicPr>
            <a:picLocks/>
          </p:cNvPicPr>
          <p:nvPr/>
        </p:nvPicPr>
        <p:blipFill rotWithShape="1">
          <a:blip r:embed="rId14"/>
          <a:srcRect l="20486" t="45002" r="71598" b="12497"/>
          <a:stretch/>
        </p:blipFill>
        <p:spPr>
          <a:xfrm>
            <a:off x="7522235" y="3626640"/>
            <a:ext cx="1005882" cy="648000"/>
          </a:xfrm>
          <a:prstGeom prst="rect">
            <a:avLst/>
          </a:prstGeom>
        </p:spPr>
      </p:pic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071678EB-3629-C348-813C-91D40F80EC0F}"/>
              </a:ext>
            </a:extLst>
          </p:cNvPr>
          <p:cNvCxnSpPr>
            <a:cxnSpLocks/>
          </p:cNvCxnSpPr>
          <p:nvPr/>
        </p:nvCxnSpPr>
        <p:spPr>
          <a:xfrm>
            <a:off x="5363107" y="4172075"/>
            <a:ext cx="622781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2B3BCF9-EF4B-3348-91BB-E97F05901DB8}"/>
              </a:ext>
            </a:extLst>
          </p:cNvPr>
          <p:cNvCxnSpPr>
            <a:cxnSpLocks/>
          </p:cNvCxnSpPr>
          <p:nvPr/>
        </p:nvCxnSpPr>
        <p:spPr>
          <a:xfrm>
            <a:off x="6633230" y="4172075"/>
            <a:ext cx="585693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D3B6C52E-0505-2F45-A15A-3B9B3036DC2C}"/>
              </a:ext>
            </a:extLst>
          </p:cNvPr>
          <p:cNvCxnSpPr>
            <a:cxnSpLocks/>
          </p:cNvCxnSpPr>
          <p:nvPr/>
        </p:nvCxnSpPr>
        <p:spPr>
          <a:xfrm>
            <a:off x="5363107" y="3390655"/>
            <a:ext cx="622781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619A2723-E198-1D43-B0D6-56A6E8B40E45}"/>
                  </a:ext>
                </a:extLst>
              </p:cNvPr>
              <p:cNvSpPr txBox="1"/>
              <p:nvPr/>
            </p:nvSpPr>
            <p:spPr>
              <a:xfrm>
                <a:off x="5672912" y="3158895"/>
                <a:ext cx="1303867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5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5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5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5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619A2723-E198-1D43-B0D6-56A6E8B40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912" y="3158895"/>
                <a:ext cx="1303867" cy="384721"/>
              </a:xfrm>
              <a:prstGeom prst="rect">
                <a:avLst/>
              </a:prstGeom>
              <a:blipFill>
                <a:blip r:embed="rId15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8" name="图片 187">
            <a:extLst>
              <a:ext uri="{FF2B5EF4-FFF2-40B4-BE49-F238E27FC236}">
                <a16:creationId xmlns:a16="http://schemas.microsoft.com/office/drawing/2014/main" id="{529A3161-9491-9449-A8C1-B01AC6519E68}"/>
              </a:ext>
            </a:extLst>
          </p:cNvPr>
          <p:cNvPicPr>
            <a:picLocks/>
          </p:cNvPicPr>
          <p:nvPr/>
        </p:nvPicPr>
        <p:blipFill rotWithShape="1">
          <a:blip r:embed="rId16"/>
          <a:srcRect l="39784" t="44870" r="52299" b="12629"/>
          <a:stretch/>
        </p:blipFill>
        <p:spPr>
          <a:xfrm>
            <a:off x="7522235" y="2834895"/>
            <a:ext cx="1005882" cy="648000"/>
          </a:xfrm>
          <a:prstGeom prst="rect">
            <a:avLst/>
          </a:prstGeom>
        </p:spPr>
      </p:pic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DB47B32-2149-A142-AD43-4E40BA8FAC56}"/>
              </a:ext>
            </a:extLst>
          </p:cNvPr>
          <p:cNvSpPr/>
          <p:nvPr/>
        </p:nvSpPr>
        <p:spPr>
          <a:xfrm>
            <a:off x="4644246" y="462733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7805C086-2D96-054D-A747-38657F451AF3}"/>
              </a:ext>
            </a:extLst>
          </p:cNvPr>
          <p:cNvSpPr/>
          <p:nvPr/>
        </p:nvSpPr>
        <p:spPr>
          <a:xfrm>
            <a:off x="7284718" y="5060561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7A21DB92-D113-6C43-9B74-59780578F139}"/>
              </a:ext>
            </a:extLst>
          </p:cNvPr>
          <p:cNvSpPr/>
          <p:nvPr/>
        </p:nvSpPr>
        <p:spPr>
          <a:xfrm>
            <a:off x="7284718" y="4201712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Weight Sequence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08D1D8B-BFBB-724C-A270-6181A2D1D1F7}"/>
              </a:ext>
            </a:extLst>
          </p:cNvPr>
          <p:cNvSpPr/>
          <p:nvPr/>
        </p:nvSpPr>
        <p:spPr>
          <a:xfrm>
            <a:off x="7284718" y="2660807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8C5E1D4D-FF44-C14C-8E97-570703819CA2}"/>
              </a:ext>
            </a:extLst>
          </p:cNvPr>
          <p:cNvSpPr/>
          <p:nvPr/>
        </p:nvSpPr>
        <p:spPr>
          <a:xfrm>
            <a:off x="7284718" y="3410510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Weight Sequence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235EFA2-BD56-ED44-AB3A-43198037305E}"/>
              </a:ext>
            </a:extLst>
          </p:cNvPr>
          <p:cNvSpPr/>
          <p:nvPr/>
        </p:nvSpPr>
        <p:spPr>
          <a:xfrm>
            <a:off x="4644246" y="2535074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9E9F3F8-DA50-594D-BE50-39FB7D76B02E}"/>
              </a:ext>
            </a:extLst>
          </p:cNvPr>
          <p:cNvSpPr/>
          <p:nvPr/>
        </p:nvSpPr>
        <p:spPr>
          <a:xfrm>
            <a:off x="2869140" y="2991256"/>
            <a:ext cx="23951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Dependency Module</a:t>
            </a:r>
            <a:endParaRPr kumimoji="1" lang="zh-CN" alt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30F0B35C-C373-8342-BECB-6429604A8A29}"/>
              </a:ext>
            </a:extLst>
          </p:cNvPr>
          <p:cNvGrpSpPr/>
          <p:nvPr/>
        </p:nvGrpSpPr>
        <p:grpSpPr>
          <a:xfrm>
            <a:off x="9431683" y="4201221"/>
            <a:ext cx="2527912" cy="668773"/>
            <a:chOff x="9544227" y="1694096"/>
            <a:chExt cx="2527912" cy="668773"/>
          </a:xfrm>
        </p:grpSpPr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1BC637B0-2FBA-814A-88A4-47ACC58E7593}"/>
                </a:ext>
              </a:extLst>
            </p:cNvPr>
            <p:cNvSpPr/>
            <p:nvPr/>
          </p:nvSpPr>
          <p:spPr>
            <a:xfrm>
              <a:off x="9778522" y="1694096"/>
              <a:ext cx="2293617" cy="668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A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ggregat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ion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W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eight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DB29650D-92EC-814F-B69B-CD2956A50829}"/>
                    </a:ext>
                  </a:extLst>
                </p:cNvPr>
                <p:cNvSpPr txBox="1"/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7329FDFB-9E91-2942-AF75-EB0B156E6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9412" r="-23529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B812052F-754F-5C49-AA0E-E8E092201246}"/>
                    </a:ext>
                  </a:extLst>
                </p:cNvPr>
                <p:cNvSpPr txBox="1"/>
                <p:nvPr/>
              </p:nvSpPr>
              <p:spPr>
                <a:xfrm>
                  <a:off x="9544227" y="2068385"/>
                  <a:ext cx="2342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A66A6EE8-676C-D74F-A7E6-5F7E26CB8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4227" y="2068385"/>
                  <a:ext cx="234295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0526" r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50AD915-C691-5F47-97A6-3AC09798473B}"/>
              </a:ext>
            </a:extLst>
          </p:cNvPr>
          <p:cNvGrpSpPr/>
          <p:nvPr/>
        </p:nvGrpSpPr>
        <p:grpSpPr>
          <a:xfrm>
            <a:off x="9448835" y="2079408"/>
            <a:ext cx="2510760" cy="668837"/>
            <a:chOff x="9561379" y="4157163"/>
            <a:chExt cx="2510760" cy="668837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3B7F01E7-1D28-8E4D-B133-9AA89437ECA0}"/>
                </a:ext>
              </a:extLst>
            </p:cNvPr>
            <p:cNvSpPr/>
            <p:nvPr/>
          </p:nvSpPr>
          <p:spPr>
            <a:xfrm>
              <a:off x="9778522" y="4157163"/>
              <a:ext cx="2293617" cy="668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ncod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S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cor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2B5E11BA-03F2-F247-8AD3-7C0CC10EE57F}"/>
                    </a:ext>
                  </a:extLst>
                </p:cNvPr>
                <p:cNvSpPr txBox="1"/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40F5F83-607A-D84A-B487-815E982A4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29412" r="-23529"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670FC185-6DDF-D746-BFFB-93787C1FE672}"/>
                    </a:ext>
                  </a:extLst>
                </p:cNvPr>
                <p:cNvSpPr txBox="1"/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8EF45E5B-62EE-4345-864C-AD8223903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8750" r="-18750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1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/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blipFill>
                <a:blip r:embed="rId23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/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blipFill>
                <a:blip r:embed="rId2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A7449B00-52DF-424C-862C-72D03FE253CD}"/>
                  </a:ext>
                </a:extLst>
              </p:cNvPr>
              <p:cNvSpPr txBox="1"/>
              <p:nvPr/>
            </p:nvSpPr>
            <p:spPr>
              <a:xfrm>
                <a:off x="8000339" y="397678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A7449B00-52DF-424C-862C-72D03FE25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3976788"/>
                <a:ext cx="1303867" cy="184666"/>
              </a:xfrm>
              <a:prstGeom prst="rect">
                <a:avLst/>
              </a:prstGeom>
              <a:blipFill>
                <a:blip r:embed="rId2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/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blipFill>
                <a:blip r:embed="rId26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/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CF72B87-70EC-7142-A7C1-2ABB8943C1BC}"/>
                  </a:ext>
                </a:extLst>
              </p:cNvPr>
              <p:cNvSpPr txBox="1"/>
              <p:nvPr/>
            </p:nvSpPr>
            <p:spPr>
              <a:xfrm>
                <a:off x="8000339" y="31965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CF72B87-70EC-7142-A7C1-2ABB8943C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3196518"/>
                <a:ext cx="1303867" cy="184666"/>
              </a:xfrm>
              <a:prstGeom prst="rect">
                <a:avLst/>
              </a:prstGeom>
              <a:blipFill>
                <a:blip r:embed="rId2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线连接符 95">
            <a:extLst>
              <a:ext uri="{FF2B5EF4-FFF2-40B4-BE49-F238E27FC236}">
                <a16:creationId xmlns:a16="http://schemas.microsoft.com/office/drawing/2014/main" id="{7EE4B4AB-4251-5C4F-8834-FF9D9E1F534B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A071B53-63BF-7C43-9B1B-C357C2FED8DC}"/>
              </a:ext>
            </a:extLst>
          </p:cNvPr>
          <p:cNvSpPr/>
          <p:nvPr/>
        </p:nvSpPr>
        <p:spPr>
          <a:xfrm>
            <a:off x="297291" y="5840083"/>
            <a:ext cx="45638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the relationships among aspects</a:t>
            </a:r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D5AC70CB-ADF4-D24A-8313-A5E8E7DD6640}"/>
              </a:ext>
            </a:extLst>
          </p:cNvPr>
          <p:cNvCxnSpPr>
            <a:cxnSpLocks/>
          </p:cNvCxnSpPr>
          <p:nvPr/>
        </p:nvCxnSpPr>
        <p:spPr>
          <a:xfrm flipH="1">
            <a:off x="3760360" y="4207207"/>
            <a:ext cx="1" cy="1548729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>
            <a:extLst>
              <a:ext uri="{FF2B5EF4-FFF2-40B4-BE49-F238E27FC236}">
                <a16:creationId xmlns:a16="http://schemas.microsoft.com/office/drawing/2014/main" id="{042EB5F9-752B-C94E-8CD6-6D0CDD820BD1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BC2F2DA6-359C-8B41-BF7E-31F099B5C4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05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343"/>
    </mc:Choice>
    <mc:Fallback>
      <p:transition spd="slow" advTm="11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4188BC90-27A1-A74C-AFD1-798D2E2CF0F1}"/>
              </a:ext>
            </a:extLst>
          </p:cNvPr>
          <p:cNvSpPr/>
          <p:nvPr/>
        </p:nvSpPr>
        <p:spPr>
          <a:xfrm>
            <a:off x="2594499" y="2965988"/>
            <a:ext cx="4247376" cy="1531386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ysClr val="windowText" lastClr="000000"/>
              </a:solidFill>
            </a:endParaRPr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8696631D-E454-DE49-ACB8-2169A7D7D87E}"/>
              </a:ext>
            </a:extLst>
          </p:cNvPr>
          <p:cNvCxnSpPr>
            <a:cxnSpLocks/>
          </p:cNvCxnSpPr>
          <p:nvPr/>
        </p:nvCxnSpPr>
        <p:spPr>
          <a:xfrm>
            <a:off x="6633230" y="3390655"/>
            <a:ext cx="585693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F064BAE-242C-374E-AB2B-7CF189AD6B25}"/>
                  </a:ext>
                </a:extLst>
              </p:cNvPr>
              <p:cNvSpPr txBox="1"/>
              <p:nvPr/>
            </p:nvSpPr>
            <p:spPr>
              <a:xfrm>
                <a:off x="9017546" y="3420460"/>
                <a:ext cx="13038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en-US" altLang="zh-CN" sz="2800" b="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F064BAE-242C-374E-AB2B-7CF189AD6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546" y="3420460"/>
                <a:ext cx="1303867" cy="430887"/>
              </a:xfrm>
              <a:prstGeom prst="rect">
                <a:avLst/>
              </a:prstGeom>
              <a:blipFill>
                <a:blip r:embed="rId5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62D50597-8CBA-6B4D-AE0A-ADD68C0B650E}"/>
              </a:ext>
            </a:extLst>
          </p:cNvPr>
          <p:cNvPicPr>
            <a:picLocks/>
          </p:cNvPicPr>
          <p:nvPr/>
        </p:nvPicPr>
        <p:blipFill rotWithShape="1">
          <a:blip r:embed="rId7"/>
          <a:srcRect l="40820" t="13918" r="51264" b="43582"/>
          <a:stretch/>
        </p:blipFill>
        <p:spPr>
          <a:xfrm>
            <a:off x="7522235" y="4577423"/>
            <a:ext cx="1005882" cy="648000"/>
          </a:xfrm>
          <a:prstGeom prst="rect">
            <a:avLst/>
          </a:prstGeom>
        </p:spPr>
      </p:pic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8327189-9D47-BA46-8595-7FD3D22A3C53}"/>
              </a:ext>
            </a:extLst>
          </p:cNvPr>
          <p:cNvGrpSpPr/>
          <p:nvPr/>
        </p:nvGrpSpPr>
        <p:grpSpPr>
          <a:xfrm>
            <a:off x="2655721" y="4826045"/>
            <a:ext cx="4716333" cy="369332"/>
            <a:chOff x="2321689" y="4400563"/>
            <a:chExt cx="4716333" cy="369332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73C98F7-C273-6D4E-BC3B-7DABF7093214}"/>
                </a:ext>
              </a:extLst>
            </p:cNvPr>
            <p:cNvGrpSpPr/>
            <p:nvPr/>
          </p:nvGrpSpPr>
          <p:grpSpPr>
            <a:xfrm>
              <a:off x="2321689" y="4400563"/>
              <a:ext cx="3127037" cy="369332"/>
              <a:chOff x="2321689" y="4504925"/>
              <a:chExt cx="3127037" cy="369332"/>
            </a:xfrm>
          </p:grpSpPr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09C7F817-BCEE-6B4A-932E-7E366B580BD6}"/>
                  </a:ext>
                </a:extLst>
              </p:cNvPr>
              <p:cNvGrpSpPr/>
              <p:nvPr/>
            </p:nvGrpSpPr>
            <p:grpSpPr>
              <a:xfrm>
                <a:off x="2321689" y="4624746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51" name="直线连接符 150">
                  <a:extLst>
                    <a:ext uri="{FF2B5EF4-FFF2-40B4-BE49-F238E27FC236}">
                      <a16:creationId xmlns:a16="http://schemas.microsoft.com/office/drawing/2014/main" id="{7B3D6EBA-6D86-1D48-BE28-F294461B93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线连接符 151">
                  <a:extLst>
                    <a:ext uri="{FF2B5EF4-FFF2-40B4-BE49-F238E27FC236}">
                      <a16:creationId xmlns:a16="http://schemas.microsoft.com/office/drawing/2014/main" id="{5F91F447-B8D3-C742-946F-439FC8114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233A5C76-BC10-294F-B3CA-6D254077F295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18D2164-6B7A-C444-9CDE-06EF0A77B3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9AD1B1A3-7CA1-2D4A-AF22-3C1B58D2BB37}"/>
                  </a:ext>
                </a:extLst>
              </p:cNvPr>
              <p:cNvGrpSpPr/>
              <p:nvPr/>
            </p:nvGrpSpPr>
            <p:grpSpPr>
              <a:xfrm>
                <a:off x="4782764" y="4624746"/>
                <a:ext cx="665962" cy="129691"/>
                <a:chOff x="4647414" y="5249487"/>
                <a:chExt cx="665962" cy="129691"/>
              </a:xfrm>
            </p:grpSpPr>
            <p:cxnSp>
              <p:nvCxnSpPr>
                <p:cNvPr id="149" name="直线连接符 148">
                  <a:extLst>
                    <a:ext uri="{FF2B5EF4-FFF2-40B4-BE49-F238E27FC236}">
                      <a16:creationId xmlns:a16="http://schemas.microsoft.com/office/drawing/2014/main" id="{0BB17818-DDFB-604C-AA88-BB0E66494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7414" y="524948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线连接符 149">
                  <a:extLst>
                    <a:ext uri="{FF2B5EF4-FFF2-40B4-BE49-F238E27FC236}">
                      <a16:creationId xmlns:a16="http://schemas.microsoft.com/office/drawing/2014/main" id="{A79F8FAC-DC67-8F43-B3C7-746029BD6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47414" y="537917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直线箭头连接符 146">
                <a:extLst>
                  <a:ext uri="{FF2B5EF4-FFF2-40B4-BE49-F238E27FC236}">
                    <a16:creationId xmlns:a16="http://schemas.microsoft.com/office/drawing/2014/main" id="{CEEF30CB-27C6-4D42-86D7-43BE770A0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668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箭头连接符 147">
                <a:extLst>
                  <a:ext uri="{FF2B5EF4-FFF2-40B4-BE49-F238E27FC236}">
                    <a16:creationId xmlns:a16="http://schemas.microsoft.com/office/drawing/2014/main" id="{A658452C-EAB8-C34B-AE90-00A3BEB2B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2131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FADEF2-7A8D-6C49-A29D-EBBD5E3014C8}"/>
                    </a:ext>
                  </a:extLst>
                </p:cNvPr>
                <p:cNvSpPr txBox="1"/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5D43E0-DD35-3248-9AC5-E6D615785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F6C3BF0-5FB0-B546-9816-2EC967F6B943}"/>
                </a:ext>
              </a:extLst>
            </p:cNvPr>
            <p:cNvGrpSpPr/>
            <p:nvPr/>
          </p:nvGrpSpPr>
          <p:grpSpPr>
            <a:xfrm>
              <a:off x="5635454" y="4583077"/>
              <a:ext cx="1402568" cy="0"/>
              <a:chOff x="4668126" y="5527791"/>
              <a:chExt cx="1402568" cy="0"/>
            </a:xfrm>
          </p:grpSpPr>
          <p:cxnSp>
            <p:nvCxnSpPr>
              <p:cNvPr id="142" name="直线箭头连接符 141">
                <a:extLst>
                  <a:ext uri="{FF2B5EF4-FFF2-40B4-BE49-F238E27FC236}">
                    <a16:creationId xmlns:a16="http://schemas.microsoft.com/office/drawing/2014/main" id="{59F290BD-4ED0-6143-831D-AEADAC995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线箭头连接符 142">
                <a:extLst>
                  <a:ext uri="{FF2B5EF4-FFF2-40B4-BE49-F238E27FC236}">
                    <a16:creationId xmlns:a16="http://schemas.microsoft.com/office/drawing/2014/main" id="{ED990F67-1E9D-9446-BADC-7757771A0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178CA47D-2197-994C-A16C-D73C047DB5FD}"/>
              </a:ext>
            </a:extLst>
          </p:cNvPr>
          <p:cNvPicPr>
            <a:picLocks/>
          </p:cNvPicPr>
          <p:nvPr/>
        </p:nvPicPr>
        <p:blipFill rotWithShape="1">
          <a:blip r:embed="rId10"/>
          <a:srcRect l="24427" t="34814" r="67656" b="22685"/>
          <a:stretch/>
        </p:blipFill>
        <p:spPr>
          <a:xfrm>
            <a:off x="7522235" y="2078458"/>
            <a:ext cx="1005882" cy="648000"/>
          </a:xfrm>
          <a:prstGeom prst="rect">
            <a:avLst/>
          </a:prstGeom>
        </p:spPr>
      </p:pic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7FEACC6-2FAA-6246-9FDF-2E45FF5E4D20}"/>
              </a:ext>
            </a:extLst>
          </p:cNvPr>
          <p:cNvGrpSpPr/>
          <p:nvPr/>
        </p:nvGrpSpPr>
        <p:grpSpPr>
          <a:xfrm>
            <a:off x="2655721" y="2236574"/>
            <a:ext cx="4714473" cy="369332"/>
            <a:chOff x="2321689" y="1690321"/>
            <a:chExt cx="4714473" cy="369332"/>
          </a:xfrm>
        </p:grpSpPr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120087C1-331B-C442-A705-C628F8994BEC}"/>
                </a:ext>
              </a:extLst>
            </p:cNvPr>
            <p:cNvGrpSpPr/>
            <p:nvPr/>
          </p:nvGrpSpPr>
          <p:grpSpPr>
            <a:xfrm>
              <a:off x="2321689" y="1690321"/>
              <a:ext cx="3127037" cy="369332"/>
              <a:chOff x="2321689" y="1829655"/>
              <a:chExt cx="3127037" cy="369332"/>
            </a:xfrm>
          </p:grpSpPr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23D36C80-61CD-1442-92CA-59504412B6D1}"/>
                  </a:ext>
                </a:extLst>
              </p:cNvPr>
              <p:cNvGrpSpPr/>
              <p:nvPr/>
            </p:nvGrpSpPr>
            <p:grpSpPr>
              <a:xfrm>
                <a:off x="2321689" y="1949476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67" name="直线连接符 166">
                  <a:extLst>
                    <a:ext uri="{FF2B5EF4-FFF2-40B4-BE49-F238E27FC236}">
                      <a16:creationId xmlns:a16="http://schemas.microsoft.com/office/drawing/2014/main" id="{08ED8151-9790-314D-B030-F3CE8065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线连接符 167">
                  <a:extLst>
                    <a:ext uri="{FF2B5EF4-FFF2-40B4-BE49-F238E27FC236}">
                      <a16:creationId xmlns:a16="http://schemas.microsoft.com/office/drawing/2014/main" id="{45FDA139-00E6-714C-8145-0B4B893C5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62B7B131-8231-A74D-90A0-E99C05B3D810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46FCBA6-FB75-BB46-B138-13F6781D4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252CECEF-66E8-2342-BD72-A250CD7409E3}"/>
                  </a:ext>
                </a:extLst>
              </p:cNvPr>
              <p:cNvGrpSpPr/>
              <p:nvPr/>
            </p:nvGrpSpPr>
            <p:grpSpPr>
              <a:xfrm>
                <a:off x="4782764" y="1949476"/>
                <a:ext cx="665962" cy="129691"/>
                <a:chOff x="3989498" y="1494737"/>
                <a:chExt cx="665962" cy="129691"/>
              </a:xfrm>
            </p:grpSpPr>
            <p:cxnSp>
              <p:nvCxnSpPr>
                <p:cNvPr id="165" name="直线连接符 164">
                  <a:extLst>
                    <a:ext uri="{FF2B5EF4-FFF2-40B4-BE49-F238E27FC236}">
                      <a16:creationId xmlns:a16="http://schemas.microsoft.com/office/drawing/2014/main" id="{06EC3CE9-D790-A240-919F-771D8BE8A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89498" y="149473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线连接符 165">
                  <a:extLst>
                    <a:ext uri="{FF2B5EF4-FFF2-40B4-BE49-F238E27FC236}">
                      <a16:creationId xmlns:a16="http://schemas.microsoft.com/office/drawing/2014/main" id="{1A54AD72-B69E-E84C-847F-75E29600B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9498" y="162442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线箭头连接符 162">
                <a:extLst>
                  <a:ext uri="{FF2B5EF4-FFF2-40B4-BE49-F238E27FC236}">
                    <a16:creationId xmlns:a16="http://schemas.microsoft.com/office/drawing/2014/main" id="{9D2EB334-BA63-AD44-892D-EBD42978F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377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箭头连接符 163">
                <a:extLst>
                  <a:ext uri="{FF2B5EF4-FFF2-40B4-BE49-F238E27FC236}">
                    <a16:creationId xmlns:a16="http://schemas.microsoft.com/office/drawing/2014/main" id="{232DEFE2-4C17-6647-84AD-7611DD528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40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54136B1-B764-B144-9B57-1FA1E2794A71}"/>
                    </a:ext>
                  </a:extLst>
                </p:cNvPr>
                <p:cNvSpPr txBox="1"/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1B966BA-015A-4B44-9507-35EE93BCD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5CB61484-73D9-E949-A6C0-213EFC181345}"/>
                </a:ext>
              </a:extLst>
            </p:cNvPr>
            <p:cNvGrpSpPr/>
            <p:nvPr/>
          </p:nvGrpSpPr>
          <p:grpSpPr>
            <a:xfrm>
              <a:off x="5633594" y="1874987"/>
              <a:ext cx="1402568" cy="0"/>
              <a:chOff x="4668126" y="5527791"/>
              <a:chExt cx="1402568" cy="0"/>
            </a:xfrm>
          </p:grpSpPr>
          <p:cxnSp>
            <p:nvCxnSpPr>
              <p:cNvPr id="158" name="直线箭头连接符 157">
                <a:extLst>
                  <a:ext uri="{FF2B5EF4-FFF2-40B4-BE49-F238E27FC236}">
                    <a16:creationId xmlns:a16="http://schemas.microsoft.com/office/drawing/2014/main" id="{6757EDE7-7809-E643-9D8A-B136154B5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箭头连接符 158">
                <a:extLst>
                  <a:ext uri="{FF2B5EF4-FFF2-40B4-BE49-F238E27FC236}">
                    <a16:creationId xmlns:a16="http://schemas.microsoft.com/office/drawing/2014/main" id="{670F2DAD-E718-0846-BA50-FC495D64C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/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blipFill>
                <a:blip r:embed="rId13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80DCA64D-67D8-E042-898C-A6A868127BDE}"/>
              </a:ext>
            </a:extLst>
          </p:cNvPr>
          <p:cNvGrpSpPr/>
          <p:nvPr/>
        </p:nvGrpSpPr>
        <p:grpSpPr>
          <a:xfrm>
            <a:off x="4119093" y="3332811"/>
            <a:ext cx="1008589" cy="885639"/>
            <a:chOff x="3920966" y="3112912"/>
            <a:chExt cx="1008589" cy="885639"/>
          </a:xfrm>
        </p:grpSpPr>
        <p:sp>
          <p:nvSpPr>
            <p:cNvPr id="171" name="双中括号 170">
              <a:extLst>
                <a:ext uri="{FF2B5EF4-FFF2-40B4-BE49-F238E27FC236}">
                  <a16:creationId xmlns:a16="http://schemas.microsoft.com/office/drawing/2014/main" id="{C6C3D38D-9F2D-714C-994B-9205DF4ABBB3}"/>
                </a:ext>
              </a:extLst>
            </p:cNvPr>
            <p:cNvSpPr/>
            <p:nvPr/>
          </p:nvSpPr>
          <p:spPr>
            <a:xfrm>
              <a:off x="3920966" y="3112912"/>
              <a:ext cx="1008589" cy="885639"/>
            </a:xfrm>
            <a:prstGeom prst="bracketPair">
              <a:avLst/>
            </a:prstGeom>
            <a:ln w="508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CD88F030-57E1-BB4B-96E6-DB35F0E7FCFC}"/>
                </a:ext>
              </a:extLst>
            </p:cNvPr>
            <p:cNvGrpSpPr/>
            <p:nvPr/>
          </p:nvGrpSpPr>
          <p:grpSpPr>
            <a:xfrm>
              <a:off x="4092279" y="3340022"/>
              <a:ext cx="665962" cy="431419"/>
              <a:chOff x="4102613" y="3336559"/>
              <a:chExt cx="665962" cy="431419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05D9E9B2-3ED8-B14E-A999-8FDF429D2EEF}"/>
                  </a:ext>
                </a:extLst>
              </p:cNvPr>
              <p:cNvGrpSpPr/>
              <p:nvPr/>
            </p:nvGrpSpPr>
            <p:grpSpPr>
              <a:xfrm>
                <a:off x="4102613" y="3638287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77" name="直线连接符 176">
                  <a:extLst>
                    <a:ext uri="{FF2B5EF4-FFF2-40B4-BE49-F238E27FC236}">
                      <a16:creationId xmlns:a16="http://schemas.microsoft.com/office/drawing/2014/main" id="{1F8D69FC-2C45-6F43-A8BC-1EB6F5608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线连接符 177">
                  <a:extLst>
                    <a:ext uri="{FF2B5EF4-FFF2-40B4-BE49-F238E27FC236}">
                      <a16:creationId xmlns:a16="http://schemas.microsoft.com/office/drawing/2014/main" id="{D865AF40-4D5E-8246-9CED-71F911237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91B4BFB1-4440-3242-BEE2-F15706739C35}"/>
                  </a:ext>
                </a:extLst>
              </p:cNvPr>
              <p:cNvGrpSpPr/>
              <p:nvPr/>
            </p:nvGrpSpPr>
            <p:grpSpPr>
              <a:xfrm>
                <a:off x="4102613" y="3336559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75" name="直线连接符 174">
                  <a:extLst>
                    <a:ext uri="{FF2B5EF4-FFF2-40B4-BE49-F238E27FC236}">
                      <a16:creationId xmlns:a16="http://schemas.microsoft.com/office/drawing/2014/main" id="{8B83BA8C-61A2-6B43-9C04-C7BD869C5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线连接符 175">
                  <a:extLst>
                    <a:ext uri="{FF2B5EF4-FFF2-40B4-BE49-F238E27FC236}">
                      <a16:creationId xmlns:a16="http://schemas.microsoft.com/office/drawing/2014/main" id="{3E92F5D6-05F3-324B-8B7D-31ECE2CB2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79" name="直线箭头连接符 178">
            <a:extLst>
              <a:ext uri="{FF2B5EF4-FFF2-40B4-BE49-F238E27FC236}">
                <a16:creationId xmlns:a16="http://schemas.microsoft.com/office/drawing/2014/main" id="{7F333A91-E837-0644-93BF-5E97F61B5A3F}"/>
              </a:ext>
            </a:extLst>
          </p:cNvPr>
          <p:cNvCxnSpPr>
            <a:cxnSpLocks/>
          </p:cNvCxnSpPr>
          <p:nvPr/>
        </p:nvCxnSpPr>
        <p:spPr>
          <a:xfrm flipH="1" flipV="1">
            <a:off x="3005382" y="4037816"/>
            <a:ext cx="1906" cy="69299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58D81235-5CE0-594A-B8DC-0C4A886FA522}"/>
              </a:ext>
            </a:extLst>
          </p:cNvPr>
          <p:cNvCxnSpPr>
            <a:cxnSpLocks/>
          </p:cNvCxnSpPr>
          <p:nvPr/>
        </p:nvCxnSpPr>
        <p:spPr>
          <a:xfrm>
            <a:off x="3006335" y="2701145"/>
            <a:ext cx="0" cy="715306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98A14948-86E8-E745-8428-314B5D91CCE0}"/>
              </a:ext>
            </a:extLst>
          </p:cNvPr>
          <p:cNvCxnSpPr>
            <a:cxnSpLocks/>
          </p:cNvCxnSpPr>
          <p:nvPr/>
        </p:nvCxnSpPr>
        <p:spPr>
          <a:xfrm>
            <a:off x="3289025" y="3772477"/>
            <a:ext cx="642953" cy="2084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4ACAC84-3A77-214A-9F03-E986BB2E7A76}"/>
                  </a:ext>
                </a:extLst>
              </p:cNvPr>
              <p:cNvSpPr txBox="1"/>
              <p:nvPr/>
            </p:nvSpPr>
            <p:spPr>
              <a:xfrm>
                <a:off x="5657625" y="3937981"/>
                <a:ext cx="1303867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5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5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5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5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4ACAC84-3A77-214A-9F03-E986BB2E7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625" y="3937981"/>
                <a:ext cx="1303867" cy="384721"/>
              </a:xfrm>
              <a:prstGeom prst="rect">
                <a:avLst/>
              </a:prstGeom>
              <a:blipFill>
                <a:blip r:embed="rId1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3" name="图片 182">
            <a:extLst>
              <a:ext uri="{FF2B5EF4-FFF2-40B4-BE49-F238E27FC236}">
                <a16:creationId xmlns:a16="http://schemas.microsoft.com/office/drawing/2014/main" id="{AA4B3FD1-D85F-0241-ABB0-EA4D4210E7A7}"/>
              </a:ext>
            </a:extLst>
          </p:cNvPr>
          <p:cNvPicPr>
            <a:picLocks/>
          </p:cNvPicPr>
          <p:nvPr/>
        </p:nvPicPr>
        <p:blipFill rotWithShape="1">
          <a:blip r:embed="rId15"/>
          <a:srcRect l="20486" t="45002" r="71598" b="12497"/>
          <a:stretch/>
        </p:blipFill>
        <p:spPr>
          <a:xfrm>
            <a:off x="7522235" y="3626640"/>
            <a:ext cx="1005882" cy="648000"/>
          </a:xfrm>
          <a:prstGeom prst="rect">
            <a:avLst/>
          </a:prstGeom>
        </p:spPr>
      </p:pic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071678EB-3629-C348-813C-91D40F80EC0F}"/>
              </a:ext>
            </a:extLst>
          </p:cNvPr>
          <p:cNvCxnSpPr>
            <a:cxnSpLocks/>
          </p:cNvCxnSpPr>
          <p:nvPr/>
        </p:nvCxnSpPr>
        <p:spPr>
          <a:xfrm>
            <a:off x="5363107" y="4172075"/>
            <a:ext cx="622781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2B3BCF9-EF4B-3348-91BB-E97F05901DB8}"/>
              </a:ext>
            </a:extLst>
          </p:cNvPr>
          <p:cNvCxnSpPr>
            <a:cxnSpLocks/>
          </p:cNvCxnSpPr>
          <p:nvPr/>
        </p:nvCxnSpPr>
        <p:spPr>
          <a:xfrm>
            <a:off x="6633230" y="4172075"/>
            <a:ext cx="585693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D3B6C52E-0505-2F45-A15A-3B9B3036DC2C}"/>
              </a:ext>
            </a:extLst>
          </p:cNvPr>
          <p:cNvCxnSpPr>
            <a:cxnSpLocks/>
          </p:cNvCxnSpPr>
          <p:nvPr/>
        </p:nvCxnSpPr>
        <p:spPr>
          <a:xfrm>
            <a:off x="5363107" y="3390655"/>
            <a:ext cx="622781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619A2723-E198-1D43-B0D6-56A6E8B40E45}"/>
                  </a:ext>
                </a:extLst>
              </p:cNvPr>
              <p:cNvSpPr txBox="1"/>
              <p:nvPr/>
            </p:nvSpPr>
            <p:spPr>
              <a:xfrm>
                <a:off x="5672912" y="3158895"/>
                <a:ext cx="1303867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5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5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5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5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619A2723-E198-1D43-B0D6-56A6E8B40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912" y="3158895"/>
                <a:ext cx="1303867" cy="384721"/>
              </a:xfrm>
              <a:prstGeom prst="rect">
                <a:avLst/>
              </a:prstGeom>
              <a:blipFill>
                <a:blip r:embed="rId16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8" name="图片 187">
            <a:extLst>
              <a:ext uri="{FF2B5EF4-FFF2-40B4-BE49-F238E27FC236}">
                <a16:creationId xmlns:a16="http://schemas.microsoft.com/office/drawing/2014/main" id="{529A3161-9491-9449-A8C1-B01AC6519E68}"/>
              </a:ext>
            </a:extLst>
          </p:cNvPr>
          <p:cNvPicPr>
            <a:picLocks/>
          </p:cNvPicPr>
          <p:nvPr/>
        </p:nvPicPr>
        <p:blipFill rotWithShape="1">
          <a:blip r:embed="rId17"/>
          <a:srcRect l="39784" t="44870" r="52299" b="12629"/>
          <a:stretch/>
        </p:blipFill>
        <p:spPr>
          <a:xfrm>
            <a:off x="7522235" y="2834895"/>
            <a:ext cx="1005882" cy="648000"/>
          </a:xfrm>
          <a:prstGeom prst="rect">
            <a:avLst/>
          </a:prstGeom>
        </p:spPr>
      </p:pic>
      <p:sp>
        <p:nvSpPr>
          <p:cNvPr id="189" name="矩形 188">
            <a:extLst>
              <a:ext uri="{FF2B5EF4-FFF2-40B4-BE49-F238E27FC236}">
                <a16:creationId xmlns:a16="http://schemas.microsoft.com/office/drawing/2014/main" id="{90338622-74D5-1F4F-A19E-BAA12ED7D681}"/>
              </a:ext>
            </a:extLst>
          </p:cNvPr>
          <p:cNvSpPr/>
          <p:nvPr/>
        </p:nvSpPr>
        <p:spPr>
          <a:xfrm>
            <a:off x="9047954" y="3191007"/>
            <a:ext cx="12812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Skill Score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90" name="左大括号 189">
            <a:extLst>
              <a:ext uri="{FF2B5EF4-FFF2-40B4-BE49-F238E27FC236}">
                <a16:creationId xmlns:a16="http://schemas.microsoft.com/office/drawing/2014/main" id="{F951B424-6774-A949-BCDF-BC5653454857}"/>
              </a:ext>
            </a:extLst>
          </p:cNvPr>
          <p:cNvSpPr/>
          <p:nvPr/>
        </p:nvSpPr>
        <p:spPr>
          <a:xfrm flipH="1">
            <a:off x="8714174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圆角矩形 207">
            <a:extLst>
              <a:ext uri="{FF2B5EF4-FFF2-40B4-BE49-F238E27FC236}">
                <a16:creationId xmlns:a16="http://schemas.microsoft.com/office/drawing/2014/main" id="{71FF4C4E-D938-194D-A6F0-B804276BC9FF}"/>
              </a:ext>
            </a:extLst>
          </p:cNvPr>
          <p:cNvSpPr/>
          <p:nvPr/>
        </p:nvSpPr>
        <p:spPr>
          <a:xfrm>
            <a:off x="10543012" y="3461168"/>
            <a:ext cx="1251988" cy="430887"/>
          </a:xfrm>
          <a:prstGeom prst="roundRect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MSE Loss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urier" pitchFamily="2" charset="0"/>
              <a:cs typeface="DejaVu Sans Book" panose="020B0603030804020204" pitchFamily="34" charset="0"/>
            </a:endParaRPr>
          </a:p>
        </p:txBody>
      </p:sp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27A766A8-701A-704F-90B7-F0D52FDEEFB5}"/>
              </a:ext>
            </a:extLst>
          </p:cNvPr>
          <p:cNvCxnSpPr>
            <a:cxnSpLocks/>
          </p:cNvCxnSpPr>
          <p:nvPr/>
        </p:nvCxnSpPr>
        <p:spPr>
          <a:xfrm>
            <a:off x="9917059" y="3685575"/>
            <a:ext cx="451858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DB47B32-2149-A142-AD43-4E40BA8FAC56}"/>
              </a:ext>
            </a:extLst>
          </p:cNvPr>
          <p:cNvSpPr/>
          <p:nvPr/>
        </p:nvSpPr>
        <p:spPr>
          <a:xfrm>
            <a:off x="4644246" y="462733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7805C086-2D96-054D-A747-38657F451AF3}"/>
              </a:ext>
            </a:extLst>
          </p:cNvPr>
          <p:cNvSpPr/>
          <p:nvPr/>
        </p:nvSpPr>
        <p:spPr>
          <a:xfrm>
            <a:off x="7284718" y="5060561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7A21DB92-D113-6C43-9B74-59780578F139}"/>
              </a:ext>
            </a:extLst>
          </p:cNvPr>
          <p:cNvSpPr/>
          <p:nvPr/>
        </p:nvSpPr>
        <p:spPr>
          <a:xfrm>
            <a:off x="7284718" y="4201712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Weight Sequence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08D1D8B-BFBB-724C-A270-6181A2D1D1F7}"/>
              </a:ext>
            </a:extLst>
          </p:cNvPr>
          <p:cNvSpPr/>
          <p:nvPr/>
        </p:nvSpPr>
        <p:spPr>
          <a:xfrm>
            <a:off x="7284718" y="2660807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8C5E1D4D-FF44-C14C-8E97-570703819CA2}"/>
              </a:ext>
            </a:extLst>
          </p:cNvPr>
          <p:cNvSpPr/>
          <p:nvPr/>
        </p:nvSpPr>
        <p:spPr>
          <a:xfrm>
            <a:off x="7284718" y="3410510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Weight Sequence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235EFA2-BD56-ED44-AB3A-43198037305E}"/>
              </a:ext>
            </a:extLst>
          </p:cNvPr>
          <p:cNvSpPr/>
          <p:nvPr/>
        </p:nvSpPr>
        <p:spPr>
          <a:xfrm>
            <a:off x="4644246" y="2535074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9E9F3F8-DA50-594D-BE50-39FB7D76B02E}"/>
              </a:ext>
            </a:extLst>
          </p:cNvPr>
          <p:cNvSpPr/>
          <p:nvPr/>
        </p:nvSpPr>
        <p:spPr>
          <a:xfrm>
            <a:off x="2869140" y="2991256"/>
            <a:ext cx="23951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Dependency Module</a:t>
            </a:r>
            <a:endParaRPr kumimoji="1" lang="zh-CN" alt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30F0B35C-C373-8342-BECB-6429604A8A29}"/>
              </a:ext>
            </a:extLst>
          </p:cNvPr>
          <p:cNvGrpSpPr/>
          <p:nvPr/>
        </p:nvGrpSpPr>
        <p:grpSpPr>
          <a:xfrm>
            <a:off x="9431683" y="4201221"/>
            <a:ext cx="2527912" cy="668773"/>
            <a:chOff x="9544227" y="1694096"/>
            <a:chExt cx="2527912" cy="668773"/>
          </a:xfrm>
        </p:grpSpPr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1BC637B0-2FBA-814A-88A4-47ACC58E7593}"/>
                </a:ext>
              </a:extLst>
            </p:cNvPr>
            <p:cNvSpPr/>
            <p:nvPr/>
          </p:nvSpPr>
          <p:spPr>
            <a:xfrm>
              <a:off x="9778522" y="1694096"/>
              <a:ext cx="2293617" cy="668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A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ggregat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ion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W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eight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DB29650D-92EC-814F-B69B-CD2956A50829}"/>
                    </a:ext>
                  </a:extLst>
                </p:cNvPr>
                <p:cNvSpPr txBox="1"/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7329FDFB-9E91-2942-AF75-EB0B156E6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9412" r="-23529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B812052F-754F-5C49-AA0E-E8E092201246}"/>
                    </a:ext>
                  </a:extLst>
                </p:cNvPr>
                <p:cNvSpPr txBox="1"/>
                <p:nvPr/>
              </p:nvSpPr>
              <p:spPr>
                <a:xfrm>
                  <a:off x="9544227" y="2068385"/>
                  <a:ext cx="2342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A66A6EE8-676C-D74F-A7E6-5F7E26CB8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4227" y="2068385"/>
                  <a:ext cx="234295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10526" r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50AD915-C691-5F47-97A6-3AC09798473B}"/>
              </a:ext>
            </a:extLst>
          </p:cNvPr>
          <p:cNvGrpSpPr/>
          <p:nvPr/>
        </p:nvGrpSpPr>
        <p:grpSpPr>
          <a:xfrm>
            <a:off x="9448835" y="2079408"/>
            <a:ext cx="2510760" cy="668837"/>
            <a:chOff x="9561379" y="4157163"/>
            <a:chExt cx="2510760" cy="668837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3B7F01E7-1D28-8E4D-B133-9AA89437ECA0}"/>
                </a:ext>
              </a:extLst>
            </p:cNvPr>
            <p:cNvSpPr/>
            <p:nvPr/>
          </p:nvSpPr>
          <p:spPr>
            <a:xfrm>
              <a:off x="9778522" y="4157163"/>
              <a:ext cx="2293617" cy="668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ncod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S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cor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2B5E11BA-03F2-F247-8AD3-7C0CC10EE57F}"/>
                    </a:ext>
                  </a:extLst>
                </p:cNvPr>
                <p:cNvSpPr txBox="1"/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40F5F83-607A-D84A-B487-815E982A4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29412" r="-23529"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670FC185-6DDF-D746-BFFB-93787C1FE672}"/>
                    </a:ext>
                  </a:extLst>
                </p:cNvPr>
                <p:cNvSpPr txBox="1"/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8EF45E5B-62EE-4345-864C-AD8223903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8750" r="-18750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/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blipFill>
                <a:blip r:embed="rId23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/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blipFill>
                <a:blip r:embed="rId2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A7449B00-52DF-424C-862C-72D03FE253CD}"/>
                  </a:ext>
                </a:extLst>
              </p:cNvPr>
              <p:cNvSpPr txBox="1"/>
              <p:nvPr/>
            </p:nvSpPr>
            <p:spPr>
              <a:xfrm>
                <a:off x="8000339" y="397678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A7449B00-52DF-424C-862C-72D03FE25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3976788"/>
                <a:ext cx="1303867" cy="184666"/>
              </a:xfrm>
              <a:prstGeom prst="rect">
                <a:avLst/>
              </a:prstGeom>
              <a:blipFill>
                <a:blip r:embed="rId2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/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blipFill>
                <a:blip r:embed="rId26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/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blipFill>
                <a:blip r:embed="rId19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CF72B87-70EC-7142-A7C1-2ABB8943C1BC}"/>
                  </a:ext>
                </a:extLst>
              </p:cNvPr>
              <p:cNvSpPr txBox="1"/>
              <p:nvPr/>
            </p:nvSpPr>
            <p:spPr>
              <a:xfrm>
                <a:off x="8000339" y="31965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CF72B87-70EC-7142-A7C1-2ABB8943C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3196518"/>
                <a:ext cx="1303867" cy="184666"/>
              </a:xfrm>
              <a:prstGeom prst="rect">
                <a:avLst/>
              </a:prstGeom>
              <a:blipFill>
                <a:blip r:embed="rId2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D852ADA0-F8B2-1648-AEA1-E5C4713674B6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042F248C-7549-5B48-B65E-D195ED4C0B17}"/>
              </a:ext>
            </a:extLst>
          </p:cNvPr>
          <p:cNvSpPr/>
          <p:nvPr/>
        </p:nvSpPr>
        <p:spPr>
          <a:xfrm>
            <a:off x="297291" y="5840083"/>
            <a:ext cx="45638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the relationships among aspects</a:t>
            </a:r>
          </a:p>
        </p:txBody>
      </p: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07B3C8FB-3D66-D443-BB80-3B7A91F3C1FC}"/>
              </a:ext>
            </a:extLst>
          </p:cNvPr>
          <p:cNvCxnSpPr>
            <a:cxnSpLocks/>
          </p:cNvCxnSpPr>
          <p:nvPr/>
        </p:nvCxnSpPr>
        <p:spPr>
          <a:xfrm flipH="1">
            <a:off x="3760360" y="4207207"/>
            <a:ext cx="1" cy="1548729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9B6FD909-C714-D24A-A852-566C0C7433C5}"/>
              </a:ext>
            </a:extLst>
          </p:cNvPr>
          <p:cNvSpPr/>
          <p:nvPr/>
        </p:nvSpPr>
        <p:spPr>
          <a:xfrm>
            <a:off x="5782758" y="6313528"/>
            <a:ext cx="47602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Temporal attention mechanism and multi-path fusion </a:t>
            </a:r>
          </a:p>
        </p:txBody>
      </p: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870D62C6-766F-0340-B52A-557BDC573228}"/>
              </a:ext>
            </a:extLst>
          </p:cNvPr>
          <p:cNvCxnSpPr>
            <a:cxnSpLocks/>
          </p:cNvCxnSpPr>
          <p:nvPr/>
        </p:nvCxnSpPr>
        <p:spPr>
          <a:xfrm>
            <a:off x="8793316" y="2482252"/>
            <a:ext cx="0" cy="377912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C36EC4B3-D90B-A74C-9A33-430F61AA364E}"/>
              </a:ext>
            </a:extLst>
          </p:cNvPr>
          <p:cNvCxnSpPr>
            <a:cxnSpLocks/>
          </p:cNvCxnSpPr>
          <p:nvPr/>
        </p:nvCxnSpPr>
        <p:spPr>
          <a:xfrm flipH="1">
            <a:off x="8607456" y="2447712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E6E746B5-4929-B941-B0DE-D271B999CC36}"/>
              </a:ext>
            </a:extLst>
          </p:cNvPr>
          <p:cNvCxnSpPr>
            <a:cxnSpLocks/>
          </p:cNvCxnSpPr>
          <p:nvPr/>
        </p:nvCxnSpPr>
        <p:spPr>
          <a:xfrm flipH="1">
            <a:off x="8601400" y="3152996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C004AB28-0B1E-A045-90E0-F827EFDC6167}"/>
              </a:ext>
            </a:extLst>
          </p:cNvPr>
          <p:cNvCxnSpPr>
            <a:cxnSpLocks/>
          </p:cNvCxnSpPr>
          <p:nvPr/>
        </p:nvCxnSpPr>
        <p:spPr>
          <a:xfrm flipH="1">
            <a:off x="8601242" y="3931314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CBF96DD0-231D-F649-8671-92671BECEA13}"/>
              </a:ext>
            </a:extLst>
          </p:cNvPr>
          <p:cNvCxnSpPr>
            <a:cxnSpLocks/>
          </p:cNvCxnSpPr>
          <p:nvPr/>
        </p:nvCxnSpPr>
        <p:spPr>
          <a:xfrm flipH="1">
            <a:off x="8601557" y="4733564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468ADB9C-0F0E-BA42-A4BE-2600EDB5E15C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DFE7AB84-14F5-2C4A-82D8-AFFBAC34D7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56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28"/>
    </mc:Choice>
    <mc:Fallback>
      <p:transition spd="slow" advTm="94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8318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Multi-Path Framework for Surgical Skill Assessment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4188BC90-27A1-A74C-AFD1-798D2E2CF0F1}"/>
              </a:ext>
            </a:extLst>
          </p:cNvPr>
          <p:cNvSpPr/>
          <p:nvPr/>
        </p:nvSpPr>
        <p:spPr>
          <a:xfrm>
            <a:off x="2594499" y="2965988"/>
            <a:ext cx="4247376" cy="1531386"/>
          </a:xfrm>
          <a:prstGeom prst="roundRect">
            <a:avLst/>
          </a:prstGeom>
          <a:noFill/>
          <a:ln w="285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ysClr val="windowText" lastClr="000000"/>
              </a:solidFill>
            </a:endParaRPr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8696631D-E454-DE49-ACB8-2169A7D7D87E}"/>
              </a:ext>
            </a:extLst>
          </p:cNvPr>
          <p:cNvCxnSpPr>
            <a:cxnSpLocks/>
          </p:cNvCxnSpPr>
          <p:nvPr/>
        </p:nvCxnSpPr>
        <p:spPr>
          <a:xfrm>
            <a:off x="6633230" y="3390655"/>
            <a:ext cx="585693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F064BAE-242C-374E-AB2B-7CF189AD6B25}"/>
                  </a:ext>
                </a:extLst>
              </p:cNvPr>
              <p:cNvSpPr txBox="1"/>
              <p:nvPr/>
            </p:nvSpPr>
            <p:spPr>
              <a:xfrm>
                <a:off x="9017546" y="3420460"/>
                <a:ext cx="13038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en-US" altLang="zh-CN" sz="2800" b="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1F064BAE-242C-374E-AB2B-7CF189AD6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546" y="3420460"/>
                <a:ext cx="1303867" cy="430887"/>
              </a:xfrm>
              <a:prstGeom prst="rect">
                <a:avLst/>
              </a:prstGeom>
              <a:blipFill>
                <a:blip r:embed="rId5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左大括号 126">
            <a:extLst>
              <a:ext uri="{FF2B5EF4-FFF2-40B4-BE49-F238E27FC236}">
                <a16:creationId xmlns:a16="http://schemas.microsoft.com/office/drawing/2014/main" id="{F1A147CA-10B7-C24E-9F74-A6A88432A947}"/>
              </a:ext>
            </a:extLst>
          </p:cNvPr>
          <p:cNvSpPr/>
          <p:nvPr/>
        </p:nvSpPr>
        <p:spPr>
          <a:xfrm>
            <a:off x="1766352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0692F564-C65A-804F-BB54-25CD3C381736}"/>
              </a:ext>
            </a:extLst>
          </p:cNvPr>
          <p:cNvGrpSpPr/>
          <p:nvPr/>
        </p:nvGrpSpPr>
        <p:grpSpPr>
          <a:xfrm>
            <a:off x="285459" y="3029570"/>
            <a:ext cx="1464784" cy="1137497"/>
            <a:chOff x="-109533" y="2746854"/>
            <a:chExt cx="1464784" cy="1137497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EB9A89A9-766D-6D4D-9184-D87132FF82F8}"/>
                </a:ext>
              </a:extLst>
            </p:cNvPr>
            <p:cNvGrpSpPr/>
            <p:nvPr/>
          </p:nvGrpSpPr>
          <p:grpSpPr>
            <a:xfrm>
              <a:off x="65220" y="3115184"/>
              <a:ext cx="1189167" cy="769167"/>
              <a:chOff x="454157" y="2425741"/>
              <a:chExt cx="1189167" cy="769167"/>
            </a:xfrm>
          </p:grpSpPr>
          <p:pic>
            <p:nvPicPr>
              <p:cNvPr id="131" name="图片 130">
                <a:extLst>
                  <a:ext uri="{FF2B5EF4-FFF2-40B4-BE49-F238E27FC236}">
                    <a16:creationId xmlns:a16="http://schemas.microsoft.com/office/drawing/2014/main" id="{F99375CA-718D-8E46-9131-69B40250D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157" y="2425741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</a:ln>
            </p:spPr>
          </p:pic>
          <p:pic>
            <p:nvPicPr>
              <p:cNvPr id="132" name="图片 131">
                <a:extLst>
                  <a:ext uri="{FF2B5EF4-FFF2-40B4-BE49-F238E27FC236}">
                    <a16:creationId xmlns:a16="http://schemas.microsoft.com/office/drawing/2014/main" id="{6129C4FC-2751-2949-89F5-802FCE7AB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0546" y="2502130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3" name="图片 132">
                <a:extLst>
                  <a:ext uri="{FF2B5EF4-FFF2-40B4-BE49-F238E27FC236}">
                    <a16:creationId xmlns:a16="http://schemas.microsoft.com/office/drawing/2014/main" id="{6AA39C2D-42B5-C442-8668-382F0B5E2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35" y="2578519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7B40A1E3-1980-524F-B283-E62EF9003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324" y="2654908"/>
                <a:ext cx="960000" cy="540000"/>
              </a:xfrm>
              <a:prstGeom prst="rect">
                <a:avLst/>
              </a:prstGeom>
              <a:ln w="19050">
                <a:solidFill>
                  <a:schemeClr val="bg1"/>
                </a:solidFill>
                <a:miter lim="800000"/>
              </a:ln>
            </p:spPr>
          </p:pic>
        </p:grp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05B8C258-DE35-8E40-9CE8-60CA4DF459C9}"/>
                </a:ext>
              </a:extLst>
            </p:cNvPr>
            <p:cNvSpPr/>
            <p:nvPr/>
          </p:nvSpPr>
          <p:spPr>
            <a:xfrm>
              <a:off x="-109533" y="2746854"/>
              <a:ext cx="146478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DejaVu Sans Book" panose="020B0603030804020204" pitchFamily="34" charset="0"/>
                  <a:ea typeface="DejaVu Sans Book" panose="020B0603030804020204" pitchFamily="34" charset="0"/>
                  <a:cs typeface="DejaVu Sans Book" panose="020B0603030804020204" pitchFamily="34" charset="0"/>
                </a:rPr>
                <a:t>Surgical Video</a:t>
              </a:r>
              <a:endParaRPr kumimoji="1"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cs typeface="DejaVu Sans Book" panose="020B0603030804020204" pitchFamily="34" charset="0"/>
              </a:endParaRPr>
            </a:p>
          </p:txBody>
        </p:sp>
      </p:grpSp>
      <p:sp>
        <p:nvSpPr>
          <p:cNvPr id="135" name="矩形 134">
            <a:extLst>
              <a:ext uri="{FF2B5EF4-FFF2-40B4-BE49-F238E27FC236}">
                <a16:creationId xmlns:a16="http://schemas.microsoft.com/office/drawing/2014/main" id="{8E27BDEE-9722-D44B-BACC-284525570305}"/>
              </a:ext>
            </a:extLst>
          </p:cNvPr>
          <p:cNvSpPr/>
          <p:nvPr/>
        </p:nvSpPr>
        <p:spPr>
          <a:xfrm>
            <a:off x="1146617" y="5176343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2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C245713-427D-804B-97EE-25986A2FC197}"/>
              </a:ext>
            </a:extLst>
          </p:cNvPr>
          <p:cNvSpPr/>
          <p:nvPr/>
        </p:nvSpPr>
        <p:spPr>
          <a:xfrm>
            <a:off x="1146617" y="1939958"/>
            <a:ext cx="10383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1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62D50597-8CBA-6B4D-AE0A-ADD68C0B650E}"/>
              </a:ext>
            </a:extLst>
          </p:cNvPr>
          <p:cNvPicPr>
            <a:picLocks/>
          </p:cNvPicPr>
          <p:nvPr/>
        </p:nvPicPr>
        <p:blipFill rotWithShape="1">
          <a:blip r:embed="rId7"/>
          <a:srcRect l="40820" t="13918" r="51264" b="43582"/>
          <a:stretch/>
        </p:blipFill>
        <p:spPr>
          <a:xfrm>
            <a:off x="7522235" y="4577423"/>
            <a:ext cx="1005882" cy="648000"/>
          </a:xfrm>
          <a:prstGeom prst="rect">
            <a:avLst/>
          </a:prstGeom>
        </p:spPr>
      </p:pic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38327189-9D47-BA46-8595-7FD3D22A3C53}"/>
              </a:ext>
            </a:extLst>
          </p:cNvPr>
          <p:cNvGrpSpPr/>
          <p:nvPr/>
        </p:nvGrpSpPr>
        <p:grpSpPr>
          <a:xfrm>
            <a:off x="2655721" y="4826045"/>
            <a:ext cx="4716333" cy="369332"/>
            <a:chOff x="2321689" y="4400563"/>
            <a:chExt cx="4716333" cy="369332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573C98F7-C273-6D4E-BC3B-7DABF7093214}"/>
                </a:ext>
              </a:extLst>
            </p:cNvPr>
            <p:cNvGrpSpPr/>
            <p:nvPr/>
          </p:nvGrpSpPr>
          <p:grpSpPr>
            <a:xfrm>
              <a:off x="2321689" y="4400563"/>
              <a:ext cx="3127037" cy="369332"/>
              <a:chOff x="2321689" y="4504925"/>
              <a:chExt cx="3127037" cy="369332"/>
            </a:xfrm>
          </p:grpSpPr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09C7F817-BCEE-6B4A-932E-7E366B580BD6}"/>
                  </a:ext>
                </a:extLst>
              </p:cNvPr>
              <p:cNvGrpSpPr/>
              <p:nvPr/>
            </p:nvGrpSpPr>
            <p:grpSpPr>
              <a:xfrm>
                <a:off x="2321689" y="4624746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51" name="直线连接符 150">
                  <a:extLst>
                    <a:ext uri="{FF2B5EF4-FFF2-40B4-BE49-F238E27FC236}">
                      <a16:creationId xmlns:a16="http://schemas.microsoft.com/office/drawing/2014/main" id="{7B3D6EBA-6D86-1D48-BE28-F294461B93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线连接符 151">
                  <a:extLst>
                    <a:ext uri="{FF2B5EF4-FFF2-40B4-BE49-F238E27FC236}">
                      <a16:creationId xmlns:a16="http://schemas.microsoft.com/office/drawing/2014/main" id="{5F91F447-B8D3-C742-946F-439FC8114A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233A5C76-BC10-294F-B3CA-6D254077F295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318D2164-6B7A-C444-9CDE-06EF0A77B3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4504925"/>
                    <a:ext cx="130386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6" name="组合 145">
                <a:extLst>
                  <a:ext uri="{FF2B5EF4-FFF2-40B4-BE49-F238E27FC236}">
                    <a16:creationId xmlns:a16="http://schemas.microsoft.com/office/drawing/2014/main" id="{9AD1B1A3-7CA1-2D4A-AF22-3C1B58D2BB37}"/>
                  </a:ext>
                </a:extLst>
              </p:cNvPr>
              <p:cNvGrpSpPr/>
              <p:nvPr/>
            </p:nvGrpSpPr>
            <p:grpSpPr>
              <a:xfrm>
                <a:off x="4782764" y="4624746"/>
                <a:ext cx="665962" cy="129691"/>
                <a:chOff x="4647414" y="5249487"/>
                <a:chExt cx="665962" cy="129691"/>
              </a:xfrm>
            </p:grpSpPr>
            <p:cxnSp>
              <p:nvCxnSpPr>
                <p:cNvPr id="149" name="直线连接符 148">
                  <a:extLst>
                    <a:ext uri="{FF2B5EF4-FFF2-40B4-BE49-F238E27FC236}">
                      <a16:creationId xmlns:a16="http://schemas.microsoft.com/office/drawing/2014/main" id="{0BB17818-DDFB-604C-AA88-BB0E664948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47414" y="524948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线连接符 149">
                  <a:extLst>
                    <a:ext uri="{FF2B5EF4-FFF2-40B4-BE49-F238E27FC236}">
                      <a16:creationId xmlns:a16="http://schemas.microsoft.com/office/drawing/2014/main" id="{A79F8FAC-DC67-8F43-B3C7-746029BD64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47414" y="537917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7" name="直线箭头连接符 146">
                <a:extLst>
                  <a:ext uri="{FF2B5EF4-FFF2-40B4-BE49-F238E27FC236}">
                    <a16:creationId xmlns:a16="http://schemas.microsoft.com/office/drawing/2014/main" id="{CEEF30CB-27C6-4D42-86D7-43BE770A0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78668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线箭头连接符 147">
                <a:extLst>
                  <a:ext uri="{FF2B5EF4-FFF2-40B4-BE49-F238E27FC236}">
                    <a16:creationId xmlns:a16="http://schemas.microsoft.com/office/drawing/2014/main" id="{A658452C-EAB8-C34B-AE90-00A3BEB2B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2131" y="46895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FADEF2-7A8D-6C49-A29D-EBBD5E3014C8}"/>
                    </a:ext>
                  </a:extLst>
                </p:cNvPr>
                <p:cNvSpPr txBox="1"/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5D43E0-DD35-3248-9AC5-E6D615785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765" y="4400563"/>
                  <a:ext cx="130386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3F6C3BF0-5FB0-B546-9816-2EC967F6B943}"/>
                </a:ext>
              </a:extLst>
            </p:cNvPr>
            <p:cNvGrpSpPr/>
            <p:nvPr/>
          </p:nvGrpSpPr>
          <p:grpSpPr>
            <a:xfrm>
              <a:off x="5635454" y="4583077"/>
              <a:ext cx="1402568" cy="0"/>
              <a:chOff x="4668126" y="5527791"/>
              <a:chExt cx="1402568" cy="0"/>
            </a:xfrm>
          </p:grpSpPr>
          <p:cxnSp>
            <p:nvCxnSpPr>
              <p:cNvPr id="142" name="直线箭头连接符 141">
                <a:extLst>
                  <a:ext uri="{FF2B5EF4-FFF2-40B4-BE49-F238E27FC236}">
                    <a16:creationId xmlns:a16="http://schemas.microsoft.com/office/drawing/2014/main" id="{59F290BD-4ED0-6143-831D-AEADAC995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线箭头连接符 142">
                <a:extLst>
                  <a:ext uri="{FF2B5EF4-FFF2-40B4-BE49-F238E27FC236}">
                    <a16:creationId xmlns:a16="http://schemas.microsoft.com/office/drawing/2014/main" id="{ED990F67-1E9D-9446-BADC-7757771A09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178CA47D-2197-994C-A16C-D73C047DB5FD}"/>
              </a:ext>
            </a:extLst>
          </p:cNvPr>
          <p:cNvPicPr>
            <a:picLocks/>
          </p:cNvPicPr>
          <p:nvPr/>
        </p:nvPicPr>
        <p:blipFill rotWithShape="1">
          <a:blip r:embed="rId10"/>
          <a:srcRect l="24427" t="34814" r="67656" b="22685"/>
          <a:stretch/>
        </p:blipFill>
        <p:spPr>
          <a:xfrm>
            <a:off x="7522235" y="2078458"/>
            <a:ext cx="1005882" cy="648000"/>
          </a:xfrm>
          <a:prstGeom prst="rect">
            <a:avLst/>
          </a:prstGeom>
        </p:spPr>
      </p:pic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87FEACC6-2FAA-6246-9FDF-2E45FF5E4D20}"/>
              </a:ext>
            </a:extLst>
          </p:cNvPr>
          <p:cNvGrpSpPr/>
          <p:nvPr/>
        </p:nvGrpSpPr>
        <p:grpSpPr>
          <a:xfrm>
            <a:off x="2655721" y="2236574"/>
            <a:ext cx="4714473" cy="369332"/>
            <a:chOff x="2321689" y="1690321"/>
            <a:chExt cx="4714473" cy="369332"/>
          </a:xfrm>
        </p:grpSpPr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120087C1-331B-C442-A705-C628F8994BEC}"/>
                </a:ext>
              </a:extLst>
            </p:cNvPr>
            <p:cNvGrpSpPr/>
            <p:nvPr/>
          </p:nvGrpSpPr>
          <p:grpSpPr>
            <a:xfrm>
              <a:off x="2321689" y="1690321"/>
              <a:ext cx="3127037" cy="369332"/>
              <a:chOff x="2321689" y="1829655"/>
              <a:chExt cx="3127037" cy="369332"/>
            </a:xfrm>
          </p:grpSpPr>
          <p:grpSp>
            <p:nvGrpSpPr>
              <p:cNvPr id="160" name="组合 159">
                <a:extLst>
                  <a:ext uri="{FF2B5EF4-FFF2-40B4-BE49-F238E27FC236}">
                    <a16:creationId xmlns:a16="http://schemas.microsoft.com/office/drawing/2014/main" id="{23D36C80-61CD-1442-92CA-59504412B6D1}"/>
                  </a:ext>
                </a:extLst>
              </p:cNvPr>
              <p:cNvGrpSpPr/>
              <p:nvPr/>
            </p:nvGrpSpPr>
            <p:grpSpPr>
              <a:xfrm>
                <a:off x="2321689" y="1949476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67" name="直线连接符 166">
                  <a:extLst>
                    <a:ext uri="{FF2B5EF4-FFF2-40B4-BE49-F238E27FC236}">
                      <a16:creationId xmlns:a16="http://schemas.microsoft.com/office/drawing/2014/main" id="{08ED8151-9790-314D-B030-F3CE80656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线连接符 167">
                  <a:extLst>
                    <a:ext uri="{FF2B5EF4-FFF2-40B4-BE49-F238E27FC236}">
                      <a16:creationId xmlns:a16="http://schemas.microsoft.com/office/drawing/2014/main" id="{45FDA139-00E6-714C-8145-0B4B893C5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62B7B131-8231-A74D-90A0-E99C05B3D810}"/>
                      </a:ext>
                    </a:extLst>
                  </p:cNvPr>
                  <p:cNvSpPr txBox="1"/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2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2400" dirty="0">
                      <a:solidFill>
                        <a:schemeClr val="bg1">
                          <a:lumMod val="50000"/>
                        </a:schemeClr>
                      </a:solidFill>
                      <a:latin typeface="+mj-lt"/>
                    </a:endParaRPr>
                  </a:p>
                </p:txBody>
              </p:sp>
            </mc:Choice>
            <mc:Fallback xmlns=""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A46FCBA6-FB75-BB46-B138-13F6781D4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3274" y="1829655"/>
                    <a:ext cx="1303867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252CECEF-66E8-2342-BD72-A250CD7409E3}"/>
                  </a:ext>
                </a:extLst>
              </p:cNvPr>
              <p:cNvGrpSpPr/>
              <p:nvPr/>
            </p:nvGrpSpPr>
            <p:grpSpPr>
              <a:xfrm>
                <a:off x="4782764" y="1949476"/>
                <a:ext cx="665962" cy="129691"/>
                <a:chOff x="3989498" y="1494737"/>
                <a:chExt cx="665962" cy="129691"/>
              </a:xfrm>
            </p:grpSpPr>
            <p:cxnSp>
              <p:nvCxnSpPr>
                <p:cNvPr id="165" name="直线连接符 164">
                  <a:extLst>
                    <a:ext uri="{FF2B5EF4-FFF2-40B4-BE49-F238E27FC236}">
                      <a16:creationId xmlns:a16="http://schemas.microsoft.com/office/drawing/2014/main" id="{06EC3CE9-D790-A240-919F-771D8BE8A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89498" y="1494737"/>
                  <a:ext cx="665962" cy="5681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线连接符 165">
                  <a:extLst>
                    <a:ext uri="{FF2B5EF4-FFF2-40B4-BE49-F238E27FC236}">
                      <a16:creationId xmlns:a16="http://schemas.microsoft.com/office/drawing/2014/main" id="{1A54AD72-B69E-E84C-847F-75E29600B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89498" y="1624428"/>
                  <a:ext cx="665962" cy="0"/>
                </a:xfrm>
                <a:prstGeom prst="line">
                  <a:avLst/>
                </a:prstGeom>
                <a:ln w="76200" cap="sq" cmpd="tri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直线箭头连接符 162">
                <a:extLst>
                  <a:ext uri="{FF2B5EF4-FFF2-40B4-BE49-F238E27FC236}">
                    <a16:creationId xmlns:a16="http://schemas.microsoft.com/office/drawing/2014/main" id="{9D2EB334-BA63-AD44-892D-EBD42978F3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377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线箭头连接符 163">
                <a:extLst>
                  <a:ext uri="{FF2B5EF4-FFF2-40B4-BE49-F238E27FC236}">
                    <a16:creationId xmlns:a16="http://schemas.microsoft.com/office/drawing/2014/main" id="{232DEFE2-4C17-6647-84AD-7611DD528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40" y="201432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754136B1-B764-B144-9B57-1FA1E2794A71}"/>
                    </a:ext>
                  </a:extLst>
                </p:cNvPr>
                <p:cNvSpPr txBox="1"/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zh-CN" altLang="en-US" sz="2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kumimoji="1" lang="en-US" altLang="zh-CN" sz="2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1B966BA-015A-4B44-9507-35EE93BCD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8333" y="1690321"/>
                  <a:ext cx="1303867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5CB61484-73D9-E949-A6C0-213EFC181345}"/>
                </a:ext>
              </a:extLst>
            </p:cNvPr>
            <p:cNvGrpSpPr/>
            <p:nvPr/>
          </p:nvGrpSpPr>
          <p:grpSpPr>
            <a:xfrm>
              <a:off x="5633594" y="1874987"/>
              <a:ext cx="1402568" cy="0"/>
              <a:chOff x="4668126" y="5527791"/>
              <a:chExt cx="1402568" cy="0"/>
            </a:xfrm>
          </p:grpSpPr>
          <p:cxnSp>
            <p:nvCxnSpPr>
              <p:cNvPr id="158" name="直线箭头连接符 157">
                <a:extLst>
                  <a:ext uri="{FF2B5EF4-FFF2-40B4-BE49-F238E27FC236}">
                    <a16:creationId xmlns:a16="http://schemas.microsoft.com/office/drawing/2014/main" id="{6757EDE7-7809-E643-9D8A-B136154B5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8126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线箭头连接符 158">
                <a:extLst>
                  <a:ext uri="{FF2B5EF4-FFF2-40B4-BE49-F238E27FC236}">
                    <a16:creationId xmlns:a16="http://schemas.microsoft.com/office/drawing/2014/main" id="{670F2DAD-E718-0846-BA50-FC495D64C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1589" y="5527791"/>
                <a:ext cx="389105" cy="0"/>
              </a:xfrm>
              <a:prstGeom prst="straightConnector1">
                <a:avLst/>
              </a:prstGeom>
              <a:ln w="50800">
                <a:solidFill>
                  <a:schemeClr val="bg1">
                    <a:lumMod val="8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/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sz="24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kumimoji="1" lang="zh-CN" alt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CAE9FE7E-E590-F841-8B76-A6103F9D3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715" y="3536629"/>
                <a:ext cx="1303867" cy="369332"/>
              </a:xfrm>
              <a:prstGeom prst="rect">
                <a:avLst/>
              </a:prstGeom>
              <a:blipFill>
                <a:blip r:embed="rId13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80DCA64D-67D8-E042-898C-A6A868127BDE}"/>
              </a:ext>
            </a:extLst>
          </p:cNvPr>
          <p:cNvGrpSpPr/>
          <p:nvPr/>
        </p:nvGrpSpPr>
        <p:grpSpPr>
          <a:xfrm>
            <a:off x="4119093" y="3332811"/>
            <a:ext cx="1008589" cy="885639"/>
            <a:chOff x="3920966" y="3112912"/>
            <a:chExt cx="1008589" cy="885639"/>
          </a:xfrm>
        </p:grpSpPr>
        <p:sp>
          <p:nvSpPr>
            <p:cNvPr id="171" name="双中括号 170">
              <a:extLst>
                <a:ext uri="{FF2B5EF4-FFF2-40B4-BE49-F238E27FC236}">
                  <a16:creationId xmlns:a16="http://schemas.microsoft.com/office/drawing/2014/main" id="{C6C3D38D-9F2D-714C-994B-9205DF4ABBB3}"/>
                </a:ext>
              </a:extLst>
            </p:cNvPr>
            <p:cNvSpPr/>
            <p:nvPr/>
          </p:nvSpPr>
          <p:spPr>
            <a:xfrm>
              <a:off x="3920966" y="3112912"/>
              <a:ext cx="1008589" cy="885639"/>
            </a:xfrm>
            <a:prstGeom prst="bracketPair">
              <a:avLst/>
            </a:prstGeom>
            <a:ln w="508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CD88F030-57E1-BB4B-96E6-DB35F0E7FCFC}"/>
                </a:ext>
              </a:extLst>
            </p:cNvPr>
            <p:cNvGrpSpPr/>
            <p:nvPr/>
          </p:nvGrpSpPr>
          <p:grpSpPr>
            <a:xfrm>
              <a:off x="4092279" y="3340022"/>
              <a:ext cx="665962" cy="431419"/>
              <a:chOff x="4102613" y="3336559"/>
              <a:chExt cx="665962" cy="431419"/>
            </a:xfrm>
          </p:grpSpPr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05D9E9B2-3ED8-B14E-A999-8FDF429D2EEF}"/>
                  </a:ext>
                </a:extLst>
              </p:cNvPr>
              <p:cNvGrpSpPr/>
              <p:nvPr/>
            </p:nvGrpSpPr>
            <p:grpSpPr>
              <a:xfrm>
                <a:off x="4102613" y="3638287"/>
                <a:ext cx="665962" cy="129691"/>
                <a:chOff x="2749511" y="5175911"/>
                <a:chExt cx="665962" cy="129691"/>
              </a:xfrm>
            </p:grpSpPr>
            <p:cxnSp>
              <p:nvCxnSpPr>
                <p:cNvPr id="177" name="直线连接符 176">
                  <a:extLst>
                    <a:ext uri="{FF2B5EF4-FFF2-40B4-BE49-F238E27FC236}">
                      <a16:creationId xmlns:a16="http://schemas.microsoft.com/office/drawing/2014/main" id="{1F8D69FC-2C45-6F43-A8BC-1EB6F56084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49511" y="517591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线连接符 177">
                  <a:extLst>
                    <a:ext uri="{FF2B5EF4-FFF2-40B4-BE49-F238E27FC236}">
                      <a16:creationId xmlns:a16="http://schemas.microsoft.com/office/drawing/2014/main" id="{D865AF40-4D5E-8246-9CED-71F911237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49511" y="530560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C44E51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91B4BFB1-4440-3242-BEE2-F15706739C35}"/>
                  </a:ext>
                </a:extLst>
              </p:cNvPr>
              <p:cNvGrpSpPr/>
              <p:nvPr/>
            </p:nvGrpSpPr>
            <p:grpSpPr>
              <a:xfrm>
                <a:off x="4102613" y="3336559"/>
                <a:ext cx="665962" cy="129691"/>
                <a:chOff x="2709862" y="1487701"/>
                <a:chExt cx="665962" cy="129691"/>
              </a:xfrm>
            </p:grpSpPr>
            <p:cxnSp>
              <p:nvCxnSpPr>
                <p:cNvPr id="175" name="直线连接符 174">
                  <a:extLst>
                    <a:ext uri="{FF2B5EF4-FFF2-40B4-BE49-F238E27FC236}">
                      <a16:creationId xmlns:a16="http://schemas.microsoft.com/office/drawing/2014/main" id="{8B83BA8C-61A2-6B43-9C04-C7BD869C5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9862" y="1487701"/>
                  <a:ext cx="665962" cy="5681"/>
                </a:xfrm>
                <a:prstGeom prst="line">
                  <a:avLst/>
                </a:prstGeom>
                <a:ln w="76200" cap="sq" cmpd="thickThin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线连接符 175">
                  <a:extLst>
                    <a:ext uri="{FF2B5EF4-FFF2-40B4-BE49-F238E27FC236}">
                      <a16:creationId xmlns:a16="http://schemas.microsoft.com/office/drawing/2014/main" id="{3E92F5D6-05F3-324B-8B7D-31ECE2CB2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862" y="1617392"/>
                  <a:ext cx="665962" cy="0"/>
                </a:xfrm>
                <a:prstGeom prst="line">
                  <a:avLst/>
                </a:prstGeom>
                <a:ln w="76200" cap="sq" cmpd="thinThick">
                  <a:solidFill>
                    <a:srgbClr val="4C72B0"/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79" name="直线箭头连接符 178">
            <a:extLst>
              <a:ext uri="{FF2B5EF4-FFF2-40B4-BE49-F238E27FC236}">
                <a16:creationId xmlns:a16="http://schemas.microsoft.com/office/drawing/2014/main" id="{7F333A91-E837-0644-93BF-5E97F61B5A3F}"/>
              </a:ext>
            </a:extLst>
          </p:cNvPr>
          <p:cNvCxnSpPr>
            <a:cxnSpLocks/>
          </p:cNvCxnSpPr>
          <p:nvPr/>
        </p:nvCxnSpPr>
        <p:spPr>
          <a:xfrm flipH="1" flipV="1">
            <a:off x="3005382" y="4037816"/>
            <a:ext cx="1906" cy="69299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58D81235-5CE0-594A-B8DC-0C4A886FA522}"/>
              </a:ext>
            </a:extLst>
          </p:cNvPr>
          <p:cNvCxnSpPr>
            <a:cxnSpLocks/>
          </p:cNvCxnSpPr>
          <p:nvPr/>
        </p:nvCxnSpPr>
        <p:spPr>
          <a:xfrm>
            <a:off x="3006335" y="2701145"/>
            <a:ext cx="0" cy="715306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线箭头连接符 180">
            <a:extLst>
              <a:ext uri="{FF2B5EF4-FFF2-40B4-BE49-F238E27FC236}">
                <a16:creationId xmlns:a16="http://schemas.microsoft.com/office/drawing/2014/main" id="{98A14948-86E8-E745-8428-314B5D91CCE0}"/>
              </a:ext>
            </a:extLst>
          </p:cNvPr>
          <p:cNvCxnSpPr>
            <a:cxnSpLocks/>
          </p:cNvCxnSpPr>
          <p:nvPr/>
        </p:nvCxnSpPr>
        <p:spPr>
          <a:xfrm>
            <a:off x="3289025" y="3772477"/>
            <a:ext cx="642953" cy="2084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4ACAC84-3A77-214A-9F03-E986BB2E7A76}"/>
                  </a:ext>
                </a:extLst>
              </p:cNvPr>
              <p:cNvSpPr txBox="1"/>
              <p:nvPr/>
            </p:nvSpPr>
            <p:spPr>
              <a:xfrm>
                <a:off x="5657625" y="3937981"/>
                <a:ext cx="1303867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5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5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5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5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4ACAC84-3A77-214A-9F03-E986BB2E7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625" y="3937981"/>
                <a:ext cx="1303867" cy="384721"/>
              </a:xfrm>
              <a:prstGeom prst="rect">
                <a:avLst/>
              </a:prstGeom>
              <a:blipFill>
                <a:blip r:embed="rId1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3" name="图片 182">
            <a:extLst>
              <a:ext uri="{FF2B5EF4-FFF2-40B4-BE49-F238E27FC236}">
                <a16:creationId xmlns:a16="http://schemas.microsoft.com/office/drawing/2014/main" id="{AA4B3FD1-D85F-0241-ABB0-EA4D4210E7A7}"/>
              </a:ext>
            </a:extLst>
          </p:cNvPr>
          <p:cNvPicPr>
            <a:picLocks/>
          </p:cNvPicPr>
          <p:nvPr/>
        </p:nvPicPr>
        <p:blipFill rotWithShape="1">
          <a:blip r:embed="rId15"/>
          <a:srcRect l="20486" t="45002" r="71598" b="12497"/>
          <a:stretch/>
        </p:blipFill>
        <p:spPr>
          <a:xfrm>
            <a:off x="7522235" y="3626640"/>
            <a:ext cx="1005882" cy="648000"/>
          </a:xfrm>
          <a:prstGeom prst="rect">
            <a:avLst/>
          </a:prstGeom>
        </p:spPr>
      </p:pic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071678EB-3629-C348-813C-91D40F80EC0F}"/>
              </a:ext>
            </a:extLst>
          </p:cNvPr>
          <p:cNvCxnSpPr>
            <a:cxnSpLocks/>
          </p:cNvCxnSpPr>
          <p:nvPr/>
        </p:nvCxnSpPr>
        <p:spPr>
          <a:xfrm>
            <a:off x="5363107" y="4172075"/>
            <a:ext cx="622781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线箭头连接符 184">
            <a:extLst>
              <a:ext uri="{FF2B5EF4-FFF2-40B4-BE49-F238E27FC236}">
                <a16:creationId xmlns:a16="http://schemas.microsoft.com/office/drawing/2014/main" id="{22B3BCF9-EF4B-3348-91BB-E97F05901DB8}"/>
              </a:ext>
            </a:extLst>
          </p:cNvPr>
          <p:cNvCxnSpPr>
            <a:cxnSpLocks/>
          </p:cNvCxnSpPr>
          <p:nvPr/>
        </p:nvCxnSpPr>
        <p:spPr>
          <a:xfrm>
            <a:off x="6633230" y="4172075"/>
            <a:ext cx="585693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D3B6C52E-0505-2F45-A15A-3B9B3036DC2C}"/>
              </a:ext>
            </a:extLst>
          </p:cNvPr>
          <p:cNvCxnSpPr>
            <a:cxnSpLocks/>
          </p:cNvCxnSpPr>
          <p:nvPr/>
        </p:nvCxnSpPr>
        <p:spPr>
          <a:xfrm>
            <a:off x="5363107" y="3390655"/>
            <a:ext cx="622781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619A2723-E198-1D43-B0D6-56A6E8B40E45}"/>
                  </a:ext>
                </a:extLst>
              </p:cNvPr>
              <p:cNvSpPr txBox="1"/>
              <p:nvPr/>
            </p:nvSpPr>
            <p:spPr>
              <a:xfrm>
                <a:off x="5672912" y="3158895"/>
                <a:ext cx="1303867" cy="3847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5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5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5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5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619A2723-E198-1D43-B0D6-56A6E8B40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912" y="3158895"/>
                <a:ext cx="1303867" cy="384721"/>
              </a:xfrm>
              <a:prstGeom prst="rect">
                <a:avLst/>
              </a:prstGeom>
              <a:blipFill>
                <a:blip r:embed="rId16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8" name="图片 187">
            <a:extLst>
              <a:ext uri="{FF2B5EF4-FFF2-40B4-BE49-F238E27FC236}">
                <a16:creationId xmlns:a16="http://schemas.microsoft.com/office/drawing/2014/main" id="{529A3161-9491-9449-A8C1-B01AC6519E68}"/>
              </a:ext>
            </a:extLst>
          </p:cNvPr>
          <p:cNvPicPr>
            <a:picLocks/>
          </p:cNvPicPr>
          <p:nvPr/>
        </p:nvPicPr>
        <p:blipFill rotWithShape="1">
          <a:blip r:embed="rId17"/>
          <a:srcRect l="39784" t="44870" r="52299" b="12629"/>
          <a:stretch/>
        </p:blipFill>
        <p:spPr>
          <a:xfrm>
            <a:off x="7522235" y="2834895"/>
            <a:ext cx="1005882" cy="648000"/>
          </a:xfrm>
          <a:prstGeom prst="rect">
            <a:avLst/>
          </a:prstGeom>
        </p:spPr>
      </p:pic>
      <p:sp>
        <p:nvSpPr>
          <p:cNvPr id="189" name="矩形 188">
            <a:extLst>
              <a:ext uri="{FF2B5EF4-FFF2-40B4-BE49-F238E27FC236}">
                <a16:creationId xmlns:a16="http://schemas.microsoft.com/office/drawing/2014/main" id="{90338622-74D5-1F4F-A19E-BAA12ED7D681}"/>
              </a:ext>
            </a:extLst>
          </p:cNvPr>
          <p:cNvSpPr/>
          <p:nvPr/>
        </p:nvSpPr>
        <p:spPr>
          <a:xfrm>
            <a:off x="9047954" y="3191007"/>
            <a:ext cx="128128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Skill Score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sp>
        <p:nvSpPr>
          <p:cNvPr id="190" name="左大括号 189">
            <a:extLst>
              <a:ext uri="{FF2B5EF4-FFF2-40B4-BE49-F238E27FC236}">
                <a16:creationId xmlns:a16="http://schemas.microsoft.com/office/drawing/2014/main" id="{F951B424-6774-A949-BCDF-BC5653454857}"/>
              </a:ext>
            </a:extLst>
          </p:cNvPr>
          <p:cNvSpPr/>
          <p:nvPr/>
        </p:nvSpPr>
        <p:spPr>
          <a:xfrm flipH="1">
            <a:off x="8714174" y="2313329"/>
            <a:ext cx="634565" cy="2785624"/>
          </a:xfrm>
          <a:prstGeom prst="leftBrace">
            <a:avLst>
              <a:gd name="adj1" fmla="val 48240"/>
              <a:gd name="adj2" fmla="val 49677"/>
            </a:avLst>
          </a:prstGeom>
          <a:ln w="57150" cmpd="sng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25EC50F3-F13E-2642-B639-33682BC850CA}"/>
                  </a:ext>
                </a:extLst>
              </p:cNvPr>
              <p:cNvSpPr txBox="1"/>
              <p:nvPr/>
            </p:nvSpPr>
            <p:spPr>
              <a:xfrm>
                <a:off x="5037595" y="1276273"/>
                <a:ext cx="13038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25EC50F3-F13E-2642-B639-33682BC85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595" y="1276273"/>
                <a:ext cx="1303867" cy="430887"/>
              </a:xfrm>
              <a:prstGeom prst="rect">
                <a:avLst/>
              </a:prstGeom>
              <a:blipFill>
                <a:blip r:embed="rId1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13EEF243-A6B8-6F44-A9DC-91CC56FC2DC0}"/>
              </a:ext>
            </a:extLst>
          </p:cNvPr>
          <p:cNvCxnSpPr>
            <a:cxnSpLocks/>
          </p:cNvCxnSpPr>
          <p:nvPr/>
        </p:nvCxnSpPr>
        <p:spPr>
          <a:xfrm flipV="1">
            <a:off x="5689528" y="1817476"/>
            <a:ext cx="0" cy="389812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DE27A5AE-72A9-164D-8594-5A270AEE715F}"/>
              </a:ext>
            </a:extLst>
          </p:cNvPr>
          <p:cNvGrpSpPr/>
          <p:nvPr/>
        </p:nvGrpSpPr>
        <p:grpSpPr>
          <a:xfrm>
            <a:off x="6011317" y="1469716"/>
            <a:ext cx="2567017" cy="124010"/>
            <a:chOff x="5340465" y="1160608"/>
            <a:chExt cx="2567017" cy="124010"/>
          </a:xfrm>
        </p:grpSpPr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0720C656-9022-C346-B936-E2A113DAF2E0}"/>
                </a:ext>
              </a:extLst>
            </p:cNvPr>
            <p:cNvGrpSpPr/>
            <p:nvPr/>
          </p:nvGrpSpPr>
          <p:grpSpPr>
            <a:xfrm>
              <a:off x="6309536" y="1160608"/>
              <a:ext cx="665962" cy="124010"/>
              <a:chOff x="3989498" y="1500418"/>
              <a:chExt cx="665962" cy="124010"/>
            </a:xfrm>
          </p:grpSpPr>
          <p:cxnSp>
            <p:nvCxnSpPr>
              <p:cNvPr id="197" name="直线连接符 196">
                <a:extLst>
                  <a:ext uri="{FF2B5EF4-FFF2-40B4-BE49-F238E27FC236}">
                    <a16:creationId xmlns:a16="http://schemas.microsoft.com/office/drawing/2014/main" id="{9759A67F-685E-AD48-8F4C-E8ED78194E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89498" y="1500418"/>
                <a:ext cx="665962" cy="1"/>
              </a:xfrm>
              <a:prstGeom prst="line">
                <a:avLst/>
              </a:prstGeom>
              <a:ln w="76200" cap="sq" cmpd="sng">
                <a:solidFill>
                  <a:srgbClr val="4C72B0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线连接符 197">
                <a:extLst>
                  <a:ext uri="{FF2B5EF4-FFF2-40B4-BE49-F238E27FC236}">
                    <a16:creationId xmlns:a16="http://schemas.microsoft.com/office/drawing/2014/main" id="{E646471B-AFC8-384E-B750-1C5C194B59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9498" y="1624428"/>
                <a:ext cx="665962" cy="0"/>
              </a:xfrm>
              <a:prstGeom prst="line">
                <a:avLst/>
              </a:prstGeom>
              <a:ln w="76200" cap="sq" cmpd="sng">
                <a:solidFill>
                  <a:srgbClr val="4C72B0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5" name="直线箭头连接符 194">
              <a:extLst>
                <a:ext uri="{FF2B5EF4-FFF2-40B4-BE49-F238E27FC236}">
                  <a16:creationId xmlns:a16="http://schemas.microsoft.com/office/drawing/2014/main" id="{C968A0EC-101B-9841-B403-109D60F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5340465" y="1219772"/>
              <a:ext cx="622781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线箭头连接符 195">
              <a:extLst>
                <a:ext uri="{FF2B5EF4-FFF2-40B4-BE49-F238E27FC236}">
                  <a16:creationId xmlns:a16="http://schemas.microsoft.com/office/drawing/2014/main" id="{74992F21-11A6-2843-9E5A-FD72E947760E}"/>
                </a:ext>
              </a:extLst>
            </p:cNvPr>
            <p:cNvCxnSpPr>
              <a:cxnSpLocks/>
            </p:cNvCxnSpPr>
            <p:nvPr/>
          </p:nvCxnSpPr>
          <p:spPr>
            <a:xfrm>
              <a:off x="7321789" y="1219772"/>
              <a:ext cx="585693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30EA9DA3-64A0-254B-B397-D2926523561D}"/>
              </a:ext>
            </a:extLst>
          </p:cNvPr>
          <p:cNvGrpSpPr/>
          <p:nvPr/>
        </p:nvGrpSpPr>
        <p:grpSpPr>
          <a:xfrm>
            <a:off x="5998328" y="5812702"/>
            <a:ext cx="2567017" cy="124010"/>
            <a:chOff x="5340465" y="1160608"/>
            <a:chExt cx="2567017" cy="124010"/>
          </a:xfrm>
        </p:grpSpPr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BC302BE0-C4E9-3444-A6D7-251172E7F716}"/>
                </a:ext>
              </a:extLst>
            </p:cNvPr>
            <p:cNvGrpSpPr/>
            <p:nvPr/>
          </p:nvGrpSpPr>
          <p:grpSpPr>
            <a:xfrm>
              <a:off x="6309536" y="1160608"/>
              <a:ext cx="665962" cy="124010"/>
              <a:chOff x="3989498" y="1500418"/>
              <a:chExt cx="665962" cy="124010"/>
            </a:xfrm>
          </p:grpSpPr>
          <p:cxnSp>
            <p:nvCxnSpPr>
              <p:cNvPr id="203" name="直线连接符 202">
                <a:extLst>
                  <a:ext uri="{FF2B5EF4-FFF2-40B4-BE49-F238E27FC236}">
                    <a16:creationId xmlns:a16="http://schemas.microsoft.com/office/drawing/2014/main" id="{B5C96250-95B8-5F49-8CAA-AE69209558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89498" y="1500418"/>
                <a:ext cx="665962" cy="1"/>
              </a:xfrm>
              <a:prstGeom prst="line">
                <a:avLst/>
              </a:prstGeom>
              <a:ln w="76200" cap="sq" cmpd="sng">
                <a:solidFill>
                  <a:srgbClr val="C44E5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线连接符 203">
                <a:extLst>
                  <a:ext uri="{FF2B5EF4-FFF2-40B4-BE49-F238E27FC236}">
                    <a16:creationId xmlns:a16="http://schemas.microsoft.com/office/drawing/2014/main" id="{F948D4E2-75AE-1143-A949-6B1AD5C68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9498" y="1624428"/>
                <a:ext cx="665962" cy="0"/>
              </a:xfrm>
              <a:prstGeom prst="line">
                <a:avLst/>
              </a:prstGeom>
              <a:ln w="76200" cap="sq" cmpd="sng">
                <a:solidFill>
                  <a:srgbClr val="C44E5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1" name="直线箭头连接符 200">
              <a:extLst>
                <a:ext uri="{FF2B5EF4-FFF2-40B4-BE49-F238E27FC236}">
                  <a16:creationId xmlns:a16="http://schemas.microsoft.com/office/drawing/2014/main" id="{2D9F5FBB-2AB0-ED4C-9751-21E7DAF495DC}"/>
                </a:ext>
              </a:extLst>
            </p:cNvPr>
            <p:cNvCxnSpPr>
              <a:cxnSpLocks/>
            </p:cNvCxnSpPr>
            <p:nvPr/>
          </p:nvCxnSpPr>
          <p:spPr>
            <a:xfrm>
              <a:off x="5340465" y="1219772"/>
              <a:ext cx="622781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线箭头连接符 201">
              <a:extLst>
                <a:ext uri="{FF2B5EF4-FFF2-40B4-BE49-F238E27FC236}">
                  <a16:creationId xmlns:a16="http://schemas.microsoft.com/office/drawing/2014/main" id="{1008391C-E87C-F146-B514-F0447EE1B9EC}"/>
                </a:ext>
              </a:extLst>
            </p:cNvPr>
            <p:cNvCxnSpPr>
              <a:cxnSpLocks/>
            </p:cNvCxnSpPr>
            <p:nvPr/>
          </p:nvCxnSpPr>
          <p:spPr>
            <a:xfrm>
              <a:off x="7321789" y="1219772"/>
              <a:ext cx="585693" cy="0"/>
            </a:xfrm>
            <a:prstGeom prst="straightConnector1">
              <a:avLst/>
            </a:prstGeom>
            <a:ln w="508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CF439E80-A7B4-BB41-BC4C-2AB6C38ECDA4}"/>
                  </a:ext>
                </a:extLst>
              </p:cNvPr>
              <p:cNvSpPr txBox="1"/>
              <p:nvPr/>
            </p:nvSpPr>
            <p:spPr>
              <a:xfrm>
                <a:off x="5026383" y="5621680"/>
                <a:ext cx="130386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CF439E80-A7B4-BB41-BC4C-2AB6C38EC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383" y="5621680"/>
                <a:ext cx="1303867" cy="430887"/>
              </a:xfrm>
              <a:prstGeom prst="rect">
                <a:avLst/>
              </a:prstGeom>
              <a:blipFill>
                <a:blip r:embed="rId19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AFA7B8FB-C6F7-C847-A1D3-B895241FD38A}"/>
              </a:ext>
            </a:extLst>
          </p:cNvPr>
          <p:cNvCxnSpPr>
            <a:cxnSpLocks/>
          </p:cNvCxnSpPr>
          <p:nvPr/>
        </p:nvCxnSpPr>
        <p:spPr>
          <a:xfrm>
            <a:off x="5657996" y="5233890"/>
            <a:ext cx="0" cy="389812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圆角矩形 206">
            <a:extLst>
              <a:ext uri="{FF2B5EF4-FFF2-40B4-BE49-F238E27FC236}">
                <a16:creationId xmlns:a16="http://schemas.microsoft.com/office/drawing/2014/main" id="{82DF2893-7C1D-A54E-9717-17F98912E7C0}"/>
              </a:ext>
            </a:extLst>
          </p:cNvPr>
          <p:cNvSpPr/>
          <p:nvPr/>
        </p:nvSpPr>
        <p:spPr>
          <a:xfrm>
            <a:off x="8915116" y="5653282"/>
            <a:ext cx="1841980" cy="399285"/>
          </a:xfrm>
          <a:prstGeom prst="roundRect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Contrastive Loss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urier" pitchFamily="2" charset="0"/>
              <a:cs typeface="DejaVu Sans Book" panose="020B0603030804020204" pitchFamily="34" charset="0"/>
            </a:endParaRPr>
          </a:p>
        </p:txBody>
      </p:sp>
      <p:sp>
        <p:nvSpPr>
          <p:cNvPr id="208" name="圆角矩形 207">
            <a:extLst>
              <a:ext uri="{FF2B5EF4-FFF2-40B4-BE49-F238E27FC236}">
                <a16:creationId xmlns:a16="http://schemas.microsoft.com/office/drawing/2014/main" id="{71FF4C4E-D938-194D-A6F0-B804276BC9FF}"/>
              </a:ext>
            </a:extLst>
          </p:cNvPr>
          <p:cNvSpPr/>
          <p:nvPr/>
        </p:nvSpPr>
        <p:spPr>
          <a:xfrm>
            <a:off x="10543012" y="3461168"/>
            <a:ext cx="1251988" cy="430887"/>
          </a:xfrm>
          <a:prstGeom prst="roundRect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MSE Loss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urier" pitchFamily="2" charset="0"/>
              <a:cs typeface="DejaVu Sans Book" panose="020B0603030804020204" pitchFamily="34" charset="0"/>
            </a:endParaRPr>
          </a:p>
        </p:txBody>
      </p:sp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27A766A8-701A-704F-90B7-F0D52FDEEFB5}"/>
              </a:ext>
            </a:extLst>
          </p:cNvPr>
          <p:cNvCxnSpPr>
            <a:cxnSpLocks/>
          </p:cNvCxnSpPr>
          <p:nvPr/>
        </p:nvCxnSpPr>
        <p:spPr>
          <a:xfrm>
            <a:off x="9917059" y="3685575"/>
            <a:ext cx="451858" cy="0"/>
          </a:xfrm>
          <a:prstGeom prst="straightConnector1">
            <a:avLst/>
          </a:prstGeom>
          <a:ln w="508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文本框 209">
            <a:extLst>
              <a:ext uri="{FF2B5EF4-FFF2-40B4-BE49-F238E27FC236}">
                <a16:creationId xmlns:a16="http://schemas.microsoft.com/office/drawing/2014/main" id="{61042C00-A9E3-0E4A-BE9F-4902C815A31E}"/>
              </a:ext>
            </a:extLst>
          </p:cNvPr>
          <p:cNvSpPr txBox="1"/>
          <p:nvPr/>
        </p:nvSpPr>
        <p:spPr>
          <a:xfrm>
            <a:off x="9461099" y="14989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211" name="圆角矩形 210">
            <a:extLst>
              <a:ext uri="{FF2B5EF4-FFF2-40B4-BE49-F238E27FC236}">
                <a16:creationId xmlns:a16="http://schemas.microsoft.com/office/drawing/2014/main" id="{18787484-A705-F446-B152-9A7ABE3A331C}"/>
              </a:ext>
            </a:extLst>
          </p:cNvPr>
          <p:cNvSpPr/>
          <p:nvPr/>
        </p:nvSpPr>
        <p:spPr>
          <a:xfrm>
            <a:off x="8946400" y="1364587"/>
            <a:ext cx="1841980" cy="399285"/>
          </a:xfrm>
          <a:prstGeom prst="roundRect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Contrastive Loss</a:t>
            </a:r>
            <a:endParaRPr kumimoji="1"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Courier" pitchFamily="2" charset="0"/>
              <a:cs typeface="DejaVu Sans Book" panose="020B0603030804020204" pitchFamily="34" charset="0"/>
            </a:endParaRP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A125DC5D-ECBB-684E-9AD5-D952DBB2E58F}"/>
              </a:ext>
            </a:extLst>
          </p:cNvPr>
          <p:cNvSpPr/>
          <p:nvPr/>
        </p:nvSpPr>
        <p:spPr>
          <a:xfrm>
            <a:off x="2200319" y="532036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DB47B32-2149-A142-AD43-4E40BA8FAC56}"/>
              </a:ext>
            </a:extLst>
          </p:cNvPr>
          <p:cNvSpPr/>
          <p:nvPr/>
        </p:nvSpPr>
        <p:spPr>
          <a:xfrm>
            <a:off x="4644246" y="4627335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216EACAD-4044-2343-BFA3-81BDC026E7E5}"/>
              </a:ext>
            </a:extLst>
          </p:cNvPr>
          <p:cNvSpPr/>
          <p:nvPr/>
        </p:nvSpPr>
        <p:spPr>
          <a:xfrm>
            <a:off x="6433245" y="5487208"/>
            <a:ext cx="1765369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Predicted Embedding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7805C086-2D96-054D-A747-38657F451AF3}"/>
              </a:ext>
            </a:extLst>
          </p:cNvPr>
          <p:cNvSpPr/>
          <p:nvPr/>
        </p:nvSpPr>
        <p:spPr>
          <a:xfrm>
            <a:off x="7284718" y="5060561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7A21DB92-D113-6C43-9B74-59780578F139}"/>
              </a:ext>
            </a:extLst>
          </p:cNvPr>
          <p:cNvSpPr/>
          <p:nvPr/>
        </p:nvSpPr>
        <p:spPr>
          <a:xfrm>
            <a:off x="7284718" y="4201712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Weight Sequence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908D1D8B-BFBB-724C-A270-6181A2D1D1F7}"/>
              </a:ext>
            </a:extLst>
          </p:cNvPr>
          <p:cNvSpPr/>
          <p:nvPr/>
        </p:nvSpPr>
        <p:spPr>
          <a:xfrm>
            <a:off x="7284718" y="2660807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Score Sequence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8C5E1D4D-FF44-C14C-8E97-570703819CA2}"/>
              </a:ext>
            </a:extLst>
          </p:cNvPr>
          <p:cNvSpPr/>
          <p:nvPr/>
        </p:nvSpPr>
        <p:spPr>
          <a:xfrm>
            <a:off x="7284718" y="3410510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Weight Sequence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C1D8753-04AB-424A-81B8-1E402D7506A8}"/>
              </a:ext>
            </a:extLst>
          </p:cNvPr>
          <p:cNvSpPr/>
          <p:nvPr/>
        </p:nvSpPr>
        <p:spPr>
          <a:xfrm>
            <a:off x="2200319" y="1865556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Input Feature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235EFA2-BD56-ED44-AB3A-43198037305E}"/>
              </a:ext>
            </a:extLst>
          </p:cNvPr>
          <p:cNvSpPr/>
          <p:nvPr/>
        </p:nvSpPr>
        <p:spPr>
          <a:xfrm>
            <a:off x="4644246" y="2535074"/>
            <a:ext cx="1608686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Embedding</a:t>
            </a: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D543A687-F5CB-6A4B-B6CE-D56A220C7081}"/>
              </a:ext>
            </a:extLst>
          </p:cNvPr>
          <p:cNvSpPr/>
          <p:nvPr/>
        </p:nvSpPr>
        <p:spPr>
          <a:xfrm>
            <a:off x="6442416" y="1677263"/>
            <a:ext cx="1765369" cy="268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Predicted Embedding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C9E9F3F8-DA50-594D-BE50-39FB7D76B02E}"/>
              </a:ext>
            </a:extLst>
          </p:cNvPr>
          <p:cNvSpPr/>
          <p:nvPr/>
        </p:nvSpPr>
        <p:spPr>
          <a:xfrm>
            <a:off x="2869140" y="2991256"/>
            <a:ext cx="23951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DejaVu Sans Book" panose="020B0603030804020204" pitchFamily="34" charset="0"/>
                <a:ea typeface="DejaVu Sans Book" panose="020B0603030804020204" pitchFamily="34" charset="0"/>
                <a:cs typeface="DejaVu Sans Book" panose="020B0603030804020204" pitchFamily="34" charset="0"/>
              </a:rPr>
              <a:t>Path Dependency Module</a:t>
            </a:r>
            <a:endParaRPr kumimoji="1" lang="zh-CN" altLang="en-US" sz="1000" b="1" dirty="0">
              <a:solidFill>
                <a:schemeClr val="tx1">
                  <a:lumMod val="95000"/>
                  <a:lumOff val="5000"/>
                </a:schemeClr>
              </a:solidFill>
              <a:latin typeface="DejaVu Sans Book" panose="020B0603030804020204" pitchFamily="34" charset="0"/>
              <a:cs typeface="DejaVu Sans Book" panose="020B0603030804020204" pitchFamily="34" charset="0"/>
            </a:endParaRPr>
          </a:p>
        </p:txBody>
      </p: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30F0B35C-C373-8342-BECB-6429604A8A29}"/>
              </a:ext>
            </a:extLst>
          </p:cNvPr>
          <p:cNvGrpSpPr/>
          <p:nvPr/>
        </p:nvGrpSpPr>
        <p:grpSpPr>
          <a:xfrm>
            <a:off x="9431683" y="4201221"/>
            <a:ext cx="2527912" cy="976614"/>
            <a:chOff x="9544227" y="1694096"/>
            <a:chExt cx="2527912" cy="976614"/>
          </a:xfrm>
        </p:grpSpPr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1BC637B0-2FBA-814A-88A4-47ACC58E7593}"/>
                </a:ext>
              </a:extLst>
            </p:cNvPr>
            <p:cNvSpPr/>
            <p:nvPr/>
          </p:nvSpPr>
          <p:spPr>
            <a:xfrm>
              <a:off x="9778522" y="1694096"/>
              <a:ext cx="2293617" cy="9766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A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ggregat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ion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W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eight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P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redict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C85851B2-C82D-8347-A0BF-DA526C3DA638}"/>
                    </a:ext>
                  </a:extLst>
                </p:cNvPr>
                <p:cNvSpPr txBox="1"/>
                <p:nvPr/>
              </p:nvSpPr>
              <p:spPr>
                <a:xfrm>
                  <a:off x="9559969" y="2375370"/>
                  <a:ext cx="2028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BFB4067C-5A95-DE4D-86F1-A31ACD785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969" y="2375370"/>
                  <a:ext cx="202811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DB29650D-92EC-814F-B69B-CD2956A50829}"/>
                    </a:ext>
                  </a:extLst>
                </p:cNvPr>
                <p:cNvSpPr txBox="1"/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7329FDFB-9E91-2942-AF75-EB0B156E6C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9680" y="1779376"/>
                  <a:ext cx="203389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29412" r="-23529" b="-238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B812052F-754F-5C49-AA0E-E8E092201246}"/>
                    </a:ext>
                  </a:extLst>
                </p:cNvPr>
                <p:cNvSpPr txBox="1"/>
                <p:nvPr/>
              </p:nvSpPr>
              <p:spPr>
                <a:xfrm>
                  <a:off x="9544227" y="2068385"/>
                  <a:ext cx="2342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A66A6EE8-676C-D74F-A7E6-5F7E26CB8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4227" y="2068385"/>
                  <a:ext cx="234295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10526" r="-52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50AD915-C691-5F47-97A6-3AC09798473B}"/>
              </a:ext>
            </a:extLst>
          </p:cNvPr>
          <p:cNvGrpSpPr/>
          <p:nvPr/>
        </p:nvGrpSpPr>
        <p:grpSpPr>
          <a:xfrm>
            <a:off x="9448835" y="2079408"/>
            <a:ext cx="2510760" cy="668837"/>
            <a:chOff x="9561379" y="4157163"/>
            <a:chExt cx="2510760" cy="668837"/>
          </a:xfrm>
        </p:grpSpPr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3B7F01E7-1D28-8E4D-B133-9AA89437ECA0}"/>
                </a:ext>
              </a:extLst>
            </p:cNvPr>
            <p:cNvSpPr/>
            <p:nvPr/>
          </p:nvSpPr>
          <p:spPr>
            <a:xfrm>
              <a:off x="9778522" y="4157163"/>
              <a:ext cx="2293617" cy="6688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ncod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ing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</a:p>
            <a:p>
              <a:pPr>
                <a:lnSpc>
                  <a:spcPct val="20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S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cor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 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F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unction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2B5E11BA-03F2-F247-8AD3-7C0CC10EE57F}"/>
                    </a:ext>
                  </a:extLst>
                </p:cNvPr>
                <p:cNvSpPr txBox="1"/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kumimoji="1" lang="zh-CN" altLang="en-US" sz="16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340F5F83-607A-D84A-B487-815E982A4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1379" y="4236191"/>
                  <a:ext cx="199991" cy="246221"/>
                </a:xfrm>
                <a:prstGeom prst="rect">
                  <a:avLst/>
                </a:prstGeom>
                <a:blipFill>
                  <a:blip r:embed="rId23"/>
                  <a:stretch>
                    <a:fillRect l="-29412" r="-23529" b="-26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670FC185-6DDF-D746-BFFB-93787C1FE672}"/>
                    </a:ext>
                  </a:extLst>
                </p:cNvPr>
                <p:cNvSpPr txBox="1"/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kumimoji="1" lang="zh-CN" altLang="en-US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8EF45E5B-62EE-4345-864C-AD8223903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8015" y="4537265"/>
                  <a:ext cx="186718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8750" r="-18750" b="-95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/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8F97C2A2-6097-5E4D-8013-E6DC491C3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5166037"/>
                <a:ext cx="1303867" cy="184666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/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3" name="文本框 232">
                <a:extLst>
                  <a:ext uri="{FF2B5EF4-FFF2-40B4-BE49-F238E27FC236}">
                    <a16:creationId xmlns:a16="http://schemas.microsoft.com/office/drawing/2014/main" id="{6CC9A0DA-7949-D144-857A-70940795D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69" y="5181803"/>
                <a:ext cx="1303867" cy="184666"/>
              </a:xfrm>
              <a:prstGeom prst="rect">
                <a:avLst/>
              </a:prstGeom>
              <a:blipFill>
                <a:blip r:embed="rId25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6C2F9898-FB3E-E44B-B278-25A45DAFFDD1}"/>
                  </a:ext>
                </a:extLst>
              </p:cNvPr>
              <p:cNvSpPr txBox="1"/>
              <p:nvPr/>
            </p:nvSpPr>
            <p:spPr>
              <a:xfrm>
                <a:off x="6660635" y="6025871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4" name="文本框 233">
                <a:extLst>
                  <a:ext uri="{FF2B5EF4-FFF2-40B4-BE49-F238E27FC236}">
                    <a16:creationId xmlns:a16="http://schemas.microsoft.com/office/drawing/2014/main" id="{6C2F9898-FB3E-E44B-B278-25A45DAFF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635" y="6025871"/>
                <a:ext cx="1303867" cy="184666"/>
              </a:xfrm>
              <a:prstGeom prst="rect">
                <a:avLst/>
              </a:prstGeom>
              <a:blipFill>
                <a:blip r:embed="rId2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/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F9102EE3-D5DF-774C-9FD3-B56CADF3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2482252"/>
                <a:ext cx="1303867" cy="184666"/>
              </a:xfrm>
              <a:prstGeom prst="rect">
                <a:avLst/>
              </a:prstGeom>
              <a:blipFill>
                <a:blip r:embed="rId2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A7449B00-52DF-424C-862C-72D03FE253CD}"/>
                  </a:ext>
                </a:extLst>
              </p:cNvPr>
              <p:cNvSpPr txBox="1"/>
              <p:nvPr/>
            </p:nvSpPr>
            <p:spPr>
              <a:xfrm>
                <a:off x="8000339" y="397678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6" name="文本框 235">
                <a:extLst>
                  <a:ext uri="{FF2B5EF4-FFF2-40B4-BE49-F238E27FC236}">
                    <a16:creationId xmlns:a16="http://schemas.microsoft.com/office/drawing/2014/main" id="{A7449B00-52DF-424C-862C-72D03FE25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3976788"/>
                <a:ext cx="1303867" cy="184666"/>
              </a:xfrm>
              <a:prstGeom prst="rect">
                <a:avLst/>
              </a:prstGeom>
              <a:blipFill>
                <a:blip r:embed="rId2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/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23716E08-A53F-F142-B090-6A2235F27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29" y="2099818"/>
                <a:ext cx="1303867" cy="184666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/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12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12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3DEDE388-C28C-EA4D-A94B-7EC265A8F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901" y="2099818"/>
                <a:ext cx="1303867" cy="184666"/>
              </a:xfrm>
              <a:prstGeom prst="rect">
                <a:avLst/>
              </a:prstGeom>
              <a:blipFill>
                <a:blip r:embed="rId29"/>
                <a:stretch>
                  <a:fillRect t="-13333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43E814D6-A8B8-4F46-88EE-9513CB3EE1E4}"/>
                  </a:ext>
                </a:extLst>
              </p:cNvPr>
              <p:cNvSpPr txBox="1"/>
              <p:nvPr/>
            </p:nvSpPr>
            <p:spPr>
              <a:xfrm>
                <a:off x="6692167" y="1215699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9" name="文本框 238">
                <a:extLst>
                  <a:ext uri="{FF2B5EF4-FFF2-40B4-BE49-F238E27FC236}">
                    <a16:creationId xmlns:a16="http://schemas.microsoft.com/office/drawing/2014/main" id="{43E814D6-A8B8-4F46-88EE-9513CB3EE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167" y="1215699"/>
                <a:ext cx="1303867" cy="184666"/>
              </a:xfrm>
              <a:prstGeom prst="rect">
                <a:avLst/>
              </a:prstGeom>
              <a:blipFill>
                <a:blip r:embed="rId30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/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0" name="文本框 239">
                <a:extLst>
                  <a:ext uri="{FF2B5EF4-FFF2-40B4-BE49-F238E27FC236}">
                    <a16:creationId xmlns:a16="http://schemas.microsoft.com/office/drawing/2014/main" id="{A8EBFB80-BA16-204E-BB9D-897EC82CC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4785634"/>
                <a:ext cx="1303867" cy="184666"/>
              </a:xfrm>
              <a:prstGeom prst="rect">
                <a:avLst/>
              </a:prstGeom>
              <a:blipFill>
                <a:blip r:embed="rId2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CF72B87-70EC-7142-A7C1-2ABB8943C1BC}"/>
                  </a:ext>
                </a:extLst>
              </p:cNvPr>
              <p:cNvSpPr txBox="1"/>
              <p:nvPr/>
            </p:nvSpPr>
            <p:spPr>
              <a:xfrm>
                <a:off x="8000339" y="3196518"/>
                <a:ext cx="13038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2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zh-CN" sz="12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12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1" name="文本框 240">
                <a:extLst>
                  <a:ext uri="{FF2B5EF4-FFF2-40B4-BE49-F238E27FC236}">
                    <a16:creationId xmlns:a16="http://schemas.microsoft.com/office/drawing/2014/main" id="{5CF72B87-70EC-7142-A7C1-2ABB8943C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339" y="3196518"/>
                <a:ext cx="1303867" cy="184666"/>
              </a:xfrm>
              <a:prstGeom prst="rect">
                <a:avLst/>
              </a:prstGeom>
              <a:blipFill>
                <a:blip r:embed="rId3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55BAD3FF-9099-C34D-80A9-FD88A8A00B61}"/>
              </a:ext>
            </a:extLst>
          </p:cNvPr>
          <p:cNvCxnSpPr>
            <a:cxnSpLocks/>
          </p:cNvCxnSpPr>
          <p:nvPr/>
        </p:nvCxnSpPr>
        <p:spPr>
          <a:xfrm>
            <a:off x="1146617" y="1528880"/>
            <a:ext cx="0" cy="53521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D2580F63-AF9B-BD48-870A-BE2884C5325F}"/>
              </a:ext>
            </a:extLst>
          </p:cNvPr>
          <p:cNvCxnSpPr>
            <a:cxnSpLocks/>
          </p:cNvCxnSpPr>
          <p:nvPr/>
        </p:nvCxnSpPr>
        <p:spPr>
          <a:xfrm flipH="1">
            <a:off x="8607456" y="2447712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矩形 245">
            <a:extLst>
              <a:ext uri="{FF2B5EF4-FFF2-40B4-BE49-F238E27FC236}">
                <a16:creationId xmlns:a16="http://schemas.microsoft.com/office/drawing/2014/main" id="{A438153E-B7C8-E743-84EA-0BCBD29A4149}"/>
              </a:ext>
            </a:extLst>
          </p:cNvPr>
          <p:cNvSpPr/>
          <p:nvPr/>
        </p:nvSpPr>
        <p:spPr>
          <a:xfrm>
            <a:off x="5782758" y="6313528"/>
            <a:ext cx="47602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Temporal attention mechanism and multi-path fusion </a:t>
            </a:r>
          </a:p>
        </p:txBody>
      </p: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160888E8-AE23-B94C-A91D-379D58851276}"/>
              </a:ext>
            </a:extLst>
          </p:cNvPr>
          <p:cNvCxnSpPr>
            <a:cxnSpLocks/>
          </p:cNvCxnSpPr>
          <p:nvPr/>
        </p:nvCxnSpPr>
        <p:spPr>
          <a:xfrm>
            <a:off x="8793316" y="2482252"/>
            <a:ext cx="0" cy="3779121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矩形 247">
            <a:extLst>
              <a:ext uri="{FF2B5EF4-FFF2-40B4-BE49-F238E27FC236}">
                <a16:creationId xmlns:a16="http://schemas.microsoft.com/office/drawing/2014/main" id="{43AF88A6-A7CB-B846-877C-9A9F5F239A53}"/>
              </a:ext>
            </a:extLst>
          </p:cNvPr>
          <p:cNvSpPr/>
          <p:nvPr/>
        </p:nvSpPr>
        <p:spPr>
          <a:xfrm>
            <a:off x="297291" y="5840083"/>
            <a:ext cx="45638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Modeling the relationships among aspects</a:t>
            </a:r>
          </a:p>
        </p:txBody>
      </p: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1FD267C7-1E45-5D40-B301-4CDA4760E68E}"/>
              </a:ext>
            </a:extLst>
          </p:cNvPr>
          <p:cNvCxnSpPr>
            <a:cxnSpLocks/>
          </p:cNvCxnSpPr>
          <p:nvPr/>
        </p:nvCxnSpPr>
        <p:spPr>
          <a:xfrm flipH="1">
            <a:off x="3760360" y="4207207"/>
            <a:ext cx="1" cy="1548729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矩形 249">
            <a:extLst>
              <a:ext uri="{FF2B5EF4-FFF2-40B4-BE49-F238E27FC236}">
                <a16:creationId xmlns:a16="http://schemas.microsoft.com/office/drawing/2014/main" id="{47299F6C-E49A-C54E-8C8C-F1AE7BF19FC5}"/>
              </a:ext>
            </a:extLst>
          </p:cNvPr>
          <p:cNvSpPr/>
          <p:nvPr/>
        </p:nvSpPr>
        <p:spPr>
          <a:xfrm>
            <a:off x="799312" y="6310934"/>
            <a:ext cx="38074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alleviate the scarcity of annotated data</a:t>
            </a:r>
          </a:p>
        </p:txBody>
      </p:sp>
      <p:cxnSp>
        <p:nvCxnSpPr>
          <p:cNvPr id="251" name="直线连接符 250">
            <a:extLst>
              <a:ext uri="{FF2B5EF4-FFF2-40B4-BE49-F238E27FC236}">
                <a16:creationId xmlns:a16="http://schemas.microsoft.com/office/drawing/2014/main" id="{38AC836D-94DB-314B-BAAE-9C4D3BAC532C}"/>
              </a:ext>
            </a:extLst>
          </p:cNvPr>
          <p:cNvCxnSpPr>
            <a:cxnSpLocks/>
          </p:cNvCxnSpPr>
          <p:nvPr/>
        </p:nvCxnSpPr>
        <p:spPr>
          <a:xfrm flipH="1">
            <a:off x="4761479" y="6046780"/>
            <a:ext cx="485388" cy="429186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连接符 251">
            <a:extLst>
              <a:ext uri="{FF2B5EF4-FFF2-40B4-BE49-F238E27FC236}">
                <a16:creationId xmlns:a16="http://schemas.microsoft.com/office/drawing/2014/main" id="{E66F1FFB-2A86-F140-A1E3-26E8D4AD2E28}"/>
              </a:ext>
            </a:extLst>
          </p:cNvPr>
          <p:cNvCxnSpPr>
            <a:cxnSpLocks/>
          </p:cNvCxnSpPr>
          <p:nvPr/>
        </p:nvCxnSpPr>
        <p:spPr>
          <a:xfrm flipH="1">
            <a:off x="8601400" y="3152996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线连接符 252">
            <a:extLst>
              <a:ext uri="{FF2B5EF4-FFF2-40B4-BE49-F238E27FC236}">
                <a16:creationId xmlns:a16="http://schemas.microsoft.com/office/drawing/2014/main" id="{1EB1BC48-D57F-E244-96FC-266C06B391EE}"/>
              </a:ext>
            </a:extLst>
          </p:cNvPr>
          <p:cNvCxnSpPr>
            <a:cxnSpLocks/>
          </p:cNvCxnSpPr>
          <p:nvPr/>
        </p:nvCxnSpPr>
        <p:spPr>
          <a:xfrm flipH="1">
            <a:off x="8601242" y="3931314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线连接符 253">
            <a:extLst>
              <a:ext uri="{FF2B5EF4-FFF2-40B4-BE49-F238E27FC236}">
                <a16:creationId xmlns:a16="http://schemas.microsoft.com/office/drawing/2014/main" id="{9BCE914D-8B0E-0D49-8097-7C645DA27165}"/>
              </a:ext>
            </a:extLst>
          </p:cNvPr>
          <p:cNvCxnSpPr>
            <a:cxnSpLocks/>
          </p:cNvCxnSpPr>
          <p:nvPr/>
        </p:nvCxnSpPr>
        <p:spPr>
          <a:xfrm flipH="1">
            <a:off x="8601557" y="4733564"/>
            <a:ext cx="193432" cy="0"/>
          </a:xfrm>
          <a:prstGeom prst="line">
            <a:avLst/>
          </a:prstGeom>
          <a:ln w="19050" cmpd="sng">
            <a:solidFill>
              <a:srgbClr val="DADADA"/>
            </a:solidFill>
            <a:prstDash val="sysDot"/>
            <a:headEnd type="non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矩形 254">
            <a:extLst>
              <a:ext uri="{FF2B5EF4-FFF2-40B4-BE49-F238E27FC236}">
                <a16:creationId xmlns:a16="http://schemas.microsoft.com/office/drawing/2014/main" id="{364F20D6-34CB-3442-829C-5B16F6BE533B}"/>
              </a:ext>
            </a:extLst>
          </p:cNvPr>
          <p:cNvSpPr/>
          <p:nvPr/>
        </p:nvSpPr>
        <p:spPr>
          <a:xfrm>
            <a:off x="805130" y="856493"/>
            <a:ext cx="39123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path takes care of a skill aspect, with four paths in total (Visual, Tool, Proxy, Event)</a:t>
            </a:r>
          </a:p>
        </p:txBody>
      </p:sp>
      <p:pic>
        <p:nvPicPr>
          <p:cNvPr id="4" name="音频 3">
            <a:hlinkClick r:id="" action="ppaction://media"/>
            <a:extLst>
              <a:ext uri="{FF2B5EF4-FFF2-40B4-BE49-F238E27FC236}">
                <a16:creationId xmlns:a16="http://schemas.microsoft.com/office/drawing/2014/main" id="{880A951B-7276-364D-BCA1-7923BD6C1E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32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91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07"/>
    </mc:Choice>
    <mc:Fallback>
      <p:transition spd="slow" advTm="128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1412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Dataset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276A19-AE3A-0E41-AF82-D2CC96A96AFE}"/>
              </a:ext>
            </a:extLst>
          </p:cNvPr>
          <p:cNvSpPr/>
          <p:nvPr/>
        </p:nvSpPr>
        <p:spPr>
          <a:xfrm>
            <a:off x="6595128" y="1727891"/>
            <a:ext cx="462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2400" b="1" dirty="0">
                <a:solidFill>
                  <a:srgbClr val="990000"/>
                </a:solidFill>
                <a:latin typeface="+mj-lt"/>
              </a:rPr>
              <a:t>Our Clinical Dataset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E88ACB-DC0E-2B47-B183-EA398ADC8E1D}"/>
              </a:ext>
            </a:extLst>
          </p:cNvPr>
          <p:cNvSpPr/>
          <p:nvPr/>
        </p:nvSpPr>
        <p:spPr>
          <a:xfrm>
            <a:off x="1135949" y="1727891"/>
            <a:ext cx="3919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altLang="zh-CN" sz="2400" b="1" dirty="0">
                <a:solidFill>
                  <a:srgbClr val="4B72B1"/>
                </a:solidFill>
                <a:latin typeface="+mj-lt"/>
              </a:rPr>
              <a:t>Simulated Dataset (JIGSAWS)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3656595-0593-EA4E-B75A-B380FE3DBFB9}"/>
              </a:ext>
            </a:extLst>
          </p:cNvPr>
          <p:cNvGrpSpPr/>
          <p:nvPr/>
        </p:nvGrpSpPr>
        <p:grpSpPr>
          <a:xfrm>
            <a:off x="6318917" y="2675072"/>
            <a:ext cx="5172582" cy="1448800"/>
            <a:chOff x="289150" y="355600"/>
            <a:chExt cx="5172582" cy="1448800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0CA6429-5062-324D-B038-71560C197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9379" y="355600"/>
              <a:ext cx="2562353" cy="1440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E80F9685-F2F3-4E4F-AC0D-DECBD1A9C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9150" y="364400"/>
              <a:ext cx="2560000" cy="1440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D97EA4A-1454-7C44-8505-2450EF034883}"/>
              </a:ext>
            </a:extLst>
          </p:cNvPr>
          <p:cNvGrpSpPr/>
          <p:nvPr/>
        </p:nvGrpSpPr>
        <p:grpSpPr>
          <a:xfrm>
            <a:off x="1282697" y="2679472"/>
            <a:ext cx="3626169" cy="1440000"/>
            <a:chOff x="5526881" y="355600"/>
            <a:chExt cx="3626169" cy="1440000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B57E73EF-1C81-E44C-9813-365252F0A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26881" y="355600"/>
              <a:ext cx="1798812" cy="1440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26AF886-E161-3F49-9784-3E2DBCC7D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3050" y="355600"/>
              <a:ext cx="1800000" cy="1440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34DA51A0-4A26-B845-B65C-327B0B3B419C}"/>
              </a:ext>
            </a:extLst>
          </p:cNvPr>
          <p:cNvSpPr/>
          <p:nvPr/>
        </p:nvSpPr>
        <p:spPr>
          <a:xfrm>
            <a:off x="7000454" y="4550683"/>
            <a:ext cx="38095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dirty="0">
                <a:latin typeface="+mj-lt"/>
              </a:rPr>
              <a:t>In vivo</a:t>
            </a:r>
          </a:p>
          <a:p>
            <a:pPr algn="ctr"/>
            <a:r>
              <a:rPr lang="en" altLang="zh-CN" dirty="0">
                <a:latin typeface="+mj-lt"/>
              </a:rPr>
              <a:t>Laparoscopic video</a:t>
            </a:r>
          </a:p>
          <a:p>
            <a:pPr algn="ctr"/>
            <a:r>
              <a:rPr lang="en" altLang="zh-CN" dirty="0">
                <a:latin typeface="+mj-lt"/>
              </a:rPr>
              <a:t>Gastrectomy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219416-735E-5440-B281-1EC2B4D074BF}"/>
              </a:ext>
            </a:extLst>
          </p:cNvPr>
          <p:cNvSpPr/>
          <p:nvPr/>
        </p:nvSpPr>
        <p:spPr>
          <a:xfrm>
            <a:off x="1048185" y="4550683"/>
            <a:ext cx="4095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dirty="0">
                <a:latin typeface="+mj-lt"/>
              </a:rPr>
              <a:t>Benchtop model</a:t>
            </a:r>
          </a:p>
          <a:p>
            <a:pPr algn="ctr"/>
            <a:r>
              <a:rPr lang="en" altLang="zh-CN" dirty="0">
                <a:latin typeface="+mj-lt"/>
              </a:rPr>
              <a:t>Da Vinci surgical robot</a:t>
            </a:r>
          </a:p>
          <a:p>
            <a:pPr algn="ctr"/>
            <a:r>
              <a:rPr lang="en" altLang="zh-CN" dirty="0">
                <a:latin typeface="+mj-lt"/>
              </a:rPr>
              <a:t>Suturing / Needing-passing / Knot-tying</a:t>
            </a:r>
          </a:p>
        </p:txBody>
      </p:sp>
      <p:pic>
        <p:nvPicPr>
          <p:cNvPr id="16" name="音频 15">
            <a:hlinkClick r:id="" action="ppaction://media"/>
            <a:extLst>
              <a:ext uri="{FF2B5EF4-FFF2-40B4-BE49-F238E27FC236}">
                <a16:creationId xmlns:a16="http://schemas.microsoft.com/office/drawing/2014/main" id="{68E3C300-79B6-EC41-9E08-DD676D1E2D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23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882"/>
    </mc:Choice>
    <mc:Fallback>
      <p:transition spd="slow" advTm="158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29177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Our Clinical Data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276A19-AE3A-0E41-AF82-D2CC96A96AFE}"/>
              </a:ext>
            </a:extLst>
          </p:cNvPr>
          <p:cNvSpPr/>
          <p:nvPr/>
        </p:nvSpPr>
        <p:spPr>
          <a:xfrm>
            <a:off x="252588" y="1807142"/>
            <a:ext cx="462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2400" b="1" dirty="0">
                <a:solidFill>
                  <a:srgbClr val="990000"/>
                </a:solidFill>
                <a:latin typeface="+mj-lt"/>
              </a:rPr>
              <a:t>Dataset Statistics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E88ACB-DC0E-2B47-B183-EA398ADC8E1D}"/>
              </a:ext>
            </a:extLst>
          </p:cNvPr>
          <p:cNvSpPr/>
          <p:nvPr/>
        </p:nvSpPr>
        <p:spPr>
          <a:xfrm>
            <a:off x="5911380" y="1807142"/>
            <a:ext cx="5134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altLang="zh-CN" sz="2400" b="1" dirty="0">
                <a:solidFill>
                  <a:srgbClr val="4B72B1"/>
                </a:solidFill>
                <a:latin typeface="+mj-lt"/>
              </a:rPr>
              <a:t>Detailed Event Annotation </a:t>
            </a:r>
            <a:r>
              <a:rPr lang="en" altLang="zh-CN" sz="2400" dirty="0">
                <a:solidFill>
                  <a:srgbClr val="4B72B1"/>
                </a:solidFill>
                <a:latin typeface="+mj-lt"/>
              </a:rPr>
              <a:t>(41 Classes)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271FD40-C60F-CA49-80DB-907AAC4B7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138878"/>
              </p:ext>
            </p:extLst>
          </p:nvPr>
        </p:nvGraphicFramePr>
        <p:xfrm>
          <a:off x="684673" y="2081170"/>
          <a:ext cx="3755991" cy="287359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55991">
                  <a:extLst>
                    <a:ext uri="{9D8B030D-6E8A-4147-A177-3AD203B41FA5}">
                      <a16:colId xmlns:a16="http://schemas.microsoft.com/office/drawing/2014/main" val="999790851"/>
                    </a:ext>
                  </a:extLst>
                </a:gridCol>
              </a:tblGrid>
              <a:tr h="599795">
                <a:tc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1179803"/>
                  </a:ext>
                </a:extLst>
              </a:tr>
              <a:tr h="599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j-lt"/>
                        </a:rPr>
                        <a:t>20 gastrectomy videos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70268"/>
                  </a:ext>
                </a:extLst>
              </a:tr>
              <a:tr h="599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j-lt"/>
                        </a:rPr>
                        <a:t>Captured by laparoscopy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6757545"/>
                  </a:ext>
                </a:extLst>
              </a:tr>
              <a:tr h="474411">
                <a:tc>
                  <a:txBody>
                    <a:bodyPr/>
                    <a:lstStyle/>
                    <a:p>
                      <a:pPr algn="ctr"/>
                      <a:r>
                        <a:rPr lang="en" altLang="zh-CN" sz="2000" b="0" dirty="0">
                          <a:latin typeface="+mj-lt"/>
                        </a:rPr>
                        <a:t>199 minutes per video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91457"/>
                  </a:ext>
                </a:extLst>
              </a:tr>
              <a:tr h="599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j-lt"/>
                        </a:rPr>
                        <a:t>7 OSATS skill metrics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88655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8BD883F3-D7D0-9645-BA63-857CA64A8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682"/>
              </p:ext>
            </p:extLst>
          </p:nvPr>
        </p:nvGraphicFramePr>
        <p:xfrm>
          <a:off x="5710473" y="2081170"/>
          <a:ext cx="5536552" cy="287359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536552">
                  <a:extLst>
                    <a:ext uri="{9D8B030D-6E8A-4147-A177-3AD203B41FA5}">
                      <a16:colId xmlns:a16="http://schemas.microsoft.com/office/drawing/2014/main" val="999790851"/>
                    </a:ext>
                  </a:extLst>
                </a:gridCol>
              </a:tblGrid>
              <a:tr h="599795">
                <a:tc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1179803"/>
                  </a:ext>
                </a:extLst>
              </a:tr>
              <a:tr h="599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j-lt"/>
                        </a:rPr>
                        <a:t>13 coarse-grained procedural events 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3270268"/>
                  </a:ext>
                </a:extLst>
              </a:tr>
              <a:tr h="599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latin typeface="+mj-lt"/>
                        </a:rPr>
                        <a:t>13 fine-grained procedural events 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6757545"/>
                  </a:ext>
                </a:extLst>
              </a:tr>
              <a:tr h="474410">
                <a:tc>
                  <a:txBody>
                    <a:bodyPr/>
                    <a:lstStyle/>
                    <a:p>
                      <a:pPr algn="ctr"/>
                      <a:r>
                        <a:rPr lang="en" altLang="zh-CN" sz="2000" b="0" dirty="0">
                          <a:latin typeface="+mj-lt"/>
                        </a:rPr>
                        <a:t>8 adverse events and 2 repair events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2491457"/>
                  </a:ext>
                </a:extLst>
              </a:tr>
              <a:tr h="5997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latin typeface="+mj-lt"/>
                        </a:rPr>
                        <a:t>5 video recording events</a:t>
                      </a:r>
                    </a:p>
                  </a:txBody>
                  <a:tcPr marL="58707" marR="58707" marT="29353" marB="29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88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502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40222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Framework Instantiation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aphicFrame>
        <p:nvGraphicFramePr>
          <p:cNvPr id="4" name="表格 149">
            <a:extLst>
              <a:ext uri="{FF2B5EF4-FFF2-40B4-BE49-F238E27FC236}">
                <a16:creationId xmlns:a16="http://schemas.microsoft.com/office/drawing/2014/main" id="{C2B6F5FC-75A7-9E4D-86C6-67D1783F34D6}"/>
              </a:ext>
            </a:extLst>
          </p:cNvPr>
          <p:cNvGraphicFramePr>
            <a:graphicFrameLocks noGrp="1"/>
          </p:cNvGraphicFramePr>
          <p:nvPr/>
        </p:nvGraphicFramePr>
        <p:xfrm>
          <a:off x="4168944" y="2467894"/>
          <a:ext cx="7556147" cy="2934856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054661">
                  <a:extLst>
                    <a:ext uri="{9D8B030D-6E8A-4147-A177-3AD203B41FA5}">
                      <a16:colId xmlns:a16="http://schemas.microsoft.com/office/drawing/2014/main" val="2556609757"/>
                    </a:ext>
                  </a:extLst>
                </a:gridCol>
                <a:gridCol w="3165205">
                  <a:extLst>
                    <a:ext uri="{9D8B030D-6E8A-4147-A177-3AD203B41FA5}">
                      <a16:colId xmlns:a16="http://schemas.microsoft.com/office/drawing/2014/main" val="999790851"/>
                    </a:ext>
                  </a:extLst>
                </a:gridCol>
                <a:gridCol w="3336281">
                  <a:extLst>
                    <a:ext uri="{9D8B030D-6E8A-4147-A177-3AD203B41FA5}">
                      <a16:colId xmlns:a16="http://schemas.microsoft.com/office/drawing/2014/main" val="1838852737"/>
                    </a:ext>
                  </a:extLst>
                </a:gridCol>
              </a:tblGrid>
              <a:tr h="41729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 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Simulated Data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Clinical Data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9249539"/>
                  </a:ext>
                </a:extLst>
              </a:tr>
              <a:tr h="6164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Visual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Image-Net pretrained </a:t>
                      </a:r>
                      <a:r>
                        <a:rPr lang="en-US" altLang="zh-CN" sz="2000" dirty="0" err="1">
                          <a:latin typeface="+mj-lt"/>
                        </a:rPr>
                        <a:t>ResNet</a:t>
                      </a:r>
                      <a:r>
                        <a:rPr lang="en-US" altLang="zh-CN" sz="2000" dirty="0">
                          <a:latin typeface="+mj-lt"/>
                        </a:rPr>
                        <a:t> features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3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6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3270268"/>
                  </a:ext>
                </a:extLst>
              </a:tr>
              <a:tr h="6164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Tool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2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kern="1200" dirty="0">
                          <a:solidFill>
                            <a:schemeClr val="dk1"/>
                          </a:solidFill>
                          <a:latin typeface="+mj-lt"/>
                        </a:rPr>
                        <a:t>Robotic kinematics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22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2000" kern="1200" dirty="0">
                          <a:solidFill>
                            <a:schemeClr val="dk1"/>
                          </a:solidFill>
                          <a:latin typeface="+mj-lt"/>
                        </a:rPr>
                        <a:t>Histograms of tool masks</a:t>
                      </a:r>
                      <a:endParaRPr lang="zh-CN" altLang="en-US" sz="20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16757545"/>
                  </a:ext>
                </a:extLst>
              </a:tr>
              <a:tr h="6164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Proxy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2000" dirty="0">
                          <a:latin typeface="+mj-lt"/>
                        </a:rPr>
                        <a:t>Task completion time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2000" dirty="0">
                          <a:latin typeface="+mj-lt"/>
                        </a:rPr>
                        <a:t>Field clearness [Liu et al.]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91457"/>
                  </a:ext>
                </a:extLst>
              </a:tr>
              <a:tr h="6164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Event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Gesture predictions</a:t>
                      </a:r>
                    </a:p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 from MS-TCN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Event predictions</a:t>
                      </a:r>
                    </a:p>
                    <a:p>
                      <a:pPr algn="ctr"/>
                      <a:r>
                        <a:rPr lang="en-US" altLang="zh-CN" sz="2000" dirty="0">
                          <a:latin typeface="+mj-lt"/>
                        </a:rPr>
                        <a:t> from MS-TCN</a:t>
                      </a:r>
                      <a:endParaRPr lang="zh-CN" altLang="en-US" sz="2000" dirty="0">
                        <a:latin typeface="+mj-lt"/>
                      </a:endParaRPr>
                    </a:p>
                  </a:txBody>
                  <a:tcPr marL="58707" marR="58707" marT="29353" marB="2935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6886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74200E1-E75E-4F4D-A4B1-B983860B81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9656" y="2327148"/>
              <a:ext cx="2719258" cy="3075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071217">
                      <a:extLst>
                        <a:ext uri="{9D8B030D-6E8A-4147-A177-3AD203B41FA5}">
                          <a16:colId xmlns:a16="http://schemas.microsoft.com/office/drawing/2014/main" val="2556609757"/>
                        </a:ext>
                      </a:extLst>
                    </a:gridCol>
                    <a:gridCol w="1648041">
                      <a:extLst>
                        <a:ext uri="{9D8B030D-6E8A-4147-A177-3AD203B41FA5}">
                          <a16:colId xmlns:a16="http://schemas.microsoft.com/office/drawing/2014/main" val="999790851"/>
                        </a:ext>
                      </a:extLst>
                    </a:gridCol>
                  </a:tblGrid>
                  <a:tr h="5126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j-lt"/>
                            </a:rPr>
                            <a:t>Functions</a:t>
                          </a:r>
                          <a:endParaRPr lang="zh-CN" altLang="en-US" sz="2000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1179803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zh-CN" altLang="en-US" sz="2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DC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latin typeface="+mj-lt"/>
                            </a:rPr>
                            <a:t>TCN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DC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270268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zh-CN" altLang="en-US" sz="2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latin typeface="+mj-lt"/>
                            </a:rPr>
                            <a:t>MLP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6757545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zh-CN" altLang="en-US" sz="2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DB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" altLang="zh-CN" sz="2000" b="0" dirty="0" err="1">
                              <a:latin typeface="+mj-lt"/>
                            </a:rPr>
                            <a:t>Concat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491457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zh-CN" altLang="en-US" sz="2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kern="1200" dirty="0">
                              <a:solidFill>
                                <a:schemeClr val="dk1"/>
                              </a:solidFill>
                              <a:latin typeface="+mj-lt"/>
                            </a:rPr>
                            <a:t>MLP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33688655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zh-CN" altLang="en-US" sz="2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zh-CN" altLang="en-US" sz="2000" b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DCD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latin typeface="+mj-lt"/>
                            </a:rPr>
                            <a:t>MLP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DC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095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74200E1-E75E-4F4D-A4B1-B983860B81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9656" y="2327148"/>
              <a:ext cx="2719258" cy="3075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071217">
                      <a:extLst>
                        <a:ext uri="{9D8B030D-6E8A-4147-A177-3AD203B41FA5}">
                          <a16:colId xmlns:a16="http://schemas.microsoft.com/office/drawing/2014/main" val="2556609757"/>
                        </a:ext>
                      </a:extLst>
                    </a:gridCol>
                    <a:gridCol w="1648041">
                      <a:extLst>
                        <a:ext uri="{9D8B030D-6E8A-4147-A177-3AD203B41FA5}">
                          <a16:colId xmlns:a16="http://schemas.microsoft.com/office/drawing/2014/main" val="999790851"/>
                        </a:ext>
                      </a:extLst>
                    </a:gridCol>
                  </a:tblGrid>
                  <a:tr h="5126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+mj-lt"/>
                            </a:rPr>
                            <a:t>Functions</a:t>
                          </a:r>
                          <a:endParaRPr lang="zh-CN" altLang="en-US" sz="2000" b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1179803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5000" r="-152941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latin typeface="+mj-lt"/>
                            </a:rPr>
                            <a:t>TCN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DC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270268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0000" r="-152941" b="-3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latin typeface="+mj-lt"/>
                            </a:rPr>
                            <a:t>MLP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16757545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7500" r="-152941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" altLang="zh-CN" sz="2000" b="0" dirty="0" err="1">
                              <a:latin typeface="+mj-lt"/>
                            </a:rPr>
                            <a:t>Concat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FDB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491457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97561" r="-152941" b="-107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kern="1200" dirty="0">
                              <a:solidFill>
                                <a:schemeClr val="dk1"/>
                              </a:solidFill>
                              <a:latin typeface="+mj-lt"/>
                            </a:rPr>
                            <a:t>MLP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33688655"/>
                      </a:ext>
                    </a:extLst>
                  </a:tr>
                  <a:tr h="512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510000" r="-152941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0" dirty="0">
                              <a:latin typeface="+mj-lt"/>
                            </a:rPr>
                            <a:t>MLP</a:t>
                          </a:r>
                          <a:endParaRPr lang="zh-CN" altLang="en-US" sz="2000" b="0" dirty="0">
                            <a:latin typeface="+mj-lt"/>
                          </a:endParaRPr>
                        </a:p>
                      </a:txBody>
                      <a:tcPr marL="58707" marR="58707" marT="29353" marB="29353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0DCD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4095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F7276A19-AE3A-0E41-AF82-D2CC96A96AFE}"/>
              </a:ext>
            </a:extLst>
          </p:cNvPr>
          <p:cNvSpPr/>
          <p:nvPr/>
        </p:nvSpPr>
        <p:spPr>
          <a:xfrm>
            <a:off x="-270795" y="1576439"/>
            <a:ext cx="46201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2400" b="1" dirty="0">
                <a:solidFill>
                  <a:srgbClr val="990000"/>
                </a:solidFill>
                <a:latin typeface="+mj-lt"/>
              </a:rPr>
              <a:t>Instantiation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E88ACB-DC0E-2B47-B183-EA398ADC8E1D}"/>
              </a:ext>
            </a:extLst>
          </p:cNvPr>
          <p:cNvSpPr/>
          <p:nvPr/>
        </p:nvSpPr>
        <p:spPr>
          <a:xfrm>
            <a:off x="6561484" y="1582542"/>
            <a:ext cx="27655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altLang="zh-CN" sz="2400" b="1" dirty="0">
                <a:solidFill>
                  <a:srgbClr val="4B72B1"/>
                </a:solidFill>
                <a:latin typeface="+mj-lt"/>
              </a:rPr>
              <a:t>Path Input Features </a:t>
            </a:r>
          </a:p>
        </p:txBody>
      </p:sp>
    </p:spTree>
    <p:extLst>
      <p:ext uri="{BB962C8B-B14F-4D97-AF65-F5344CB8AC3E}">
        <p14:creationId xmlns:p14="http://schemas.microsoft.com/office/powerpoint/2010/main" val="404083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21739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Experiments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9493CE-599A-E04B-8F42-FAE3A833E5EA}"/>
              </a:ext>
            </a:extLst>
          </p:cNvPr>
          <p:cNvGrpSpPr/>
          <p:nvPr/>
        </p:nvGrpSpPr>
        <p:grpSpPr>
          <a:xfrm>
            <a:off x="860625" y="2243414"/>
            <a:ext cx="10470751" cy="3294514"/>
            <a:chOff x="983317" y="2891805"/>
            <a:chExt cx="10470751" cy="3294514"/>
          </a:xfrm>
        </p:grpSpPr>
        <p:graphicFrame>
          <p:nvGraphicFramePr>
            <p:cNvPr id="4" name="图表 3">
              <a:extLst>
                <a:ext uri="{FF2B5EF4-FFF2-40B4-BE49-F238E27FC236}">
                  <a16:creationId xmlns:a16="http://schemas.microsoft.com/office/drawing/2014/main" id="{424C785C-24FB-714F-A950-6AA25E57429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75522140"/>
                </p:ext>
              </p:extLst>
            </p:nvPr>
          </p:nvGraphicFramePr>
          <p:xfrm>
            <a:off x="983317" y="2891805"/>
            <a:ext cx="5112683" cy="329451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5" name="图表 4">
              <a:extLst>
                <a:ext uri="{FF2B5EF4-FFF2-40B4-BE49-F238E27FC236}">
                  <a16:creationId xmlns:a16="http://schemas.microsoft.com/office/drawing/2014/main" id="{948C08D5-D39E-E549-8ADA-F033F9CCFC3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50924034"/>
                </p:ext>
              </p:extLst>
            </p:nvPr>
          </p:nvGraphicFramePr>
          <p:xfrm>
            <a:off x="6333428" y="2894479"/>
            <a:ext cx="5120640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3054B6-F283-FE45-8B8B-AF1D2D56B0D5}"/>
              </a:ext>
            </a:extLst>
          </p:cNvPr>
          <p:cNvGrpSpPr/>
          <p:nvPr/>
        </p:nvGrpSpPr>
        <p:grpSpPr>
          <a:xfrm>
            <a:off x="3906138" y="997674"/>
            <a:ext cx="4379725" cy="938960"/>
            <a:chOff x="34802021" y="9330382"/>
            <a:chExt cx="4379725" cy="9389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B9331FF-D7A1-C94B-8102-6518753EF8E8}"/>
                </a:ext>
              </a:extLst>
            </p:cNvPr>
            <p:cNvSpPr/>
            <p:nvPr/>
          </p:nvSpPr>
          <p:spPr>
            <a:xfrm>
              <a:off x="35844774" y="9330382"/>
              <a:ext cx="2294218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" altLang="zh-CN" sz="2600" b="1" dirty="0">
                  <a:solidFill>
                    <a:srgbClr val="4B72B1"/>
                  </a:solidFill>
                  <a:latin typeface="+mj-lt"/>
                </a:rPr>
                <a:t>Effects of Paths</a:t>
              </a:r>
              <a:endParaRPr lang="zh-CN" altLang="en-US" sz="2600" dirty="0">
                <a:solidFill>
                  <a:srgbClr val="4B72B1"/>
                </a:solidFill>
                <a:latin typeface="+mj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F13CCCD-F6B5-1740-86AC-D9C010CC466F}"/>
                </a:ext>
              </a:extLst>
            </p:cNvPr>
            <p:cNvSpPr/>
            <p:nvPr/>
          </p:nvSpPr>
          <p:spPr>
            <a:xfrm>
              <a:off x="34802021" y="9869232"/>
              <a:ext cx="437972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V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Visual   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T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Tool   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P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Proxy   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E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Event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8901F6E-F6A6-F547-A117-BAC32BBD8155}"/>
              </a:ext>
            </a:extLst>
          </p:cNvPr>
          <p:cNvSpPr txBox="1"/>
          <p:nvPr/>
        </p:nvSpPr>
        <p:spPr>
          <a:xfrm>
            <a:off x="1980591" y="5853809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Simulated Data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6EBA4B-978B-B94C-A453-F8B04B55DE12}"/>
              </a:ext>
            </a:extLst>
          </p:cNvPr>
          <p:cNvSpPr txBox="1"/>
          <p:nvPr/>
        </p:nvSpPr>
        <p:spPr>
          <a:xfrm>
            <a:off x="7334681" y="5847382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Clinical Data</a:t>
            </a:r>
          </a:p>
        </p:txBody>
      </p:sp>
      <p:pic>
        <p:nvPicPr>
          <p:cNvPr id="15" name="音频 14">
            <a:hlinkClick r:id="" action="ppaction://media"/>
            <a:extLst>
              <a:ext uri="{FF2B5EF4-FFF2-40B4-BE49-F238E27FC236}">
                <a16:creationId xmlns:a16="http://schemas.microsoft.com/office/drawing/2014/main" id="{55CE8BED-E49B-BD44-A188-65A2F15378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278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51"/>
    </mc:Choice>
    <mc:Fallback>
      <p:transition spd="slow" advTm="78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21739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Experiments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9493CE-599A-E04B-8F42-FAE3A833E5EA}"/>
              </a:ext>
            </a:extLst>
          </p:cNvPr>
          <p:cNvGrpSpPr/>
          <p:nvPr/>
        </p:nvGrpSpPr>
        <p:grpSpPr>
          <a:xfrm>
            <a:off x="860625" y="2243414"/>
            <a:ext cx="10470751" cy="3294514"/>
            <a:chOff x="983317" y="2891805"/>
            <a:chExt cx="10470751" cy="3294514"/>
          </a:xfrm>
        </p:grpSpPr>
        <p:graphicFrame>
          <p:nvGraphicFramePr>
            <p:cNvPr id="4" name="图表 3">
              <a:extLst>
                <a:ext uri="{FF2B5EF4-FFF2-40B4-BE49-F238E27FC236}">
                  <a16:creationId xmlns:a16="http://schemas.microsoft.com/office/drawing/2014/main" id="{424C785C-24FB-714F-A950-6AA25E57429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983317" y="2891805"/>
            <a:ext cx="5112683" cy="329451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5" name="图表 4">
              <a:extLst>
                <a:ext uri="{FF2B5EF4-FFF2-40B4-BE49-F238E27FC236}">
                  <a16:creationId xmlns:a16="http://schemas.microsoft.com/office/drawing/2014/main" id="{948C08D5-D39E-E549-8ADA-F033F9CCFC3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333428" y="2894479"/>
            <a:ext cx="5120640" cy="329184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3054B6-F283-FE45-8B8B-AF1D2D56B0D5}"/>
              </a:ext>
            </a:extLst>
          </p:cNvPr>
          <p:cNvGrpSpPr/>
          <p:nvPr/>
        </p:nvGrpSpPr>
        <p:grpSpPr>
          <a:xfrm>
            <a:off x="3906138" y="997674"/>
            <a:ext cx="4379725" cy="938960"/>
            <a:chOff x="34802021" y="9330382"/>
            <a:chExt cx="4379725" cy="93896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B9331FF-D7A1-C94B-8102-6518753EF8E8}"/>
                </a:ext>
              </a:extLst>
            </p:cNvPr>
            <p:cNvSpPr/>
            <p:nvPr/>
          </p:nvSpPr>
          <p:spPr>
            <a:xfrm>
              <a:off x="35844774" y="9330382"/>
              <a:ext cx="2294218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" altLang="zh-CN" sz="2600" b="1" dirty="0">
                  <a:solidFill>
                    <a:srgbClr val="4B72B1"/>
                  </a:solidFill>
                  <a:latin typeface="+mj-lt"/>
                </a:rPr>
                <a:t>Effects of Paths</a:t>
              </a:r>
              <a:endParaRPr lang="zh-CN" altLang="en-US" sz="2600" dirty="0">
                <a:solidFill>
                  <a:srgbClr val="4B72B1"/>
                </a:solidFill>
                <a:latin typeface="+mj-lt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F13CCCD-F6B5-1740-86AC-D9C010CC466F}"/>
                </a:ext>
              </a:extLst>
            </p:cNvPr>
            <p:cNvSpPr/>
            <p:nvPr/>
          </p:nvSpPr>
          <p:spPr>
            <a:xfrm>
              <a:off x="34802021" y="9869232"/>
              <a:ext cx="437972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V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Visual   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T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Tool   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P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Proxy    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E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: Event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8901F6E-F6A6-F547-A117-BAC32BBD8155}"/>
              </a:ext>
            </a:extLst>
          </p:cNvPr>
          <p:cNvSpPr txBox="1"/>
          <p:nvPr/>
        </p:nvSpPr>
        <p:spPr>
          <a:xfrm>
            <a:off x="1980591" y="5853809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Simulated Data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B6EBA4B-978B-B94C-A453-F8B04B55DE12}"/>
              </a:ext>
            </a:extLst>
          </p:cNvPr>
          <p:cNvSpPr txBox="1"/>
          <p:nvPr/>
        </p:nvSpPr>
        <p:spPr>
          <a:xfrm>
            <a:off x="7334681" y="5847382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Clinical Data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346A6DB-C74B-2347-AAD9-768AA0ADD5F4}"/>
              </a:ext>
            </a:extLst>
          </p:cNvPr>
          <p:cNvSpPr/>
          <p:nvPr/>
        </p:nvSpPr>
        <p:spPr>
          <a:xfrm>
            <a:off x="860625" y="2276756"/>
            <a:ext cx="4456964" cy="125423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EA276F1-9ED7-EE49-B13C-916B625195F5}"/>
              </a:ext>
            </a:extLst>
          </p:cNvPr>
          <p:cNvSpPr/>
          <p:nvPr/>
        </p:nvSpPr>
        <p:spPr>
          <a:xfrm>
            <a:off x="6172352" y="2276756"/>
            <a:ext cx="4641421" cy="1254234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6" name="音频 15">
            <a:hlinkClick r:id="" action="ppaction://media"/>
            <a:extLst>
              <a:ext uri="{FF2B5EF4-FFF2-40B4-BE49-F238E27FC236}">
                <a16:creationId xmlns:a16="http://schemas.microsoft.com/office/drawing/2014/main" id="{9FC2F799-103B-C641-A299-DCB2A18431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48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95"/>
    </mc:Choice>
    <mc:Fallback>
      <p:transition spd="slow" advTm="9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21739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Experiments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F5C6A8C-B514-A34A-8D50-B8FDE005AA02}"/>
              </a:ext>
            </a:extLst>
          </p:cNvPr>
          <p:cNvGrpSpPr/>
          <p:nvPr/>
        </p:nvGrpSpPr>
        <p:grpSpPr>
          <a:xfrm>
            <a:off x="2608507" y="1129411"/>
            <a:ext cx="6974986" cy="929045"/>
            <a:chOff x="33601743" y="4261284"/>
            <a:chExt cx="6974986" cy="92904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1841BF8-C996-BF4C-B5CB-F0F27115550B}"/>
                </a:ext>
              </a:extLst>
            </p:cNvPr>
            <p:cNvSpPr/>
            <p:nvPr/>
          </p:nvSpPr>
          <p:spPr>
            <a:xfrm>
              <a:off x="34678159" y="4261284"/>
              <a:ext cx="4822154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" altLang="zh-CN" sz="2600" b="1" dirty="0">
                  <a:solidFill>
                    <a:srgbClr val="4B72B1"/>
                  </a:solidFill>
                  <a:latin typeface="+mj-lt"/>
                </a:rPr>
                <a:t>Comparisons to State-of-the-Art</a:t>
              </a:r>
              <a:endParaRPr lang="zh-CN" altLang="en-US" sz="2600" dirty="0">
                <a:solidFill>
                  <a:srgbClr val="4B72B1"/>
                </a:solidFill>
                <a:latin typeface="+mj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A77D18D-8683-634C-9B5F-A26822E6150E}"/>
                </a:ext>
              </a:extLst>
            </p:cNvPr>
            <p:cNvSpPr/>
            <p:nvPr/>
          </p:nvSpPr>
          <p:spPr>
            <a:xfrm>
              <a:off x="33601743" y="4790219"/>
              <a:ext cx="697498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Bars with the same color can be directly compared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 each plot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000B985-0EA3-864E-AB02-EB9CCC137C8A}"/>
              </a:ext>
            </a:extLst>
          </p:cNvPr>
          <p:cNvGrpSpPr/>
          <p:nvPr/>
        </p:nvGrpSpPr>
        <p:grpSpPr>
          <a:xfrm>
            <a:off x="1284879" y="2297811"/>
            <a:ext cx="9622243" cy="3708400"/>
            <a:chOff x="32635818" y="5463178"/>
            <a:chExt cx="9622243" cy="3708400"/>
          </a:xfrm>
        </p:grpSpPr>
        <p:graphicFrame>
          <p:nvGraphicFramePr>
            <p:cNvPr id="16" name="图表 15">
              <a:extLst>
                <a:ext uri="{FF2B5EF4-FFF2-40B4-BE49-F238E27FC236}">
                  <a16:creationId xmlns:a16="http://schemas.microsoft.com/office/drawing/2014/main" id="{81F4686C-78C5-C940-B97D-48F2A2FF692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635818" y="5463178"/>
            <a:ext cx="5012265" cy="3708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7" name="图表 16">
              <a:extLst>
                <a:ext uri="{FF2B5EF4-FFF2-40B4-BE49-F238E27FC236}">
                  <a16:creationId xmlns:a16="http://schemas.microsoft.com/office/drawing/2014/main" id="{9D40AEFD-68FE-9944-96FE-B82417D4F8F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067506" y="5464515"/>
            <a:ext cx="4190555" cy="37057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9695353-9ED4-A549-A66B-728400037538}"/>
              </a:ext>
            </a:extLst>
          </p:cNvPr>
          <p:cNvSpPr txBox="1"/>
          <p:nvPr/>
        </p:nvSpPr>
        <p:spPr>
          <a:xfrm>
            <a:off x="1980591" y="6075484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Simulated Data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43F570-DE86-6347-AD19-F760C106046E}"/>
              </a:ext>
            </a:extLst>
          </p:cNvPr>
          <p:cNvSpPr txBox="1"/>
          <p:nvPr/>
        </p:nvSpPr>
        <p:spPr>
          <a:xfrm>
            <a:off x="7334681" y="6069057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Clinical Data</a:t>
            </a:r>
          </a:p>
        </p:txBody>
      </p:sp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BD813A23-C321-2945-9992-370C7363D9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259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30"/>
    </mc:Choice>
    <mc:Fallback>
      <p:transition spd="slow" advTm="53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21739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Experiments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F5C6A8C-B514-A34A-8D50-B8FDE005AA02}"/>
              </a:ext>
            </a:extLst>
          </p:cNvPr>
          <p:cNvGrpSpPr/>
          <p:nvPr/>
        </p:nvGrpSpPr>
        <p:grpSpPr>
          <a:xfrm>
            <a:off x="2608507" y="1129411"/>
            <a:ext cx="6974986" cy="929045"/>
            <a:chOff x="33601743" y="4261284"/>
            <a:chExt cx="6974986" cy="92904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1841BF8-C996-BF4C-B5CB-F0F27115550B}"/>
                </a:ext>
              </a:extLst>
            </p:cNvPr>
            <p:cNvSpPr/>
            <p:nvPr/>
          </p:nvSpPr>
          <p:spPr>
            <a:xfrm>
              <a:off x="34678159" y="4261284"/>
              <a:ext cx="4822154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" altLang="zh-CN" sz="2600" b="1" dirty="0">
                  <a:solidFill>
                    <a:srgbClr val="4B72B1"/>
                  </a:solidFill>
                  <a:latin typeface="+mj-lt"/>
                </a:rPr>
                <a:t>Comparisons to State-of-the-Art</a:t>
              </a:r>
              <a:endParaRPr lang="zh-CN" altLang="en-US" sz="2600" dirty="0">
                <a:solidFill>
                  <a:srgbClr val="4B72B1"/>
                </a:solidFill>
                <a:latin typeface="+mj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A77D18D-8683-634C-9B5F-A26822E6150E}"/>
                </a:ext>
              </a:extLst>
            </p:cNvPr>
            <p:cNvSpPr/>
            <p:nvPr/>
          </p:nvSpPr>
          <p:spPr>
            <a:xfrm>
              <a:off x="33601743" y="4790219"/>
              <a:ext cx="697498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Bars with the same color can be directly compared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 each plot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000B985-0EA3-864E-AB02-EB9CCC137C8A}"/>
              </a:ext>
            </a:extLst>
          </p:cNvPr>
          <p:cNvGrpSpPr/>
          <p:nvPr/>
        </p:nvGrpSpPr>
        <p:grpSpPr>
          <a:xfrm>
            <a:off x="1284879" y="2297811"/>
            <a:ext cx="9622243" cy="3708400"/>
            <a:chOff x="32635818" y="5463178"/>
            <a:chExt cx="9622243" cy="3708400"/>
          </a:xfrm>
        </p:grpSpPr>
        <p:graphicFrame>
          <p:nvGraphicFramePr>
            <p:cNvPr id="16" name="图表 15">
              <a:extLst>
                <a:ext uri="{FF2B5EF4-FFF2-40B4-BE49-F238E27FC236}">
                  <a16:creationId xmlns:a16="http://schemas.microsoft.com/office/drawing/2014/main" id="{81F4686C-78C5-C940-B97D-48F2A2FF692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14931372"/>
                </p:ext>
              </p:extLst>
            </p:nvPr>
          </p:nvGraphicFramePr>
          <p:xfrm>
            <a:off x="32635818" y="5463178"/>
            <a:ext cx="5012265" cy="3708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7" name="图表 16">
              <a:extLst>
                <a:ext uri="{FF2B5EF4-FFF2-40B4-BE49-F238E27FC236}">
                  <a16:creationId xmlns:a16="http://schemas.microsoft.com/office/drawing/2014/main" id="{9D40AEFD-68FE-9944-96FE-B82417D4F8F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95649311"/>
                </p:ext>
              </p:extLst>
            </p:nvPr>
          </p:nvGraphicFramePr>
          <p:xfrm>
            <a:off x="38067506" y="5464515"/>
            <a:ext cx="4190555" cy="370572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9695353-9ED4-A549-A66B-728400037538}"/>
              </a:ext>
            </a:extLst>
          </p:cNvPr>
          <p:cNvSpPr txBox="1"/>
          <p:nvPr/>
        </p:nvSpPr>
        <p:spPr>
          <a:xfrm>
            <a:off x="1980591" y="6075484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Simulated Data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543F570-DE86-6347-AD19-F760C106046E}"/>
              </a:ext>
            </a:extLst>
          </p:cNvPr>
          <p:cNvSpPr txBox="1"/>
          <p:nvPr/>
        </p:nvSpPr>
        <p:spPr>
          <a:xfrm>
            <a:off x="7334681" y="6069057"/>
            <a:ext cx="2872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>
                <a:latin typeface="+mj-lt"/>
                <a:ea typeface="DejaVu Sans Book" panose="020B0603030804020204" pitchFamily="34" charset="0"/>
                <a:cs typeface="DejaVu Sans Book" panose="020B0603030804020204" pitchFamily="34" charset="0"/>
              </a:rPr>
              <a:t>Clinical Data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6245EDAF-771F-814D-9316-E6F3B13CB482}"/>
              </a:ext>
            </a:extLst>
          </p:cNvPr>
          <p:cNvSpPr/>
          <p:nvPr/>
        </p:nvSpPr>
        <p:spPr>
          <a:xfrm>
            <a:off x="2588489" y="2422786"/>
            <a:ext cx="339958" cy="24281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36E9F5C7-300D-5948-834C-069C256B3DF4}"/>
              </a:ext>
            </a:extLst>
          </p:cNvPr>
          <p:cNvSpPr/>
          <p:nvPr/>
        </p:nvSpPr>
        <p:spPr>
          <a:xfrm>
            <a:off x="8161594" y="2422786"/>
            <a:ext cx="405443" cy="24281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331FC68-34CA-BF41-BE7F-DDC80E60464E}"/>
              </a:ext>
            </a:extLst>
          </p:cNvPr>
          <p:cNvSpPr/>
          <p:nvPr/>
        </p:nvSpPr>
        <p:spPr>
          <a:xfrm>
            <a:off x="4786911" y="2422786"/>
            <a:ext cx="339958" cy="24281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166C3157-DC7D-7F48-8E65-A7504622CAEC}"/>
              </a:ext>
            </a:extLst>
          </p:cNvPr>
          <p:cNvSpPr/>
          <p:nvPr/>
        </p:nvSpPr>
        <p:spPr>
          <a:xfrm>
            <a:off x="9275933" y="2422786"/>
            <a:ext cx="405443" cy="24281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DA2B5068-9CDB-F649-B0C2-493BAABFD4A0}"/>
              </a:ext>
            </a:extLst>
          </p:cNvPr>
          <p:cNvSpPr/>
          <p:nvPr/>
        </p:nvSpPr>
        <p:spPr>
          <a:xfrm>
            <a:off x="5224959" y="2422785"/>
            <a:ext cx="339958" cy="24281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D436E23-7AB4-7342-8A1C-A4BE8C4D3279}"/>
              </a:ext>
            </a:extLst>
          </p:cNvPr>
          <p:cNvSpPr/>
          <p:nvPr/>
        </p:nvSpPr>
        <p:spPr>
          <a:xfrm>
            <a:off x="9838217" y="2422784"/>
            <a:ext cx="405443" cy="242816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音频 5">
            <a:hlinkClick r:id="" action="ppaction://media"/>
            <a:extLst>
              <a:ext uri="{FF2B5EF4-FFF2-40B4-BE49-F238E27FC236}">
                <a16:creationId xmlns:a16="http://schemas.microsoft.com/office/drawing/2014/main" id="{DA4AAF7F-0BC4-3D4D-BCD9-F21B4997D7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84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50"/>
    </mc:Choice>
    <mc:Fallback>
      <p:transition spd="slow" advTm="59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6">
            <a:extLst>
              <a:ext uri="{FF2B5EF4-FFF2-40B4-BE49-F238E27FC236}">
                <a16:creationId xmlns:a16="http://schemas.microsoft.com/office/drawing/2014/main" id="{5FAF7C3B-E7BC-0247-B85F-643EABBFC42A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129756" y="165553"/>
            <a:ext cx="1963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90000"/>
                </a:solidFill>
                <a:latin typeface="Avenir Book" panose="02000503020000020003" pitchFamily="2" charset="0"/>
              </a:rPr>
              <a:t>Conclusion</a:t>
            </a:r>
            <a:endParaRPr lang="en-US" sz="28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CFE203-8658-F545-8358-C550F449AE49}"/>
              </a:ext>
            </a:extLst>
          </p:cNvPr>
          <p:cNvSpPr/>
          <p:nvPr/>
        </p:nvSpPr>
        <p:spPr>
          <a:xfrm>
            <a:off x="611143" y="1409661"/>
            <a:ext cx="98778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400" b="1" dirty="0">
                <a:solidFill>
                  <a:srgbClr val="990000"/>
                </a:solidFill>
              </a:rPr>
              <a:t>Conclusion</a:t>
            </a:r>
            <a:endParaRPr lang="en" altLang="zh-CN" sz="2400" b="1" dirty="0">
              <a:latin typeface="+mj-lt"/>
            </a:endParaRPr>
          </a:p>
          <a:p>
            <a:r>
              <a:rPr lang="en" altLang="zh-CN" sz="2400" dirty="0">
                <a:latin typeface="+mj-lt"/>
              </a:rPr>
              <a:t>A flexible multi-path framework to assess surgical skills </a:t>
            </a:r>
          </a:p>
          <a:p>
            <a:r>
              <a:rPr lang="en" altLang="zh-CN" sz="2400" dirty="0">
                <a:latin typeface="+mj-lt"/>
              </a:rPr>
              <a:t>Effective on both simulated and clinical surgery data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47BB2B-4698-5649-839F-747BDC9CF777}"/>
              </a:ext>
            </a:extLst>
          </p:cNvPr>
          <p:cNvSpPr/>
          <p:nvPr/>
        </p:nvSpPr>
        <p:spPr>
          <a:xfrm>
            <a:off x="611143" y="2849984"/>
            <a:ext cx="52598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400" b="1" dirty="0">
                <a:solidFill>
                  <a:srgbClr val="990000"/>
                </a:solidFill>
              </a:rPr>
              <a:t>Future Works</a:t>
            </a:r>
            <a:endParaRPr lang="en" altLang="zh-CN" sz="2400" b="1" dirty="0">
              <a:latin typeface="+mj-lt"/>
            </a:endParaRPr>
          </a:p>
          <a:p>
            <a:r>
              <a:rPr lang="en" altLang="zh-CN" sz="2400" dirty="0">
                <a:latin typeface="+mj-lt"/>
              </a:rPr>
              <a:t>More paths and better functions</a:t>
            </a:r>
          </a:p>
          <a:p>
            <a:r>
              <a:rPr lang="en" altLang="zh-CN" sz="2400" dirty="0">
                <a:latin typeface="+mj-lt"/>
              </a:rPr>
              <a:t>More labeled clinical data from ORs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902F2A-23A1-5840-B1E9-014694E2471A}"/>
              </a:ext>
            </a:extLst>
          </p:cNvPr>
          <p:cNvSpPr/>
          <p:nvPr/>
        </p:nvSpPr>
        <p:spPr>
          <a:xfrm>
            <a:off x="611143" y="4290306"/>
            <a:ext cx="734598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000" dirty="0">
                <a:solidFill>
                  <a:srgbClr val="990000"/>
                </a:solidFill>
              </a:rPr>
              <a:t>Code Released at </a:t>
            </a:r>
            <a:r>
              <a:rPr lang="en" altLang="zh-CN" sz="2000" dirty="0" err="1">
                <a:solidFill>
                  <a:srgbClr val="990000"/>
                </a:solidFill>
              </a:rPr>
              <a:t>github.com</a:t>
            </a:r>
            <a:r>
              <a:rPr lang="en" altLang="zh-CN" sz="2000" dirty="0">
                <a:solidFill>
                  <a:srgbClr val="990000"/>
                </a:solidFill>
              </a:rPr>
              <a:t>/Finspire13</a:t>
            </a:r>
            <a:endParaRPr lang="zh-CN" altLang="en-US" sz="2000" dirty="0">
              <a:solidFill>
                <a:srgbClr val="990000"/>
              </a:solidFill>
            </a:endParaRPr>
          </a:p>
        </p:txBody>
      </p:sp>
      <p:pic>
        <p:nvPicPr>
          <p:cNvPr id="10" name="音频 9">
            <a:hlinkClick r:id="" action="ppaction://media"/>
            <a:extLst>
              <a:ext uri="{FF2B5EF4-FFF2-40B4-BE49-F238E27FC236}">
                <a16:creationId xmlns:a16="http://schemas.microsoft.com/office/drawing/2014/main" id="{24272BAE-36F2-0144-8F91-9AB311C110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17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83"/>
    </mc:Choice>
    <mc:Fallback>
      <p:transition spd="slow" advTm="266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42D5E00-0373-A644-9FE1-ABA812E22FCE}"/>
              </a:ext>
            </a:extLst>
          </p:cNvPr>
          <p:cNvSpPr/>
          <p:nvPr/>
        </p:nvSpPr>
        <p:spPr>
          <a:xfrm>
            <a:off x="4752876" y="1524941"/>
            <a:ext cx="268624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4000" dirty="0">
                <a:solidFill>
                  <a:srgbClr val="890000"/>
                </a:solidFill>
                <a:latin typeface="Avenir Book" panose="02000503020000020003" pitchFamily="2" charset="0"/>
              </a:rPr>
              <a:t>Thank You!</a:t>
            </a:r>
            <a:endParaRPr lang="en-US" sz="4000" dirty="0">
              <a:solidFill>
                <a:srgbClr val="C34E4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74B6957-F68F-AF47-9721-08C5A8BEDD8E}"/>
              </a:ext>
            </a:extLst>
          </p:cNvPr>
          <p:cNvSpPr/>
          <p:nvPr/>
        </p:nvSpPr>
        <p:spPr>
          <a:xfrm>
            <a:off x="486256" y="5323667"/>
            <a:ext cx="331590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8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Liu is </a:t>
            </a:r>
            <a:r>
              <a:rPr lang="en" sz="28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Looking for job:</a:t>
            </a:r>
          </a:p>
          <a:p>
            <a:r>
              <a:rPr lang="en-US" sz="2800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270FB3CE-1613-404C-82FE-9CF35694E7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06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26"/>
    </mc:Choice>
    <mc:Fallback>
      <p:transition spd="slow" advTm="67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</TotalTime>
  <Words>1759</Words>
  <Application>Microsoft Macintosh PowerPoint</Application>
  <PresentationFormat>宽屏</PresentationFormat>
  <Paragraphs>421</Paragraphs>
  <Slides>23</Slides>
  <Notes>23</Notes>
  <HiddenSlides>2</HiddenSlides>
  <MMClips>21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等线</vt:lpstr>
      <vt:lpstr>等线 Light</vt:lpstr>
      <vt:lpstr>DejaVu Sans Book</vt:lpstr>
      <vt:lpstr>Arial</vt:lpstr>
      <vt:lpstr>Avenir Book</vt:lpstr>
      <vt:lpstr>Calibri</vt:lpstr>
      <vt:lpstr>Cambria Math</vt:lpstr>
      <vt:lpstr>Candara</vt:lpstr>
      <vt:lpstr>Courier</vt:lpstr>
      <vt:lpstr>Gill Sans MT</vt:lpstr>
      <vt:lpstr>Helvetica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55</cp:revision>
  <dcterms:created xsi:type="dcterms:W3CDTF">2021-05-25T04:43:57Z</dcterms:created>
  <dcterms:modified xsi:type="dcterms:W3CDTF">2021-05-28T13:47:59Z</dcterms:modified>
</cp:coreProperties>
</file>