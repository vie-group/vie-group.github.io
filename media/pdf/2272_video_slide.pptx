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sldIdLst>
    <p:sldId id="256" r:id="rId2"/>
    <p:sldId id="286" r:id="rId3"/>
    <p:sldId id="319" r:id="rId4"/>
    <p:sldId id="320" r:id="rId5"/>
    <p:sldId id="321" r:id="rId6"/>
    <p:sldId id="324" r:id="rId7"/>
    <p:sldId id="325" r:id="rId8"/>
    <p:sldId id="326" r:id="rId9"/>
    <p:sldId id="327" r:id="rId10"/>
    <p:sldId id="329" r:id="rId11"/>
    <p:sldId id="328" r:id="rId12"/>
    <p:sldId id="307" r:id="rId13"/>
    <p:sldId id="318" r:id="rId14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8B0012"/>
    <a:srgbClr val="E6E6E6"/>
    <a:srgbClr val="152E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7F6376-7805-4F4E-A3B4-1980E4502A3C}" v="203" dt="2020-01-09T12:07:40.4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3" autoAdjust="0"/>
    <p:restoredTop sz="80404" autoAdjust="0"/>
  </p:normalViewPr>
  <p:slideViewPr>
    <p:cSldViewPr snapToGrid="0" showGuides="1">
      <p:cViewPr varScale="1">
        <p:scale>
          <a:sx n="129" d="100"/>
          <a:sy n="129" d="100"/>
        </p:scale>
        <p:origin x="400" y="8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F4615D-9CE9-429A-A223-474B18918F25}" type="datetimeFigureOut">
              <a:rPr lang="zh-CN" altLang="en-US" smtClean="0"/>
              <a:t>2022/10/2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7F0B17-20C8-4CBB-BD66-70902ADF39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7495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4000"/>
              </a:lnSpc>
            </a:pPr>
            <a:r>
              <a:rPr lang="en-US" altLang="zh-CN" dirty="0"/>
              <a:t>Hi, everyone. My name is Zhixuan Li.</a:t>
            </a:r>
            <a:r>
              <a:rPr lang="zh-CN" altLang="en-US" dirty="0"/>
              <a:t> </a:t>
            </a:r>
            <a:r>
              <a:rPr lang="en-US" altLang="zh-CN" dirty="0"/>
              <a:t>Our</a:t>
            </a:r>
            <a:r>
              <a:rPr lang="zh-CN" altLang="en-US" dirty="0"/>
              <a:t> </a:t>
            </a:r>
            <a:r>
              <a:rPr lang="en-US" altLang="zh-CN" dirty="0"/>
              <a:t>team</a:t>
            </a:r>
            <a:r>
              <a:rPr lang="zh-CN" altLang="en-US" dirty="0"/>
              <a:t> </a:t>
            </a:r>
            <a:r>
              <a:rPr lang="en-US" altLang="zh-CN" dirty="0"/>
              <a:t>is from Peking University, China. </a:t>
            </a:r>
          </a:p>
          <a:p>
            <a:pPr>
              <a:lnSpc>
                <a:spcPct val="114000"/>
              </a:lnSpc>
            </a:pPr>
            <a:endParaRPr lang="en-US" altLang="zh-CN" dirty="0"/>
          </a:p>
          <a:p>
            <a:pPr>
              <a:lnSpc>
                <a:spcPct val="114000"/>
              </a:lnSpc>
            </a:pPr>
            <a:r>
              <a:rPr lang="en-US" altLang="zh-CN" dirty="0"/>
              <a:t>Today I want to introduce our paper named “</a:t>
            </a:r>
            <a:r>
              <a:rPr lang="en-US" altLang="zh-CN" sz="1200" b="1" dirty="0">
                <a:solidFill>
                  <a:srgbClr val="C00000"/>
                </a:solidFill>
                <a:ea typeface="+mj-ea"/>
              </a:rPr>
              <a:t>2D Amodal Instance Segmentation Guided by 3D Shape Prior</a:t>
            </a:r>
            <a:r>
              <a:rPr lang="en-US" altLang="zh-CN" dirty="0"/>
              <a:t>“.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7F0B17-20C8-4CBB-BD66-70902ADF39C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46266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CN" sz="1800" b="0" i="0" u="none" strike="noStrike" baseline="0" dirty="0">
                <a:latin typeface="CMR9"/>
              </a:rPr>
              <a:t>At present, visible instance segmentation has been widely studied. Amodal instance segmentation is a more challenging task than visible instance segmentation.</a:t>
            </a:r>
          </a:p>
          <a:p>
            <a:pPr algn="l"/>
            <a:endParaRPr lang="en-US" altLang="zh-CN" sz="1800" b="0" i="0" u="none" strike="noStrike" baseline="0" dirty="0">
              <a:latin typeface="CMR9"/>
            </a:endParaRPr>
          </a:p>
          <a:p>
            <a:pPr algn="l"/>
            <a:r>
              <a:rPr lang="en-US" altLang="zh-CN" sz="1800" b="0" i="0" u="none" strike="noStrike" baseline="0" dirty="0">
                <a:latin typeface="CMR9"/>
              </a:rPr>
              <a:t>Amodal instance segmentation aims to predict the complete mask of the occluded instance, including both visible and invisible regions. </a:t>
            </a:r>
            <a:r>
              <a:rPr lang="en-US" altLang="zh-CN" sz="1200" b="0" i="0" u="none" strike="noStrike" baseline="0" dirty="0">
                <a:latin typeface="CMR9"/>
              </a:rPr>
              <a:t>Amodal instance segmentation can be called as AIS for short.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7F0B17-20C8-4CBB-BD66-70902ADF39C6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1197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There are several problems reserved in existing amodal instance segmentation methods.</a:t>
            </a:r>
          </a:p>
          <a:p>
            <a:endParaRPr lang="en-US" altLang="zh-CN" dirty="0"/>
          </a:p>
          <a:p>
            <a:r>
              <a:rPr lang="en-US" altLang="zh-CN" dirty="0"/>
              <a:t>For example:</a:t>
            </a:r>
          </a:p>
          <a:p>
            <a:endParaRPr lang="en-US" altLang="zh-CN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altLang="zh-CN" dirty="0"/>
              <a:t>All existing AIS methods </a:t>
            </a:r>
            <a:r>
              <a:rPr kumimoji="1" lang="en-US" altLang="zh-CN" sz="1200" dirty="0"/>
              <a:t>learn 2D amodal shapes in 2D space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en-US" altLang="zh-CN" sz="1200" dirty="0"/>
              <a:t>Which means the real shape of each object in the 3D space is not learned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en-US" altLang="zh-CN" sz="1200" dirty="0"/>
              <a:t>Therefore, for a new viewpoint which has not appeared in the training dataset, existing AIS methods are hard to generalize to the new viewpoints of the same 3D object.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7F0B17-20C8-4CBB-BD66-70902ADF39C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73279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We are motivated by two simple observations.</a:t>
            </a:r>
          </a:p>
          <a:p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First, </a:t>
            </a:r>
            <a:r>
              <a:rPr kumimoji="1" lang="en-US" altLang="zh-CN" sz="1200" dirty="0"/>
              <a:t>2D amodal mask is the projection of 3D model</a:t>
            </a:r>
          </a:p>
          <a:p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Second, </a:t>
            </a:r>
            <a:r>
              <a:rPr kumimoji="1" lang="en-US" altLang="zh-CN" sz="1200" dirty="0"/>
              <a:t>3D model can be reconstructed from 2D instances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Therefore, in this paper, we aim to build a bridge between the 2D occluded mask and the 3D completed object by using unsupervised 3D reconstruction.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7F0B17-20C8-4CBB-BD66-70902ADF39C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14259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The unsupervised 3D reconstruction framework takes an 2D image as input. </a:t>
            </a:r>
          </a:p>
          <a:p>
            <a:endParaRPr lang="en-US" altLang="zh-CN" dirty="0"/>
          </a:p>
          <a:p>
            <a:r>
              <a:rPr lang="en-US" altLang="zh-CN" dirty="0"/>
              <a:t>Then the 3D shape network reconstructs the 3D model from the 2D image.</a:t>
            </a:r>
          </a:p>
          <a:p>
            <a:endParaRPr lang="en-US" altLang="zh-CN" dirty="0"/>
          </a:p>
          <a:p>
            <a:r>
              <a:rPr lang="en-US" altLang="zh-CN" dirty="0"/>
              <a:t>Next the differentiable renderer projects the 3D model to the 2D mask.</a:t>
            </a:r>
          </a:p>
          <a:p>
            <a:endParaRPr lang="en-US" altLang="zh-CN" dirty="0"/>
          </a:p>
          <a:p>
            <a:r>
              <a:rPr lang="en-US" altLang="zh-CN" dirty="0"/>
              <a:t>Finally, the ground-truth 2D mask is used for supervision.</a:t>
            </a:r>
          </a:p>
          <a:p>
            <a:endParaRPr lang="en-US" altLang="zh-CN" dirty="0"/>
          </a:p>
          <a:p>
            <a:r>
              <a:rPr lang="en-US" altLang="zh-CN" dirty="0"/>
              <a:t>The entire framework does not need the ground-truth 3D model.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7F0B17-20C8-4CBB-BD66-70902ADF39C6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34654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This is the overview framework of our method.</a:t>
            </a:r>
          </a:p>
          <a:p>
            <a:endParaRPr lang="en-US" altLang="zh-CN" dirty="0"/>
          </a:p>
          <a:p>
            <a:r>
              <a:rPr lang="en-US" altLang="zh-CN" dirty="0"/>
              <a:t>Our method contains five steps. The orders are from left to right.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7F0B17-20C8-4CBB-BD66-70902ADF39C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62067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In the first step, for each image which contains several instances, the amodal bounding boxes are detected and the visible masks are segmented.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7F0B17-20C8-4CBB-BD66-70902ADF39C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37876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In the second step, an encoder-decoder is used to learn the 3D shape prior from the 2D visible mask and appearance feature of each instance.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7F0B17-20C8-4CBB-BD66-70902ADF39C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53680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In the third step, the viewpoint estimator predicts the camera parameters of each object. The camera parameters represents the viewpoint to observe and project the 3D object.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7F0B17-20C8-4CBB-BD66-70902ADF39C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50750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In the fourth step, the differentiable render projects the 3D shape prior model to the 2D space, to obtain the coarse 2D amodal mask.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7F0B17-20C8-4CBB-BD66-70902ADF39C6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7850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Finally, in the fifth step, the region-specific edge refine module further improves the quality of the predicted amodal mask to obtain the final prediction.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7F0B17-20C8-4CBB-BD66-70902ADF39C6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8699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We have conducted experiments on four challenging datasets, including ShapeNet, COCOA-cls, D2SA and KINS. </a:t>
            </a:r>
          </a:p>
          <a:p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The q</a:t>
            </a:r>
            <a:r>
              <a:rPr kumimoji="1" lang="en-US" altLang="zh-CN" dirty="0"/>
              <a:t>ualitative result on the ShapeNet dataset are shown in the right side.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dirty="0"/>
              <a:t>For each instance, our method can predict both the 3D shape prior model and the 2D amodal mask.</a:t>
            </a:r>
            <a:endParaRPr kumimoji="1"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7F0B17-20C8-4CBB-BD66-70902ADF39C6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76157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Thanks for your watching!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7F0B17-20C8-4CBB-BD66-70902ADF39C6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81108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1" y="0"/>
            <a:ext cx="12192001" cy="6858000"/>
          </a:xfrm>
          <a:prstGeom prst="rect">
            <a:avLst/>
          </a:prstGeom>
          <a:blipFill dpi="0" rotWithShape="1">
            <a:blip r:embed="rId2" cstate="hqprint">
              <a:alphaModFix amt="73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图片占位符 14">
            <a:extLst>
              <a:ext uri="{FF2B5EF4-FFF2-40B4-BE49-F238E27FC236}">
                <a16:creationId xmlns:a16="http://schemas.microsoft.com/office/drawing/2014/main" id="{12B8875C-BF24-4FE9-A752-1089954BD83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261138" y="-7830"/>
            <a:ext cx="8944218" cy="6865831"/>
          </a:xfrm>
          <a:custGeom>
            <a:avLst/>
            <a:gdLst>
              <a:gd name="connsiteX0" fmla="*/ 17770 w 8944218"/>
              <a:gd name="connsiteY0" fmla="*/ 0 h 6865831"/>
              <a:gd name="connsiteX1" fmla="*/ 4931600 w 8944218"/>
              <a:gd name="connsiteY1" fmla="*/ 0 h 6865831"/>
              <a:gd name="connsiteX2" fmla="*/ 4938378 w 8944218"/>
              <a:gd name="connsiteY2" fmla="*/ 6778 h 6865831"/>
              <a:gd name="connsiteX3" fmla="*/ 4939431 w 8944218"/>
              <a:gd name="connsiteY3" fmla="*/ 5724 h 6865831"/>
              <a:gd name="connsiteX4" fmla="*/ 4940097 w 8944218"/>
              <a:gd name="connsiteY4" fmla="*/ 6390 h 6865831"/>
              <a:gd name="connsiteX5" fmla="*/ 4946486 w 8944218"/>
              <a:gd name="connsiteY5" fmla="*/ 0 h 6865831"/>
              <a:gd name="connsiteX6" fmla="*/ 8944218 w 8944218"/>
              <a:gd name="connsiteY6" fmla="*/ 0 h 6865831"/>
              <a:gd name="connsiteX7" fmla="*/ 8944218 w 8944218"/>
              <a:gd name="connsiteY7" fmla="*/ 938217 h 6865831"/>
              <a:gd name="connsiteX8" fmla="*/ 8944218 w 8944218"/>
              <a:gd name="connsiteY8" fmla="*/ 951638 h 6865831"/>
              <a:gd name="connsiteX9" fmla="*/ 8944218 w 8944218"/>
              <a:gd name="connsiteY9" fmla="*/ 4018388 h 6865831"/>
              <a:gd name="connsiteX10" fmla="*/ 8944217 w 8944218"/>
              <a:gd name="connsiteY10" fmla="*/ 4018387 h 6865831"/>
              <a:gd name="connsiteX11" fmla="*/ 8944217 w 8944218"/>
              <a:gd name="connsiteY11" fmla="*/ 5877695 h 6865831"/>
              <a:gd name="connsiteX12" fmla="*/ 7956081 w 8944218"/>
              <a:gd name="connsiteY12" fmla="*/ 6865831 h 6865831"/>
              <a:gd name="connsiteX13" fmla="*/ 6852273 w 8944218"/>
              <a:gd name="connsiteY13" fmla="*/ 6865831 h 6865831"/>
              <a:gd name="connsiteX14" fmla="*/ 4940484 w 8944218"/>
              <a:gd name="connsiteY14" fmla="*/ 4954043 h 6865831"/>
              <a:gd name="connsiteX15" fmla="*/ 4939431 w 8944218"/>
              <a:gd name="connsiteY15" fmla="*/ 4955095 h 6865831"/>
              <a:gd name="connsiteX16" fmla="*/ 2475739 w 8944218"/>
              <a:gd name="connsiteY16" fmla="*/ 2491403 h 6865831"/>
              <a:gd name="connsiteX17" fmla="*/ 2474685 w 8944218"/>
              <a:gd name="connsiteY17" fmla="*/ 2492455 h 6865831"/>
              <a:gd name="connsiteX18" fmla="*/ 0 w 8944218"/>
              <a:gd name="connsiteY18" fmla="*/ 17770 h 6865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8944218" h="6865831">
                <a:moveTo>
                  <a:pt x="17770" y="0"/>
                </a:moveTo>
                <a:lnTo>
                  <a:pt x="4931600" y="0"/>
                </a:lnTo>
                <a:lnTo>
                  <a:pt x="4938378" y="6778"/>
                </a:lnTo>
                <a:lnTo>
                  <a:pt x="4939431" y="5724"/>
                </a:lnTo>
                <a:lnTo>
                  <a:pt x="4940097" y="6390"/>
                </a:lnTo>
                <a:lnTo>
                  <a:pt x="4946486" y="0"/>
                </a:lnTo>
                <a:lnTo>
                  <a:pt x="8944218" y="0"/>
                </a:lnTo>
                <a:lnTo>
                  <a:pt x="8944218" y="938217"/>
                </a:lnTo>
                <a:lnTo>
                  <a:pt x="8944218" y="951638"/>
                </a:lnTo>
                <a:lnTo>
                  <a:pt x="8944218" y="4018388"/>
                </a:lnTo>
                <a:lnTo>
                  <a:pt x="8944217" y="4018387"/>
                </a:lnTo>
                <a:lnTo>
                  <a:pt x="8944217" y="5877695"/>
                </a:lnTo>
                <a:lnTo>
                  <a:pt x="7956081" y="6865831"/>
                </a:lnTo>
                <a:lnTo>
                  <a:pt x="6852273" y="6865831"/>
                </a:lnTo>
                <a:lnTo>
                  <a:pt x="4940484" y="4954043"/>
                </a:lnTo>
                <a:lnTo>
                  <a:pt x="4939431" y="4955095"/>
                </a:lnTo>
                <a:lnTo>
                  <a:pt x="2475739" y="2491403"/>
                </a:lnTo>
                <a:lnTo>
                  <a:pt x="2474685" y="2492455"/>
                </a:lnTo>
                <a:lnTo>
                  <a:pt x="0" y="1777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5E5DF9E-B8B4-41B6-979F-54FEDD842CBF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25105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>
            <a:extLst>
              <a:ext uri="{FF2B5EF4-FFF2-40B4-BE49-F238E27FC236}">
                <a16:creationId xmlns:a16="http://schemas.microsoft.com/office/drawing/2014/main" id="{4BCC21E7-B949-43E3-B1A1-A01F4095FC7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5E5DF9E-B8B4-41B6-979F-54FEDD842CBF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72393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E5DF9E-B8B4-41B6-979F-54FEDD842CBF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88014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图片占位符 13">
            <a:extLst>
              <a:ext uri="{FF2B5EF4-FFF2-40B4-BE49-F238E27FC236}">
                <a16:creationId xmlns:a16="http://schemas.microsoft.com/office/drawing/2014/main" id="{FC6A316B-C528-4EAD-8C2D-A46D04B5194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75075" y="1694144"/>
            <a:ext cx="2099437" cy="2088868"/>
          </a:xfrm>
          <a:custGeom>
            <a:avLst/>
            <a:gdLst>
              <a:gd name="connsiteX0" fmla="*/ 0 w 2099437"/>
              <a:gd name="connsiteY0" fmla="*/ 0 h 2088868"/>
              <a:gd name="connsiteX1" fmla="*/ 2099437 w 2099437"/>
              <a:gd name="connsiteY1" fmla="*/ 0 h 2088868"/>
              <a:gd name="connsiteX2" fmla="*/ 2099437 w 2099437"/>
              <a:gd name="connsiteY2" fmla="*/ 2088868 h 2088868"/>
              <a:gd name="connsiteX3" fmla="*/ 0 w 2099437"/>
              <a:gd name="connsiteY3" fmla="*/ 2088868 h 2088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99437" h="2088868">
                <a:moveTo>
                  <a:pt x="0" y="0"/>
                </a:moveTo>
                <a:lnTo>
                  <a:pt x="2099437" y="0"/>
                </a:lnTo>
                <a:lnTo>
                  <a:pt x="2099437" y="2088868"/>
                </a:lnTo>
                <a:lnTo>
                  <a:pt x="0" y="208886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5" name="图片占位符 14">
            <a:extLst>
              <a:ext uri="{FF2B5EF4-FFF2-40B4-BE49-F238E27FC236}">
                <a16:creationId xmlns:a16="http://schemas.microsoft.com/office/drawing/2014/main" id="{97BF8D35-25B1-4FD4-BCB6-08941311754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053586" y="1694144"/>
            <a:ext cx="2099437" cy="2088868"/>
          </a:xfrm>
          <a:custGeom>
            <a:avLst/>
            <a:gdLst>
              <a:gd name="connsiteX0" fmla="*/ 0 w 2099437"/>
              <a:gd name="connsiteY0" fmla="*/ 0 h 2088868"/>
              <a:gd name="connsiteX1" fmla="*/ 2099437 w 2099437"/>
              <a:gd name="connsiteY1" fmla="*/ 0 h 2088868"/>
              <a:gd name="connsiteX2" fmla="*/ 2099437 w 2099437"/>
              <a:gd name="connsiteY2" fmla="*/ 2088868 h 2088868"/>
              <a:gd name="connsiteX3" fmla="*/ 0 w 2099437"/>
              <a:gd name="connsiteY3" fmla="*/ 2088868 h 2088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99437" h="2088868">
                <a:moveTo>
                  <a:pt x="0" y="0"/>
                </a:moveTo>
                <a:lnTo>
                  <a:pt x="2099437" y="0"/>
                </a:lnTo>
                <a:lnTo>
                  <a:pt x="2099437" y="2088868"/>
                </a:lnTo>
                <a:lnTo>
                  <a:pt x="0" y="208886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6" name="图片占位符 15">
            <a:extLst>
              <a:ext uri="{FF2B5EF4-FFF2-40B4-BE49-F238E27FC236}">
                <a16:creationId xmlns:a16="http://schemas.microsoft.com/office/drawing/2014/main" id="{0A52F6D5-B2FA-4648-A7C4-6BC468F2724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219984" y="1694144"/>
            <a:ext cx="2100208" cy="2088868"/>
          </a:xfrm>
          <a:custGeom>
            <a:avLst/>
            <a:gdLst>
              <a:gd name="connsiteX0" fmla="*/ 0 w 2100208"/>
              <a:gd name="connsiteY0" fmla="*/ 0 h 2088868"/>
              <a:gd name="connsiteX1" fmla="*/ 2100208 w 2100208"/>
              <a:gd name="connsiteY1" fmla="*/ 0 h 2088868"/>
              <a:gd name="connsiteX2" fmla="*/ 2100208 w 2100208"/>
              <a:gd name="connsiteY2" fmla="*/ 2088868 h 2088868"/>
              <a:gd name="connsiteX3" fmla="*/ 0 w 2100208"/>
              <a:gd name="connsiteY3" fmla="*/ 2088868 h 2088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00208" h="2088868">
                <a:moveTo>
                  <a:pt x="0" y="0"/>
                </a:moveTo>
                <a:lnTo>
                  <a:pt x="2100208" y="0"/>
                </a:lnTo>
                <a:lnTo>
                  <a:pt x="2100208" y="2088868"/>
                </a:lnTo>
                <a:lnTo>
                  <a:pt x="0" y="208886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8" name="图片占位符 17">
            <a:extLst>
              <a:ext uri="{FF2B5EF4-FFF2-40B4-BE49-F238E27FC236}">
                <a16:creationId xmlns:a16="http://schemas.microsoft.com/office/drawing/2014/main" id="{9185A2F2-0665-4289-99CF-CE6839B03D8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48703" y="3783011"/>
            <a:ext cx="2099437" cy="2088868"/>
          </a:xfrm>
          <a:custGeom>
            <a:avLst/>
            <a:gdLst>
              <a:gd name="connsiteX0" fmla="*/ 0 w 2099437"/>
              <a:gd name="connsiteY0" fmla="*/ 0 h 2088868"/>
              <a:gd name="connsiteX1" fmla="*/ 2099437 w 2099437"/>
              <a:gd name="connsiteY1" fmla="*/ 0 h 2088868"/>
              <a:gd name="connsiteX2" fmla="*/ 2099437 w 2099437"/>
              <a:gd name="connsiteY2" fmla="*/ 2088868 h 2088868"/>
              <a:gd name="connsiteX3" fmla="*/ 0 w 2099437"/>
              <a:gd name="connsiteY3" fmla="*/ 2088868 h 2088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99437" h="2088868">
                <a:moveTo>
                  <a:pt x="0" y="0"/>
                </a:moveTo>
                <a:lnTo>
                  <a:pt x="2099437" y="0"/>
                </a:lnTo>
                <a:lnTo>
                  <a:pt x="2099437" y="2088868"/>
                </a:lnTo>
                <a:lnTo>
                  <a:pt x="0" y="208886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7" name="图片占位符 16">
            <a:extLst>
              <a:ext uri="{FF2B5EF4-FFF2-40B4-BE49-F238E27FC236}">
                <a16:creationId xmlns:a16="http://schemas.microsoft.com/office/drawing/2014/main" id="{B846096C-4C1C-45DB-B622-C12BADFF5C7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973741" y="3783011"/>
            <a:ext cx="2099437" cy="2088868"/>
          </a:xfrm>
          <a:custGeom>
            <a:avLst/>
            <a:gdLst>
              <a:gd name="connsiteX0" fmla="*/ 0 w 2099437"/>
              <a:gd name="connsiteY0" fmla="*/ 0 h 2088868"/>
              <a:gd name="connsiteX1" fmla="*/ 2099437 w 2099437"/>
              <a:gd name="connsiteY1" fmla="*/ 0 h 2088868"/>
              <a:gd name="connsiteX2" fmla="*/ 2099437 w 2099437"/>
              <a:gd name="connsiteY2" fmla="*/ 2088868 h 2088868"/>
              <a:gd name="connsiteX3" fmla="*/ 0 w 2099437"/>
              <a:gd name="connsiteY3" fmla="*/ 2088868 h 2088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99437" h="2088868">
                <a:moveTo>
                  <a:pt x="0" y="0"/>
                </a:moveTo>
                <a:lnTo>
                  <a:pt x="2099437" y="0"/>
                </a:lnTo>
                <a:lnTo>
                  <a:pt x="2099437" y="2088868"/>
                </a:lnTo>
                <a:lnTo>
                  <a:pt x="0" y="208886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7879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图片占位符 11">
            <a:extLst>
              <a:ext uri="{FF2B5EF4-FFF2-40B4-BE49-F238E27FC236}">
                <a16:creationId xmlns:a16="http://schemas.microsoft.com/office/drawing/2014/main" id="{E391188B-14E8-4DCD-950A-AE89C0221E9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74714" y="3285709"/>
            <a:ext cx="2320729" cy="2452418"/>
          </a:xfrm>
          <a:custGeom>
            <a:avLst/>
            <a:gdLst>
              <a:gd name="connsiteX0" fmla="*/ 0 w 2320729"/>
              <a:gd name="connsiteY0" fmla="*/ 0 h 2452418"/>
              <a:gd name="connsiteX1" fmla="*/ 2320729 w 2320729"/>
              <a:gd name="connsiteY1" fmla="*/ 0 h 2452418"/>
              <a:gd name="connsiteX2" fmla="*/ 2320729 w 2320729"/>
              <a:gd name="connsiteY2" fmla="*/ 2452418 h 2452418"/>
              <a:gd name="connsiteX3" fmla="*/ 0 w 2320729"/>
              <a:gd name="connsiteY3" fmla="*/ 2452418 h 2452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0729" h="2452418">
                <a:moveTo>
                  <a:pt x="0" y="0"/>
                </a:moveTo>
                <a:lnTo>
                  <a:pt x="2320729" y="0"/>
                </a:lnTo>
                <a:lnTo>
                  <a:pt x="2320729" y="2452418"/>
                </a:lnTo>
                <a:lnTo>
                  <a:pt x="0" y="245241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3" name="图片占位符 12">
            <a:extLst>
              <a:ext uri="{FF2B5EF4-FFF2-40B4-BE49-F238E27FC236}">
                <a16:creationId xmlns:a16="http://schemas.microsoft.com/office/drawing/2014/main" id="{22E2325C-B237-4C65-A1CF-B7989C7E6C1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576126" y="3285709"/>
            <a:ext cx="2320729" cy="2452418"/>
          </a:xfrm>
          <a:custGeom>
            <a:avLst/>
            <a:gdLst>
              <a:gd name="connsiteX0" fmla="*/ 0 w 2320729"/>
              <a:gd name="connsiteY0" fmla="*/ 0 h 2452418"/>
              <a:gd name="connsiteX1" fmla="*/ 2320729 w 2320729"/>
              <a:gd name="connsiteY1" fmla="*/ 0 h 2452418"/>
              <a:gd name="connsiteX2" fmla="*/ 2320729 w 2320729"/>
              <a:gd name="connsiteY2" fmla="*/ 2452418 h 2452418"/>
              <a:gd name="connsiteX3" fmla="*/ 0 w 2320729"/>
              <a:gd name="connsiteY3" fmla="*/ 2452418 h 2452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0729" h="2452418">
                <a:moveTo>
                  <a:pt x="0" y="0"/>
                </a:moveTo>
                <a:lnTo>
                  <a:pt x="2320729" y="0"/>
                </a:lnTo>
                <a:lnTo>
                  <a:pt x="2320729" y="2452418"/>
                </a:lnTo>
                <a:lnTo>
                  <a:pt x="0" y="245241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4" name="图片占位符 13">
            <a:extLst>
              <a:ext uri="{FF2B5EF4-FFF2-40B4-BE49-F238E27FC236}">
                <a16:creationId xmlns:a16="http://schemas.microsoft.com/office/drawing/2014/main" id="{E0D58AD2-6733-4483-9780-9887071A286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92255" y="3285709"/>
            <a:ext cx="2320729" cy="2452418"/>
          </a:xfrm>
          <a:custGeom>
            <a:avLst/>
            <a:gdLst>
              <a:gd name="connsiteX0" fmla="*/ 0 w 2320729"/>
              <a:gd name="connsiteY0" fmla="*/ 0 h 2452418"/>
              <a:gd name="connsiteX1" fmla="*/ 2320729 w 2320729"/>
              <a:gd name="connsiteY1" fmla="*/ 0 h 2452418"/>
              <a:gd name="connsiteX2" fmla="*/ 2320729 w 2320729"/>
              <a:gd name="connsiteY2" fmla="*/ 2452418 h 2452418"/>
              <a:gd name="connsiteX3" fmla="*/ 0 w 2320729"/>
              <a:gd name="connsiteY3" fmla="*/ 2452418 h 2452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0729" h="2452418">
                <a:moveTo>
                  <a:pt x="0" y="0"/>
                </a:moveTo>
                <a:lnTo>
                  <a:pt x="2320729" y="0"/>
                </a:lnTo>
                <a:lnTo>
                  <a:pt x="2320729" y="2452418"/>
                </a:lnTo>
                <a:lnTo>
                  <a:pt x="0" y="245241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15" name="图片占位符 14">
            <a:extLst>
              <a:ext uri="{FF2B5EF4-FFF2-40B4-BE49-F238E27FC236}">
                <a16:creationId xmlns:a16="http://schemas.microsoft.com/office/drawing/2014/main" id="{432F6C63-AB2A-48A8-B583-B0C3C78C2B0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996560" y="3285709"/>
            <a:ext cx="2320729" cy="2452418"/>
          </a:xfrm>
          <a:custGeom>
            <a:avLst/>
            <a:gdLst>
              <a:gd name="connsiteX0" fmla="*/ 0 w 2320729"/>
              <a:gd name="connsiteY0" fmla="*/ 0 h 2452418"/>
              <a:gd name="connsiteX1" fmla="*/ 2320729 w 2320729"/>
              <a:gd name="connsiteY1" fmla="*/ 0 h 2452418"/>
              <a:gd name="connsiteX2" fmla="*/ 2320729 w 2320729"/>
              <a:gd name="connsiteY2" fmla="*/ 2452418 h 2452418"/>
              <a:gd name="connsiteX3" fmla="*/ 0 w 2320729"/>
              <a:gd name="connsiteY3" fmla="*/ 2452418 h 2452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0729" h="2452418">
                <a:moveTo>
                  <a:pt x="0" y="0"/>
                </a:moveTo>
                <a:lnTo>
                  <a:pt x="2320729" y="0"/>
                </a:lnTo>
                <a:lnTo>
                  <a:pt x="2320729" y="2452418"/>
                </a:lnTo>
                <a:lnTo>
                  <a:pt x="0" y="245241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1860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图片占位符 11">
            <a:extLst>
              <a:ext uri="{FF2B5EF4-FFF2-40B4-BE49-F238E27FC236}">
                <a16:creationId xmlns:a16="http://schemas.microsoft.com/office/drawing/2014/main" id="{B22387BA-39FA-4B5B-A24F-6972B64504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74712" y="1616101"/>
            <a:ext cx="5116972" cy="1815135"/>
          </a:xfrm>
          <a:custGeom>
            <a:avLst/>
            <a:gdLst>
              <a:gd name="connsiteX0" fmla="*/ 0 w 5116972"/>
              <a:gd name="connsiteY0" fmla="*/ 0 h 1815135"/>
              <a:gd name="connsiteX1" fmla="*/ 5116972 w 5116972"/>
              <a:gd name="connsiteY1" fmla="*/ 0 h 1815135"/>
              <a:gd name="connsiteX2" fmla="*/ 5116972 w 5116972"/>
              <a:gd name="connsiteY2" fmla="*/ 1815135 h 1815135"/>
              <a:gd name="connsiteX3" fmla="*/ 0 w 5116972"/>
              <a:gd name="connsiteY3" fmla="*/ 1815135 h 1815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16972" h="1815135">
                <a:moveTo>
                  <a:pt x="0" y="0"/>
                </a:moveTo>
                <a:lnTo>
                  <a:pt x="5116972" y="0"/>
                </a:lnTo>
                <a:lnTo>
                  <a:pt x="5116972" y="1815135"/>
                </a:lnTo>
                <a:lnTo>
                  <a:pt x="0" y="181513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4" name="图片占位符 13">
            <a:extLst>
              <a:ext uri="{FF2B5EF4-FFF2-40B4-BE49-F238E27FC236}">
                <a16:creationId xmlns:a16="http://schemas.microsoft.com/office/drawing/2014/main" id="{196AD7B5-76BA-4C31-9438-03820A7A616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74712" y="3793785"/>
            <a:ext cx="5116972" cy="1815135"/>
          </a:xfrm>
          <a:custGeom>
            <a:avLst/>
            <a:gdLst>
              <a:gd name="connsiteX0" fmla="*/ 0 w 5116972"/>
              <a:gd name="connsiteY0" fmla="*/ 0 h 1815135"/>
              <a:gd name="connsiteX1" fmla="*/ 5116972 w 5116972"/>
              <a:gd name="connsiteY1" fmla="*/ 0 h 1815135"/>
              <a:gd name="connsiteX2" fmla="*/ 5116972 w 5116972"/>
              <a:gd name="connsiteY2" fmla="*/ 1815135 h 1815135"/>
              <a:gd name="connsiteX3" fmla="*/ 0 w 5116972"/>
              <a:gd name="connsiteY3" fmla="*/ 1815135 h 1815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16972" h="1815135">
                <a:moveTo>
                  <a:pt x="0" y="0"/>
                </a:moveTo>
                <a:lnTo>
                  <a:pt x="5116972" y="0"/>
                </a:lnTo>
                <a:lnTo>
                  <a:pt x="5116972" y="1815135"/>
                </a:lnTo>
                <a:lnTo>
                  <a:pt x="0" y="181513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3" name="图片占位符 12">
            <a:extLst>
              <a:ext uri="{FF2B5EF4-FFF2-40B4-BE49-F238E27FC236}">
                <a16:creationId xmlns:a16="http://schemas.microsoft.com/office/drawing/2014/main" id="{F521F6C2-5C70-438B-BC12-C9456C94417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00315" y="1616101"/>
            <a:ext cx="5116972" cy="1815135"/>
          </a:xfrm>
          <a:custGeom>
            <a:avLst/>
            <a:gdLst>
              <a:gd name="connsiteX0" fmla="*/ 0 w 5116972"/>
              <a:gd name="connsiteY0" fmla="*/ 0 h 1815135"/>
              <a:gd name="connsiteX1" fmla="*/ 5116972 w 5116972"/>
              <a:gd name="connsiteY1" fmla="*/ 0 h 1815135"/>
              <a:gd name="connsiteX2" fmla="*/ 5116972 w 5116972"/>
              <a:gd name="connsiteY2" fmla="*/ 1815135 h 1815135"/>
              <a:gd name="connsiteX3" fmla="*/ 0 w 5116972"/>
              <a:gd name="connsiteY3" fmla="*/ 1815135 h 1815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16972" h="1815135">
                <a:moveTo>
                  <a:pt x="0" y="0"/>
                </a:moveTo>
                <a:lnTo>
                  <a:pt x="5116972" y="0"/>
                </a:lnTo>
                <a:lnTo>
                  <a:pt x="5116972" y="1815135"/>
                </a:lnTo>
                <a:lnTo>
                  <a:pt x="0" y="181513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5" name="图片占位符 14">
            <a:extLst>
              <a:ext uri="{FF2B5EF4-FFF2-40B4-BE49-F238E27FC236}">
                <a16:creationId xmlns:a16="http://schemas.microsoft.com/office/drawing/2014/main" id="{BF5D2649-EDD8-4E9E-875C-D51E87E67D1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00315" y="3793785"/>
            <a:ext cx="5116972" cy="1815135"/>
          </a:xfrm>
          <a:custGeom>
            <a:avLst/>
            <a:gdLst>
              <a:gd name="connsiteX0" fmla="*/ 0 w 5116972"/>
              <a:gd name="connsiteY0" fmla="*/ 0 h 1815135"/>
              <a:gd name="connsiteX1" fmla="*/ 5116972 w 5116972"/>
              <a:gd name="connsiteY1" fmla="*/ 0 h 1815135"/>
              <a:gd name="connsiteX2" fmla="*/ 5116972 w 5116972"/>
              <a:gd name="connsiteY2" fmla="*/ 1815135 h 1815135"/>
              <a:gd name="connsiteX3" fmla="*/ 0 w 5116972"/>
              <a:gd name="connsiteY3" fmla="*/ 1815135 h 1815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16972" h="1815135">
                <a:moveTo>
                  <a:pt x="0" y="0"/>
                </a:moveTo>
                <a:lnTo>
                  <a:pt x="5116972" y="0"/>
                </a:lnTo>
                <a:lnTo>
                  <a:pt x="5116972" y="1815135"/>
                </a:lnTo>
                <a:lnTo>
                  <a:pt x="0" y="181513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8268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占位符 9">
            <a:extLst>
              <a:ext uri="{FF2B5EF4-FFF2-40B4-BE49-F238E27FC236}">
                <a16:creationId xmlns:a16="http://schemas.microsoft.com/office/drawing/2014/main" id="{00E4BB03-6381-4E88-96B9-94ADD1F4F3D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413036" y="1986039"/>
            <a:ext cx="2864878" cy="2456948"/>
          </a:xfrm>
          <a:custGeom>
            <a:avLst/>
            <a:gdLst>
              <a:gd name="connsiteX0" fmla="*/ 614238 w 2864878"/>
              <a:gd name="connsiteY0" fmla="*/ 0 h 2456948"/>
              <a:gd name="connsiteX1" fmla="*/ 2250641 w 2864878"/>
              <a:gd name="connsiteY1" fmla="*/ 0 h 2456948"/>
              <a:gd name="connsiteX2" fmla="*/ 2864878 w 2864878"/>
              <a:gd name="connsiteY2" fmla="*/ 1228474 h 2456948"/>
              <a:gd name="connsiteX3" fmla="*/ 2250641 w 2864878"/>
              <a:gd name="connsiteY3" fmla="*/ 2456948 h 2456948"/>
              <a:gd name="connsiteX4" fmla="*/ 614238 w 2864878"/>
              <a:gd name="connsiteY4" fmla="*/ 2456948 h 2456948"/>
              <a:gd name="connsiteX5" fmla="*/ 0 w 2864878"/>
              <a:gd name="connsiteY5" fmla="*/ 1228474 h 2456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64878" h="2456948">
                <a:moveTo>
                  <a:pt x="614238" y="0"/>
                </a:moveTo>
                <a:lnTo>
                  <a:pt x="2250641" y="0"/>
                </a:lnTo>
                <a:lnTo>
                  <a:pt x="2864878" y="1228474"/>
                </a:lnTo>
                <a:lnTo>
                  <a:pt x="2250641" y="2456948"/>
                </a:lnTo>
                <a:lnTo>
                  <a:pt x="614238" y="2456948"/>
                </a:lnTo>
                <a:lnTo>
                  <a:pt x="0" y="122847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1" name="图片占位符 10">
            <a:extLst>
              <a:ext uri="{FF2B5EF4-FFF2-40B4-BE49-F238E27FC236}">
                <a16:creationId xmlns:a16="http://schemas.microsoft.com/office/drawing/2014/main" id="{B04818A7-FDDB-461D-93ED-915694DF4D8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670586" y="1986039"/>
            <a:ext cx="2864878" cy="2456948"/>
          </a:xfrm>
          <a:custGeom>
            <a:avLst/>
            <a:gdLst>
              <a:gd name="connsiteX0" fmla="*/ 614238 w 2864878"/>
              <a:gd name="connsiteY0" fmla="*/ 0 h 2456948"/>
              <a:gd name="connsiteX1" fmla="*/ 2250641 w 2864878"/>
              <a:gd name="connsiteY1" fmla="*/ 0 h 2456948"/>
              <a:gd name="connsiteX2" fmla="*/ 2864878 w 2864878"/>
              <a:gd name="connsiteY2" fmla="*/ 1228474 h 2456948"/>
              <a:gd name="connsiteX3" fmla="*/ 2250641 w 2864878"/>
              <a:gd name="connsiteY3" fmla="*/ 2456948 h 2456948"/>
              <a:gd name="connsiteX4" fmla="*/ 614238 w 2864878"/>
              <a:gd name="connsiteY4" fmla="*/ 2456948 h 2456948"/>
              <a:gd name="connsiteX5" fmla="*/ 0 w 2864878"/>
              <a:gd name="connsiteY5" fmla="*/ 1228474 h 2456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64878" h="2456948">
                <a:moveTo>
                  <a:pt x="614238" y="0"/>
                </a:moveTo>
                <a:lnTo>
                  <a:pt x="2250641" y="0"/>
                </a:lnTo>
                <a:lnTo>
                  <a:pt x="2864878" y="1228474"/>
                </a:lnTo>
                <a:lnTo>
                  <a:pt x="2250641" y="2456948"/>
                </a:lnTo>
                <a:lnTo>
                  <a:pt x="614238" y="2456948"/>
                </a:lnTo>
                <a:lnTo>
                  <a:pt x="0" y="122847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图片占位符 11">
            <a:extLst>
              <a:ext uri="{FF2B5EF4-FFF2-40B4-BE49-F238E27FC236}">
                <a16:creationId xmlns:a16="http://schemas.microsoft.com/office/drawing/2014/main" id="{E21D3F68-1E67-4C04-AE74-F8AA5361DC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928136" y="1986039"/>
            <a:ext cx="2864878" cy="2456948"/>
          </a:xfrm>
          <a:custGeom>
            <a:avLst/>
            <a:gdLst>
              <a:gd name="connsiteX0" fmla="*/ 614238 w 2864878"/>
              <a:gd name="connsiteY0" fmla="*/ 0 h 2456948"/>
              <a:gd name="connsiteX1" fmla="*/ 2250641 w 2864878"/>
              <a:gd name="connsiteY1" fmla="*/ 0 h 2456948"/>
              <a:gd name="connsiteX2" fmla="*/ 2864878 w 2864878"/>
              <a:gd name="connsiteY2" fmla="*/ 1228474 h 2456948"/>
              <a:gd name="connsiteX3" fmla="*/ 2250641 w 2864878"/>
              <a:gd name="connsiteY3" fmla="*/ 2456948 h 2456948"/>
              <a:gd name="connsiteX4" fmla="*/ 614238 w 2864878"/>
              <a:gd name="connsiteY4" fmla="*/ 2456948 h 2456948"/>
              <a:gd name="connsiteX5" fmla="*/ 0 w 2864878"/>
              <a:gd name="connsiteY5" fmla="*/ 1228474 h 2456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64878" h="2456948">
                <a:moveTo>
                  <a:pt x="614238" y="0"/>
                </a:moveTo>
                <a:lnTo>
                  <a:pt x="2250641" y="0"/>
                </a:lnTo>
                <a:lnTo>
                  <a:pt x="2864878" y="1228474"/>
                </a:lnTo>
                <a:lnTo>
                  <a:pt x="2250641" y="2456948"/>
                </a:lnTo>
                <a:lnTo>
                  <a:pt x="614238" y="2456948"/>
                </a:lnTo>
                <a:lnTo>
                  <a:pt x="0" y="122847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655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图片占位符 11">
            <a:extLst>
              <a:ext uri="{FF2B5EF4-FFF2-40B4-BE49-F238E27FC236}">
                <a16:creationId xmlns:a16="http://schemas.microsoft.com/office/drawing/2014/main" id="{3E383B08-EB36-448C-B843-41C90297820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29664" y="1955801"/>
            <a:ext cx="1641860" cy="1624794"/>
          </a:xfrm>
          <a:custGeom>
            <a:avLst/>
            <a:gdLst>
              <a:gd name="connsiteX0" fmla="*/ 820930 w 1641860"/>
              <a:gd name="connsiteY0" fmla="*/ 0 h 1624794"/>
              <a:gd name="connsiteX1" fmla="*/ 1641860 w 1641860"/>
              <a:gd name="connsiteY1" fmla="*/ 812397 h 1624794"/>
              <a:gd name="connsiteX2" fmla="*/ 820930 w 1641860"/>
              <a:gd name="connsiteY2" fmla="*/ 1624794 h 1624794"/>
              <a:gd name="connsiteX3" fmla="*/ 0 w 1641860"/>
              <a:gd name="connsiteY3" fmla="*/ 812397 h 1624794"/>
              <a:gd name="connsiteX4" fmla="*/ 820930 w 1641860"/>
              <a:gd name="connsiteY4" fmla="*/ 0 h 162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41860" h="1624794">
                <a:moveTo>
                  <a:pt x="820930" y="0"/>
                </a:moveTo>
                <a:cubicBezTo>
                  <a:pt x="1274317" y="0"/>
                  <a:pt x="1641860" y="363723"/>
                  <a:pt x="1641860" y="812397"/>
                </a:cubicBezTo>
                <a:cubicBezTo>
                  <a:pt x="1641860" y="1261071"/>
                  <a:pt x="1274317" y="1624794"/>
                  <a:pt x="820930" y="1624794"/>
                </a:cubicBezTo>
                <a:cubicBezTo>
                  <a:pt x="367543" y="1624794"/>
                  <a:pt x="0" y="1261071"/>
                  <a:pt x="0" y="812397"/>
                </a:cubicBezTo>
                <a:cubicBezTo>
                  <a:pt x="0" y="363723"/>
                  <a:pt x="367543" y="0"/>
                  <a:pt x="82093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3" name="图片占位符 12">
            <a:extLst>
              <a:ext uri="{FF2B5EF4-FFF2-40B4-BE49-F238E27FC236}">
                <a16:creationId xmlns:a16="http://schemas.microsoft.com/office/drawing/2014/main" id="{24BB57E6-2F68-46CF-8328-F203DF1E265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841929" y="1955801"/>
            <a:ext cx="1641860" cy="1624794"/>
          </a:xfrm>
          <a:custGeom>
            <a:avLst/>
            <a:gdLst>
              <a:gd name="connsiteX0" fmla="*/ 820930 w 1641860"/>
              <a:gd name="connsiteY0" fmla="*/ 0 h 1624794"/>
              <a:gd name="connsiteX1" fmla="*/ 1641860 w 1641860"/>
              <a:gd name="connsiteY1" fmla="*/ 812397 h 1624794"/>
              <a:gd name="connsiteX2" fmla="*/ 820930 w 1641860"/>
              <a:gd name="connsiteY2" fmla="*/ 1624794 h 1624794"/>
              <a:gd name="connsiteX3" fmla="*/ 0 w 1641860"/>
              <a:gd name="connsiteY3" fmla="*/ 812397 h 1624794"/>
              <a:gd name="connsiteX4" fmla="*/ 820930 w 1641860"/>
              <a:gd name="connsiteY4" fmla="*/ 0 h 162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41860" h="1624794">
                <a:moveTo>
                  <a:pt x="820930" y="0"/>
                </a:moveTo>
                <a:cubicBezTo>
                  <a:pt x="1274317" y="0"/>
                  <a:pt x="1641860" y="363723"/>
                  <a:pt x="1641860" y="812397"/>
                </a:cubicBezTo>
                <a:cubicBezTo>
                  <a:pt x="1641860" y="1261071"/>
                  <a:pt x="1274317" y="1624794"/>
                  <a:pt x="820930" y="1624794"/>
                </a:cubicBezTo>
                <a:cubicBezTo>
                  <a:pt x="367543" y="1624794"/>
                  <a:pt x="0" y="1261071"/>
                  <a:pt x="0" y="812397"/>
                </a:cubicBezTo>
                <a:cubicBezTo>
                  <a:pt x="0" y="363723"/>
                  <a:pt x="367543" y="0"/>
                  <a:pt x="82093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4" name="图片占位符 13">
            <a:extLst>
              <a:ext uri="{FF2B5EF4-FFF2-40B4-BE49-F238E27FC236}">
                <a16:creationId xmlns:a16="http://schemas.microsoft.com/office/drawing/2014/main" id="{190268DF-9BA5-4BEC-B91D-0658AA1F82F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454193" y="1955801"/>
            <a:ext cx="1641860" cy="1624794"/>
          </a:xfrm>
          <a:custGeom>
            <a:avLst/>
            <a:gdLst>
              <a:gd name="connsiteX0" fmla="*/ 820930 w 1641860"/>
              <a:gd name="connsiteY0" fmla="*/ 0 h 1624794"/>
              <a:gd name="connsiteX1" fmla="*/ 1641860 w 1641860"/>
              <a:gd name="connsiteY1" fmla="*/ 812397 h 1624794"/>
              <a:gd name="connsiteX2" fmla="*/ 820930 w 1641860"/>
              <a:gd name="connsiteY2" fmla="*/ 1624794 h 1624794"/>
              <a:gd name="connsiteX3" fmla="*/ 0 w 1641860"/>
              <a:gd name="connsiteY3" fmla="*/ 812397 h 1624794"/>
              <a:gd name="connsiteX4" fmla="*/ 820930 w 1641860"/>
              <a:gd name="connsiteY4" fmla="*/ 0 h 162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41860" h="1624794">
                <a:moveTo>
                  <a:pt x="820930" y="0"/>
                </a:moveTo>
                <a:cubicBezTo>
                  <a:pt x="1274317" y="0"/>
                  <a:pt x="1641860" y="363723"/>
                  <a:pt x="1641860" y="812397"/>
                </a:cubicBezTo>
                <a:cubicBezTo>
                  <a:pt x="1641860" y="1261071"/>
                  <a:pt x="1274317" y="1624794"/>
                  <a:pt x="820930" y="1624794"/>
                </a:cubicBezTo>
                <a:cubicBezTo>
                  <a:pt x="367543" y="1624794"/>
                  <a:pt x="0" y="1261071"/>
                  <a:pt x="0" y="812397"/>
                </a:cubicBezTo>
                <a:cubicBezTo>
                  <a:pt x="0" y="363723"/>
                  <a:pt x="367543" y="0"/>
                  <a:pt x="82093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15" name="图片占位符 14">
            <a:extLst>
              <a:ext uri="{FF2B5EF4-FFF2-40B4-BE49-F238E27FC236}">
                <a16:creationId xmlns:a16="http://schemas.microsoft.com/office/drawing/2014/main" id="{EA8FA15C-08E3-4A26-BA8D-1D9CF679952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66458" y="1955801"/>
            <a:ext cx="1641860" cy="1624794"/>
          </a:xfrm>
          <a:custGeom>
            <a:avLst/>
            <a:gdLst>
              <a:gd name="connsiteX0" fmla="*/ 820930 w 1641860"/>
              <a:gd name="connsiteY0" fmla="*/ 0 h 1624794"/>
              <a:gd name="connsiteX1" fmla="*/ 1641860 w 1641860"/>
              <a:gd name="connsiteY1" fmla="*/ 812397 h 1624794"/>
              <a:gd name="connsiteX2" fmla="*/ 820930 w 1641860"/>
              <a:gd name="connsiteY2" fmla="*/ 1624794 h 1624794"/>
              <a:gd name="connsiteX3" fmla="*/ 0 w 1641860"/>
              <a:gd name="connsiteY3" fmla="*/ 812397 h 1624794"/>
              <a:gd name="connsiteX4" fmla="*/ 820930 w 1641860"/>
              <a:gd name="connsiteY4" fmla="*/ 0 h 162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41860" h="1624794">
                <a:moveTo>
                  <a:pt x="820930" y="0"/>
                </a:moveTo>
                <a:cubicBezTo>
                  <a:pt x="1274317" y="0"/>
                  <a:pt x="1641860" y="363723"/>
                  <a:pt x="1641860" y="812397"/>
                </a:cubicBezTo>
                <a:cubicBezTo>
                  <a:pt x="1641860" y="1261071"/>
                  <a:pt x="1274317" y="1624794"/>
                  <a:pt x="820930" y="1624794"/>
                </a:cubicBezTo>
                <a:cubicBezTo>
                  <a:pt x="367543" y="1624794"/>
                  <a:pt x="0" y="1261071"/>
                  <a:pt x="0" y="812397"/>
                </a:cubicBezTo>
                <a:cubicBezTo>
                  <a:pt x="0" y="363723"/>
                  <a:pt x="367543" y="0"/>
                  <a:pt x="82093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1760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占位符 9">
            <a:extLst>
              <a:ext uri="{FF2B5EF4-FFF2-40B4-BE49-F238E27FC236}">
                <a16:creationId xmlns:a16="http://schemas.microsoft.com/office/drawing/2014/main" id="{2C14818E-3A05-4DD9-9C20-117EFB75A71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00870" y="1641487"/>
            <a:ext cx="3708001" cy="2347284"/>
          </a:xfrm>
          <a:custGeom>
            <a:avLst/>
            <a:gdLst>
              <a:gd name="connsiteX0" fmla="*/ 0 w 3708001"/>
              <a:gd name="connsiteY0" fmla="*/ 0 h 2347284"/>
              <a:gd name="connsiteX1" fmla="*/ 3708001 w 3708001"/>
              <a:gd name="connsiteY1" fmla="*/ 0 h 2347284"/>
              <a:gd name="connsiteX2" fmla="*/ 3708001 w 3708001"/>
              <a:gd name="connsiteY2" fmla="*/ 2347284 h 2347284"/>
              <a:gd name="connsiteX3" fmla="*/ 0 w 3708001"/>
              <a:gd name="connsiteY3" fmla="*/ 2347284 h 2347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08001" h="2347284">
                <a:moveTo>
                  <a:pt x="0" y="0"/>
                </a:moveTo>
                <a:lnTo>
                  <a:pt x="3708001" y="0"/>
                </a:lnTo>
                <a:lnTo>
                  <a:pt x="3708001" y="2347284"/>
                </a:lnTo>
                <a:lnTo>
                  <a:pt x="0" y="234728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1" name="图片占位符 10">
            <a:extLst>
              <a:ext uri="{FF2B5EF4-FFF2-40B4-BE49-F238E27FC236}">
                <a16:creationId xmlns:a16="http://schemas.microsoft.com/office/drawing/2014/main" id="{17D4E2FB-8BAE-4F3E-98FB-2E8C2FFD4AB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979202" y="1641488"/>
            <a:ext cx="3323559" cy="2051173"/>
          </a:xfrm>
          <a:custGeom>
            <a:avLst/>
            <a:gdLst>
              <a:gd name="connsiteX0" fmla="*/ 0 w 3323559"/>
              <a:gd name="connsiteY0" fmla="*/ 0 h 2051173"/>
              <a:gd name="connsiteX1" fmla="*/ 3323559 w 3323559"/>
              <a:gd name="connsiteY1" fmla="*/ 0 h 2051173"/>
              <a:gd name="connsiteX2" fmla="*/ 3323559 w 3323559"/>
              <a:gd name="connsiteY2" fmla="*/ 2051173 h 2051173"/>
              <a:gd name="connsiteX3" fmla="*/ 0 w 3323559"/>
              <a:gd name="connsiteY3" fmla="*/ 2051173 h 2051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23559" h="2051173">
                <a:moveTo>
                  <a:pt x="0" y="0"/>
                </a:moveTo>
                <a:lnTo>
                  <a:pt x="3323559" y="0"/>
                </a:lnTo>
                <a:lnTo>
                  <a:pt x="3323559" y="2051173"/>
                </a:lnTo>
                <a:lnTo>
                  <a:pt x="0" y="205117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图片占位符 11">
            <a:extLst>
              <a:ext uri="{FF2B5EF4-FFF2-40B4-BE49-F238E27FC236}">
                <a16:creationId xmlns:a16="http://schemas.microsoft.com/office/drawing/2014/main" id="{7B7870F6-7E23-4F76-AEB6-7E26068AFEE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74714" y="4172231"/>
            <a:ext cx="6934157" cy="1765008"/>
          </a:xfrm>
          <a:custGeom>
            <a:avLst/>
            <a:gdLst>
              <a:gd name="connsiteX0" fmla="*/ 0 w 6934157"/>
              <a:gd name="connsiteY0" fmla="*/ 0 h 1765008"/>
              <a:gd name="connsiteX1" fmla="*/ 6934157 w 6934157"/>
              <a:gd name="connsiteY1" fmla="*/ 0 h 1765008"/>
              <a:gd name="connsiteX2" fmla="*/ 6934157 w 6934157"/>
              <a:gd name="connsiteY2" fmla="*/ 1765008 h 1765008"/>
              <a:gd name="connsiteX3" fmla="*/ 0 w 6934157"/>
              <a:gd name="connsiteY3" fmla="*/ 1765008 h 1765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34157" h="1765008">
                <a:moveTo>
                  <a:pt x="0" y="0"/>
                </a:moveTo>
                <a:lnTo>
                  <a:pt x="6934157" y="0"/>
                </a:lnTo>
                <a:lnTo>
                  <a:pt x="6934157" y="1765008"/>
                </a:lnTo>
                <a:lnTo>
                  <a:pt x="0" y="176500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6906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片占位符 5">
            <a:extLst>
              <a:ext uri="{FF2B5EF4-FFF2-40B4-BE49-F238E27FC236}">
                <a16:creationId xmlns:a16="http://schemas.microsoft.com/office/drawing/2014/main" id="{49F9B3A4-735B-401C-ADEE-60D2044799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44246" y="1694329"/>
            <a:ext cx="4548647" cy="2861134"/>
          </a:xfrm>
          <a:custGeom>
            <a:avLst/>
            <a:gdLst>
              <a:gd name="connsiteX0" fmla="*/ 0 w 4548647"/>
              <a:gd name="connsiteY0" fmla="*/ 0 h 2861134"/>
              <a:gd name="connsiteX1" fmla="*/ 4548647 w 4548647"/>
              <a:gd name="connsiteY1" fmla="*/ 0 h 2861134"/>
              <a:gd name="connsiteX2" fmla="*/ 4548647 w 4548647"/>
              <a:gd name="connsiteY2" fmla="*/ 2861134 h 2861134"/>
              <a:gd name="connsiteX3" fmla="*/ 0 w 4548647"/>
              <a:gd name="connsiteY3" fmla="*/ 2861134 h 2861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48647" h="2861134">
                <a:moveTo>
                  <a:pt x="0" y="0"/>
                </a:moveTo>
                <a:lnTo>
                  <a:pt x="4548647" y="0"/>
                </a:lnTo>
                <a:lnTo>
                  <a:pt x="4548647" y="2861134"/>
                </a:lnTo>
                <a:lnTo>
                  <a:pt x="0" y="2861134"/>
                </a:lnTo>
                <a:close/>
              </a:path>
            </a:pathLst>
          </a:custGeom>
          <a:solidFill>
            <a:schemeClr val="bg2"/>
          </a:solidFill>
          <a:effectLst>
            <a:innerShdw blurRad="114300">
              <a:prstClr val="black"/>
            </a:innerShdw>
          </a:effectLst>
        </p:spPr>
        <p:txBody>
          <a:bodyPr wrap="square">
            <a:noAutofit/>
          </a:bodyPr>
          <a:lstStyle>
            <a:lvl1pPr>
              <a:defRPr lang="zh-CN" altLang="en-US"/>
            </a:lvl1pPr>
          </a:lstStyle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4611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片占位符 5">
            <a:extLst>
              <a:ext uri="{FF2B5EF4-FFF2-40B4-BE49-F238E27FC236}">
                <a16:creationId xmlns:a16="http://schemas.microsoft.com/office/drawing/2014/main" id="{05A69DFF-67A2-4717-A5F7-167EBB79AB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54013" y="3273328"/>
            <a:ext cx="1514686" cy="2442137"/>
          </a:xfrm>
          <a:custGeom>
            <a:avLst/>
            <a:gdLst>
              <a:gd name="connsiteX0" fmla="*/ 0 w 1514686"/>
              <a:gd name="connsiteY0" fmla="*/ 0 h 2442137"/>
              <a:gd name="connsiteX1" fmla="*/ 1514686 w 1514686"/>
              <a:gd name="connsiteY1" fmla="*/ 0 h 2442137"/>
              <a:gd name="connsiteX2" fmla="*/ 1514686 w 1514686"/>
              <a:gd name="connsiteY2" fmla="*/ 2442137 h 2442137"/>
              <a:gd name="connsiteX3" fmla="*/ 0 w 1514686"/>
              <a:gd name="connsiteY3" fmla="*/ 2442137 h 2442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4686" h="2442137">
                <a:moveTo>
                  <a:pt x="0" y="0"/>
                </a:moveTo>
                <a:lnTo>
                  <a:pt x="1514686" y="0"/>
                </a:lnTo>
                <a:lnTo>
                  <a:pt x="1514686" y="2442137"/>
                </a:lnTo>
                <a:lnTo>
                  <a:pt x="0" y="2442137"/>
                </a:lnTo>
                <a:close/>
              </a:path>
            </a:pathLst>
          </a:custGeom>
          <a:solidFill>
            <a:schemeClr val="bg2"/>
          </a:solidFill>
          <a:effectLst>
            <a:innerShdw blurRad="114300">
              <a:prstClr val="black"/>
            </a:inn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4756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图片占位符 8">
            <a:extLst>
              <a:ext uri="{FF2B5EF4-FFF2-40B4-BE49-F238E27FC236}">
                <a16:creationId xmlns:a16="http://schemas.microsoft.com/office/drawing/2014/main" id="{84A987E4-5098-48D7-B3D9-7C65E17B9A4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980161" y="3662277"/>
            <a:ext cx="4496750" cy="1752641"/>
          </a:xfrm>
          <a:custGeom>
            <a:avLst/>
            <a:gdLst>
              <a:gd name="connsiteX0" fmla="*/ 2864411 w 4496750"/>
              <a:gd name="connsiteY0" fmla="*/ 0 h 1752641"/>
              <a:gd name="connsiteX1" fmla="*/ 4496750 w 4496750"/>
              <a:gd name="connsiteY1" fmla="*/ 633131 h 1752641"/>
              <a:gd name="connsiteX2" fmla="*/ 1632339 w 4496750"/>
              <a:gd name="connsiteY2" fmla="*/ 1752641 h 1752641"/>
              <a:gd name="connsiteX3" fmla="*/ 0 w 4496750"/>
              <a:gd name="connsiteY3" fmla="*/ 1119510 h 1752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96750" h="1752641">
                <a:moveTo>
                  <a:pt x="2864411" y="0"/>
                </a:moveTo>
                <a:lnTo>
                  <a:pt x="4496750" y="633131"/>
                </a:lnTo>
                <a:lnTo>
                  <a:pt x="1632339" y="1752641"/>
                </a:lnTo>
                <a:lnTo>
                  <a:pt x="0" y="111951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" name="图片占位符 7">
            <a:extLst>
              <a:ext uri="{FF2B5EF4-FFF2-40B4-BE49-F238E27FC236}">
                <a16:creationId xmlns:a16="http://schemas.microsoft.com/office/drawing/2014/main" id="{0DDDB151-FC67-4A93-B914-9C1A19B4998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57739" y="3351144"/>
            <a:ext cx="4496750" cy="1752641"/>
          </a:xfrm>
          <a:custGeom>
            <a:avLst/>
            <a:gdLst>
              <a:gd name="connsiteX0" fmla="*/ 2864411 w 4496750"/>
              <a:gd name="connsiteY0" fmla="*/ 0 h 1752641"/>
              <a:gd name="connsiteX1" fmla="*/ 4496750 w 4496750"/>
              <a:gd name="connsiteY1" fmla="*/ 633131 h 1752641"/>
              <a:gd name="connsiteX2" fmla="*/ 1632339 w 4496750"/>
              <a:gd name="connsiteY2" fmla="*/ 1752641 h 1752641"/>
              <a:gd name="connsiteX3" fmla="*/ 0 w 4496750"/>
              <a:gd name="connsiteY3" fmla="*/ 1119510 h 1752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96750" h="1752641">
                <a:moveTo>
                  <a:pt x="2864411" y="0"/>
                </a:moveTo>
                <a:lnTo>
                  <a:pt x="4496750" y="633131"/>
                </a:lnTo>
                <a:lnTo>
                  <a:pt x="1632339" y="1752641"/>
                </a:lnTo>
                <a:lnTo>
                  <a:pt x="0" y="111951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6331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1" y="-79123"/>
            <a:ext cx="12192001" cy="6858000"/>
          </a:xfrm>
          <a:prstGeom prst="rect">
            <a:avLst/>
          </a:prstGeom>
          <a:blipFill dpi="0" rotWithShape="1">
            <a:blip r:embed="rId14" cstate="hqprint">
              <a:alphaModFix amt="71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菱形 6">
            <a:extLst>
              <a:ext uri="{FF2B5EF4-FFF2-40B4-BE49-F238E27FC236}">
                <a16:creationId xmlns:a16="http://schemas.microsoft.com/office/drawing/2014/main" id="{A832896A-8739-4601-84B6-1F10BA781B2F}"/>
              </a:ext>
            </a:extLst>
          </p:cNvPr>
          <p:cNvSpPr/>
          <p:nvPr userDrawn="1"/>
        </p:nvSpPr>
        <p:spPr>
          <a:xfrm>
            <a:off x="1350131" y="622304"/>
            <a:ext cx="334960" cy="334960"/>
          </a:xfrm>
          <a:prstGeom prst="diamond">
            <a:avLst/>
          </a:prstGeom>
          <a:solidFill>
            <a:schemeClr val="accent3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C51987B-F4CB-49EA-B37A-23307F9CD06F}"/>
              </a:ext>
            </a:extLst>
          </p:cNvPr>
          <p:cNvSpPr/>
          <p:nvPr userDrawn="1"/>
        </p:nvSpPr>
        <p:spPr>
          <a:xfrm>
            <a:off x="1" y="0"/>
            <a:ext cx="12192000" cy="7912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2E7AB0C2-FD94-4207-84A2-F6ED87F8F59A}"/>
              </a:ext>
            </a:extLst>
          </p:cNvPr>
          <p:cNvSpPr/>
          <p:nvPr userDrawn="1"/>
        </p:nvSpPr>
        <p:spPr>
          <a:xfrm>
            <a:off x="175098" y="423"/>
            <a:ext cx="2013234" cy="1079077"/>
          </a:xfrm>
          <a:custGeom>
            <a:avLst/>
            <a:gdLst>
              <a:gd name="connsiteX0" fmla="*/ 76200 w 1676402"/>
              <a:gd name="connsiteY0" fmla="*/ 0 h 914401"/>
              <a:gd name="connsiteX1" fmla="*/ 1600202 w 1676402"/>
              <a:gd name="connsiteY1" fmla="*/ 0 h 914401"/>
              <a:gd name="connsiteX2" fmla="*/ 1676402 w 1676402"/>
              <a:gd name="connsiteY2" fmla="*/ 76200 h 914401"/>
              <a:gd name="connsiteX3" fmla="*/ 838201 w 1676402"/>
              <a:gd name="connsiteY3" fmla="*/ 914401 h 914401"/>
              <a:gd name="connsiteX4" fmla="*/ 0 w 1676402"/>
              <a:gd name="connsiteY4" fmla="*/ 76200 h 914401"/>
              <a:gd name="connsiteX0" fmla="*/ 68269 w 1676402"/>
              <a:gd name="connsiteY0" fmla="*/ 15863 h 914401"/>
              <a:gd name="connsiteX1" fmla="*/ 1600202 w 1676402"/>
              <a:gd name="connsiteY1" fmla="*/ 0 h 914401"/>
              <a:gd name="connsiteX2" fmla="*/ 1676402 w 1676402"/>
              <a:gd name="connsiteY2" fmla="*/ 76200 h 914401"/>
              <a:gd name="connsiteX3" fmla="*/ 838201 w 1676402"/>
              <a:gd name="connsiteY3" fmla="*/ 914401 h 914401"/>
              <a:gd name="connsiteX4" fmla="*/ 0 w 1676402"/>
              <a:gd name="connsiteY4" fmla="*/ 76200 h 914401"/>
              <a:gd name="connsiteX5" fmla="*/ 68269 w 1676402"/>
              <a:gd name="connsiteY5" fmla="*/ 15863 h 914401"/>
              <a:gd name="connsiteX0" fmla="*/ 68269 w 1676402"/>
              <a:gd name="connsiteY0" fmla="*/ 0 h 898538"/>
              <a:gd name="connsiteX1" fmla="*/ 1618049 w 1676402"/>
              <a:gd name="connsiteY1" fmla="*/ 7932 h 898538"/>
              <a:gd name="connsiteX2" fmla="*/ 1676402 w 1676402"/>
              <a:gd name="connsiteY2" fmla="*/ 60337 h 898538"/>
              <a:gd name="connsiteX3" fmla="*/ 838201 w 1676402"/>
              <a:gd name="connsiteY3" fmla="*/ 898538 h 898538"/>
              <a:gd name="connsiteX4" fmla="*/ 0 w 1676402"/>
              <a:gd name="connsiteY4" fmla="*/ 60337 h 898538"/>
              <a:gd name="connsiteX5" fmla="*/ 68269 w 1676402"/>
              <a:gd name="connsiteY5" fmla="*/ 0 h 898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76402" h="898538">
                <a:moveTo>
                  <a:pt x="68269" y="0"/>
                </a:moveTo>
                <a:lnTo>
                  <a:pt x="1618049" y="7932"/>
                </a:lnTo>
                <a:lnTo>
                  <a:pt x="1676402" y="60337"/>
                </a:lnTo>
                <a:lnTo>
                  <a:pt x="838201" y="898538"/>
                </a:lnTo>
                <a:lnTo>
                  <a:pt x="0" y="60337"/>
                </a:lnTo>
                <a:cubicBezTo>
                  <a:pt x="25400" y="34937"/>
                  <a:pt x="42869" y="25400"/>
                  <a:pt x="6826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菱形 9">
            <a:extLst>
              <a:ext uri="{FF2B5EF4-FFF2-40B4-BE49-F238E27FC236}">
                <a16:creationId xmlns:a16="http://schemas.microsoft.com/office/drawing/2014/main" id="{420DFCEC-C31F-4B19-8188-4A0B6DAC7476}"/>
              </a:ext>
            </a:extLst>
          </p:cNvPr>
          <p:cNvSpPr/>
          <p:nvPr userDrawn="1"/>
        </p:nvSpPr>
        <p:spPr>
          <a:xfrm>
            <a:off x="511930" y="222628"/>
            <a:ext cx="621545" cy="621545"/>
          </a:xfrm>
          <a:prstGeom prst="diamond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5DDEFA6-3FC5-43C1-9B84-FAEA11BACE99}"/>
              </a:ext>
            </a:extLst>
          </p:cNvPr>
          <p:cNvSpPr/>
          <p:nvPr userDrawn="1"/>
        </p:nvSpPr>
        <p:spPr>
          <a:xfrm>
            <a:off x="1" y="6778877"/>
            <a:ext cx="12192000" cy="7912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1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618" y="168239"/>
            <a:ext cx="630345" cy="621545"/>
          </a:xfrm>
          <a:prstGeom prst="rect">
            <a:avLst/>
          </a:prstGeom>
        </p:spPr>
      </p:pic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8851900" y="61785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5DF9E-B8B4-41B6-979F-54FEDD842CBF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49744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55" r:id="rId3"/>
    <p:sldLayoutId id="2147483666" r:id="rId4"/>
    <p:sldLayoutId id="2147483665" r:id="rId5"/>
    <p:sldLayoutId id="2147483664" r:id="rId6"/>
    <p:sldLayoutId id="2147483663" r:id="rId7"/>
    <p:sldLayoutId id="2147483662" r:id="rId8"/>
    <p:sldLayoutId id="2147483661" r:id="rId9"/>
    <p:sldLayoutId id="2147483660" r:id="rId10"/>
    <p:sldLayoutId id="2147483659" r:id="rId11"/>
    <p:sldLayoutId id="2147483658" r:id="rId12"/>
  </p:sldLayoutIdLst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5.png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media3.m4a"/><Relationship Id="rId2" Type="http://schemas.microsoft.com/office/2007/relationships/media" Target="../media/media3.m4a"/><Relationship Id="rId1" Type="http://schemas.openxmlformats.org/officeDocument/2006/relationships/tags" Target="../tags/tag2.xml"/><Relationship Id="rId6" Type="http://schemas.openxmlformats.org/officeDocument/2006/relationships/image" Target="../media/image6.png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media4.m4a"/><Relationship Id="rId7" Type="http://schemas.openxmlformats.org/officeDocument/2006/relationships/image" Target="../media/image6.png"/><Relationship Id="rId2" Type="http://schemas.microsoft.com/office/2007/relationships/media" Target="../media/media4.m4a"/><Relationship Id="rId1" Type="http://schemas.openxmlformats.org/officeDocument/2006/relationships/tags" Target="../tags/tag3.xml"/><Relationship Id="rId6" Type="http://schemas.openxmlformats.org/officeDocument/2006/relationships/image" Target="../media/image8.png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audio" Target="../media/media5.m4a"/><Relationship Id="rId7" Type="http://schemas.openxmlformats.org/officeDocument/2006/relationships/image" Target="../media/image10.png"/><Relationship Id="rId2" Type="http://schemas.microsoft.com/office/2007/relationships/media" Target="../media/media5.m4a"/><Relationship Id="rId1" Type="http://schemas.openxmlformats.org/officeDocument/2006/relationships/tags" Target="../tags/tag4.xml"/><Relationship Id="rId6" Type="http://schemas.openxmlformats.org/officeDocument/2006/relationships/image" Target="../media/image9.png"/><Relationship Id="rId5" Type="http://schemas.openxmlformats.org/officeDocument/2006/relationships/notesSlide" Target="../notesSlides/notesSlide5.xml"/><Relationship Id="rId10" Type="http://schemas.openxmlformats.org/officeDocument/2006/relationships/image" Target="../media/image6.png"/><Relationship Id="rId4" Type="http://schemas.openxmlformats.org/officeDocument/2006/relationships/slideLayout" Target="../slideLayouts/slideLayout3.xml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6" Type="http://schemas.openxmlformats.org/officeDocument/2006/relationships/image" Target="../media/image6.png"/><Relationship Id="rId5" Type="http://schemas.openxmlformats.org/officeDocument/2006/relationships/image" Target="../media/image13.jpe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6" Type="http://schemas.openxmlformats.org/officeDocument/2006/relationships/image" Target="../media/image6.png"/><Relationship Id="rId5" Type="http://schemas.openxmlformats.org/officeDocument/2006/relationships/image" Target="../media/image13.jpe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6" Type="http://schemas.openxmlformats.org/officeDocument/2006/relationships/image" Target="../media/image6.png"/><Relationship Id="rId5" Type="http://schemas.openxmlformats.org/officeDocument/2006/relationships/image" Target="../media/image13.jpe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6" Type="http://schemas.openxmlformats.org/officeDocument/2006/relationships/image" Target="../media/image6.png"/><Relationship Id="rId5" Type="http://schemas.openxmlformats.org/officeDocument/2006/relationships/image" Target="../media/image13.jpe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6" Type="http://schemas.openxmlformats.org/officeDocument/2006/relationships/image" Target="../media/image6.png"/><Relationship Id="rId5" Type="http://schemas.openxmlformats.org/officeDocument/2006/relationships/image" Target="../media/image13.jpeg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6.png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6" Type="http://schemas.openxmlformats.org/officeDocument/2006/relationships/image" Target="../media/image14.jpg"/><Relationship Id="rId5" Type="http://schemas.openxmlformats.org/officeDocument/2006/relationships/image" Target="../media/image13.jpeg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6" Type="http://schemas.openxmlformats.org/officeDocument/2006/relationships/image" Target="../media/image6.png"/><Relationship Id="rId5" Type="http://schemas.openxmlformats.org/officeDocument/2006/relationships/image" Target="../media/image15.png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13.m4a"/><Relationship Id="rId1" Type="http://schemas.microsoft.com/office/2007/relationships/media" Target="../media/media13.m4a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占位符 6"/>
          <p:cNvPicPr>
            <a:picLocks noGrp="1" noChangeAspect="1"/>
          </p:cNvPicPr>
          <p:nvPr>
            <p:ph type="pic" sz="quarter" idx="10"/>
          </p:nvPr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37" name="任意多边形: 形状 413">
            <a:extLst>
              <a:ext uri="{FF2B5EF4-FFF2-40B4-BE49-F238E27FC236}">
                <a16:creationId xmlns:a16="http://schemas.microsoft.com/office/drawing/2014/main" id="{F1BD2BFA-44D8-492D-A44C-5370A9FC5D42}"/>
              </a:ext>
            </a:extLst>
          </p:cNvPr>
          <p:cNvSpPr/>
          <p:nvPr/>
        </p:nvSpPr>
        <p:spPr>
          <a:xfrm>
            <a:off x="8195579" y="-7831"/>
            <a:ext cx="4009778" cy="2486731"/>
          </a:xfrm>
          <a:custGeom>
            <a:avLst/>
            <a:gdLst>
              <a:gd name="connsiteX0" fmla="*/ 12046 w 4009778"/>
              <a:gd name="connsiteY0" fmla="*/ 0 h 2486731"/>
              <a:gd name="connsiteX1" fmla="*/ 4009778 w 4009778"/>
              <a:gd name="connsiteY1" fmla="*/ 0 h 2486731"/>
              <a:gd name="connsiteX2" fmla="*/ 4009778 w 4009778"/>
              <a:gd name="connsiteY2" fmla="*/ 951638 h 2486731"/>
              <a:gd name="connsiteX3" fmla="*/ 2474685 w 4009778"/>
              <a:gd name="connsiteY3" fmla="*/ 2486731 h 2486731"/>
              <a:gd name="connsiteX4" fmla="*/ 0 w 4009778"/>
              <a:gd name="connsiteY4" fmla="*/ 12046 h 24867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09778" h="2486731">
                <a:moveTo>
                  <a:pt x="12046" y="0"/>
                </a:moveTo>
                <a:lnTo>
                  <a:pt x="4009778" y="0"/>
                </a:lnTo>
                <a:lnTo>
                  <a:pt x="4009778" y="951638"/>
                </a:lnTo>
                <a:lnTo>
                  <a:pt x="2474685" y="2486731"/>
                </a:lnTo>
                <a:lnTo>
                  <a:pt x="0" y="12046"/>
                </a:lnTo>
                <a:close/>
              </a:path>
            </a:pathLst>
          </a:cu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E00902C1-BAD7-423C-AC43-315C806E8DB0}"/>
              </a:ext>
            </a:extLst>
          </p:cNvPr>
          <p:cNvGrpSpPr/>
          <p:nvPr/>
        </p:nvGrpSpPr>
        <p:grpSpPr>
          <a:xfrm>
            <a:off x="781505" y="-7831"/>
            <a:ext cx="11423851" cy="6861255"/>
            <a:chOff x="781505" y="-7831"/>
            <a:chExt cx="11423851" cy="6861255"/>
          </a:xfrm>
        </p:grpSpPr>
        <p:pic>
          <p:nvPicPr>
            <p:cNvPr id="39" name="图片 38">
              <a:extLst>
                <a:ext uri="{FF2B5EF4-FFF2-40B4-BE49-F238E27FC236}">
                  <a16:creationId xmlns:a16="http://schemas.microsoft.com/office/drawing/2014/main" id="{D7DA2D33-EAEF-4CCF-A051-9903E13AA0E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27686" r="5622"/>
            <a:stretch>
              <a:fillRect/>
            </a:stretch>
          </p:blipFill>
          <p:spPr>
            <a:xfrm>
              <a:off x="781505" y="-7831"/>
              <a:ext cx="10838995" cy="4959310"/>
            </a:xfrm>
            <a:custGeom>
              <a:avLst/>
              <a:gdLst>
                <a:gd name="connsiteX0" fmla="*/ 0 w 10838995"/>
                <a:gd name="connsiteY0" fmla="*/ 0 h 4959310"/>
                <a:gd name="connsiteX1" fmla="*/ 10838995 w 10838995"/>
                <a:gd name="connsiteY1" fmla="*/ 0 h 4959310"/>
                <a:gd name="connsiteX2" fmla="*/ 10838995 w 10838995"/>
                <a:gd name="connsiteY2" fmla="*/ 4959310 h 4959310"/>
                <a:gd name="connsiteX3" fmla="*/ 0 w 10838995"/>
                <a:gd name="connsiteY3" fmla="*/ 4959310 h 4959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8995" h="4959310">
                  <a:moveTo>
                    <a:pt x="0" y="0"/>
                  </a:moveTo>
                  <a:lnTo>
                    <a:pt x="10838995" y="0"/>
                  </a:lnTo>
                  <a:lnTo>
                    <a:pt x="10838995" y="4959310"/>
                  </a:lnTo>
                  <a:lnTo>
                    <a:pt x="0" y="4959310"/>
                  </a:lnTo>
                  <a:close/>
                </a:path>
              </a:pathLst>
            </a:custGeom>
          </p:spPr>
        </p:pic>
        <p:pic>
          <p:nvPicPr>
            <p:cNvPr id="40" name="图片 39">
              <a:extLst>
                <a:ext uri="{FF2B5EF4-FFF2-40B4-BE49-F238E27FC236}">
                  <a16:creationId xmlns:a16="http://schemas.microsoft.com/office/drawing/2014/main" id="{461738C6-0E73-413D-ACCA-64FF0EF0636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43582"/>
            <a:stretch>
              <a:fillRect/>
            </a:stretch>
          </p:blipFill>
          <p:spPr>
            <a:xfrm flipH="1">
              <a:off x="5725882" y="-4577"/>
              <a:ext cx="6479474" cy="6858001"/>
            </a:xfrm>
            <a:custGeom>
              <a:avLst/>
              <a:gdLst>
                <a:gd name="connsiteX0" fmla="*/ 6479473 w 6479473"/>
                <a:gd name="connsiteY0" fmla="*/ 0 h 6858000"/>
                <a:gd name="connsiteX1" fmla="*/ 0 w 6479473"/>
                <a:gd name="connsiteY1" fmla="*/ 0 h 6858000"/>
                <a:gd name="connsiteX2" fmla="*/ 0 w 6479473"/>
                <a:gd name="connsiteY2" fmla="*/ 6858000 h 6858000"/>
                <a:gd name="connsiteX3" fmla="*/ 6479473 w 6479473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79473" h="6858000">
                  <a:moveTo>
                    <a:pt x="6479473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6479473" y="6858000"/>
                  </a:lnTo>
                  <a:close/>
                </a:path>
              </a:pathLst>
            </a:custGeom>
          </p:spPr>
        </p:pic>
      </p:grpSp>
      <p:sp>
        <p:nvSpPr>
          <p:cNvPr id="41" name="菱形 40">
            <a:extLst>
              <a:ext uri="{FF2B5EF4-FFF2-40B4-BE49-F238E27FC236}">
                <a16:creationId xmlns:a16="http://schemas.microsoft.com/office/drawing/2014/main" id="{8E3E72ED-C77C-4465-BEC7-5CF4C5BA2B6F}"/>
              </a:ext>
            </a:extLst>
          </p:cNvPr>
          <p:cNvSpPr/>
          <p:nvPr/>
        </p:nvSpPr>
        <p:spPr>
          <a:xfrm>
            <a:off x="5737928" y="9937"/>
            <a:ext cx="4937327" cy="4937327"/>
          </a:xfrm>
          <a:prstGeom prst="diamond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任意多边形: 形状 414">
            <a:extLst>
              <a:ext uri="{FF2B5EF4-FFF2-40B4-BE49-F238E27FC236}">
                <a16:creationId xmlns:a16="http://schemas.microsoft.com/office/drawing/2014/main" id="{B6A71BCC-0956-44AA-88FC-87EBB0C0B720}"/>
              </a:ext>
            </a:extLst>
          </p:cNvPr>
          <p:cNvSpPr/>
          <p:nvPr/>
        </p:nvSpPr>
        <p:spPr>
          <a:xfrm>
            <a:off x="8210508" y="2482307"/>
            <a:ext cx="3994847" cy="4375693"/>
          </a:xfrm>
          <a:custGeom>
            <a:avLst/>
            <a:gdLst>
              <a:gd name="connsiteX0" fmla="*/ 2474686 w 4014726"/>
              <a:gd name="connsiteY0" fmla="*/ 0 h 4397467"/>
              <a:gd name="connsiteX1" fmla="*/ 4014726 w 4014726"/>
              <a:gd name="connsiteY1" fmla="*/ 1540041 h 4397467"/>
              <a:gd name="connsiteX2" fmla="*/ 4014726 w 4014726"/>
              <a:gd name="connsiteY2" fmla="*/ 3409331 h 4397467"/>
              <a:gd name="connsiteX3" fmla="*/ 3026590 w 4014726"/>
              <a:gd name="connsiteY3" fmla="*/ 4397467 h 4397467"/>
              <a:gd name="connsiteX4" fmla="*/ 1922782 w 4014726"/>
              <a:gd name="connsiteY4" fmla="*/ 4397467 h 4397467"/>
              <a:gd name="connsiteX5" fmla="*/ 0 w 4014726"/>
              <a:gd name="connsiteY5" fmla="*/ 2474686 h 4397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14726" h="4397467">
                <a:moveTo>
                  <a:pt x="2474686" y="0"/>
                </a:moveTo>
                <a:lnTo>
                  <a:pt x="4014726" y="1540041"/>
                </a:lnTo>
                <a:lnTo>
                  <a:pt x="4014726" y="3409331"/>
                </a:lnTo>
                <a:lnTo>
                  <a:pt x="3026590" y="4397467"/>
                </a:lnTo>
                <a:lnTo>
                  <a:pt x="1922782" y="4397467"/>
                </a:lnTo>
                <a:lnTo>
                  <a:pt x="0" y="2474686"/>
                </a:lnTo>
                <a:close/>
              </a:path>
            </a:pathLst>
          </a:cu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任意多边形: 形状 410">
            <a:extLst>
              <a:ext uri="{FF2B5EF4-FFF2-40B4-BE49-F238E27FC236}">
                <a16:creationId xmlns:a16="http://schemas.microsoft.com/office/drawing/2014/main" id="{98BE3547-0A56-4D12-A064-F0E551989EC5}"/>
              </a:ext>
            </a:extLst>
          </p:cNvPr>
          <p:cNvSpPr/>
          <p:nvPr/>
        </p:nvSpPr>
        <p:spPr>
          <a:xfrm>
            <a:off x="10665271" y="930386"/>
            <a:ext cx="1540086" cy="3080171"/>
          </a:xfrm>
          <a:custGeom>
            <a:avLst/>
            <a:gdLst>
              <a:gd name="connsiteX0" fmla="*/ 1540086 w 1540086"/>
              <a:gd name="connsiteY0" fmla="*/ 0 h 3080171"/>
              <a:gd name="connsiteX1" fmla="*/ 1540086 w 1540086"/>
              <a:gd name="connsiteY1" fmla="*/ 3080171 h 3080171"/>
              <a:gd name="connsiteX2" fmla="*/ 0 w 1540086"/>
              <a:gd name="connsiteY2" fmla="*/ 1540086 h 3080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40086" h="3080171">
                <a:moveTo>
                  <a:pt x="1540086" y="0"/>
                </a:moveTo>
                <a:lnTo>
                  <a:pt x="1540086" y="3080171"/>
                </a:lnTo>
                <a:lnTo>
                  <a:pt x="0" y="1540086"/>
                </a:lnTo>
                <a:close/>
              </a:path>
            </a:pathLst>
          </a:custGeom>
          <a:solidFill>
            <a:schemeClr val="tx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任意多边形: 形状 412">
            <a:extLst>
              <a:ext uri="{FF2B5EF4-FFF2-40B4-BE49-F238E27FC236}">
                <a16:creationId xmlns:a16="http://schemas.microsoft.com/office/drawing/2014/main" id="{4A60D0BA-13E0-43FA-81C0-8A06E8BFC034}"/>
              </a:ext>
            </a:extLst>
          </p:cNvPr>
          <p:cNvSpPr/>
          <p:nvPr/>
        </p:nvSpPr>
        <p:spPr>
          <a:xfrm>
            <a:off x="3261138" y="-7831"/>
            <a:ext cx="4949371" cy="2492455"/>
          </a:xfrm>
          <a:custGeom>
            <a:avLst/>
            <a:gdLst>
              <a:gd name="connsiteX0" fmla="*/ 17770 w 4949371"/>
              <a:gd name="connsiteY0" fmla="*/ 0 h 2492455"/>
              <a:gd name="connsiteX1" fmla="*/ 4931601 w 4949371"/>
              <a:gd name="connsiteY1" fmla="*/ 0 h 2492455"/>
              <a:gd name="connsiteX2" fmla="*/ 4949371 w 4949371"/>
              <a:gd name="connsiteY2" fmla="*/ 17770 h 2492455"/>
              <a:gd name="connsiteX3" fmla="*/ 2474686 w 4949371"/>
              <a:gd name="connsiteY3" fmla="*/ 2492455 h 2492455"/>
              <a:gd name="connsiteX4" fmla="*/ 0 w 4949371"/>
              <a:gd name="connsiteY4" fmla="*/ 17770 h 2492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49371" h="2492455">
                <a:moveTo>
                  <a:pt x="17770" y="0"/>
                </a:moveTo>
                <a:lnTo>
                  <a:pt x="4931601" y="0"/>
                </a:lnTo>
                <a:lnTo>
                  <a:pt x="4949371" y="17770"/>
                </a:lnTo>
                <a:lnTo>
                  <a:pt x="2474686" y="2492455"/>
                </a:lnTo>
                <a:lnTo>
                  <a:pt x="0" y="1777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7" name="任意多边形: 形状 416">
            <a:extLst>
              <a:ext uri="{FF2B5EF4-FFF2-40B4-BE49-F238E27FC236}">
                <a16:creationId xmlns:a16="http://schemas.microsoft.com/office/drawing/2014/main" id="{C53D5117-FCEA-4B51-BE3F-302F6F06D6F9}"/>
              </a:ext>
            </a:extLst>
          </p:cNvPr>
          <p:cNvSpPr/>
          <p:nvPr/>
        </p:nvSpPr>
        <p:spPr>
          <a:xfrm>
            <a:off x="1" y="5068208"/>
            <a:ext cx="1789793" cy="1789793"/>
          </a:xfrm>
          <a:custGeom>
            <a:avLst/>
            <a:gdLst>
              <a:gd name="connsiteX0" fmla="*/ 0 w 1789793"/>
              <a:gd name="connsiteY0" fmla="*/ 0 h 1789793"/>
              <a:gd name="connsiteX1" fmla="*/ 1789793 w 1789793"/>
              <a:gd name="connsiteY1" fmla="*/ 1789793 h 1789793"/>
              <a:gd name="connsiteX2" fmla="*/ 0 w 1789793"/>
              <a:gd name="connsiteY2" fmla="*/ 1789793 h 1789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89793" h="1789793">
                <a:moveTo>
                  <a:pt x="0" y="0"/>
                </a:moveTo>
                <a:lnTo>
                  <a:pt x="1789793" y="1789793"/>
                </a:lnTo>
                <a:lnTo>
                  <a:pt x="0" y="1789793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5" name="文本框 444">
            <a:extLst>
              <a:ext uri="{FF2B5EF4-FFF2-40B4-BE49-F238E27FC236}">
                <a16:creationId xmlns:a16="http://schemas.microsoft.com/office/drawing/2014/main" id="{93B3425C-96F4-4410-B9AC-2690BF966487}"/>
              </a:ext>
            </a:extLst>
          </p:cNvPr>
          <p:cNvSpPr txBox="1"/>
          <p:nvPr/>
        </p:nvSpPr>
        <p:spPr>
          <a:xfrm>
            <a:off x="1004575" y="5084498"/>
            <a:ext cx="9317716" cy="101566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defRPr/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Zhixuan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Li</a:t>
            </a:r>
            <a:r>
              <a:rPr lang="en-US" altLang="zh-CN" baseline="30000" dirty="0">
                <a:latin typeface="Arial" panose="020B0604020202020204" pitchFamily="34" charset="0"/>
                <a:ea typeface="宋体" panose="02010600030101010101" pitchFamily="2" charset="-122"/>
              </a:rPr>
              <a:t>1,2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, Weining Ye</a:t>
            </a:r>
            <a:r>
              <a:rPr lang="en-US" altLang="zh-CN" baseline="300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, Tingting Jiang</a:t>
            </a:r>
            <a:r>
              <a:rPr lang="en-US" altLang="zh-CN" baseline="30000" dirty="0"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</a:t>
            </a:r>
            <a:r>
              <a:rPr lang="en-US" altLang="zh-CN" baseline="30000" dirty="0">
                <a:latin typeface="Arial" panose="020B0604020202020204" pitchFamily="34" charset="0"/>
                <a:ea typeface="宋体" panose="02010600030101010101" pitchFamily="2" charset="-122"/>
              </a:rPr>
              <a:t>1,2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, and Tiejun Huang</a:t>
            </a:r>
            <a:r>
              <a:rPr lang="en-US" altLang="zh-CN" baseline="300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endParaRPr lang="en-US" altLang="zh-CN" baseline="30000" dirty="0"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400" i="1" baseline="300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 </a:t>
            </a:r>
            <a:r>
              <a:rPr lang="en-US" altLang="zh-CN" sz="1400" i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Advanced Institute of Information Technology, Peking University, Hangzhou, China</a:t>
            </a:r>
          </a:p>
          <a:p>
            <a:pPr>
              <a:defRPr/>
            </a:pPr>
            <a:r>
              <a:rPr lang="en-US" altLang="zh-CN" sz="1400" i="1" baseline="300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1400" i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National Engineering Research Center of Visual Technology, School of Computer Science, </a:t>
            </a:r>
          </a:p>
          <a:p>
            <a:pPr>
              <a:defRPr/>
            </a:pPr>
            <a:r>
              <a:rPr lang="en-US" altLang="zh-CN" sz="1400" i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Peking University, Beijing, China</a:t>
            </a:r>
            <a:endParaRPr lang="en-US" altLang="zh-CN" sz="1400" dirty="0">
              <a:solidFill>
                <a:schemeClr val="tx2">
                  <a:lumMod val="60000"/>
                  <a:lumOff val="40000"/>
                </a:schemeClr>
              </a:solidFill>
              <a:ea typeface="+mj-ea"/>
            </a:endParaRPr>
          </a:p>
        </p:txBody>
      </p:sp>
      <p:sp>
        <p:nvSpPr>
          <p:cNvPr id="459" name="文本框 458">
            <a:extLst>
              <a:ext uri="{FF2B5EF4-FFF2-40B4-BE49-F238E27FC236}">
                <a16:creationId xmlns:a16="http://schemas.microsoft.com/office/drawing/2014/main" id="{1A2AB276-7C49-4E7E-B7E3-0E8E4ABBE6E3}"/>
              </a:ext>
            </a:extLst>
          </p:cNvPr>
          <p:cNvSpPr txBox="1"/>
          <p:nvPr/>
        </p:nvSpPr>
        <p:spPr>
          <a:xfrm>
            <a:off x="315154" y="2314016"/>
            <a:ext cx="7664450" cy="213885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14000"/>
              </a:lnSpc>
            </a:pPr>
            <a:r>
              <a:rPr lang="en-US" altLang="zh-CN" sz="4000" b="1" dirty="0">
                <a:solidFill>
                  <a:srgbClr val="C00000"/>
                </a:solidFill>
                <a:ea typeface="+mj-ea"/>
              </a:rPr>
              <a:t>2D Amodal Instance Segmentation Guided </a:t>
            </a:r>
          </a:p>
          <a:p>
            <a:pPr>
              <a:lnSpc>
                <a:spcPct val="114000"/>
              </a:lnSpc>
            </a:pPr>
            <a:r>
              <a:rPr lang="en-US" altLang="zh-CN" sz="4000" b="1" dirty="0">
                <a:solidFill>
                  <a:srgbClr val="C00000"/>
                </a:solidFill>
                <a:ea typeface="+mj-ea"/>
              </a:rPr>
              <a:t>by 3D Shape Prior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816" y="501989"/>
            <a:ext cx="2195085" cy="616555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B7002703-C958-DC4D-ADF4-AF4210BBBE92}"/>
              </a:ext>
            </a:extLst>
          </p:cNvPr>
          <p:cNvSpPr/>
          <p:nvPr/>
        </p:nvSpPr>
        <p:spPr>
          <a:xfrm>
            <a:off x="315154" y="1515110"/>
            <a:ext cx="316625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4400" b="1" dirty="0">
                <a:solidFill>
                  <a:srgbClr val="0070C0"/>
                </a:solidFill>
              </a:rPr>
              <a:t>ECCV 2022</a:t>
            </a:r>
            <a:endParaRPr lang="zh-CN" altLang="en-US" sz="4400" dirty="0">
              <a:solidFill>
                <a:srgbClr val="0070C0"/>
              </a:solidFill>
            </a:endParaRPr>
          </a:p>
        </p:txBody>
      </p:sp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0B2C1CC8-A4BA-E74A-80AF-6DF6D7A3D017}"/>
              </a:ext>
            </a:extLst>
          </p:cNvPr>
          <p:cNvCxnSpPr>
            <a:cxnSpLocks/>
          </p:cNvCxnSpPr>
          <p:nvPr/>
        </p:nvCxnSpPr>
        <p:spPr>
          <a:xfrm>
            <a:off x="387626" y="4512365"/>
            <a:ext cx="736549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2" name="音频 61">
            <a:hlinkClick r:id="" action="ppaction://media"/>
            <a:extLst>
              <a:ext uri="{FF2B5EF4-FFF2-40B4-BE49-F238E27FC236}">
                <a16:creationId xmlns:a16="http://schemas.microsoft.com/office/drawing/2014/main" id="{7D523CCD-A99C-F1B5-25A4-D023C198580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rcRect l="-324094" t="-160938" r="-324094" b="-160938"/>
          <a:stretch>
            <a:fillRect/>
          </a:stretch>
        </p:blipFill>
        <p:spPr>
          <a:xfrm>
            <a:off x="9147683" y="5143500"/>
            <a:ext cx="3040633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015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4813"/>
    </mc:Choice>
    <mc:Fallback xmlns="">
      <p:transition advTm="1481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2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文本框 59">
            <a:extLst>
              <a:ext uri="{FF2B5EF4-FFF2-40B4-BE49-F238E27FC236}">
                <a16:creationId xmlns:a16="http://schemas.microsoft.com/office/drawing/2014/main" id="{5DA08EBE-D407-46FB-AA96-350A4C306263}"/>
              </a:ext>
            </a:extLst>
          </p:cNvPr>
          <p:cNvSpPr txBox="1"/>
          <p:nvPr/>
        </p:nvSpPr>
        <p:spPr>
          <a:xfrm>
            <a:off x="1990027" y="266855"/>
            <a:ext cx="9824809" cy="735394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14000"/>
              </a:lnSpc>
            </a:pPr>
            <a:r>
              <a:rPr lang="en-US" altLang="zh-CN" sz="4000" b="1" dirty="0">
                <a:solidFill>
                  <a:srgbClr val="8B0012"/>
                </a:solidFill>
                <a:ea typeface="+mj-ea"/>
              </a:rPr>
              <a:t>What is Amodal Instance Segmentation?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E5DF9E-B8B4-41B6-979F-54FEDD842CBF}" type="slidenum">
              <a:rPr lang="zh-CN" altLang="en-US" smtClean="0"/>
              <a:pPr/>
              <a:t>2</a:t>
            </a:fld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3A8DE56-04C9-F94D-B99E-4338C5907FC8}"/>
              </a:ext>
            </a:extLst>
          </p:cNvPr>
          <p:cNvSpPr txBox="1"/>
          <p:nvPr/>
        </p:nvSpPr>
        <p:spPr>
          <a:xfrm>
            <a:off x="4055165" y="306172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45" name="内容占位符 2">
            <a:extLst>
              <a:ext uri="{FF2B5EF4-FFF2-40B4-BE49-F238E27FC236}">
                <a16:creationId xmlns:a16="http://schemas.microsoft.com/office/drawing/2014/main" id="{2EB3EB38-4418-C245-A010-D1F9DCE52766}"/>
              </a:ext>
            </a:extLst>
          </p:cNvPr>
          <p:cNvSpPr txBox="1">
            <a:spLocks/>
          </p:cNvSpPr>
          <p:nvPr/>
        </p:nvSpPr>
        <p:spPr>
          <a:xfrm>
            <a:off x="838200" y="1483547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3200" dirty="0"/>
              <a:t>Amodal Instance Segmentation (AIS)</a:t>
            </a:r>
          </a:p>
          <a:p>
            <a:pPr lvl="1"/>
            <a:r>
              <a:rPr kumimoji="1" lang="en-US" altLang="zh-CN" sz="2800" dirty="0">
                <a:solidFill>
                  <a:srgbClr val="0070C0"/>
                </a:solidFill>
              </a:rPr>
              <a:t>Shapes of visible and invisible regions are both predicted</a:t>
            </a:r>
          </a:p>
        </p:txBody>
      </p:sp>
      <p:pic>
        <p:nvPicPr>
          <p:cNvPr id="6" name="图片 4">
            <a:extLst>
              <a:ext uri="{FF2B5EF4-FFF2-40B4-BE49-F238E27FC236}">
                <a16:creationId xmlns:a16="http://schemas.microsoft.com/office/drawing/2014/main" id="{245244CF-F4EC-4A69-B9F0-AD54C9361A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443" y="2563855"/>
            <a:ext cx="10515600" cy="326741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552117CC-6C13-4854-9BB5-105116101078}"/>
              </a:ext>
            </a:extLst>
          </p:cNvPr>
          <p:cNvSpPr txBox="1"/>
          <p:nvPr/>
        </p:nvSpPr>
        <p:spPr>
          <a:xfrm>
            <a:off x="1254499" y="5957810"/>
            <a:ext cx="3959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Century" panose="02040604050505020304" pitchFamily="18" charset="0"/>
              </a:rPr>
              <a:t>(a) </a:t>
            </a:r>
            <a:r>
              <a:rPr lang="en-US" altLang="zh-CN" b="1" dirty="0">
                <a:solidFill>
                  <a:srgbClr val="FF0000"/>
                </a:solidFill>
                <a:latin typeface="Century" panose="02040604050505020304" pitchFamily="18" charset="0"/>
              </a:rPr>
              <a:t>Amodal</a:t>
            </a:r>
            <a:r>
              <a:rPr lang="en-US" altLang="zh-CN" dirty="0">
                <a:latin typeface="Century" panose="02040604050505020304" pitchFamily="18" charset="0"/>
              </a:rPr>
              <a:t> Instance Segmentation</a:t>
            </a:r>
            <a:endParaRPr lang="zh-CN" altLang="en-US" dirty="0">
              <a:latin typeface="Century" panose="020406040505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BDE59C5-885B-44A2-9621-9F1AB59A9F12}"/>
              </a:ext>
            </a:extLst>
          </p:cNvPr>
          <p:cNvSpPr txBox="1"/>
          <p:nvPr/>
        </p:nvSpPr>
        <p:spPr>
          <a:xfrm>
            <a:off x="7096500" y="5941654"/>
            <a:ext cx="3759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Century" panose="02040604050505020304" pitchFamily="18" charset="0"/>
              </a:rPr>
              <a:t>(b) </a:t>
            </a:r>
            <a:r>
              <a:rPr lang="en-US" altLang="zh-CN" b="1" dirty="0">
                <a:solidFill>
                  <a:srgbClr val="FF0000"/>
                </a:solidFill>
                <a:latin typeface="Century" panose="02040604050505020304" pitchFamily="18" charset="0"/>
              </a:rPr>
              <a:t>Visible</a:t>
            </a:r>
            <a:r>
              <a:rPr lang="en-US" altLang="zh-CN" dirty="0">
                <a:latin typeface="Century" panose="02040604050505020304" pitchFamily="18" charset="0"/>
              </a:rPr>
              <a:t> Instance Segmentation</a:t>
            </a:r>
            <a:endParaRPr lang="zh-CN" altLang="en-US" dirty="0">
              <a:latin typeface="Century" panose="02040604050505020304" pitchFamily="18" charset="0"/>
            </a:endParaRPr>
          </a:p>
        </p:txBody>
      </p:sp>
      <p:pic>
        <p:nvPicPr>
          <p:cNvPr id="30" name="音频 29">
            <a:hlinkClick r:id="" action="ppaction://media"/>
            <a:extLst>
              <a:ext uri="{FF2B5EF4-FFF2-40B4-BE49-F238E27FC236}">
                <a16:creationId xmlns:a16="http://schemas.microsoft.com/office/drawing/2014/main" id="{EE308D8C-B3A3-BF2E-4FA3-565C1149037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324094" t="-160938" r="-324094" b="-160938"/>
          <a:stretch>
            <a:fillRect/>
          </a:stretch>
        </p:blipFill>
        <p:spPr>
          <a:xfrm>
            <a:off x="9147683" y="5143500"/>
            <a:ext cx="3040633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284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26388"/>
    </mc:Choice>
    <mc:Fallback xmlns="">
      <p:transition advTm="2638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0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文本框 59">
            <a:extLst>
              <a:ext uri="{FF2B5EF4-FFF2-40B4-BE49-F238E27FC236}">
                <a16:creationId xmlns:a16="http://schemas.microsoft.com/office/drawing/2014/main" id="{5DA08EBE-D407-46FB-AA96-350A4C306263}"/>
              </a:ext>
            </a:extLst>
          </p:cNvPr>
          <p:cNvSpPr txBox="1"/>
          <p:nvPr/>
        </p:nvSpPr>
        <p:spPr>
          <a:xfrm>
            <a:off x="1990027" y="266855"/>
            <a:ext cx="9824809" cy="735394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14000"/>
              </a:lnSpc>
            </a:pPr>
            <a:r>
              <a:rPr lang="en-US" altLang="zh-CN" sz="4000" b="1" dirty="0">
                <a:solidFill>
                  <a:srgbClr val="8B0012"/>
                </a:solidFill>
                <a:ea typeface="+mj-ea"/>
              </a:rPr>
              <a:t>Problems in existing AIS method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E5DF9E-B8B4-41B6-979F-54FEDD842CBF}" type="slidenum">
              <a:rPr lang="zh-CN" altLang="en-US" smtClean="0"/>
              <a:pPr/>
              <a:t>3</a:t>
            </a:fld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3A8DE56-04C9-F94D-B99E-4338C5907FC8}"/>
              </a:ext>
            </a:extLst>
          </p:cNvPr>
          <p:cNvSpPr txBox="1"/>
          <p:nvPr/>
        </p:nvSpPr>
        <p:spPr>
          <a:xfrm>
            <a:off x="4055165" y="306172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45" name="内容占位符 2">
            <a:extLst>
              <a:ext uri="{FF2B5EF4-FFF2-40B4-BE49-F238E27FC236}">
                <a16:creationId xmlns:a16="http://schemas.microsoft.com/office/drawing/2014/main" id="{2EB3EB38-4418-C245-A010-D1F9DCE52766}"/>
              </a:ext>
            </a:extLst>
          </p:cNvPr>
          <p:cNvSpPr txBox="1">
            <a:spLocks/>
          </p:cNvSpPr>
          <p:nvPr/>
        </p:nvSpPr>
        <p:spPr>
          <a:xfrm>
            <a:off x="838200" y="1483547"/>
            <a:ext cx="10515600" cy="99375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kumimoji="1" lang="en-US" altLang="zh-CN" sz="3200" dirty="0"/>
              <a:t>Learn 2D amodal shapes in 2D space</a:t>
            </a: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2531160C-19EC-DFF2-902A-DE8829A45891}"/>
              </a:ext>
            </a:extLst>
          </p:cNvPr>
          <p:cNvSpPr txBox="1">
            <a:spLocks/>
          </p:cNvSpPr>
          <p:nvPr/>
        </p:nvSpPr>
        <p:spPr>
          <a:xfrm>
            <a:off x="838200" y="2617547"/>
            <a:ext cx="10515600" cy="14256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kumimoji="1" lang="en-US" altLang="zh-CN" sz="3200" dirty="0"/>
              <a:t>The real shape in 3D space is not learned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FB63C166-643A-B7BE-B549-52B2706CD593}"/>
              </a:ext>
            </a:extLst>
          </p:cNvPr>
          <p:cNvSpPr txBox="1">
            <a:spLocks/>
          </p:cNvSpPr>
          <p:nvPr/>
        </p:nvSpPr>
        <p:spPr>
          <a:xfrm>
            <a:off x="838200" y="3615324"/>
            <a:ext cx="10515600" cy="8720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kumimoji="1" lang="en-US" altLang="zh-CN" sz="3200" dirty="0"/>
              <a:t>Hard to generalize to new viewpoint</a:t>
            </a:r>
          </a:p>
        </p:txBody>
      </p:sp>
      <p:pic>
        <p:nvPicPr>
          <p:cNvPr id="38" name="音频 37">
            <a:hlinkClick r:id="" action="ppaction://media"/>
            <a:extLst>
              <a:ext uri="{FF2B5EF4-FFF2-40B4-BE49-F238E27FC236}">
                <a16:creationId xmlns:a16="http://schemas.microsoft.com/office/drawing/2014/main" id="{472F9A1F-6F6F-F7DD-57D2-7B0F8559621A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rcRect l="-324094" t="-160938" r="-324094" b="-160938"/>
          <a:stretch>
            <a:fillRect/>
          </a:stretch>
        </p:blipFill>
        <p:spPr>
          <a:xfrm>
            <a:off x="9147683" y="5143500"/>
            <a:ext cx="3040633" cy="17145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44789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3071"/>
    </mc:Choice>
    <mc:Fallback xmlns="">
      <p:transition advTm="3307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8"/>
                </p:tgtEl>
              </p:cMediaNode>
            </p:audio>
          </p:childTnLst>
        </p:cTn>
      </p:par>
    </p:tnLst>
    <p:bldLst>
      <p:bldP spid="2" grpId="0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文本框 59">
            <a:extLst>
              <a:ext uri="{FF2B5EF4-FFF2-40B4-BE49-F238E27FC236}">
                <a16:creationId xmlns:a16="http://schemas.microsoft.com/office/drawing/2014/main" id="{5DA08EBE-D407-46FB-AA96-350A4C306263}"/>
              </a:ext>
            </a:extLst>
          </p:cNvPr>
          <p:cNvSpPr txBox="1"/>
          <p:nvPr/>
        </p:nvSpPr>
        <p:spPr>
          <a:xfrm>
            <a:off x="1990027" y="266855"/>
            <a:ext cx="9824809" cy="735394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14000"/>
              </a:lnSpc>
            </a:pPr>
            <a:r>
              <a:rPr lang="en-US" altLang="zh-CN" sz="4000" b="1" dirty="0">
                <a:solidFill>
                  <a:srgbClr val="8B0012"/>
                </a:solidFill>
                <a:ea typeface="+mj-ea"/>
              </a:rPr>
              <a:t>Observation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E5DF9E-B8B4-41B6-979F-54FEDD842CBF}" type="slidenum">
              <a:rPr lang="zh-CN" altLang="en-US" smtClean="0"/>
              <a:pPr/>
              <a:t>4</a:t>
            </a:fld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3A8DE56-04C9-F94D-B99E-4338C5907FC8}"/>
              </a:ext>
            </a:extLst>
          </p:cNvPr>
          <p:cNvSpPr txBox="1"/>
          <p:nvPr/>
        </p:nvSpPr>
        <p:spPr>
          <a:xfrm>
            <a:off x="4055165" y="306172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45" name="内容占位符 2">
            <a:extLst>
              <a:ext uri="{FF2B5EF4-FFF2-40B4-BE49-F238E27FC236}">
                <a16:creationId xmlns:a16="http://schemas.microsoft.com/office/drawing/2014/main" id="{2EB3EB38-4418-C245-A010-D1F9DCE52766}"/>
              </a:ext>
            </a:extLst>
          </p:cNvPr>
          <p:cNvSpPr txBox="1">
            <a:spLocks/>
          </p:cNvSpPr>
          <p:nvPr/>
        </p:nvSpPr>
        <p:spPr>
          <a:xfrm>
            <a:off x="838200" y="1483547"/>
            <a:ext cx="10515600" cy="99375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kumimoji="1" lang="en-US" altLang="zh-CN" sz="3200" dirty="0"/>
              <a:t>2D amodal mask is the projection of 3D model</a:t>
            </a: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2531160C-19EC-DFF2-902A-DE8829A45891}"/>
              </a:ext>
            </a:extLst>
          </p:cNvPr>
          <p:cNvSpPr txBox="1">
            <a:spLocks/>
          </p:cNvSpPr>
          <p:nvPr/>
        </p:nvSpPr>
        <p:spPr>
          <a:xfrm>
            <a:off x="838200" y="2237908"/>
            <a:ext cx="10515600" cy="14256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kumimoji="1" lang="en-US" altLang="zh-CN" sz="3200" dirty="0"/>
              <a:t>3D model can be reconstructed from 2D instances</a:t>
            </a:r>
          </a:p>
        </p:txBody>
      </p:sp>
      <p:pic>
        <p:nvPicPr>
          <p:cNvPr id="7" name="图片 23">
            <a:extLst>
              <a:ext uri="{FF2B5EF4-FFF2-40B4-BE49-F238E27FC236}">
                <a16:creationId xmlns:a16="http://schemas.microsoft.com/office/drawing/2014/main" id="{5E1D0EEE-513F-927D-1E1C-ADA251B269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06" t="5173" r="9615" b="6691"/>
          <a:stretch>
            <a:fillRect/>
          </a:stretch>
        </p:blipFill>
        <p:spPr bwMode="auto">
          <a:xfrm>
            <a:off x="3578905" y="3429000"/>
            <a:ext cx="3482975" cy="2684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" name="音频 33">
            <a:hlinkClick r:id="" action="ppaction://media"/>
            <a:extLst>
              <a:ext uri="{FF2B5EF4-FFF2-40B4-BE49-F238E27FC236}">
                <a16:creationId xmlns:a16="http://schemas.microsoft.com/office/drawing/2014/main" id="{5C00025F-B708-8C33-602F-9BDB675B999C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7"/>
          <a:srcRect l="-324094" t="-160938" r="-324094" b="-160938"/>
          <a:stretch>
            <a:fillRect/>
          </a:stretch>
        </p:blipFill>
        <p:spPr>
          <a:xfrm>
            <a:off x="9147683" y="5143500"/>
            <a:ext cx="3040633" cy="17145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370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27209"/>
    </mc:Choice>
    <mc:Fallback xmlns="">
      <p:transition advTm="2720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4"/>
                </p:tgtEl>
              </p:cMediaNode>
            </p:audio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文本框 59">
            <a:extLst>
              <a:ext uri="{FF2B5EF4-FFF2-40B4-BE49-F238E27FC236}">
                <a16:creationId xmlns:a16="http://schemas.microsoft.com/office/drawing/2014/main" id="{5DA08EBE-D407-46FB-AA96-350A4C306263}"/>
              </a:ext>
            </a:extLst>
          </p:cNvPr>
          <p:cNvSpPr txBox="1"/>
          <p:nvPr/>
        </p:nvSpPr>
        <p:spPr>
          <a:xfrm>
            <a:off x="1990027" y="266855"/>
            <a:ext cx="9824809" cy="735394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14000"/>
              </a:lnSpc>
            </a:pPr>
            <a:r>
              <a:rPr lang="en-US" altLang="zh-CN" sz="4000" b="1" dirty="0">
                <a:solidFill>
                  <a:srgbClr val="8B0012"/>
                </a:solidFill>
                <a:ea typeface="+mj-ea"/>
              </a:rPr>
              <a:t>Unsupervised 3D reconstruction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E5DF9E-B8B4-41B6-979F-54FEDD842CBF}" type="slidenum">
              <a:rPr lang="zh-CN" altLang="en-US" smtClean="0"/>
              <a:pPr/>
              <a:t>5</a:t>
            </a:fld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3A8DE56-04C9-F94D-B99E-4338C5907FC8}"/>
              </a:ext>
            </a:extLst>
          </p:cNvPr>
          <p:cNvSpPr txBox="1"/>
          <p:nvPr/>
        </p:nvSpPr>
        <p:spPr>
          <a:xfrm>
            <a:off x="4055165" y="261722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45" name="内容占位符 2">
            <a:extLst>
              <a:ext uri="{FF2B5EF4-FFF2-40B4-BE49-F238E27FC236}">
                <a16:creationId xmlns:a16="http://schemas.microsoft.com/office/drawing/2014/main" id="{2EB3EB38-4418-C245-A010-D1F9DCE52766}"/>
              </a:ext>
            </a:extLst>
          </p:cNvPr>
          <p:cNvSpPr txBox="1">
            <a:spLocks/>
          </p:cNvSpPr>
          <p:nvPr/>
        </p:nvSpPr>
        <p:spPr>
          <a:xfrm>
            <a:off x="838200" y="1483547"/>
            <a:ext cx="10515600" cy="99375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endParaRPr kumimoji="1" lang="en-US" altLang="zh-CN" sz="3200" dirty="0"/>
          </a:p>
        </p:txBody>
      </p:sp>
      <p:pic>
        <p:nvPicPr>
          <p:cNvPr id="4" name="Picture 2" descr="A picture containing black, looking, white, holding&#10;&#10;Description automatically generated">
            <a:extLst>
              <a:ext uri="{FF2B5EF4-FFF2-40B4-BE49-F238E27FC236}">
                <a16:creationId xmlns:a16="http://schemas.microsoft.com/office/drawing/2014/main" id="{4CDE9965-C1F3-E1DA-0FEE-66F2EB285A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488" y="3015689"/>
            <a:ext cx="1449387" cy="144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3D Model 3">
            <a:extLst>
              <a:ext uri="{FF2B5EF4-FFF2-40B4-BE49-F238E27FC236}">
                <a16:creationId xmlns:a16="http://schemas.microsoft.com/office/drawing/2014/main" id="{157A258A-D3B8-508A-6BE0-90CC04A4F3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8788" y="2993464"/>
            <a:ext cx="896937" cy="142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2FB5703-0CB8-1DDB-110A-9C15B0ED87B2}"/>
              </a:ext>
            </a:extLst>
          </p:cNvPr>
          <p:cNvSpPr/>
          <p:nvPr/>
        </p:nvSpPr>
        <p:spPr>
          <a:xfrm>
            <a:off x="2419350" y="3296677"/>
            <a:ext cx="1589088" cy="9144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3D Shape Network</a:t>
            </a:r>
          </a:p>
        </p:txBody>
      </p:sp>
      <p:sp>
        <p:nvSpPr>
          <p:cNvPr id="9" name="Rounded Rectangle 6">
            <a:extLst>
              <a:ext uri="{FF2B5EF4-FFF2-40B4-BE49-F238E27FC236}">
                <a16:creationId xmlns:a16="http://schemas.microsoft.com/office/drawing/2014/main" id="{C00E2819-108F-356F-0304-0ECAD398E1FC}"/>
              </a:ext>
            </a:extLst>
          </p:cNvPr>
          <p:cNvSpPr/>
          <p:nvPr/>
        </p:nvSpPr>
        <p:spPr>
          <a:xfrm>
            <a:off x="5457825" y="3296677"/>
            <a:ext cx="1773238" cy="9144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Differentiable</a:t>
            </a:r>
          </a:p>
          <a:p>
            <a:pPr algn="ctr">
              <a:defRPr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Renderer</a:t>
            </a:r>
          </a:p>
        </p:txBody>
      </p:sp>
      <p:pic>
        <p:nvPicPr>
          <p:cNvPr id="10" name="Picture 7" descr="A picture containing shirt&#10;&#10;Description automatically generated">
            <a:extLst>
              <a:ext uri="{FF2B5EF4-FFF2-40B4-BE49-F238E27FC236}">
                <a16:creationId xmlns:a16="http://schemas.microsoft.com/office/drawing/2014/main" id="{83598E41-3EC7-88CC-B23F-EC1A40959B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4113" y="3099827"/>
            <a:ext cx="1311275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1">
            <a:extLst>
              <a:ext uri="{FF2B5EF4-FFF2-40B4-BE49-F238E27FC236}">
                <a16:creationId xmlns:a16="http://schemas.microsoft.com/office/drawing/2014/main" id="{D9CB462E-1492-8EE5-8065-E48B4E1703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201302"/>
            <a:ext cx="1477963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Input Image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F6C69A21-3B98-6CAD-45AC-2B6441E30D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0925" y="2201302"/>
            <a:ext cx="151765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Predicted Mask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2B8D86FA-A2F9-D9CD-1E40-17268D5F19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2075" y="2201302"/>
            <a:ext cx="2060575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Ground-truth</a:t>
            </a:r>
          </a:p>
          <a:p>
            <a:pPr algn="ctr"/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Mask</a:t>
            </a:r>
          </a:p>
        </p:txBody>
      </p:sp>
      <p:pic>
        <p:nvPicPr>
          <p:cNvPr id="14" name="Picture 14" descr="A picture containing shirt&#10;&#10;Description automatically generated">
            <a:extLst>
              <a:ext uri="{FF2B5EF4-FFF2-40B4-BE49-F238E27FC236}">
                <a16:creationId xmlns:a16="http://schemas.microsoft.com/office/drawing/2014/main" id="{6183D35B-AB83-8E3C-89A5-1D2DE88D64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6725" y="3104589"/>
            <a:ext cx="1311275" cy="1309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Straight Arrow Connector 17">
            <a:extLst>
              <a:ext uri="{FF2B5EF4-FFF2-40B4-BE49-F238E27FC236}">
                <a16:creationId xmlns:a16="http://schemas.microsoft.com/office/drawing/2014/main" id="{C7544550-C1FA-8C59-B9FF-A931915992D9}"/>
              </a:ext>
            </a:extLst>
          </p:cNvPr>
          <p:cNvCxnSpPr>
            <a:cxnSpLocks/>
          </p:cNvCxnSpPr>
          <p:nvPr/>
        </p:nvCxnSpPr>
        <p:spPr>
          <a:xfrm>
            <a:off x="2173288" y="3753877"/>
            <a:ext cx="190500" cy="0"/>
          </a:xfrm>
          <a:prstGeom prst="straightConnector1">
            <a:avLst/>
          </a:prstGeom>
          <a:ln w="1905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8">
            <a:extLst>
              <a:ext uri="{FF2B5EF4-FFF2-40B4-BE49-F238E27FC236}">
                <a16:creationId xmlns:a16="http://schemas.microsoft.com/office/drawing/2014/main" id="{157983A9-B2B5-C545-5FEC-5A6C5F683B5F}"/>
              </a:ext>
            </a:extLst>
          </p:cNvPr>
          <p:cNvCxnSpPr>
            <a:cxnSpLocks/>
          </p:cNvCxnSpPr>
          <p:nvPr/>
        </p:nvCxnSpPr>
        <p:spPr>
          <a:xfrm>
            <a:off x="4008438" y="3739589"/>
            <a:ext cx="190500" cy="0"/>
          </a:xfrm>
          <a:prstGeom prst="straightConnector1">
            <a:avLst/>
          </a:prstGeom>
          <a:ln w="1905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9">
            <a:extLst>
              <a:ext uri="{FF2B5EF4-FFF2-40B4-BE49-F238E27FC236}">
                <a16:creationId xmlns:a16="http://schemas.microsoft.com/office/drawing/2014/main" id="{2D38FE24-802A-E898-F798-066D388EFF07}"/>
              </a:ext>
            </a:extLst>
          </p:cNvPr>
          <p:cNvCxnSpPr>
            <a:cxnSpLocks/>
          </p:cNvCxnSpPr>
          <p:nvPr/>
        </p:nvCxnSpPr>
        <p:spPr>
          <a:xfrm>
            <a:off x="5197475" y="3725302"/>
            <a:ext cx="190500" cy="0"/>
          </a:xfrm>
          <a:prstGeom prst="straightConnector1">
            <a:avLst/>
          </a:prstGeom>
          <a:ln w="1905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23">
            <a:extLst>
              <a:ext uri="{FF2B5EF4-FFF2-40B4-BE49-F238E27FC236}">
                <a16:creationId xmlns:a16="http://schemas.microsoft.com/office/drawing/2014/main" id="{15A4DB1B-256F-075B-A675-B8D2E5CA11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9225" y="2201302"/>
            <a:ext cx="151765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Predicted Shape</a:t>
            </a:r>
          </a:p>
        </p:txBody>
      </p:sp>
      <p:cxnSp>
        <p:nvCxnSpPr>
          <p:cNvPr id="19" name="Straight Arrow Connector 24">
            <a:extLst>
              <a:ext uri="{FF2B5EF4-FFF2-40B4-BE49-F238E27FC236}">
                <a16:creationId xmlns:a16="http://schemas.microsoft.com/office/drawing/2014/main" id="{B78C13B7-80FB-D912-70CB-C8E5CB2578A9}"/>
              </a:ext>
            </a:extLst>
          </p:cNvPr>
          <p:cNvCxnSpPr>
            <a:cxnSpLocks/>
          </p:cNvCxnSpPr>
          <p:nvPr/>
        </p:nvCxnSpPr>
        <p:spPr>
          <a:xfrm>
            <a:off x="7231063" y="3709427"/>
            <a:ext cx="190500" cy="0"/>
          </a:xfrm>
          <a:prstGeom prst="straightConnector1">
            <a:avLst/>
          </a:prstGeom>
          <a:ln w="1905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Summing Junction 26">
            <a:extLst>
              <a:ext uri="{FF2B5EF4-FFF2-40B4-BE49-F238E27FC236}">
                <a16:creationId xmlns:a16="http://schemas.microsoft.com/office/drawing/2014/main" id="{BCF03EA7-AE4C-6278-E099-969E4FB85F2F}"/>
              </a:ext>
            </a:extLst>
          </p:cNvPr>
          <p:cNvSpPr/>
          <p:nvPr/>
        </p:nvSpPr>
        <p:spPr>
          <a:xfrm>
            <a:off x="8951913" y="3617352"/>
            <a:ext cx="204787" cy="215900"/>
          </a:xfrm>
          <a:prstGeom prst="flowChartSummingJunction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defRPr/>
            </a:pPr>
            <a:endParaRPr lang="en-US" altLang="zh-CN" b="1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40" name="图片 39">
            <a:extLst>
              <a:ext uri="{FF2B5EF4-FFF2-40B4-BE49-F238E27FC236}">
                <a16:creationId xmlns:a16="http://schemas.microsoft.com/office/drawing/2014/main" id="{F6D8C98A-9F9D-FB26-072A-CF4970E4B42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15327" y="5068327"/>
            <a:ext cx="7431668" cy="707197"/>
          </a:xfrm>
          <a:prstGeom prst="rect">
            <a:avLst/>
          </a:prstGeom>
        </p:spPr>
      </p:pic>
      <p:pic>
        <p:nvPicPr>
          <p:cNvPr id="39" name="音频 38">
            <a:hlinkClick r:id="" action="ppaction://media"/>
            <a:extLst>
              <a:ext uri="{FF2B5EF4-FFF2-40B4-BE49-F238E27FC236}">
                <a16:creationId xmlns:a16="http://schemas.microsoft.com/office/drawing/2014/main" id="{373304CB-CF96-7F30-90FD-480B8E316844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10"/>
          <a:srcRect l="-324094" t="-160938" r="-324094" b="-160938"/>
          <a:stretch>
            <a:fillRect/>
          </a:stretch>
        </p:blipFill>
        <p:spPr>
          <a:xfrm>
            <a:off x="9147683" y="5143500"/>
            <a:ext cx="3040633" cy="17145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4209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29028"/>
    </mc:Choice>
    <mc:Fallback xmlns="">
      <p:transition advTm="2902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9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文本框 59">
            <a:extLst>
              <a:ext uri="{FF2B5EF4-FFF2-40B4-BE49-F238E27FC236}">
                <a16:creationId xmlns:a16="http://schemas.microsoft.com/office/drawing/2014/main" id="{5DA08EBE-D407-46FB-AA96-350A4C306263}"/>
              </a:ext>
            </a:extLst>
          </p:cNvPr>
          <p:cNvSpPr txBox="1"/>
          <p:nvPr/>
        </p:nvSpPr>
        <p:spPr>
          <a:xfrm>
            <a:off x="1990027" y="266855"/>
            <a:ext cx="8430185" cy="735394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14000"/>
              </a:lnSpc>
            </a:pPr>
            <a:r>
              <a:rPr lang="en-US" altLang="zh-CN" sz="4000" b="1" dirty="0">
                <a:solidFill>
                  <a:srgbClr val="8B0012"/>
                </a:solidFill>
                <a:ea typeface="+mj-ea"/>
              </a:rPr>
              <a:t>Overview of our method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E5DF9E-B8B4-41B6-979F-54FEDD842CBF}" type="slidenum">
              <a:rPr lang="zh-CN" altLang="en-US" smtClean="0"/>
              <a:pPr/>
              <a:t>6</a:t>
            </a:fld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3A8DE56-04C9-F94D-B99E-4338C5907FC8}"/>
              </a:ext>
            </a:extLst>
          </p:cNvPr>
          <p:cNvSpPr txBox="1"/>
          <p:nvPr/>
        </p:nvSpPr>
        <p:spPr>
          <a:xfrm>
            <a:off x="4055165" y="355158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45" name="内容占位符 2">
            <a:extLst>
              <a:ext uri="{FF2B5EF4-FFF2-40B4-BE49-F238E27FC236}">
                <a16:creationId xmlns:a16="http://schemas.microsoft.com/office/drawing/2014/main" id="{2EB3EB38-4418-C245-A010-D1F9DCE52766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sz="3200" dirty="0"/>
          </a:p>
        </p:txBody>
      </p:sp>
      <p:pic>
        <p:nvPicPr>
          <p:cNvPr id="2" name="图片 9" descr="图示&#10;&#10;描述已自动生成">
            <a:extLst>
              <a:ext uri="{FF2B5EF4-FFF2-40B4-BE49-F238E27FC236}">
                <a16:creationId xmlns:a16="http://schemas.microsoft.com/office/drawing/2014/main" id="{01CE2537-8CA9-0186-5ACB-73F1FB8372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725" y="1210735"/>
            <a:ext cx="10242550" cy="4900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音频 13">
            <a:hlinkClick r:id="" action="ppaction://media"/>
            <a:extLst>
              <a:ext uri="{FF2B5EF4-FFF2-40B4-BE49-F238E27FC236}">
                <a16:creationId xmlns:a16="http://schemas.microsoft.com/office/drawing/2014/main" id="{9A05D128-721D-3449-43D3-98EE8147B26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  <p:sp>
        <p:nvSpPr>
          <p:cNvPr id="4" name="内容占位符 2">
            <a:extLst>
              <a:ext uri="{FF2B5EF4-FFF2-40B4-BE49-F238E27FC236}">
                <a16:creationId xmlns:a16="http://schemas.microsoft.com/office/drawing/2014/main" id="{16A352C6-2455-8CF1-B761-0B495693F0A1}"/>
              </a:ext>
            </a:extLst>
          </p:cNvPr>
          <p:cNvSpPr txBox="1">
            <a:spLocks/>
          </p:cNvSpPr>
          <p:nvPr/>
        </p:nvSpPr>
        <p:spPr>
          <a:xfrm>
            <a:off x="865797" y="6046798"/>
            <a:ext cx="10515600" cy="99375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kumimoji="1" lang="en-US" altLang="zh-CN" sz="3200" dirty="0"/>
          </a:p>
        </p:txBody>
      </p:sp>
    </p:spTree>
    <p:extLst>
      <p:ext uri="{BB962C8B-B14F-4D97-AF65-F5344CB8AC3E}">
        <p14:creationId xmlns:p14="http://schemas.microsoft.com/office/powerpoint/2010/main" val="4121651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0784"/>
    </mc:Choice>
    <mc:Fallback xmlns="">
      <p:transition advTm="1078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文本框 59">
            <a:extLst>
              <a:ext uri="{FF2B5EF4-FFF2-40B4-BE49-F238E27FC236}">
                <a16:creationId xmlns:a16="http://schemas.microsoft.com/office/drawing/2014/main" id="{5DA08EBE-D407-46FB-AA96-350A4C306263}"/>
              </a:ext>
            </a:extLst>
          </p:cNvPr>
          <p:cNvSpPr txBox="1"/>
          <p:nvPr/>
        </p:nvSpPr>
        <p:spPr>
          <a:xfrm>
            <a:off x="1990027" y="266855"/>
            <a:ext cx="8430185" cy="735394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14000"/>
              </a:lnSpc>
            </a:pPr>
            <a:r>
              <a:rPr lang="en-US" altLang="zh-CN" sz="4000" b="1" dirty="0">
                <a:solidFill>
                  <a:srgbClr val="8B0012"/>
                </a:solidFill>
                <a:ea typeface="+mj-ea"/>
              </a:rPr>
              <a:t>Overview of our method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E5DF9E-B8B4-41B6-979F-54FEDD842CBF}" type="slidenum">
              <a:rPr lang="zh-CN" altLang="en-US" smtClean="0"/>
              <a:pPr/>
              <a:t>7</a:t>
            </a:fld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3A8DE56-04C9-F94D-B99E-4338C5907FC8}"/>
              </a:ext>
            </a:extLst>
          </p:cNvPr>
          <p:cNvSpPr txBox="1"/>
          <p:nvPr/>
        </p:nvSpPr>
        <p:spPr>
          <a:xfrm>
            <a:off x="4055165" y="355158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45" name="内容占位符 2">
            <a:extLst>
              <a:ext uri="{FF2B5EF4-FFF2-40B4-BE49-F238E27FC236}">
                <a16:creationId xmlns:a16="http://schemas.microsoft.com/office/drawing/2014/main" id="{2EB3EB38-4418-C245-A010-D1F9DCE52766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sz="3200" dirty="0"/>
          </a:p>
        </p:txBody>
      </p:sp>
      <p:pic>
        <p:nvPicPr>
          <p:cNvPr id="2" name="图片 9" descr="图示&#10;&#10;描述已自动生成">
            <a:extLst>
              <a:ext uri="{FF2B5EF4-FFF2-40B4-BE49-F238E27FC236}">
                <a16:creationId xmlns:a16="http://schemas.microsoft.com/office/drawing/2014/main" id="{01CE2537-8CA9-0186-5ACB-73F1FB8372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6048" y="1002249"/>
            <a:ext cx="7897407" cy="37785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内容占位符 2">
            <a:extLst>
              <a:ext uri="{FF2B5EF4-FFF2-40B4-BE49-F238E27FC236}">
                <a16:creationId xmlns:a16="http://schemas.microsoft.com/office/drawing/2014/main" id="{E545B031-C5E9-2918-4A47-1B6C502E96DF}"/>
              </a:ext>
            </a:extLst>
          </p:cNvPr>
          <p:cNvSpPr txBox="1">
            <a:spLocks/>
          </p:cNvSpPr>
          <p:nvPr/>
        </p:nvSpPr>
        <p:spPr>
          <a:xfrm>
            <a:off x="1990027" y="4944004"/>
            <a:ext cx="8153400" cy="164714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kumimoji="1" lang="en-US" altLang="zh-CN" sz="3200" b="1" dirty="0">
                <a:solidFill>
                  <a:srgbClr val="0070C0"/>
                </a:solidFill>
              </a:rPr>
              <a:t>Step 1</a:t>
            </a:r>
          </a:p>
          <a:p>
            <a:pPr>
              <a:lnSpc>
                <a:spcPct val="100000"/>
              </a:lnSpc>
            </a:pPr>
            <a:r>
              <a:rPr kumimoji="1" lang="en-US" altLang="zh-CN" sz="2400" dirty="0"/>
              <a:t>Amodal bounding box detection</a:t>
            </a:r>
          </a:p>
          <a:p>
            <a:pPr>
              <a:lnSpc>
                <a:spcPct val="100000"/>
              </a:lnSpc>
            </a:pPr>
            <a:r>
              <a:rPr kumimoji="1" lang="en-US" altLang="zh-CN" sz="2400" dirty="0"/>
              <a:t>Visible instance segmentation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45B94700-5D86-6B8A-CA22-FA12D60F4EBA}"/>
              </a:ext>
            </a:extLst>
          </p:cNvPr>
          <p:cNvSpPr/>
          <p:nvPr/>
        </p:nvSpPr>
        <p:spPr>
          <a:xfrm>
            <a:off x="1771787" y="948012"/>
            <a:ext cx="1663563" cy="3833538"/>
          </a:xfrm>
          <a:prstGeom prst="roundRect">
            <a:avLst>
              <a:gd name="adj" fmla="val 7760"/>
            </a:avLst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pic>
        <p:nvPicPr>
          <p:cNvPr id="26" name="音频 25">
            <a:hlinkClick r:id="" action="ppaction://media"/>
            <a:extLst>
              <a:ext uri="{FF2B5EF4-FFF2-40B4-BE49-F238E27FC236}">
                <a16:creationId xmlns:a16="http://schemas.microsoft.com/office/drawing/2014/main" id="{E931DBA3-8DAF-792C-8A7F-01EE28142D6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324094" t="-160938" r="-324094" b="-160938"/>
          <a:stretch>
            <a:fillRect/>
          </a:stretch>
        </p:blipFill>
        <p:spPr>
          <a:xfrm>
            <a:off x="9147683" y="5143500"/>
            <a:ext cx="3040633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9691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12270">
        <p159:morph option="byObject"/>
      </p:transition>
    </mc:Choice>
    <mc:Fallback xmlns="">
      <p:transition spd="slow" advTm="1227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6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文本框 59">
            <a:extLst>
              <a:ext uri="{FF2B5EF4-FFF2-40B4-BE49-F238E27FC236}">
                <a16:creationId xmlns:a16="http://schemas.microsoft.com/office/drawing/2014/main" id="{5DA08EBE-D407-46FB-AA96-350A4C306263}"/>
              </a:ext>
            </a:extLst>
          </p:cNvPr>
          <p:cNvSpPr txBox="1"/>
          <p:nvPr/>
        </p:nvSpPr>
        <p:spPr>
          <a:xfrm>
            <a:off x="1990027" y="266855"/>
            <a:ext cx="8430185" cy="735394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14000"/>
              </a:lnSpc>
            </a:pPr>
            <a:r>
              <a:rPr lang="en-US" altLang="zh-CN" sz="4000" b="1" dirty="0">
                <a:solidFill>
                  <a:srgbClr val="8B0012"/>
                </a:solidFill>
                <a:ea typeface="+mj-ea"/>
              </a:rPr>
              <a:t>Overview of our method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E5DF9E-B8B4-41B6-979F-54FEDD842CBF}" type="slidenum">
              <a:rPr lang="zh-CN" altLang="en-US" smtClean="0"/>
              <a:pPr/>
              <a:t>8</a:t>
            </a:fld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3A8DE56-04C9-F94D-B99E-4338C5907FC8}"/>
              </a:ext>
            </a:extLst>
          </p:cNvPr>
          <p:cNvSpPr txBox="1"/>
          <p:nvPr/>
        </p:nvSpPr>
        <p:spPr>
          <a:xfrm>
            <a:off x="4055165" y="355158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45" name="内容占位符 2">
            <a:extLst>
              <a:ext uri="{FF2B5EF4-FFF2-40B4-BE49-F238E27FC236}">
                <a16:creationId xmlns:a16="http://schemas.microsoft.com/office/drawing/2014/main" id="{2EB3EB38-4418-C245-A010-D1F9DCE52766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sz="3200" dirty="0"/>
          </a:p>
        </p:txBody>
      </p:sp>
      <p:pic>
        <p:nvPicPr>
          <p:cNvPr id="2" name="图片 9" descr="图示&#10;&#10;描述已自动生成">
            <a:extLst>
              <a:ext uri="{FF2B5EF4-FFF2-40B4-BE49-F238E27FC236}">
                <a16:creationId xmlns:a16="http://schemas.microsoft.com/office/drawing/2014/main" id="{01CE2537-8CA9-0186-5ACB-73F1FB8372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6048" y="1002249"/>
            <a:ext cx="7897407" cy="37785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内容占位符 2">
            <a:extLst>
              <a:ext uri="{FF2B5EF4-FFF2-40B4-BE49-F238E27FC236}">
                <a16:creationId xmlns:a16="http://schemas.microsoft.com/office/drawing/2014/main" id="{E545B031-C5E9-2918-4A47-1B6C502E96DF}"/>
              </a:ext>
            </a:extLst>
          </p:cNvPr>
          <p:cNvSpPr txBox="1">
            <a:spLocks/>
          </p:cNvSpPr>
          <p:nvPr/>
        </p:nvSpPr>
        <p:spPr>
          <a:xfrm>
            <a:off x="1990027" y="4904460"/>
            <a:ext cx="9061856" cy="164714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kumimoji="1" lang="en-US" altLang="zh-CN" sz="3200" b="1" dirty="0">
                <a:solidFill>
                  <a:srgbClr val="0070C0"/>
                </a:solidFill>
              </a:rPr>
              <a:t>Step 2</a:t>
            </a:r>
          </a:p>
          <a:p>
            <a:pPr>
              <a:lnSpc>
                <a:spcPct val="100000"/>
              </a:lnSpc>
            </a:pPr>
            <a:r>
              <a:rPr kumimoji="1" lang="en-US" altLang="zh-CN" sz="2400" dirty="0"/>
              <a:t>Single-view Unsupervised 3D Reconstruction for learning the 3D shape prior</a:t>
            </a:r>
          </a:p>
          <a:p>
            <a:pPr>
              <a:lnSpc>
                <a:spcPct val="100000"/>
              </a:lnSpc>
            </a:pPr>
            <a:r>
              <a:rPr kumimoji="1" lang="en-US" altLang="zh-CN" sz="2400" dirty="0"/>
              <a:t>The ground truth of 3D model are </a:t>
            </a:r>
            <a:r>
              <a:rPr kumimoji="1" lang="en-US" altLang="zh-CN" sz="2400" dirty="0">
                <a:solidFill>
                  <a:srgbClr val="0066FF"/>
                </a:solidFill>
              </a:rPr>
              <a:t>not used</a:t>
            </a:r>
          </a:p>
          <a:p>
            <a:pPr marL="0" indent="0">
              <a:lnSpc>
                <a:spcPct val="100000"/>
              </a:lnSpc>
              <a:buNone/>
            </a:pPr>
            <a:endParaRPr kumimoji="1" lang="en-US" altLang="zh-CN" sz="2400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45B94700-5D86-6B8A-CA22-FA12D60F4EBA}"/>
              </a:ext>
            </a:extLst>
          </p:cNvPr>
          <p:cNvSpPr/>
          <p:nvPr/>
        </p:nvSpPr>
        <p:spPr>
          <a:xfrm>
            <a:off x="3408114" y="921138"/>
            <a:ext cx="3862636" cy="1910962"/>
          </a:xfrm>
          <a:prstGeom prst="roundRect">
            <a:avLst>
              <a:gd name="adj" fmla="val 7760"/>
            </a:avLst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pic>
        <p:nvPicPr>
          <p:cNvPr id="28" name="音频 27">
            <a:hlinkClick r:id="" action="ppaction://media"/>
            <a:extLst>
              <a:ext uri="{FF2B5EF4-FFF2-40B4-BE49-F238E27FC236}">
                <a16:creationId xmlns:a16="http://schemas.microsoft.com/office/drawing/2014/main" id="{22555EE0-BA0D-867F-A8B0-53ED24F5F7A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324094" t="-160938" r="-324094" b="-160938"/>
          <a:stretch>
            <a:fillRect/>
          </a:stretch>
        </p:blipFill>
        <p:spPr>
          <a:xfrm>
            <a:off x="9147683" y="5143500"/>
            <a:ext cx="3040633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9822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12654">
        <p159:morph option="byObject"/>
      </p:transition>
    </mc:Choice>
    <mc:Fallback xmlns="">
      <p:transition spd="slow" advTm="12654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8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文本框 59">
            <a:extLst>
              <a:ext uri="{FF2B5EF4-FFF2-40B4-BE49-F238E27FC236}">
                <a16:creationId xmlns:a16="http://schemas.microsoft.com/office/drawing/2014/main" id="{5DA08EBE-D407-46FB-AA96-350A4C306263}"/>
              </a:ext>
            </a:extLst>
          </p:cNvPr>
          <p:cNvSpPr txBox="1"/>
          <p:nvPr/>
        </p:nvSpPr>
        <p:spPr>
          <a:xfrm>
            <a:off x="1990027" y="266855"/>
            <a:ext cx="8430185" cy="735394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14000"/>
              </a:lnSpc>
            </a:pPr>
            <a:r>
              <a:rPr lang="en-US" altLang="zh-CN" sz="4000" b="1" dirty="0">
                <a:solidFill>
                  <a:srgbClr val="8B0012"/>
                </a:solidFill>
                <a:ea typeface="+mj-ea"/>
              </a:rPr>
              <a:t>Overview of our method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E5DF9E-B8B4-41B6-979F-54FEDD842CBF}" type="slidenum">
              <a:rPr lang="zh-CN" altLang="en-US" smtClean="0"/>
              <a:pPr/>
              <a:t>9</a:t>
            </a:fld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3A8DE56-04C9-F94D-B99E-4338C5907FC8}"/>
              </a:ext>
            </a:extLst>
          </p:cNvPr>
          <p:cNvSpPr txBox="1"/>
          <p:nvPr/>
        </p:nvSpPr>
        <p:spPr>
          <a:xfrm>
            <a:off x="4055165" y="355158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45" name="内容占位符 2">
            <a:extLst>
              <a:ext uri="{FF2B5EF4-FFF2-40B4-BE49-F238E27FC236}">
                <a16:creationId xmlns:a16="http://schemas.microsoft.com/office/drawing/2014/main" id="{2EB3EB38-4418-C245-A010-D1F9DCE52766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sz="3200" dirty="0"/>
          </a:p>
        </p:txBody>
      </p:sp>
      <p:pic>
        <p:nvPicPr>
          <p:cNvPr id="2" name="图片 9" descr="图示&#10;&#10;描述已自动生成">
            <a:extLst>
              <a:ext uri="{FF2B5EF4-FFF2-40B4-BE49-F238E27FC236}">
                <a16:creationId xmlns:a16="http://schemas.microsoft.com/office/drawing/2014/main" id="{01CE2537-8CA9-0186-5ACB-73F1FB8372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6048" y="1002249"/>
            <a:ext cx="7897407" cy="37785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内容占位符 2">
            <a:extLst>
              <a:ext uri="{FF2B5EF4-FFF2-40B4-BE49-F238E27FC236}">
                <a16:creationId xmlns:a16="http://schemas.microsoft.com/office/drawing/2014/main" id="{E545B031-C5E9-2918-4A47-1B6C502E96DF}"/>
              </a:ext>
            </a:extLst>
          </p:cNvPr>
          <p:cNvSpPr txBox="1">
            <a:spLocks/>
          </p:cNvSpPr>
          <p:nvPr/>
        </p:nvSpPr>
        <p:spPr>
          <a:xfrm>
            <a:off x="1990027" y="4944004"/>
            <a:ext cx="8999706" cy="164714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kumimoji="1" lang="en-US" altLang="zh-CN" sz="3200" b="1" dirty="0">
                <a:solidFill>
                  <a:srgbClr val="0070C0"/>
                </a:solidFill>
              </a:rPr>
              <a:t>Step 3</a:t>
            </a:r>
          </a:p>
          <a:p>
            <a:pPr>
              <a:lnSpc>
                <a:spcPct val="100000"/>
              </a:lnSpc>
            </a:pPr>
            <a:r>
              <a:rPr kumimoji="1" lang="en-US" altLang="zh-CN" sz="2400" dirty="0"/>
              <a:t>Unsupervised Learning for Viewpoint Estimation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45B94700-5D86-6B8A-CA22-FA12D60F4EBA}"/>
              </a:ext>
            </a:extLst>
          </p:cNvPr>
          <p:cNvSpPr/>
          <p:nvPr/>
        </p:nvSpPr>
        <p:spPr>
          <a:xfrm>
            <a:off x="3509714" y="2891531"/>
            <a:ext cx="2391873" cy="1418506"/>
          </a:xfrm>
          <a:prstGeom prst="roundRect">
            <a:avLst>
              <a:gd name="adj" fmla="val 7760"/>
            </a:avLst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pic>
        <p:nvPicPr>
          <p:cNvPr id="18" name="音频 17">
            <a:hlinkClick r:id="" action="ppaction://media"/>
            <a:extLst>
              <a:ext uri="{FF2B5EF4-FFF2-40B4-BE49-F238E27FC236}">
                <a16:creationId xmlns:a16="http://schemas.microsoft.com/office/drawing/2014/main" id="{F68484A3-34FD-23CE-023F-AF4B004E1E8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324094" t="-160938" r="-324094" b="-160938"/>
          <a:stretch>
            <a:fillRect/>
          </a:stretch>
        </p:blipFill>
        <p:spPr>
          <a:xfrm>
            <a:off x="9147683" y="5143500"/>
            <a:ext cx="3040633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4059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16969">
        <p159:morph option="byObject"/>
      </p:transition>
    </mc:Choice>
    <mc:Fallback xmlns="">
      <p:transition spd="slow" advTm="16969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文本框 59">
            <a:extLst>
              <a:ext uri="{FF2B5EF4-FFF2-40B4-BE49-F238E27FC236}">
                <a16:creationId xmlns:a16="http://schemas.microsoft.com/office/drawing/2014/main" id="{5DA08EBE-D407-46FB-AA96-350A4C306263}"/>
              </a:ext>
            </a:extLst>
          </p:cNvPr>
          <p:cNvSpPr txBox="1"/>
          <p:nvPr/>
        </p:nvSpPr>
        <p:spPr>
          <a:xfrm>
            <a:off x="1990027" y="266855"/>
            <a:ext cx="8430185" cy="735394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14000"/>
              </a:lnSpc>
            </a:pPr>
            <a:r>
              <a:rPr lang="en-US" altLang="zh-CN" sz="4000" b="1" dirty="0">
                <a:solidFill>
                  <a:srgbClr val="8B0012"/>
                </a:solidFill>
                <a:ea typeface="+mj-ea"/>
              </a:rPr>
              <a:t>Overview of our method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E5DF9E-B8B4-41B6-979F-54FEDD842CBF}" type="slidenum">
              <a:rPr lang="zh-CN" altLang="en-US" smtClean="0"/>
              <a:pPr/>
              <a:t>10</a:t>
            </a:fld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3A8DE56-04C9-F94D-B99E-4338C5907FC8}"/>
              </a:ext>
            </a:extLst>
          </p:cNvPr>
          <p:cNvSpPr txBox="1"/>
          <p:nvPr/>
        </p:nvSpPr>
        <p:spPr>
          <a:xfrm>
            <a:off x="4055165" y="355158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45" name="内容占位符 2">
            <a:extLst>
              <a:ext uri="{FF2B5EF4-FFF2-40B4-BE49-F238E27FC236}">
                <a16:creationId xmlns:a16="http://schemas.microsoft.com/office/drawing/2014/main" id="{2EB3EB38-4418-C245-A010-D1F9DCE52766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sz="3200" dirty="0"/>
          </a:p>
        </p:txBody>
      </p:sp>
      <p:pic>
        <p:nvPicPr>
          <p:cNvPr id="2" name="图片 9" descr="图示&#10;&#10;描述已自动生成">
            <a:extLst>
              <a:ext uri="{FF2B5EF4-FFF2-40B4-BE49-F238E27FC236}">
                <a16:creationId xmlns:a16="http://schemas.microsoft.com/office/drawing/2014/main" id="{01CE2537-8CA9-0186-5ACB-73F1FB8372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6048" y="1002249"/>
            <a:ext cx="7897407" cy="37785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内容占位符 2">
            <a:extLst>
              <a:ext uri="{FF2B5EF4-FFF2-40B4-BE49-F238E27FC236}">
                <a16:creationId xmlns:a16="http://schemas.microsoft.com/office/drawing/2014/main" id="{E545B031-C5E9-2918-4A47-1B6C502E96DF}"/>
              </a:ext>
            </a:extLst>
          </p:cNvPr>
          <p:cNvSpPr txBox="1">
            <a:spLocks/>
          </p:cNvSpPr>
          <p:nvPr/>
        </p:nvSpPr>
        <p:spPr>
          <a:xfrm>
            <a:off x="1990027" y="4944004"/>
            <a:ext cx="8999706" cy="164714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kumimoji="1" lang="en-US" altLang="zh-CN" sz="3200" b="1" dirty="0">
                <a:solidFill>
                  <a:srgbClr val="0070C0"/>
                </a:solidFill>
              </a:rPr>
              <a:t>Step 4</a:t>
            </a:r>
          </a:p>
          <a:p>
            <a:pPr>
              <a:lnSpc>
                <a:spcPct val="100000"/>
              </a:lnSpc>
            </a:pPr>
            <a:r>
              <a:rPr kumimoji="1" lang="en-US" altLang="zh-CN" sz="2400" dirty="0"/>
              <a:t>Differentiable Render for Projecting from 3D model to 2D mask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45B94700-5D86-6B8A-CA22-FA12D60F4EBA}"/>
              </a:ext>
            </a:extLst>
          </p:cNvPr>
          <p:cNvSpPr/>
          <p:nvPr/>
        </p:nvSpPr>
        <p:spPr>
          <a:xfrm>
            <a:off x="5871930" y="2891531"/>
            <a:ext cx="998769" cy="1675526"/>
          </a:xfrm>
          <a:prstGeom prst="roundRect">
            <a:avLst>
              <a:gd name="adj" fmla="val 7760"/>
            </a:avLst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pic>
        <p:nvPicPr>
          <p:cNvPr id="15" name="音频 14">
            <a:hlinkClick r:id="" action="ppaction://media"/>
            <a:extLst>
              <a:ext uri="{FF2B5EF4-FFF2-40B4-BE49-F238E27FC236}">
                <a16:creationId xmlns:a16="http://schemas.microsoft.com/office/drawing/2014/main" id="{8516086A-DB8D-4631-2146-C7DC0E8EDB5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781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11757">
        <p159:morph option="byObject"/>
      </p:transition>
    </mc:Choice>
    <mc:Fallback xmlns="">
      <p:transition spd="slow" advTm="1175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文本框 59">
            <a:extLst>
              <a:ext uri="{FF2B5EF4-FFF2-40B4-BE49-F238E27FC236}">
                <a16:creationId xmlns:a16="http://schemas.microsoft.com/office/drawing/2014/main" id="{5DA08EBE-D407-46FB-AA96-350A4C306263}"/>
              </a:ext>
            </a:extLst>
          </p:cNvPr>
          <p:cNvSpPr txBox="1"/>
          <p:nvPr/>
        </p:nvSpPr>
        <p:spPr>
          <a:xfrm>
            <a:off x="1990027" y="266855"/>
            <a:ext cx="8430185" cy="735394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14000"/>
              </a:lnSpc>
            </a:pPr>
            <a:r>
              <a:rPr lang="en-US" altLang="zh-CN" sz="4000" b="1" dirty="0">
                <a:solidFill>
                  <a:srgbClr val="8B0012"/>
                </a:solidFill>
                <a:ea typeface="+mj-ea"/>
              </a:rPr>
              <a:t>Overview of our method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E5DF9E-B8B4-41B6-979F-54FEDD842CBF}" type="slidenum">
              <a:rPr lang="zh-CN" altLang="en-US" smtClean="0"/>
              <a:pPr/>
              <a:t>11</a:t>
            </a:fld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3A8DE56-04C9-F94D-B99E-4338C5907FC8}"/>
              </a:ext>
            </a:extLst>
          </p:cNvPr>
          <p:cNvSpPr txBox="1"/>
          <p:nvPr/>
        </p:nvSpPr>
        <p:spPr>
          <a:xfrm>
            <a:off x="4055165" y="355158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45" name="内容占位符 2">
            <a:extLst>
              <a:ext uri="{FF2B5EF4-FFF2-40B4-BE49-F238E27FC236}">
                <a16:creationId xmlns:a16="http://schemas.microsoft.com/office/drawing/2014/main" id="{2EB3EB38-4418-C245-A010-D1F9DCE52766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sz="3200" dirty="0"/>
          </a:p>
        </p:txBody>
      </p:sp>
      <p:pic>
        <p:nvPicPr>
          <p:cNvPr id="2" name="图片 9" descr="图示&#10;&#10;描述已自动生成">
            <a:extLst>
              <a:ext uri="{FF2B5EF4-FFF2-40B4-BE49-F238E27FC236}">
                <a16:creationId xmlns:a16="http://schemas.microsoft.com/office/drawing/2014/main" id="{01CE2537-8CA9-0186-5ACB-73F1FB8372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6048" y="1002249"/>
            <a:ext cx="7897407" cy="37785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内容占位符 2">
            <a:extLst>
              <a:ext uri="{FF2B5EF4-FFF2-40B4-BE49-F238E27FC236}">
                <a16:creationId xmlns:a16="http://schemas.microsoft.com/office/drawing/2014/main" id="{E545B031-C5E9-2918-4A47-1B6C502E96DF}"/>
              </a:ext>
            </a:extLst>
          </p:cNvPr>
          <p:cNvSpPr txBox="1">
            <a:spLocks/>
          </p:cNvSpPr>
          <p:nvPr/>
        </p:nvSpPr>
        <p:spPr>
          <a:xfrm>
            <a:off x="1990027" y="4944004"/>
            <a:ext cx="8153400" cy="164714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kumimoji="1" lang="en-US" altLang="zh-CN" sz="3200" b="1" dirty="0">
                <a:solidFill>
                  <a:srgbClr val="0070C0"/>
                </a:solidFill>
              </a:rPr>
              <a:t>Step 5</a:t>
            </a:r>
          </a:p>
          <a:p>
            <a:pPr>
              <a:lnSpc>
                <a:spcPct val="100000"/>
              </a:lnSpc>
            </a:pPr>
            <a:r>
              <a:rPr kumimoji="1" lang="en-US" altLang="zh-CN" sz="2400" dirty="0"/>
              <a:t>Refinement for the edge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45B94700-5D86-6B8A-CA22-FA12D60F4EBA}"/>
              </a:ext>
            </a:extLst>
          </p:cNvPr>
          <p:cNvSpPr/>
          <p:nvPr/>
        </p:nvSpPr>
        <p:spPr>
          <a:xfrm>
            <a:off x="7345114" y="2473519"/>
            <a:ext cx="1271836" cy="1787331"/>
          </a:xfrm>
          <a:prstGeom prst="roundRect">
            <a:avLst>
              <a:gd name="adj" fmla="val 7760"/>
            </a:avLst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pic>
        <p:nvPicPr>
          <p:cNvPr id="7" name="图片 6" descr="图示&#10;&#10;中度可信度描述已自动生成">
            <a:extLst>
              <a:ext uri="{FF2B5EF4-FFF2-40B4-BE49-F238E27FC236}">
                <a16:creationId xmlns:a16="http://schemas.microsoft.com/office/drawing/2014/main" id="{D91B0425-25B3-BEF4-4F42-B82FE17A363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1771" y="5177973"/>
            <a:ext cx="5239096" cy="677778"/>
          </a:xfrm>
          <a:prstGeom prst="rect">
            <a:avLst/>
          </a:prstGeom>
        </p:spPr>
      </p:pic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083057B1-DD47-D43A-5721-9E7E301A595F}"/>
              </a:ext>
            </a:extLst>
          </p:cNvPr>
          <p:cNvCxnSpPr/>
          <p:nvPr/>
        </p:nvCxnSpPr>
        <p:spPr>
          <a:xfrm>
            <a:off x="8451850" y="4260850"/>
            <a:ext cx="0" cy="91712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14" name="音频 13">
            <a:hlinkClick r:id="" action="ppaction://media"/>
            <a:extLst>
              <a:ext uri="{FF2B5EF4-FFF2-40B4-BE49-F238E27FC236}">
                <a16:creationId xmlns:a16="http://schemas.microsoft.com/office/drawing/2014/main" id="{F0910553-7E53-523A-618D-A38041699BE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0319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14278">
        <p159:morph option="byObject"/>
      </p:transition>
    </mc:Choice>
    <mc:Fallback xmlns="">
      <p:transition spd="slow" advTm="14278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文本框 59">
            <a:extLst>
              <a:ext uri="{FF2B5EF4-FFF2-40B4-BE49-F238E27FC236}">
                <a16:creationId xmlns:a16="http://schemas.microsoft.com/office/drawing/2014/main" id="{5DA08EBE-D407-46FB-AA96-350A4C306263}"/>
              </a:ext>
            </a:extLst>
          </p:cNvPr>
          <p:cNvSpPr txBox="1"/>
          <p:nvPr/>
        </p:nvSpPr>
        <p:spPr>
          <a:xfrm>
            <a:off x="1990027" y="266855"/>
            <a:ext cx="8430185" cy="735394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14000"/>
              </a:lnSpc>
            </a:pPr>
            <a:r>
              <a:rPr lang="en-US" altLang="zh-CN" sz="4000" b="1">
                <a:solidFill>
                  <a:srgbClr val="8B0012"/>
                </a:solidFill>
                <a:ea typeface="+mj-ea"/>
              </a:rPr>
              <a:t>Experiment</a:t>
            </a:r>
            <a:endParaRPr lang="en-US" altLang="zh-CN" sz="4000" b="1" dirty="0">
              <a:solidFill>
                <a:srgbClr val="8B0012"/>
              </a:solidFill>
              <a:ea typeface="+mj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E5DF9E-B8B4-41B6-979F-54FEDD842CBF}" type="slidenum">
              <a:rPr lang="zh-CN" altLang="en-US" smtClean="0"/>
              <a:pPr/>
              <a:t>12</a:t>
            </a:fld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3A8DE56-04C9-F94D-B99E-4338C5907FC8}"/>
              </a:ext>
            </a:extLst>
          </p:cNvPr>
          <p:cNvSpPr txBox="1"/>
          <p:nvPr/>
        </p:nvSpPr>
        <p:spPr>
          <a:xfrm>
            <a:off x="4055165" y="355158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45" name="内容占位符 2">
            <a:extLst>
              <a:ext uri="{FF2B5EF4-FFF2-40B4-BE49-F238E27FC236}">
                <a16:creationId xmlns:a16="http://schemas.microsoft.com/office/drawing/2014/main" id="{2EB3EB38-4418-C245-A010-D1F9DCE52766}"/>
              </a:ext>
            </a:extLst>
          </p:cNvPr>
          <p:cNvSpPr txBox="1">
            <a:spLocks/>
          </p:cNvSpPr>
          <p:nvPr/>
        </p:nvSpPr>
        <p:spPr>
          <a:xfrm>
            <a:off x="425673" y="1414730"/>
            <a:ext cx="4142093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kumimoji="1" lang="en-US" altLang="zh-CN" b="1" dirty="0"/>
              <a:t>Conducted on four challenging datasets</a:t>
            </a:r>
          </a:p>
          <a:p>
            <a:pPr lvl="1">
              <a:lnSpc>
                <a:spcPct val="150000"/>
              </a:lnSpc>
            </a:pPr>
            <a:r>
              <a:rPr kumimoji="1" lang="en-US" altLang="zh-CN" dirty="0"/>
              <a:t>ShapeNet</a:t>
            </a:r>
          </a:p>
          <a:p>
            <a:pPr lvl="1">
              <a:lnSpc>
                <a:spcPct val="150000"/>
              </a:lnSpc>
            </a:pPr>
            <a:r>
              <a:rPr kumimoji="1" lang="en-US" altLang="zh-CN" dirty="0"/>
              <a:t>COCOA-cls</a:t>
            </a:r>
          </a:p>
          <a:p>
            <a:pPr lvl="1">
              <a:lnSpc>
                <a:spcPct val="150000"/>
              </a:lnSpc>
            </a:pPr>
            <a:r>
              <a:rPr kumimoji="1" lang="en-US" altLang="zh-CN" dirty="0"/>
              <a:t>D2SA</a:t>
            </a:r>
          </a:p>
          <a:p>
            <a:pPr lvl="1">
              <a:lnSpc>
                <a:spcPct val="150000"/>
              </a:lnSpc>
            </a:pPr>
            <a:r>
              <a:rPr kumimoji="1" lang="en-US" altLang="zh-CN" dirty="0"/>
              <a:t>KINS</a:t>
            </a:r>
            <a:endParaRPr kumimoji="1" lang="zh-CN" altLang="en-US" dirty="0"/>
          </a:p>
        </p:txBody>
      </p:sp>
      <p:pic>
        <p:nvPicPr>
          <p:cNvPr id="2" name="图片 1" descr="图片包含 背景图案&#10;&#10;描述已自动生成">
            <a:extLst>
              <a:ext uri="{FF2B5EF4-FFF2-40B4-BE49-F238E27FC236}">
                <a16:creationId xmlns:a16="http://schemas.microsoft.com/office/drawing/2014/main" id="{53206979-F760-952E-45A6-5FD2DC8E85F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8432" y="1143000"/>
            <a:ext cx="4999352" cy="4041758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677D917E-2BD8-A2A8-A8EE-88E72092C853}"/>
              </a:ext>
            </a:extLst>
          </p:cNvPr>
          <p:cNvSpPr txBox="1"/>
          <p:nvPr/>
        </p:nvSpPr>
        <p:spPr>
          <a:xfrm>
            <a:off x="5514133" y="5453386"/>
            <a:ext cx="5227951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kumimoji="1" lang="en-US" altLang="zh-CN" dirty="0"/>
              <a:t>Qualitative result on the ShapeNet dataset</a:t>
            </a:r>
            <a:endParaRPr kumimoji="1" lang="zh-CN" altLang="en-US" dirty="0"/>
          </a:p>
        </p:txBody>
      </p:sp>
      <p:pic>
        <p:nvPicPr>
          <p:cNvPr id="14" name="音频 13">
            <a:hlinkClick r:id="" action="ppaction://media"/>
            <a:extLst>
              <a:ext uri="{FF2B5EF4-FFF2-40B4-BE49-F238E27FC236}">
                <a16:creationId xmlns:a16="http://schemas.microsoft.com/office/drawing/2014/main" id="{427B555D-A714-A110-D7AC-D751A46D630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324094" t="-160938" r="-324094" b="-160938"/>
          <a:stretch>
            <a:fillRect/>
          </a:stretch>
        </p:blipFill>
        <p:spPr>
          <a:xfrm>
            <a:off x="9147683" y="5143500"/>
            <a:ext cx="3040633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89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25003"/>
    </mc:Choice>
    <mc:Fallback xmlns="">
      <p:transition advTm="2500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文本框 59">
            <a:extLst>
              <a:ext uri="{FF2B5EF4-FFF2-40B4-BE49-F238E27FC236}">
                <a16:creationId xmlns:a16="http://schemas.microsoft.com/office/drawing/2014/main" id="{5DA08EBE-D407-46FB-AA96-350A4C306263}"/>
              </a:ext>
            </a:extLst>
          </p:cNvPr>
          <p:cNvSpPr txBox="1"/>
          <p:nvPr/>
        </p:nvSpPr>
        <p:spPr>
          <a:xfrm>
            <a:off x="1793315" y="2559791"/>
            <a:ext cx="8430185" cy="9605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14000"/>
              </a:lnSpc>
            </a:pPr>
            <a:r>
              <a:rPr lang="en-US" altLang="zh-CN" sz="5400" b="1" dirty="0">
                <a:solidFill>
                  <a:srgbClr val="8B0012"/>
                </a:solidFill>
                <a:ea typeface="+mj-ea"/>
              </a:rPr>
              <a:t>Thanks for watching!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E5DF9E-B8B4-41B6-979F-54FEDD842CBF}" type="slidenum">
              <a:rPr lang="zh-CN" altLang="en-US" smtClean="0"/>
              <a:pPr/>
              <a:t>13</a:t>
            </a:fld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3A8DE56-04C9-F94D-B99E-4338C5907FC8}"/>
              </a:ext>
            </a:extLst>
          </p:cNvPr>
          <p:cNvSpPr txBox="1"/>
          <p:nvPr/>
        </p:nvSpPr>
        <p:spPr>
          <a:xfrm>
            <a:off x="4055165" y="355158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45" name="内容占位符 2">
            <a:extLst>
              <a:ext uri="{FF2B5EF4-FFF2-40B4-BE49-F238E27FC236}">
                <a16:creationId xmlns:a16="http://schemas.microsoft.com/office/drawing/2014/main" id="{2EB3EB38-4418-C245-A010-D1F9DCE52766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sz="3200" dirty="0"/>
          </a:p>
        </p:txBody>
      </p:sp>
      <p:pic>
        <p:nvPicPr>
          <p:cNvPr id="15" name="音频 14">
            <a:hlinkClick r:id="" action="ppaction://media"/>
            <a:extLst>
              <a:ext uri="{FF2B5EF4-FFF2-40B4-BE49-F238E27FC236}">
                <a16:creationId xmlns:a16="http://schemas.microsoft.com/office/drawing/2014/main" id="{3F2E3AAD-4AB0-4BBA-CBA7-7B688154ABB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324094" t="-160938" r="-324094" b="-160938"/>
          <a:stretch>
            <a:fillRect/>
          </a:stretch>
        </p:blipFill>
        <p:spPr>
          <a:xfrm>
            <a:off x="9147683" y="5143500"/>
            <a:ext cx="3040633" cy="17145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B5B42CBE-DC93-BF8A-D307-503108C05BDE}"/>
              </a:ext>
            </a:extLst>
          </p:cNvPr>
          <p:cNvSpPr txBox="1"/>
          <p:nvPr/>
        </p:nvSpPr>
        <p:spPr>
          <a:xfrm>
            <a:off x="4345188" y="3693441"/>
            <a:ext cx="3326438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CN" sz="1800" i="1" dirty="0"/>
              <a:t>Email: zhixuanli@pku.edu.cn</a:t>
            </a:r>
          </a:p>
        </p:txBody>
      </p:sp>
    </p:spTree>
    <p:extLst>
      <p:ext uri="{BB962C8B-B14F-4D97-AF65-F5344CB8AC3E}">
        <p14:creationId xmlns:p14="http://schemas.microsoft.com/office/powerpoint/2010/main" val="2271588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515"/>
    </mc:Choice>
    <mc:Fallback xmlns="">
      <p:transition advTm="351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PowerPoint 演示文稿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5|5.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3.8"/>
</p:tagLst>
</file>

<file path=ppt/theme/theme1.xml><?xml version="1.0" encoding="utf-8"?>
<a:theme xmlns:a="http://schemas.openxmlformats.org/drawingml/2006/main" name="Office 主题​​">
  <a:themeElements>
    <a:clrScheme name="自定义 10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900000"/>
      </a:accent1>
      <a:accent2>
        <a:srgbClr val="C00000"/>
      </a:accent2>
      <a:accent3>
        <a:srgbClr val="C00000"/>
      </a:accent3>
      <a:accent4>
        <a:srgbClr val="B43512"/>
      </a:accent4>
      <a:accent5>
        <a:srgbClr val="851C00"/>
      </a:accent5>
      <a:accent6>
        <a:srgbClr val="B22600"/>
      </a:accent6>
      <a:hlink>
        <a:srgbClr val="C00000"/>
      </a:hlink>
      <a:folHlink>
        <a:srgbClr val="666699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1852</TotalTime>
  <Words>788</Words>
  <Application>Microsoft Office PowerPoint</Application>
  <PresentationFormat>宽屏</PresentationFormat>
  <Paragraphs>123</Paragraphs>
  <Slides>13</Slides>
  <Notes>13</Notes>
  <HiddenSlides>0</HiddenSlides>
  <MMClips>13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8" baseType="lpstr">
      <vt:lpstr>CMR9</vt:lpstr>
      <vt:lpstr>等线</vt:lpstr>
      <vt:lpstr>Arial</vt:lpstr>
      <vt:lpstr>Century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Zhixuan Li</dc:creator>
  <cp:keywords/>
  <dc:description/>
  <cp:lastModifiedBy>Bert@office2016.cc</cp:lastModifiedBy>
  <cp:revision>250</cp:revision>
  <dcterms:created xsi:type="dcterms:W3CDTF">2017-11-20T14:46:59Z</dcterms:created>
  <dcterms:modified xsi:type="dcterms:W3CDTF">2022-10-02T14:10:26Z</dcterms:modified>
</cp:coreProperties>
</file>