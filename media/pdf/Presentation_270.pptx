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324" r:id="rId4"/>
    <p:sldId id="316" r:id="rId5"/>
    <p:sldId id="270" r:id="rId6"/>
    <p:sldId id="312" r:id="rId7"/>
    <p:sldId id="325" r:id="rId8"/>
    <p:sldId id="317" r:id="rId9"/>
    <p:sldId id="318" r:id="rId10"/>
    <p:sldId id="284" r:id="rId11"/>
    <p:sldId id="306" r:id="rId12"/>
    <p:sldId id="319" r:id="rId13"/>
    <p:sldId id="320" r:id="rId14"/>
    <p:sldId id="321" r:id="rId15"/>
    <p:sldId id="310" r:id="rId16"/>
    <p:sldId id="322" r:id="rId17"/>
    <p:sldId id="315" r:id="rId18"/>
    <p:sldId id="275" r:id="rId19"/>
    <p:sldId id="299" r:id="rId20"/>
    <p:sldId id="323" r:id="rId21"/>
    <p:sldId id="298" r:id="rId22"/>
    <p:sldId id="30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8E37BE2D-3CF5-5B41-8A15-C8862BA5A11A}">
          <p14:sldIdLst>
            <p14:sldId id="256"/>
          </p14:sldIdLst>
        </p14:section>
        <p14:section name="Task" id="{804E5688-7C64-764B-A10E-877CA3FD3304}">
          <p14:sldIdLst>
            <p14:sldId id="269"/>
          </p14:sldIdLst>
        </p14:section>
        <p14:section name="Motivation" id="{5D34634C-821B-A740-B1A6-2D79C0C7F8A4}">
          <p14:sldIdLst>
            <p14:sldId id="324"/>
            <p14:sldId id="316"/>
            <p14:sldId id="270"/>
          </p14:sldIdLst>
        </p14:section>
        <p14:section name="Model" id="{714648E9-E23D-3E41-9A3F-A67F5DF0F20D}">
          <p14:sldIdLst>
            <p14:sldId id="312"/>
            <p14:sldId id="325"/>
            <p14:sldId id="317"/>
            <p14:sldId id="318"/>
            <p14:sldId id="284"/>
            <p14:sldId id="306"/>
            <p14:sldId id="319"/>
            <p14:sldId id="320"/>
            <p14:sldId id="321"/>
          </p14:sldIdLst>
        </p14:section>
        <p14:section name="Experiments" id="{40434958-2DF7-7D42-8DD0-121E6AF0BC6C}">
          <p14:sldIdLst>
            <p14:sldId id="310"/>
            <p14:sldId id="322"/>
            <p14:sldId id="315"/>
            <p14:sldId id="275"/>
            <p14:sldId id="299"/>
            <p14:sldId id="323"/>
          </p14:sldIdLst>
        </p14:section>
        <p14:section name="Conclusion" id="{D05B16FD-AB4E-AD47-B169-580E761440C6}">
          <p14:sldIdLst>
            <p14:sldId id="29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7881"/>
    <a:srgbClr val="AA0204"/>
    <a:srgbClr val="7D0003"/>
    <a:srgbClr val="940003"/>
    <a:srgbClr val="0D2A55"/>
    <a:srgbClr val="890000"/>
    <a:srgbClr val="FBB200"/>
    <a:srgbClr val="9B0001"/>
    <a:srgbClr val="840000"/>
    <a:srgbClr val="1217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1" autoAdjust="0"/>
    <p:restoredTop sz="73653" autoAdjust="0"/>
  </p:normalViewPr>
  <p:slideViewPr>
    <p:cSldViewPr snapToGrid="0" snapToObjects="1">
      <p:cViewPr varScale="1">
        <p:scale>
          <a:sx n="83" d="100"/>
          <a:sy n="83" d="100"/>
        </p:scale>
        <p:origin x="197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B8E90-841A-1449-A848-659686F30E0E}" type="datetimeFigureOut">
              <a:rPr lang="en-US" smtClean="0"/>
              <a:t>9/14/21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8CB5D-B35A-114B-BCD0-31AE75689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0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49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672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94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5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051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8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8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46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51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189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09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97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81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4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4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04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4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853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74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solidFill>
                <a:srgbClr val="840000"/>
              </a:solidFill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59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962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239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zh-C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606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8CB5D-B35A-114B-BCD0-31AE7568972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E211-C375-E545-978A-B75FB6CDE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71CC8-7FC6-044A-BBB3-3808F4642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E8E60-0E82-7141-BC68-63DED719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4112-2164-C241-879F-418BF45EF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ED48C-21AE-B44E-9683-42C53DA5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45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7F932-5440-E44D-8EE2-1EE2847DF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E4BBA-4065-A84A-8A6D-85E19C248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54D5-2240-0A45-94A7-7F07C6A3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F1A2F-C436-274F-BD47-D37B30E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148BA-2D47-864D-B636-BB7E9C034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3B9A5-5C90-284E-A239-7B64B8661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49336-9BEB-6A4E-8698-9E073B520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FE3F2-C856-F042-8DD8-86250F97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82C4-2B37-124A-8336-64FC39B66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98DB4-875A-0E42-BE4C-1EEC0FA4C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9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937E7-487F-FE47-AE48-D22BD0DE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EB28-C970-9B48-BDE4-EF485EF38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0D882-11E5-4744-A1F4-5EE475385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A699D-A3C6-2A45-8617-76349B51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A5FCE-DCCE-4446-AF74-3F5EFF27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04A1ED-2C40-1D49-ADEE-8FCC4F57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9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98D6-A697-3444-939B-B0B9ED3D0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E7460-F59D-4242-9DCA-8B46B870C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5F1E5-69F7-6947-BBFD-5FB0894D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5E128-7224-5443-812E-C420680EB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810BAB-167B-6E4B-9FCD-B963C1F4D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CAF2C7-6026-2941-8DD9-586ACAA72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51EE6B-C548-8F40-A7EE-A2341A8B5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89906A-24D5-0E4E-8BC5-A9E57C01E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4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945A-2723-B443-9B04-9551134B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E39A0-95C9-7447-BC6F-23115D8DA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98A15-10DE-464F-8B0A-2C3F3810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8E4C4-5ACE-A74F-B8C8-6A85DC67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8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3F256A-71BE-F542-B4D7-ABC266B6A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9A9FB2-080F-A14A-86F7-9FBE30DA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C24F3-3026-E843-82D6-E7468278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1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7C9E2-7735-0D46-8FAD-9080B8A2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7D9C5-67E0-D74A-BE7E-66347865B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EA396-76EF-9C40-B50C-E7875336B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7C902-5D1F-3544-8D9B-4085C107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80D3D-4536-234D-8748-02B1B1F54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23D3-CE76-B244-93F6-CA720E786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8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A1A0-180B-B241-B1CD-34C1577B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945F1B-45C5-CE48-996B-E5DB709FA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599D6-38F2-114A-B1FD-FF35EAEAA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DC1F4-2B83-4F4B-B012-10DEE1D49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AA093-A185-B24A-B20D-6935FDE1A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E2358E-E9F1-8044-91EE-B07D1EC63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5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307E-087C-2246-952C-B0DB46BD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3F0DD-5542-4C45-A812-8BA3D996D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E76AF-F779-394B-8CBB-FB8EC944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3B50B-9B40-6844-A35C-58E9E9B6F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94DD7-8AE8-504C-8484-980EB360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7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8FB65-47A3-2A4C-A61B-5846A5745C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915C0-871B-7440-8ACE-F4801E3EA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F899-5214-7D42-B6CA-EE6F22C9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2C76-CE49-0445-99D9-1DC5F261D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A2315-C9B3-8F4A-9245-9DC02B319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09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1EBB76-B509-1C4E-9DE1-19168C6F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EC616-7FE5-C84E-8DE9-0D5FD8C45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5559F-B682-C448-8A80-177870080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5BD9B-DDA2-884F-B119-BF7FFBFD2CEF}" type="datetimeFigureOut">
              <a:rPr lang="en-US" smtClean="0"/>
              <a:t>9/14/21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313AD-F26E-C94D-AF19-F7F9685DE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334F8-E0DA-ED48-B649-B0BEEDB06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BE8CC-0AA8-2D4E-997B-9295183DF9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9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B758AD-F4C0-6B4D-B9F2-309A782851C3}"/>
              </a:ext>
            </a:extLst>
          </p:cNvPr>
          <p:cNvSpPr/>
          <p:nvPr/>
        </p:nvSpPr>
        <p:spPr>
          <a:xfrm>
            <a:off x="259179" y="222414"/>
            <a:ext cx="11673642" cy="4613654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3D9F28-164A-E949-B70F-C2391B7518A7}"/>
              </a:ext>
            </a:extLst>
          </p:cNvPr>
          <p:cNvSpPr/>
          <p:nvPr/>
        </p:nvSpPr>
        <p:spPr>
          <a:xfrm>
            <a:off x="485866" y="1525030"/>
            <a:ext cx="11460583" cy="132343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" altLang="zh-CN" sz="4000" b="1" dirty="0">
                <a:solidFill>
                  <a:schemeClr val="bg1"/>
                </a:solidFill>
                <a:latin typeface="Helvetica" pitchFamily="2" charset="0"/>
                <a:cs typeface="Angsana New" panose="02020603050405020304" pitchFamily="18" charset="-34"/>
              </a:rPr>
              <a:t>Multi-level Relationship Capture Network for</a:t>
            </a:r>
          </a:p>
          <a:p>
            <a:pPr algn="ctr"/>
            <a:r>
              <a:rPr lang="en" altLang="zh-CN" sz="4000" b="1" dirty="0">
                <a:solidFill>
                  <a:schemeClr val="bg1"/>
                </a:solidFill>
                <a:latin typeface="Helvetica" pitchFamily="2" charset="0"/>
                <a:cs typeface="Angsana New" panose="02020603050405020304" pitchFamily="18" charset="-34"/>
              </a:rPr>
              <a:t>Automated Skin Lesion Recognition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1E50A-6475-D04C-89ED-20C37A77FC91}"/>
              </a:ext>
            </a:extLst>
          </p:cNvPr>
          <p:cNvSpPr/>
          <p:nvPr/>
        </p:nvSpPr>
        <p:spPr>
          <a:xfrm>
            <a:off x="480169" y="3401909"/>
            <a:ext cx="1177279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500" dirty="0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Zihao Liu, </a:t>
            </a:r>
            <a:r>
              <a:rPr lang="en-US" altLang="zh-CN" sz="2500" dirty="0" err="1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Ruiqin</a:t>
            </a:r>
            <a:r>
              <a:rPr lang="en-US" altLang="zh-CN" sz="2500" dirty="0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 </a:t>
            </a:r>
            <a:r>
              <a:rPr lang="en-US" altLang="zh-CN" sz="2500" dirty="0" err="1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Xiong</a:t>
            </a:r>
            <a:r>
              <a:rPr lang="en-US" altLang="zh-CN" sz="2500" dirty="0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, and </a:t>
            </a:r>
            <a:r>
              <a:rPr lang="en-US" altLang="zh-CN" sz="2500" dirty="0" err="1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Tingting</a:t>
            </a:r>
            <a:r>
              <a:rPr lang="en-US" altLang="zh-CN" sz="2500" dirty="0">
                <a:solidFill>
                  <a:schemeClr val="bg1"/>
                </a:solidFill>
                <a:latin typeface="Constantia" panose="02030602050306030303" pitchFamily="18" charset="0"/>
                <a:cs typeface="Cordia New" panose="020B0304020202020204" pitchFamily="34" charset="-34"/>
              </a:rPr>
              <a:t> Jiang</a:t>
            </a:r>
            <a:endParaRPr lang="zh-CN" altLang="zh-CN" sz="2500" dirty="0">
              <a:solidFill>
                <a:schemeClr val="bg1"/>
              </a:solidFill>
              <a:latin typeface="Constantia" panose="02030602050306030303" pitchFamily="18" charset="0"/>
              <a:cs typeface="Cordia New" panose="020B0304020202020204" pitchFamily="34" charset="-34"/>
              <a:sym typeface="Avenir Light" charset="0"/>
            </a:endParaRPr>
          </a:p>
          <a:p>
            <a:endParaRPr lang="en-US" sz="2500" dirty="0">
              <a:solidFill>
                <a:schemeClr val="bg1"/>
              </a:solidFill>
              <a:latin typeface="Constantia" panose="02030602050306030303" pitchFamily="18" charset="0"/>
              <a:ea typeface="Baskerville" panose="02020502070401020303" pitchFamily="18" charset="0"/>
              <a:cs typeface="Cordia New" panose="020B0304020202020204" pitchFamily="34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1D5761-D754-4949-853A-1B367587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9" y="464063"/>
            <a:ext cx="1320070" cy="3718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DFDFD3-38FA-EC44-96C9-59DBFD56A8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494" t="34442" r="10895" b="33668"/>
          <a:stretch/>
        </p:blipFill>
        <p:spPr>
          <a:xfrm>
            <a:off x="2537764" y="5288051"/>
            <a:ext cx="3276000" cy="9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BB1137-807D-B04B-AEAB-5E14D4175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210" y="5408791"/>
            <a:ext cx="3276001" cy="7305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0CF6406-D86E-2542-BDF9-60DBED5E43C8}"/>
              </a:ext>
            </a:extLst>
          </p:cNvPr>
          <p:cNvSpPr txBox="1"/>
          <p:nvPr/>
        </p:nvSpPr>
        <p:spPr>
          <a:xfrm>
            <a:off x="-1562793" y="28928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057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FA5EB7C-4C90-4441-B445-A90EDE98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9" y="1332775"/>
            <a:ext cx="3051031" cy="22897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154344-A50D-4E41-82AE-A18C2D47B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95" y="1500494"/>
            <a:ext cx="2966469" cy="22263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5B1E0F-1F80-4BBC-8A1F-DC44A5807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99" y="1668213"/>
            <a:ext cx="2966469" cy="222630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40623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Skin lesion classification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AEF6DF-F2B6-034A-B930-84E423EDB504}"/>
              </a:ext>
            </a:extLst>
          </p:cNvPr>
          <p:cNvSpPr/>
          <p:nvPr/>
        </p:nvSpPr>
        <p:spPr>
          <a:xfrm>
            <a:off x="872325" y="4572528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Dermoscopy</a:t>
            </a:r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 image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15990A-0E2E-E742-AF63-808969F4B10D}"/>
              </a:ext>
            </a:extLst>
          </p:cNvPr>
          <p:cNvSpPr/>
          <p:nvPr/>
        </p:nvSpPr>
        <p:spPr>
          <a:xfrm>
            <a:off x="8964159" y="4588917"/>
            <a:ext cx="28392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Classification result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B7AC14-17D8-7842-90CA-23442E75F57F}"/>
              </a:ext>
            </a:extLst>
          </p:cNvPr>
          <p:cNvSpPr/>
          <p:nvPr/>
        </p:nvSpPr>
        <p:spPr>
          <a:xfrm>
            <a:off x="8578619" y="1627202"/>
            <a:ext cx="339227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cs typeface="Gill Sans" panose="020B0502020104020203" pitchFamily="34" charset="-79"/>
              </a:rPr>
              <a:t>Melanoma</a:t>
            </a:r>
          </a:p>
          <a:p>
            <a:pPr algn="ctr"/>
            <a:r>
              <a:rPr lang="en-US" altLang="zh-CN" sz="3600" b="1" dirty="0">
                <a:solidFill>
                  <a:schemeClr val="tx1">
                    <a:lumMod val="50000"/>
                  </a:schemeClr>
                </a:solidFill>
                <a:cs typeface="Gill Sans" panose="020B0502020104020203" pitchFamily="34" charset="-79"/>
              </a:rPr>
              <a:t>Dermatofibroma</a:t>
            </a:r>
          </a:p>
          <a:p>
            <a:pPr algn="ctr"/>
            <a:endParaRPr lang="en-US" sz="3600" b="1" dirty="0">
              <a:solidFill>
                <a:schemeClr val="tx1">
                  <a:lumMod val="50000"/>
                </a:schemeClr>
              </a:solidFill>
              <a:cs typeface="Gill Sans" panose="020B0502020104020203" pitchFamily="34" charset="-79"/>
            </a:endParaRPr>
          </a:p>
          <a:p>
            <a:pPr algn="ctr"/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cs typeface="Gill Sans" panose="020B0502020104020203" pitchFamily="34" charset="-79"/>
              </a:rPr>
              <a:t>Nevus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27010E-9462-C94C-84C8-2BA0AB894A43}"/>
              </a:ext>
            </a:extLst>
          </p:cNvPr>
          <p:cNvSpPr/>
          <p:nvPr/>
        </p:nvSpPr>
        <p:spPr>
          <a:xfrm>
            <a:off x="5371887" y="4588389"/>
            <a:ext cx="17780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Futura Medium" panose="020B0602020204020303" pitchFamily="34" charset="-79"/>
                <a:cs typeface="Futura Medium" panose="020B0602020204020303" pitchFamily="34" charset="-79"/>
              </a:rPr>
              <a:t>CNN model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BBE6DC5-4283-8640-823F-18480C9B419E}"/>
              </a:ext>
            </a:extLst>
          </p:cNvPr>
          <p:cNvGrpSpPr/>
          <p:nvPr/>
        </p:nvGrpSpPr>
        <p:grpSpPr>
          <a:xfrm>
            <a:off x="5445136" y="1916065"/>
            <a:ext cx="1818046" cy="1810192"/>
            <a:chOff x="4943410" y="2223031"/>
            <a:chExt cx="1911788" cy="190352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7286AFD-F07C-4144-9F4D-810D050199F9}"/>
                </a:ext>
              </a:extLst>
            </p:cNvPr>
            <p:cNvSpPr/>
            <p:nvPr/>
          </p:nvSpPr>
          <p:spPr>
            <a:xfrm>
              <a:off x="4943410" y="2980007"/>
              <a:ext cx="391886" cy="391886"/>
            </a:xfrm>
            <a:prstGeom prst="ellipse">
              <a:avLst/>
            </a:prstGeom>
            <a:solidFill>
              <a:srgbClr val="707881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E5135B6-0E22-434B-8C99-CDA67FB17912}"/>
                </a:ext>
              </a:extLst>
            </p:cNvPr>
            <p:cNvSpPr/>
            <p:nvPr/>
          </p:nvSpPr>
          <p:spPr>
            <a:xfrm>
              <a:off x="5704455" y="2620876"/>
              <a:ext cx="391886" cy="391886"/>
            </a:xfrm>
            <a:prstGeom prst="ellipse">
              <a:avLst/>
            </a:prstGeom>
            <a:solidFill>
              <a:srgbClr val="9CA3AA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27F45AE-3528-5145-9F54-F3EDCE267B34}"/>
                </a:ext>
              </a:extLst>
            </p:cNvPr>
            <p:cNvSpPr/>
            <p:nvPr/>
          </p:nvSpPr>
          <p:spPr>
            <a:xfrm>
              <a:off x="4943410" y="3730668"/>
              <a:ext cx="391886" cy="391886"/>
            </a:xfrm>
            <a:prstGeom prst="ellipse">
              <a:avLst/>
            </a:prstGeom>
            <a:solidFill>
              <a:srgbClr val="12171F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70E6AEB-A214-B740-ACB4-E4C7C8DE821F}"/>
                </a:ext>
              </a:extLst>
            </p:cNvPr>
            <p:cNvSpPr/>
            <p:nvPr/>
          </p:nvSpPr>
          <p:spPr>
            <a:xfrm>
              <a:off x="6463312" y="2223031"/>
              <a:ext cx="391886" cy="391886"/>
            </a:xfrm>
            <a:prstGeom prst="ellipse">
              <a:avLst/>
            </a:prstGeom>
            <a:solidFill>
              <a:srgbClr val="4B555F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35761D7-A38D-7B4E-83FB-A95FF023017E}"/>
                </a:ext>
              </a:extLst>
            </p:cNvPr>
            <p:cNvSpPr/>
            <p:nvPr/>
          </p:nvSpPr>
          <p:spPr>
            <a:xfrm>
              <a:off x="4943410" y="2229346"/>
              <a:ext cx="391886" cy="391886"/>
            </a:xfrm>
            <a:prstGeom prst="ellipse">
              <a:avLst/>
            </a:prstGeom>
            <a:solidFill>
              <a:srgbClr val="4B555F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ACE7F51-A680-044B-8B1F-4AE2C7BFFFE7}"/>
                </a:ext>
              </a:extLst>
            </p:cNvPr>
            <p:cNvSpPr/>
            <p:nvPr/>
          </p:nvSpPr>
          <p:spPr>
            <a:xfrm>
              <a:off x="6463312" y="3734674"/>
              <a:ext cx="391886" cy="391886"/>
            </a:xfrm>
            <a:prstGeom prst="ellipse">
              <a:avLst/>
            </a:prstGeom>
            <a:solidFill>
              <a:srgbClr val="4B555F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D1B692E-BB77-4644-87C8-25A6A962622B}"/>
                </a:ext>
              </a:extLst>
            </p:cNvPr>
            <p:cNvSpPr/>
            <p:nvPr/>
          </p:nvSpPr>
          <p:spPr>
            <a:xfrm>
              <a:off x="5705177" y="3353607"/>
              <a:ext cx="391886" cy="391886"/>
            </a:xfrm>
            <a:prstGeom prst="ellipse">
              <a:avLst/>
            </a:prstGeom>
            <a:solidFill>
              <a:srgbClr val="9CA3AA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4441043-CDB4-EB40-8065-7B6087B27ED5}"/>
                </a:ext>
              </a:extLst>
            </p:cNvPr>
            <p:cNvSpPr/>
            <p:nvPr/>
          </p:nvSpPr>
          <p:spPr>
            <a:xfrm>
              <a:off x="6463312" y="2981353"/>
              <a:ext cx="391886" cy="391886"/>
            </a:xfrm>
            <a:prstGeom prst="ellipse">
              <a:avLst/>
            </a:prstGeom>
            <a:solidFill>
              <a:srgbClr val="12171F"/>
            </a:solidFill>
            <a:ln w="44450">
              <a:solidFill>
                <a:srgbClr val="12171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4522B51-142E-004A-9120-A5BA924545D4}"/>
                </a:ext>
              </a:extLst>
            </p:cNvPr>
            <p:cNvCxnSpPr>
              <a:cxnSpLocks/>
              <a:stCxn id="40" idx="6"/>
              <a:endCxn id="36" idx="1"/>
            </p:cNvCxnSpPr>
            <p:nvPr/>
          </p:nvCxnSpPr>
          <p:spPr>
            <a:xfrm>
              <a:off x="5335296" y="2425289"/>
              <a:ext cx="426549" cy="252977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8892B3B-F2DC-C64D-A1F1-E56A45CD4F75}"/>
                </a:ext>
              </a:extLst>
            </p:cNvPr>
            <p:cNvCxnSpPr>
              <a:cxnSpLocks/>
              <a:stCxn id="34" idx="6"/>
              <a:endCxn id="36" idx="3"/>
            </p:cNvCxnSpPr>
            <p:nvPr/>
          </p:nvCxnSpPr>
          <p:spPr>
            <a:xfrm flipV="1">
              <a:off x="5335296" y="2955372"/>
              <a:ext cx="426549" cy="220578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7789CA-6CE5-FF48-9593-EC24F5FF35D1}"/>
                </a:ext>
              </a:extLst>
            </p:cNvPr>
            <p:cNvCxnSpPr>
              <a:cxnSpLocks/>
              <a:stCxn id="37" idx="6"/>
              <a:endCxn id="42" idx="3"/>
            </p:cNvCxnSpPr>
            <p:nvPr/>
          </p:nvCxnSpPr>
          <p:spPr>
            <a:xfrm flipV="1">
              <a:off x="5335296" y="3688103"/>
              <a:ext cx="427271" cy="238508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7753286-DE70-1B44-94AB-F4BBBCD9CFC9}"/>
                </a:ext>
              </a:extLst>
            </p:cNvPr>
            <p:cNvCxnSpPr>
              <a:cxnSpLocks/>
              <a:stCxn id="34" idx="6"/>
              <a:endCxn id="42" idx="1"/>
            </p:cNvCxnSpPr>
            <p:nvPr/>
          </p:nvCxnSpPr>
          <p:spPr>
            <a:xfrm>
              <a:off x="5335296" y="3175950"/>
              <a:ext cx="427271" cy="235047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118EDB0-929B-D844-BAC1-8957A5BC3BDF}"/>
                </a:ext>
              </a:extLst>
            </p:cNvPr>
            <p:cNvCxnSpPr>
              <a:cxnSpLocks/>
              <a:stCxn id="39" idx="2"/>
              <a:endCxn id="36" idx="7"/>
            </p:cNvCxnSpPr>
            <p:nvPr/>
          </p:nvCxnSpPr>
          <p:spPr>
            <a:xfrm flipH="1">
              <a:off x="6038951" y="2418974"/>
              <a:ext cx="424361" cy="259292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FD9D96A-8282-8B48-AD5C-F9F626C77A8D}"/>
                </a:ext>
              </a:extLst>
            </p:cNvPr>
            <p:cNvCxnSpPr>
              <a:cxnSpLocks/>
              <a:stCxn id="43" idx="2"/>
              <a:endCxn id="36" idx="5"/>
            </p:cNvCxnSpPr>
            <p:nvPr/>
          </p:nvCxnSpPr>
          <p:spPr>
            <a:xfrm flipH="1" flipV="1">
              <a:off x="6038951" y="2955372"/>
              <a:ext cx="424361" cy="221924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95FB21D-4B1C-E347-827C-B0C33AAAEE62}"/>
                </a:ext>
              </a:extLst>
            </p:cNvPr>
            <p:cNvCxnSpPr>
              <a:cxnSpLocks/>
              <a:stCxn id="43" idx="2"/>
              <a:endCxn id="42" idx="7"/>
            </p:cNvCxnSpPr>
            <p:nvPr/>
          </p:nvCxnSpPr>
          <p:spPr>
            <a:xfrm flipH="1">
              <a:off x="6039673" y="3177296"/>
              <a:ext cx="423639" cy="233701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22F6F30-3E6B-A842-9890-2F69AC5BCB50}"/>
                </a:ext>
              </a:extLst>
            </p:cNvPr>
            <p:cNvCxnSpPr>
              <a:cxnSpLocks/>
              <a:stCxn id="41" idx="2"/>
              <a:endCxn id="42" idx="5"/>
            </p:cNvCxnSpPr>
            <p:nvPr/>
          </p:nvCxnSpPr>
          <p:spPr>
            <a:xfrm flipH="1" flipV="1">
              <a:off x="6039673" y="3688103"/>
              <a:ext cx="423639" cy="242514"/>
            </a:xfrm>
            <a:prstGeom prst="line">
              <a:avLst/>
            </a:prstGeom>
            <a:ln w="34925">
              <a:solidFill>
                <a:srgbClr val="12171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A8150F22-BB44-2F44-A3C8-08639BEE34CA}"/>
              </a:ext>
            </a:extLst>
          </p:cNvPr>
          <p:cNvCxnSpPr/>
          <p:nvPr/>
        </p:nvCxnSpPr>
        <p:spPr>
          <a:xfrm>
            <a:off x="4076540" y="2821161"/>
            <a:ext cx="868680" cy="0"/>
          </a:xfrm>
          <a:prstGeom prst="straightConnector1">
            <a:avLst/>
          </a:prstGeom>
          <a:ln w="76200">
            <a:solidFill>
              <a:srgbClr val="7078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59BA764-12E0-894F-9B7F-B5C7230ACEE3}"/>
              </a:ext>
            </a:extLst>
          </p:cNvPr>
          <p:cNvCxnSpPr/>
          <p:nvPr/>
        </p:nvCxnSpPr>
        <p:spPr>
          <a:xfrm>
            <a:off x="7611272" y="2821161"/>
            <a:ext cx="868680" cy="0"/>
          </a:xfrm>
          <a:prstGeom prst="straightConnector1">
            <a:avLst/>
          </a:prstGeom>
          <a:ln w="76200">
            <a:solidFill>
              <a:srgbClr val="7078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94EDD2BD-4D8F-48E1-B203-5363FC083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325" y="1805805"/>
            <a:ext cx="3006612" cy="225643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51FA477-E6DB-4748-B65F-BA192F454859}"/>
              </a:ext>
            </a:extLst>
          </p:cNvPr>
          <p:cNvSpPr txBox="1"/>
          <p:nvPr/>
        </p:nvSpPr>
        <p:spPr>
          <a:xfrm>
            <a:off x="9965231" y="2801072"/>
            <a:ext cx="923330" cy="75293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4800" dirty="0"/>
              <a:t>…</a:t>
            </a:r>
            <a:endParaRPr kumimoji="1"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846214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1926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Motivation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548A80-A4D9-B442-A36F-F4BED7FBB060}"/>
              </a:ext>
            </a:extLst>
          </p:cNvPr>
          <p:cNvSpPr/>
          <p:nvPr/>
        </p:nvSpPr>
        <p:spPr>
          <a:xfrm>
            <a:off x="436959" y="933382"/>
            <a:ext cx="11366439" cy="902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" altLang="zh-CN" sz="2600" dirty="0">
                <a:cs typeface="Futura Medium" panose="020B0602020204020303" pitchFamily="34" charset="-79"/>
              </a:rPr>
              <a:t>Region-level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" altLang="zh-CN" sz="2600" dirty="0">
                <a:cs typeface="Futura Medium" panose="020B0602020204020303" pitchFamily="34" charset="-79"/>
              </a:rPr>
              <a:t>relationship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" altLang="zh-CN" sz="2600" dirty="0">
                <a:cs typeface="Futura Medium" panose="020B0602020204020303" pitchFamily="34" charset="-79"/>
              </a:rPr>
              <a:t>challenge </a:t>
            </a:r>
            <a:r>
              <a:rPr lang="en-US" altLang="zh-CN" sz="2600" dirty="0">
                <a:cs typeface="Futura Medium" panose="020B0602020204020303" pitchFamily="34" charset="-79"/>
              </a:rPr>
              <a:t>for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skin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lesion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classification</a:t>
            </a:r>
            <a:endParaRPr lang="en" altLang="zh-CN" sz="2600" dirty="0">
              <a:cs typeface="Futura Medium" panose="020B0602020204020303" pitchFamily="34" charset="-79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" altLang="zh-CN" sz="2600" dirty="0">
              <a:cs typeface="Futura Medium" panose="020B0602020204020303" pitchFamily="34" charset="-79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CN" sz="2600" dirty="0">
              <a:cs typeface="Futura Medium" panose="020B0602020204020303" pitchFamily="34" charset="-79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CN" sz="2600" dirty="0"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altLang="zh-CN" sz="2600" dirty="0"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8B6BB1-FC11-1E40-8869-CA6C95261A21}"/>
              </a:ext>
            </a:extLst>
          </p:cNvPr>
          <p:cNvSpPr/>
          <p:nvPr/>
        </p:nvSpPr>
        <p:spPr>
          <a:xfrm>
            <a:off x="257541" y="7490366"/>
            <a:ext cx="908697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BX12"/>
              </a:rPr>
              <a:t>Tool Motion vs. Clearness of Operating Field (COF):</a:t>
            </a:r>
            <a:endParaRPr lang="en-US" dirty="0">
              <a:latin typeface="CMR10"/>
            </a:endParaRPr>
          </a:p>
          <a:p>
            <a:r>
              <a:rPr lang="en-US" dirty="0">
                <a:latin typeface="CMR10"/>
              </a:rPr>
              <a:t>Tool Motion: Difficult or expensive to obtain in clinical setting</a:t>
            </a:r>
          </a:p>
          <a:p>
            <a:r>
              <a:rPr lang="en-US" dirty="0">
                <a:latin typeface="CMBX12"/>
              </a:rPr>
              <a:t>Clearness of Operating Field (COF): Only rely on video recordings from the laparoscopic camera</a:t>
            </a:r>
            <a:endParaRPr lang="en-US" dirty="0">
              <a:latin typeface="CMR1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0EB093-6C9E-D548-BC5E-DA521519FE88}"/>
              </a:ext>
            </a:extLst>
          </p:cNvPr>
          <p:cNvSpPr/>
          <p:nvPr/>
        </p:nvSpPr>
        <p:spPr>
          <a:xfrm>
            <a:off x="9794963" y="7416168"/>
            <a:ext cx="20084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0"/>
              </a:rPr>
              <a:t>Robotic </a:t>
            </a:r>
            <a:r>
              <a:rPr lang="en-US" dirty="0"/>
              <a:t>kinematics </a:t>
            </a:r>
            <a:endParaRPr lang="en-US" dirty="0">
              <a:latin typeface="CMR10"/>
            </a:endParaRPr>
          </a:p>
          <a:p>
            <a:r>
              <a:rPr lang="en-US" dirty="0">
                <a:latin typeface="CMR10"/>
              </a:rPr>
              <a:t>External sensors</a:t>
            </a:r>
          </a:p>
          <a:p>
            <a:r>
              <a:rPr lang="en-US" dirty="0">
                <a:latin typeface="CMR10"/>
              </a:rPr>
              <a:t>Visual tracking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3D641C-F252-EB4B-BC5F-F57B0B8974DA}"/>
              </a:ext>
            </a:extLst>
          </p:cNvPr>
          <p:cNvSpPr/>
          <p:nvPr/>
        </p:nvSpPr>
        <p:spPr>
          <a:xfrm>
            <a:off x="6471181" y="7508501"/>
            <a:ext cx="3044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0"/>
              </a:rPr>
              <a:t>Suggested by surgical experts. 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783A0A6-D6C8-4B42-9E6D-4A4E69E40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7240" y="1655754"/>
            <a:ext cx="4708373" cy="233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7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1926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Motivation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548A80-A4D9-B442-A36F-F4BED7FBB060}"/>
              </a:ext>
            </a:extLst>
          </p:cNvPr>
          <p:cNvSpPr/>
          <p:nvPr/>
        </p:nvSpPr>
        <p:spPr>
          <a:xfrm>
            <a:off x="436959" y="933382"/>
            <a:ext cx="11366439" cy="902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" altLang="zh-CN" sz="2600" dirty="0">
                <a:cs typeface="Futura Medium" panose="020B0602020204020303" pitchFamily="34" charset="-79"/>
              </a:rPr>
              <a:t>Region-level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" altLang="zh-CN" sz="2600" dirty="0">
                <a:cs typeface="Futura Medium" panose="020B0602020204020303" pitchFamily="34" charset="-79"/>
              </a:rPr>
              <a:t>relationship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" altLang="zh-CN" sz="2600" dirty="0">
                <a:cs typeface="Futura Medium" panose="020B0602020204020303" pitchFamily="34" charset="-79"/>
              </a:rPr>
              <a:t>challenge </a:t>
            </a:r>
            <a:r>
              <a:rPr lang="en-US" altLang="zh-CN" sz="2600" dirty="0">
                <a:cs typeface="Futura Medium" panose="020B0602020204020303" pitchFamily="34" charset="-79"/>
              </a:rPr>
              <a:t>for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skin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lesion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classification</a:t>
            </a:r>
            <a:endParaRPr lang="en" altLang="zh-CN" sz="2600" dirty="0">
              <a:cs typeface="Futura Medium" panose="020B0602020204020303" pitchFamily="34" charset="-79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" altLang="zh-CN" sz="2600" dirty="0">
              <a:cs typeface="Futura Medium" panose="020B0602020204020303" pitchFamily="34" charset="-79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CN" sz="2600" dirty="0">
              <a:cs typeface="Futura Medium" panose="020B0602020204020303" pitchFamily="34" charset="-79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zh-CN" sz="2600" dirty="0"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altLang="zh-CN" sz="2600" dirty="0"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8B6BB1-FC11-1E40-8869-CA6C95261A21}"/>
              </a:ext>
            </a:extLst>
          </p:cNvPr>
          <p:cNvSpPr/>
          <p:nvPr/>
        </p:nvSpPr>
        <p:spPr>
          <a:xfrm>
            <a:off x="257541" y="7490366"/>
            <a:ext cx="908697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BX12"/>
              </a:rPr>
              <a:t>Tool Motion vs. Clearness of Operating Field (COF):</a:t>
            </a:r>
            <a:endParaRPr lang="en-US" dirty="0">
              <a:latin typeface="CMR10"/>
            </a:endParaRPr>
          </a:p>
          <a:p>
            <a:r>
              <a:rPr lang="en-US" dirty="0">
                <a:latin typeface="CMR10"/>
              </a:rPr>
              <a:t>Tool Motion: Difficult or expensive to obtain in clinical setting</a:t>
            </a:r>
          </a:p>
          <a:p>
            <a:r>
              <a:rPr lang="en-US" dirty="0">
                <a:latin typeface="CMBX12"/>
              </a:rPr>
              <a:t>Clearness of Operating Field (COF): Only rely on video recordings from the laparoscopic camera</a:t>
            </a:r>
            <a:endParaRPr lang="en-US" dirty="0">
              <a:latin typeface="CMR1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0EB093-6C9E-D548-BC5E-DA521519FE88}"/>
              </a:ext>
            </a:extLst>
          </p:cNvPr>
          <p:cNvSpPr/>
          <p:nvPr/>
        </p:nvSpPr>
        <p:spPr>
          <a:xfrm>
            <a:off x="9794963" y="7416168"/>
            <a:ext cx="20084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0"/>
              </a:rPr>
              <a:t>Robotic </a:t>
            </a:r>
            <a:r>
              <a:rPr lang="en-US" dirty="0"/>
              <a:t>kinematics </a:t>
            </a:r>
            <a:endParaRPr lang="en-US" dirty="0">
              <a:latin typeface="CMR10"/>
            </a:endParaRPr>
          </a:p>
          <a:p>
            <a:r>
              <a:rPr lang="en-US" dirty="0">
                <a:latin typeface="CMR10"/>
              </a:rPr>
              <a:t>External sensors</a:t>
            </a:r>
          </a:p>
          <a:p>
            <a:r>
              <a:rPr lang="en-US" dirty="0">
                <a:latin typeface="CMR10"/>
              </a:rPr>
              <a:t>Visual tracking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3D641C-F252-EB4B-BC5F-F57B0B8974DA}"/>
              </a:ext>
            </a:extLst>
          </p:cNvPr>
          <p:cNvSpPr/>
          <p:nvPr/>
        </p:nvSpPr>
        <p:spPr>
          <a:xfrm>
            <a:off x="6471181" y="7508501"/>
            <a:ext cx="3044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0"/>
              </a:rPr>
              <a:t>Suggested by surgical experts. 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09D66E-D65B-F548-80A5-1B11870A2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132" y="4458866"/>
            <a:ext cx="4288587" cy="20149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783A0A6-D6C8-4B42-9E6D-4A4E69E40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240" y="1655754"/>
            <a:ext cx="4708373" cy="233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08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19262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Motivation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548A80-A4D9-B442-A36F-F4BED7FBB060}"/>
              </a:ext>
            </a:extLst>
          </p:cNvPr>
          <p:cNvSpPr/>
          <p:nvPr/>
        </p:nvSpPr>
        <p:spPr>
          <a:xfrm>
            <a:off x="436959" y="933382"/>
            <a:ext cx="11366439" cy="782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600" dirty="0">
                <a:cs typeface="Futura Medium" panose="020B0602020204020303" pitchFamily="34" charset="-79"/>
              </a:rPr>
              <a:t>Image-</a:t>
            </a:r>
            <a:r>
              <a:rPr lang="en" altLang="zh-CN" sz="2600" dirty="0">
                <a:cs typeface="Futura Medium" panose="020B0602020204020303" pitchFamily="34" charset="-79"/>
              </a:rPr>
              <a:t>level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" altLang="zh-CN" sz="2600" dirty="0">
                <a:cs typeface="Futura Medium" panose="020B0602020204020303" pitchFamily="34" charset="-79"/>
              </a:rPr>
              <a:t>relationship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" altLang="zh-CN" sz="2600" dirty="0">
                <a:cs typeface="Futura Medium" panose="020B0602020204020303" pitchFamily="34" charset="-79"/>
              </a:rPr>
              <a:t>challenge </a:t>
            </a:r>
            <a:r>
              <a:rPr lang="en-US" altLang="zh-CN" sz="2600" dirty="0">
                <a:cs typeface="Futura Medium" panose="020B0602020204020303" pitchFamily="34" charset="-79"/>
              </a:rPr>
              <a:t>for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skin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lesion</a:t>
            </a:r>
            <a:r>
              <a:rPr lang="zh-CN" altLang="en-US" sz="2600" dirty="0">
                <a:cs typeface="Futura Medium" panose="020B0602020204020303" pitchFamily="34" charset="-79"/>
              </a:rPr>
              <a:t> </a:t>
            </a:r>
            <a:r>
              <a:rPr lang="en-US" altLang="zh-CN" sz="2600" dirty="0">
                <a:cs typeface="Futura Medium" panose="020B0602020204020303" pitchFamily="34" charset="-79"/>
              </a:rPr>
              <a:t>classification</a:t>
            </a:r>
            <a:endParaRPr lang="en" altLang="zh-CN" sz="2600" dirty="0"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8B6BB1-FC11-1E40-8869-CA6C95261A21}"/>
              </a:ext>
            </a:extLst>
          </p:cNvPr>
          <p:cNvSpPr/>
          <p:nvPr/>
        </p:nvSpPr>
        <p:spPr>
          <a:xfrm>
            <a:off x="257541" y="7490366"/>
            <a:ext cx="908697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BX12"/>
              </a:rPr>
              <a:t>Tool Motion vs. Clearness of Operating Field (COF):</a:t>
            </a:r>
            <a:endParaRPr lang="en-US" dirty="0">
              <a:latin typeface="CMR10"/>
            </a:endParaRPr>
          </a:p>
          <a:p>
            <a:r>
              <a:rPr lang="en-US" dirty="0">
                <a:latin typeface="CMR10"/>
              </a:rPr>
              <a:t>Tool Motion: Difficult or expensive to obtain in clinical setting</a:t>
            </a:r>
          </a:p>
          <a:p>
            <a:r>
              <a:rPr lang="en-US" dirty="0">
                <a:latin typeface="CMBX12"/>
              </a:rPr>
              <a:t>Clearness of Operating Field (COF): Only rely on video recordings from the laparoscopic camera</a:t>
            </a:r>
            <a:endParaRPr lang="en-US" dirty="0">
              <a:latin typeface="CMR1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0EB093-6C9E-D548-BC5E-DA521519FE88}"/>
              </a:ext>
            </a:extLst>
          </p:cNvPr>
          <p:cNvSpPr/>
          <p:nvPr/>
        </p:nvSpPr>
        <p:spPr>
          <a:xfrm>
            <a:off x="9794963" y="7416168"/>
            <a:ext cx="200843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0"/>
              </a:rPr>
              <a:t>Robotic </a:t>
            </a:r>
            <a:r>
              <a:rPr lang="en-US" dirty="0"/>
              <a:t>kinematics </a:t>
            </a:r>
            <a:endParaRPr lang="en-US" dirty="0">
              <a:latin typeface="CMR10"/>
            </a:endParaRPr>
          </a:p>
          <a:p>
            <a:r>
              <a:rPr lang="en-US" dirty="0">
                <a:latin typeface="CMR10"/>
              </a:rPr>
              <a:t>External sensors</a:t>
            </a:r>
          </a:p>
          <a:p>
            <a:r>
              <a:rPr lang="en-US" dirty="0">
                <a:latin typeface="CMR10"/>
              </a:rPr>
              <a:t>Visual tracking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3D641C-F252-EB4B-BC5F-F57B0B8974DA}"/>
              </a:ext>
            </a:extLst>
          </p:cNvPr>
          <p:cNvSpPr/>
          <p:nvPr/>
        </p:nvSpPr>
        <p:spPr>
          <a:xfrm>
            <a:off x="6471181" y="7508501"/>
            <a:ext cx="30442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R10"/>
              </a:rPr>
              <a:t>Suggested by surgical experts. 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5965BD0-8F93-CE48-AD90-B37181D98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04" y="2116221"/>
            <a:ext cx="9582275" cy="40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7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3685DA2-4905-094D-80B1-0E1020348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6" y="1380064"/>
            <a:ext cx="3886234" cy="4600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127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A0A92EE-5B3E-C944-BD24-E19EE3691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40" y="1366564"/>
            <a:ext cx="7117147" cy="467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896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110685-9EB7-8B40-BB10-5EA42AF6B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6" y="1370244"/>
            <a:ext cx="7117146" cy="470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CF935C-CC87-3242-A155-14668CCD0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56" y="1380864"/>
            <a:ext cx="10654812" cy="462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09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A55C01-7355-944C-BB4F-4299F142E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25" y="1364420"/>
            <a:ext cx="11918950" cy="466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4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8C0A4E-AF66-4AB1-9B46-DB936D911E53}"/>
              </a:ext>
            </a:extLst>
          </p:cNvPr>
          <p:cNvSpPr/>
          <p:nvPr/>
        </p:nvSpPr>
        <p:spPr>
          <a:xfrm>
            <a:off x="4233459" y="1194901"/>
            <a:ext cx="3725081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Lesion 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Discerning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Module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17E563A-D488-5545-9496-660351CC2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963248"/>
            <a:ext cx="8638540" cy="413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16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8C0A4E-AF66-4AB1-9B46-DB936D911E53}"/>
              </a:ext>
            </a:extLst>
          </p:cNvPr>
          <p:cNvSpPr/>
          <p:nvPr/>
        </p:nvSpPr>
        <p:spPr>
          <a:xfrm>
            <a:off x="3496224" y="1086507"/>
            <a:ext cx="5199552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Region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Correlation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B938F8-3C99-614C-96F7-92AD5225A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19" y="1929330"/>
            <a:ext cx="9106605" cy="407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49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8C0A4E-AF66-4AB1-9B46-DB936D911E53}"/>
              </a:ext>
            </a:extLst>
          </p:cNvPr>
          <p:cNvSpPr/>
          <p:nvPr/>
        </p:nvSpPr>
        <p:spPr>
          <a:xfrm>
            <a:off x="3658699" y="1155087"/>
            <a:ext cx="4874602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Cross-image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B17981-25BD-3843-B929-EEE52690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970" y="2087858"/>
            <a:ext cx="8354060" cy="386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7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68435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Multi-level Relationship Capture Network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8C0A4E-AF66-4AB1-9B46-DB936D911E53}"/>
              </a:ext>
            </a:extLst>
          </p:cNvPr>
          <p:cNvSpPr/>
          <p:nvPr/>
        </p:nvSpPr>
        <p:spPr>
          <a:xfrm>
            <a:off x="3658698" y="1155087"/>
            <a:ext cx="4993811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Consistency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Regularization</a:t>
            </a:r>
            <a:r>
              <a:rPr lang="zh-CN" alt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Module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985B28-CCD8-6F42-88B3-436E85192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95" y="2119766"/>
            <a:ext cx="7979410" cy="382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95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1423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Dataset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8CE7080-27EB-4533-BB20-95AC55A3F6A7}"/>
              </a:ext>
            </a:extLst>
          </p:cNvPr>
          <p:cNvSpPr/>
          <p:nvPr/>
        </p:nvSpPr>
        <p:spPr>
          <a:xfrm>
            <a:off x="336630" y="875725"/>
            <a:ext cx="11575969" cy="6632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ISIC 2016 challenge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Classes: melanoma or non-melanoma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Task: Binary classification</a:t>
            </a:r>
          </a:p>
          <a:p>
            <a:pPr>
              <a:lnSpc>
                <a:spcPct val="150000"/>
              </a:lnSpc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ISIC 2017 challenge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Classes: melanoma, nevus and seborrheic keratosis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Two subtasks: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Distinguish between melanoma and the others </a:t>
            </a:r>
          </a:p>
          <a:p>
            <a:pPr marL="914400" lvl="1" indent="-457200">
              <a:lnSpc>
                <a:spcPct val="150000"/>
              </a:lnSpc>
              <a:buFont typeface="Wingdings" pitchFamily="2" charset="2"/>
              <a:buChar char="p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Distinguish between seborrheic keratosis and the others</a:t>
            </a:r>
          </a:p>
          <a:p>
            <a:pPr marL="514350" indent="-514350">
              <a:lnSpc>
                <a:spcPct val="150000"/>
              </a:lnSpc>
              <a:buFontTx/>
              <a:buAutoNum type="arabicPeriod"/>
            </a:pPr>
            <a:endParaRPr lang="en-US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743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14237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Dataset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8CE7080-27EB-4533-BB20-95AC55A3F6A7}"/>
              </a:ext>
            </a:extLst>
          </p:cNvPr>
          <p:cNvSpPr/>
          <p:nvPr/>
        </p:nvSpPr>
        <p:spPr>
          <a:xfrm>
            <a:off x="336630" y="875725"/>
            <a:ext cx="11575969" cy="4231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3"/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ISIC 201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challenge dataset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Classes: melanoma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Melanocytic nevus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Basal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cell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carcinoma,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Actinic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keratosis,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Benign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keratosis,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Dermatofibroma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Vascular lesion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Squamous cell carcinoma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Task: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Classify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disease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image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belongs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522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31229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Evaluation Metrics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8CE7080-27EB-4533-BB20-95AC55A3F6A7}"/>
              </a:ext>
            </a:extLst>
          </p:cNvPr>
          <p:cNvSpPr/>
          <p:nvPr/>
        </p:nvSpPr>
        <p:spPr>
          <a:xfrm>
            <a:off x="336630" y="875725"/>
            <a:ext cx="11575969" cy="3631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Average Precision(AP)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Accuracy(ACC)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Area under the receiver operating characteristic curve(AUC)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Sensitivity(SE)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Specificity(SP)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15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215539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Experiments</a:t>
            </a:r>
          </a:p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8CE7080-27EB-4533-BB20-95AC55A3F6A7}"/>
              </a:ext>
            </a:extLst>
          </p:cNvPr>
          <p:cNvSpPr/>
          <p:nvPr/>
        </p:nvSpPr>
        <p:spPr>
          <a:xfrm>
            <a:off x="3956131" y="991637"/>
            <a:ext cx="4279736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ISIC 2016 challenge dataset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E9225E-DE47-F24F-9AE4-E9EF93807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855" y="1906022"/>
            <a:ext cx="4860290" cy="451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83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215539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Experiments</a:t>
            </a:r>
          </a:p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4C2CF38B-0D7D-4934-A31C-D446287084FF}"/>
              </a:ext>
            </a:extLst>
          </p:cNvPr>
          <p:cNvSpPr/>
          <p:nvPr/>
        </p:nvSpPr>
        <p:spPr>
          <a:xfrm>
            <a:off x="3956131" y="991637"/>
            <a:ext cx="4279736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ISIC 2017 challenge dataset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A1E7C0B-7BCE-9C44-8D39-9B146CEF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969321"/>
            <a:ext cx="11521440" cy="395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92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2155398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Experiments</a:t>
            </a:r>
          </a:p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4C2CF38B-0D7D-4934-A31C-D446287084FF}"/>
              </a:ext>
            </a:extLst>
          </p:cNvPr>
          <p:cNvSpPr/>
          <p:nvPr/>
        </p:nvSpPr>
        <p:spPr>
          <a:xfrm>
            <a:off x="3956131" y="991637"/>
            <a:ext cx="4279736" cy="63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ISIC 201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 challenge dataset</a:t>
            </a: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6FBDF8-D87C-D845-AC79-DFEE83BC0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747" y="2391414"/>
            <a:ext cx="8612506" cy="273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55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8464740-A40C-F740-A017-0C008CA0DF9C}"/>
              </a:ext>
            </a:extLst>
          </p:cNvPr>
          <p:cNvSpPr/>
          <p:nvPr/>
        </p:nvSpPr>
        <p:spPr>
          <a:xfrm>
            <a:off x="129756" y="671681"/>
            <a:ext cx="11673642" cy="36000"/>
          </a:xfrm>
          <a:prstGeom prst="rect">
            <a:avLst/>
          </a:prstGeom>
          <a:solidFill>
            <a:srgbClr val="84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35839-8F49-5644-99F7-C0212CD62B54}"/>
              </a:ext>
            </a:extLst>
          </p:cNvPr>
          <p:cNvSpPr/>
          <p:nvPr/>
        </p:nvSpPr>
        <p:spPr>
          <a:xfrm>
            <a:off x="129756" y="165553"/>
            <a:ext cx="195598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Conclusion</a:t>
            </a:r>
          </a:p>
          <a:p>
            <a:r>
              <a:rPr lang="en-US" sz="2800" dirty="0">
                <a:solidFill>
                  <a:srgbClr val="840000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B4EE67-336B-D947-A268-FC054C176941}"/>
              </a:ext>
            </a:extLst>
          </p:cNvPr>
          <p:cNvSpPr/>
          <p:nvPr/>
        </p:nvSpPr>
        <p:spPr>
          <a:xfrm>
            <a:off x="570991" y="773717"/>
            <a:ext cx="11050018" cy="3631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Contribution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" altLang="zh-CN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ine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the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relationship both at the image level and the region level</a:t>
            </a:r>
            <a:endParaRPr lang="en-US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wo newly designed modules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proposed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SOTA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three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datasets</a:t>
            </a:r>
            <a:endParaRPr lang="en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68EE2-90EF-C04C-A44E-9A499F987DF6}"/>
              </a:ext>
            </a:extLst>
          </p:cNvPr>
          <p:cNvSpPr/>
          <p:nvPr/>
        </p:nvSpPr>
        <p:spPr>
          <a:xfrm>
            <a:off x="570991" y="3931396"/>
            <a:ext cx="9680675" cy="2430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altLang="zh-CN" sz="2600" b="1" dirty="0">
                <a:latin typeface="Calibri" panose="020F0502020204030204" pitchFamily="34" charset="0"/>
                <a:cs typeface="Calibri" panose="020F0502020204030204" pitchFamily="34" charset="0"/>
              </a:rPr>
              <a:t>uture 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discussions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each </a:t>
            </a:r>
            <a:r>
              <a:rPr lang="en" altLang="zh-CN" sz="2600" dirty="0" err="1">
                <a:latin typeface="Calibri" panose="020F0502020204030204" pitchFamily="34" charset="0"/>
                <a:cs typeface="Calibri" panose="020F0502020204030204" pitchFamily="34" charset="0"/>
              </a:rPr>
              <a:t>modul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endParaRPr lang="en" altLang="zh-CN" sz="2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comparison</a:t>
            </a:r>
            <a:r>
              <a:rPr lang="zh-CN" altLang="en-US" sz="26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" altLang="zh-CN" sz="2600" dirty="0">
                <a:latin typeface="Calibri" panose="020F0502020204030204" pitchFamily="34" charset="0"/>
                <a:cs typeface="Calibri" panose="020F0502020204030204" pitchFamily="34" charset="0"/>
              </a:rPr>
              <a:t> the top-ranking methods</a:t>
            </a:r>
          </a:p>
          <a:p>
            <a:pPr>
              <a:lnSpc>
                <a:spcPct val="150000"/>
              </a:lnSpc>
            </a:pPr>
            <a:endParaRPr lang="en-US" sz="2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27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0FB3CDD-AAA7-46CA-9E4C-1659049090B8}"/>
              </a:ext>
            </a:extLst>
          </p:cNvPr>
          <p:cNvSpPr/>
          <p:nvPr/>
        </p:nvSpPr>
        <p:spPr>
          <a:xfrm>
            <a:off x="806450" y="3169429"/>
            <a:ext cx="105791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tx1">
                    <a:lumMod val="50000"/>
                  </a:schemeClr>
                </a:solidFill>
                <a:latin typeface="Comic Sans MS" panose="030F0902030302020204" pitchFamily="66" charset="0"/>
                <a:cs typeface="Futura Medium" panose="020B0602020204020303" pitchFamily="34" charset="-79"/>
              </a:rPr>
              <a:t>Thank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Comic Sans MS" panose="030F0902030302020204" pitchFamily="66" charset="0"/>
                <a:cs typeface="Futura Medium" panose="020B0602020204020303" pitchFamily="34" charset="-79"/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  <a:latin typeface="Comic Sans MS" panose="030F0902030302020204" pitchFamily="66" charset="0"/>
                <a:cs typeface="Futura Medium" panose="020B0602020204020303" pitchFamily="34" charset="-79"/>
              </a:rPr>
              <a:t>You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  <a:latin typeface="Comic Sans MS" panose="030F0902030302020204" pitchFamily="66" charset="0"/>
                <a:cs typeface="Futura Medium" panose="020B0602020204020303" pitchFamily="34" charset="-79"/>
              </a:rPr>
              <a:t>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  <a:latin typeface="Comic Sans MS" panose="030F0902030302020204" pitchFamily="66" charset="0"/>
                <a:cs typeface="Futura Medium" panose="020B0602020204020303" pitchFamily="34" charset="-79"/>
              </a:rPr>
              <a:t>!</a:t>
            </a:r>
          </a:p>
          <a:p>
            <a:pPr algn="ctr"/>
            <a:endParaRPr lang="en-US" altLang="zh-CN" sz="2800" b="1" dirty="0">
              <a:solidFill>
                <a:schemeClr val="tx1">
                  <a:lumMod val="50000"/>
                </a:schemeClr>
              </a:solidFill>
              <a:latin typeface="Comic Sans MS" panose="030F0902030302020204" pitchFamily="66" charset="0"/>
              <a:cs typeface="Futura Medium" panose="020B0602020204020303" pitchFamily="34" charset="-79"/>
            </a:endParaRPr>
          </a:p>
          <a:p>
            <a:pPr algn="ctr"/>
            <a:endParaRPr lang="en-US" altLang="zh-CN" sz="2800" b="1" dirty="0">
              <a:solidFill>
                <a:schemeClr val="tx1">
                  <a:lumMod val="50000"/>
                </a:schemeClr>
              </a:solidFill>
              <a:latin typeface="Comic Sans MS" panose="030F0902030302020204" pitchFamily="66" charset="0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86878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11376</TotalTime>
  <Words>454</Words>
  <Application>Microsoft Macintosh PowerPoint</Application>
  <PresentationFormat>宽屏</PresentationFormat>
  <Paragraphs>148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CMBX12</vt:lpstr>
      <vt:lpstr>CMR10</vt:lpstr>
      <vt:lpstr>Arial</vt:lpstr>
      <vt:lpstr>Calibri</vt:lpstr>
      <vt:lpstr>Calibri Light</vt:lpstr>
      <vt:lpstr>Comic Sans MS</vt:lpstr>
      <vt:lpstr>Constantia</vt:lpstr>
      <vt:lpstr>Futura Medium</vt:lpstr>
      <vt:lpstr>Helvetica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Liu Zihao</cp:lastModifiedBy>
  <cp:revision>456</cp:revision>
  <dcterms:created xsi:type="dcterms:W3CDTF">2019-09-30T01:22:54Z</dcterms:created>
  <dcterms:modified xsi:type="dcterms:W3CDTF">2021-09-14T05:27:38Z</dcterms:modified>
</cp:coreProperties>
</file>