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Default Extension="m4a" ContentType="audi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304" r:id="rId2"/>
    <p:sldId id="331" r:id="rId3"/>
    <p:sldId id="333" r:id="rId4"/>
    <p:sldId id="332" r:id="rId5"/>
    <p:sldId id="334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04FC"/>
    <a:srgbClr val="059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9452" autoAdjust="0"/>
    <p:restoredTop sz="88194" autoAdjust="0"/>
  </p:normalViewPr>
  <p:slideViewPr>
    <p:cSldViewPr snapToGrid="0">
      <p:cViewPr>
        <p:scale>
          <a:sx n="98" d="100"/>
          <a:sy n="98" d="100"/>
        </p:scale>
        <p:origin x="167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51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58" Type="http://schemas.microsoft.com/office/2015/10/relationships/revisionInfo" Target="revisionInfo.xml"/><Relationship Id="rId1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67856-B45E-477F-A0B4-0D9F48FD573D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C5B0F-921D-456C-84E2-8CA84F43D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870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47DD8F-A5AC-46E1-8796-19EABBDD3C2B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77314-03B3-4037-994D-4FA460EE90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343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B77314-03B3-4037-994D-4FA460EE900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570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B77314-03B3-4037-994D-4FA460EE900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139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4213" y="4076700"/>
            <a:ext cx="7756525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600">
                <a:latin typeface="Book Antiqua" pitchFamily="18" charset="0"/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pic>
        <p:nvPicPr>
          <p:cNvPr id="10" name="Picture 3" descr="C:\Users\Zhang Jian\Desktop\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4" y="0"/>
            <a:ext cx="1039813" cy="1039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组合 2"/>
          <p:cNvGrpSpPr/>
          <p:nvPr userDrawn="1"/>
        </p:nvGrpSpPr>
        <p:grpSpPr>
          <a:xfrm>
            <a:off x="1105127" y="331016"/>
            <a:ext cx="3005951" cy="516709"/>
            <a:chOff x="1166916" y="361920"/>
            <a:chExt cx="3005951" cy="516709"/>
          </a:xfrm>
        </p:grpSpPr>
        <p:sp>
          <p:nvSpPr>
            <p:cNvPr id="11" name="文本框 10"/>
            <p:cNvSpPr txBox="1"/>
            <p:nvPr userDrawn="1"/>
          </p:nvSpPr>
          <p:spPr>
            <a:xfrm>
              <a:off x="1166916" y="663185"/>
              <a:ext cx="300595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 dirty="0">
                  <a:solidFill>
                    <a:srgbClr val="0070C0"/>
                  </a:solidFill>
                </a:rPr>
                <a:t>INSTITUTE OF DIGITAL MEDIA, PEKING UNIVERSITY</a:t>
              </a:r>
              <a:endParaRPr lang="zh-CN" altLang="en-US" sz="800" b="1" dirty="0">
                <a:solidFill>
                  <a:srgbClr val="0070C0"/>
                </a:solidFill>
              </a:endParaRPr>
            </a:p>
          </p:txBody>
        </p:sp>
        <p:sp>
          <p:nvSpPr>
            <p:cNvPr id="2" name="文本框 1"/>
            <p:cNvSpPr txBox="1"/>
            <p:nvPr userDrawn="1"/>
          </p:nvSpPr>
          <p:spPr>
            <a:xfrm>
              <a:off x="1166916" y="361920"/>
              <a:ext cx="30059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000" b="0" dirty="0">
                  <a:solidFill>
                    <a:schemeClr val="accent6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北京大学数字媒体研究所</a:t>
              </a:r>
            </a:p>
          </p:txBody>
        </p:sp>
      </p:grpSp>
      <p:cxnSp>
        <p:nvCxnSpPr>
          <p:cNvPr id="14" name="Straight Connector 8"/>
          <p:cNvCxnSpPr/>
          <p:nvPr userDrawn="1"/>
        </p:nvCxnSpPr>
        <p:spPr>
          <a:xfrm>
            <a:off x="905744" y="3556432"/>
            <a:ext cx="7406640" cy="0"/>
          </a:xfrm>
          <a:prstGeom prst="line">
            <a:avLst/>
          </a:prstGeom>
          <a:ln w="7302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EC9ADF-B1B4-4273-93C3-67D3F750645F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08564" y="2538844"/>
            <a:ext cx="8001000" cy="67627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985825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EC9ADF-B1B4-4273-93C3-67D3F750645F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67627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5845504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87083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341438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341438"/>
            <a:ext cx="39243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35345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59795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15903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7689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6008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0261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6711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60039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60039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49740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6762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341438"/>
            <a:ext cx="3924300" cy="4967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341438"/>
            <a:ext cx="3924300" cy="4967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xfrm>
            <a:off x="7191375" y="6381750"/>
            <a:ext cx="195262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>
                <a:solidFill>
                  <a:srgbClr val="000000"/>
                </a:solidFill>
              </a:rPr>
              <a:t>2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331067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F:\work\第二\圣诞2008\未标题-4副本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6598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341438"/>
            <a:ext cx="8001000" cy="49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14436" name="AutoShape 4"/>
          <p:cNvSpPr>
            <a:spLocks noChangeArrowheads="1"/>
          </p:cNvSpPr>
          <p:nvPr/>
        </p:nvSpPr>
        <p:spPr bwMode="auto">
          <a:xfrm>
            <a:off x="611188" y="1125538"/>
            <a:ext cx="7958137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C9ADF-B1B4-4273-93C3-67D3F750645F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0" y="6450335"/>
            <a:ext cx="2559490" cy="407665"/>
            <a:chOff x="0" y="6450335"/>
            <a:chExt cx="2559490" cy="407665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354010" y="6669088"/>
              <a:ext cx="220548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00" b="1" dirty="0">
                  <a:solidFill>
                    <a:srgbClr val="0070C0"/>
                  </a:solidFill>
                </a:rPr>
                <a:t>INSTITUTE OF DIGITAL MEDIA, PEKING UNIVERSITY</a:t>
              </a:r>
              <a:endParaRPr lang="zh-CN" altLang="en-US" sz="600" b="1" dirty="0">
                <a:solidFill>
                  <a:srgbClr val="0070C0"/>
                </a:solidFill>
              </a:endParaRPr>
            </a:p>
          </p:txBody>
        </p:sp>
        <p:sp>
          <p:nvSpPr>
            <p:cNvPr id="13" name="文本框 12"/>
            <p:cNvSpPr txBox="1"/>
            <p:nvPr userDrawn="1"/>
          </p:nvSpPr>
          <p:spPr>
            <a:xfrm>
              <a:off x="354010" y="6450335"/>
              <a:ext cx="22054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0" dirty="0">
                  <a:solidFill>
                    <a:schemeClr val="accent6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北京大学数字媒体研究所</a:t>
              </a:r>
            </a:p>
          </p:txBody>
        </p:sp>
        <p:pic>
          <p:nvPicPr>
            <p:cNvPr id="14" name="Picture 3" descr="C:\Users\Zhang Jian\Desktop\1.jpg"/>
            <p:cNvPicPr>
              <a:picLocks noChangeAspect="1" noChangeArrowheads="1"/>
            </p:cNvPicPr>
            <p:nvPr userDrawn="1"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450335"/>
              <a:ext cx="407665" cy="4076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20295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Book Antiqua" pitchFamily="18" charset="0"/>
          <a:ea typeface="黑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Book Antiqua" pitchFamily="18" charset="0"/>
          <a:ea typeface="黑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Book Antiqua" pitchFamily="18" charset="0"/>
          <a:ea typeface="黑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Book Antiqua" pitchFamily="18" charset="0"/>
          <a:ea typeface="黑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Book Antiqua" pitchFamily="18" charset="0"/>
          <a:ea typeface="黑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Book Antiqua" pitchFamily="18" charset="0"/>
          <a:ea typeface="黑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Book Antiqua" pitchFamily="18" charset="0"/>
          <a:ea typeface="黑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Book Antiqua" pitchFamily="18" charset="0"/>
          <a:ea typeface="黑体" pitchFamily="2" charset="-122"/>
        </a:defRPr>
      </a:lvl9pPr>
    </p:titleStyle>
    <p:bodyStyle>
      <a:lvl1pPr marL="469900" indent="-469900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400">
          <a:solidFill>
            <a:srgbClr val="0033CC"/>
          </a:solidFill>
          <a:latin typeface="+mn-lt"/>
          <a:ea typeface="+mn-ea"/>
        </a:defRPr>
      </a:lvl2pPr>
      <a:lvl3pPr marL="1304925" indent="-395288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p"/>
        <a:defRPr sz="2000">
          <a:solidFill>
            <a:srgbClr val="009900"/>
          </a:solidFill>
          <a:latin typeface="+mn-lt"/>
          <a:ea typeface="+mn-ea"/>
        </a:defRPr>
      </a:lvl3pPr>
      <a:lvl4pPr marL="1693863" indent="-387350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3008313" indent="-398463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65513" indent="-398463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922713" indent="-398463" algn="l" rtl="0" eaLnBrk="1" fontAlgn="base" hangingPunct="1">
        <a:spcBef>
          <a:spcPct val="1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4.png"/><Relationship Id="rId1" Type="http://schemas.microsoft.com/office/2007/relationships/media" Target="../media/media1.m4a"/><Relationship Id="rId2" Type="http://schemas.openxmlformats.org/officeDocument/2006/relationships/audio" Target="../media/media1.m4a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4.png"/><Relationship Id="rId1" Type="http://schemas.microsoft.com/office/2007/relationships/media" Target="../media/media2.m4a"/><Relationship Id="rId2" Type="http://schemas.openxmlformats.org/officeDocument/2006/relationships/audio" Target="../media/media2.m4a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4.png"/><Relationship Id="rId1" Type="http://schemas.microsoft.com/office/2007/relationships/media" Target="../media/media3.m4a"/><Relationship Id="rId2" Type="http://schemas.openxmlformats.org/officeDocument/2006/relationships/audio" Target="../media/media3.m4a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4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1" Type="http://schemas.openxmlformats.org/officeDocument/2006/relationships/tags" Target="../tags/tag1.xml"/><Relationship Id="rId2" Type="http://schemas.microsoft.com/office/2007/relationships/media" Target="../media/media4.m4a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4.png"/><Relationship Id="rId1" Type="http://schemas.microsoft.com/office/2007/relationships/media" Target="../media/media5.m4a"/><Relationship Id="rId2" Type="http://schemas.openxmlformats.org/officeDocument/2006/relationships/audio" Target="../media/media5.m4a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2400" dirty="0" smtClean="0"/>
              <a:t>Xu Gao, </a:t>
            </a:r>
            <a:r>
              <a:rPr lang="en-US" altLang="zh-CN" sz="2400" dirty="0" err="1" smtClean="0"/>
              <a:t>Tingting</a:t>
            </a:r>
            <a:r>
              <a:rPr lang="en-US" altLang="zh-CN" sz="2400" dirty="0" smtClean="0"/>
              <a:t> Jiang</a:t>
            </a:r>
          </a:p>
          <a:p>
            <a:r>
              <a:rPr lang="en-US" altLang="zh-CN" sz="2400" dirty="0" smtClean="0"/>
              <a:t>Peking University</a:t>
            </a:r>
          </a:p>
          <a:p>
            <a:r>
              <a:rPr lang="en-US" altLang="zh-CN" sz="2400" dirty="0" smtClean="0"/>
              <a:t>10/2018</a:t>
            </a:r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95275" y="2180494"/>
            <a:ext cx="8534400" cy="1011180"/>
          </a:xfrm>
        </p:spPr>
        <p:txBody>
          <a:bodyPr/>
          <a:lstStyle/>
          <a:p>
            <a:pPr algn="ctr"/>
            <a:r>
              <a:rPr lang="en-US" altLang="zh-CN" sz="2800" dirty="0" smtClean="0"/>
              <a:t>OSMO</a:t>
            </a:r>
            <a:r>
              <a:rPr lang="en-US" altLang="zh-CN" sz="2800" dirty="0"/>
              <a:t>: Online Specific Models for Occlusion </a:t>
            </a:r>
            <a:r>
              <a:rPr lang="en-US" altLang="zh-CN" sz="2800" dirty="0" smtClean="0"/>
              <a:t>in</a:t>
            </a:r>
            <a:br>
              <a:rPr lang="en-US" altLang="zh-CN" sz="2800" dirty="0" smtClean="0"/>
            </a:br>
            <a:r>
              <a:rPr lang="en-US" altLang="zh-CN" sz="2800" dirty="0" smtClean="0"/>
              <a:t>Multiple </a:t>
            </a:r>
            <a:r>
              <a:rPr lang="en-US" altLang="zh-CN" sz="2800" dirty="0"/>
              <a:t>Object Tracking under Surveillance Scene</a:t>
            </a:r>
            <a:endParaRPr lang="zh-CN" altLang="en-US" sz="2800" dirty="0"/>
          </a:p>
        </p:txBody>
      </p:sp>
      <p:pic>
        <p:nvPicPr>
          <p:cNvPr id="6" name="声音 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15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452482"/>
      </p:ext>
    </p:extLst>
  </p:cSld>
  <p:clrMapOvr>
    <a:masterClrMapping/>
  </p:clrMapOvr>
  <p:transition advTm="1244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66738" y="1341438"/>
            <a:ext cx="8001000" cy="2488973"/>
          </a:xfrm>
        </p:spPr>
        <p:txBody>
          <a:bodyPr/>
          <a:lstStyle/>
          <a:p>
            <a:r>
              <a:rPr kumimoji="1" lang="en-US" altLang="zh-CN" b="1" dirty="0" smtClean="0"/>
              <a:t>Problem: MOT in surveillance scene</a:t>
            </a:r>
          </a:p>
          <a:p>
            <a:pPr marL="0" indent="0">
              <a:buNone/>
            </a:pPr>
            <a:endParaRPr kumimoji="1" lang="en-US" altLang="zh-CN" b="1" dirty="0" smtClean="0"/>
          </a:p>
          <a:p>
            <a:r>
              <a:rPr kumimoji="1" lang="en-US" altLang="zh-CN" b="1" dirty="0" smtClean="0"/>
              <a:t>Challenges</a:t>
            </a:r>
            <a:endParaRPr kumimoji="1" lang="en-US" altLang="zh-CN" dirty="0" smtClean="0"/>
          </a:p>
          <a:p>
            <a:pPr lvl="1"/>
            <a:r>
              <a:rPr lang="en-US" altLang="zh-CN" b="1" dirty="0">
                <a:solidFill>
                  <a:srgbClr val="1604FC"/>
                </a:solidFill>
              </a:rPr>
              <a:t>Inter-Object </a:t>
            </a:r>
            <a:r>
              <a:rPr lang="en-US" altLang="zh-CN" b="1" dirty="0" smtClean="0">
                <a:solidFill>
                  <a:srgbClr val="1604FC"/>
                </a:solidFill>
              </a:rPr>
              <a:t>Occlusion</a:t>
            </a:r>
            <a:endParaRPr kumimoji="1" lang="en-US" altLang="zh-CN" dirty="0" smtClean="0"/>
          </a:p>
          <a:p>
            <a:endParaRPr lang="en-US" altLang="zh-CN" dirty="0"/>
          </a:p>
          <a:p>
            <a:endParaRPr kumimoji="1" lang="en-US" altLang="zh-CN" dirty="0" smtClean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EC9ADF-B1B4-4273-93C3-67D3F750645F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Problem</a:t>
            </a:r>
            <a:r>
              <a:rPr kumimoji="1" lang="en-US" altLang="zh-CN" dirty="0"/>
              <a:t> </a:t>
            </a:r>
            <a:r>
              <a:rPr kumimoji="1" lang="en-US" altLang="zh-CN" dirty="0" smtClean="0"/>
              <a:t>and Challenges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26" t="18152" b="40483"/>
          <a:stretch/>
        </p:blipFill>
        <p:spPr>
          <a:xfrm>
            <a:off x="1134219" y="3830411"/>
            <a:ext cx="1989182" cy="20478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98" t="18093" r="1" b="40660"/>
          <a:stretch/>
        </p:blipFill>
        <p:spPr>
          <a:xfrm>
            <a:off x="3883881" y="3830411"/>
            <a:ext cx="1982530" cy="2041748"/>
          </a:xfrm>
          <a:prstGeom prst="rect">
            <a:avLst/>
          </a:prstGeom>
        </p:spPr>
      </p:pic>
      <p:sp>
        <p:nvSpPr>
          <p:cNvPr id="8" name="上箭头 7"/>
          <p:cNvSpPr/>
          <p:nvPr/>
        </p:nvSpPr>
        <p:spPr bwMode="auto">
          <a:xfrm rot="10800000">
            <a:off x="2606291" y="4053977"/>
            <a:ext cx="444697" cy="449785"/>
          </a:xfrm>
          <a:prstGeom prst="upArrow">
            <a:avLst>
              <a:gd name="adj1" fmla="val 35487"/>
              <a:gd name="adj2" fmla="val 56165"/>
            </a:avLst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7" name="上箭头 16"/>
          <p:cNvSpPr/>
          <p:nvPr/>
        </p:nvSpPr>
        <p:spPr bwMode="auto">
          <a:xfrm rot="10800000">
            <a:off x="4595471" y="4117018"/>
            <a:ext cx="444697" cy="449785"/>
          </a:xfrm>
          <a:prstGeom prst="upArrow">
            <a:avLst>
              <a:gd name="adj1" fmla="val 35487"/>
              <a:gd name="adj2" fmla="val 56165"/>
            </a:avLst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392540" y="5872159"/>
            <a:ext cx="1472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smtClean="0"/>
              <a:t>Frame 01</a:t>
            </a:r>
            <a:endParaRPr kumimoji="1" lang="zh-CN" altLang="en-US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4138876" y="5872159"/>
            <a:ext cx="1472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smtClean="0"/>
              <a:t>Frame 10</a:t>
            </a:r>
            <a:endParaRPr kumimoji="1" lang="zh-CN" altLang="en-US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6626891" y="4631715"/>
            <a:ext cx="1675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 smtClean="0">
                <a:solidFill>
                  <a:srgbClr val="FF0000"/>
                </a:solidFill>
              </a:rPr>
              <a:t>ID Switch!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10" name="声音 9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15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550128"/>
      </p:ext>
    </p:extLst>
  </p:cSld>
  <p:clrMapOvr>
    <a:masterClrMapping/>
  </p:clrMapOvr>
  <p:transition advTm="2099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66738" y="1341439"/>
            <a:ext cx="8001000" cy="2595562"/>
          </a:xfrm>
        </p:spPr>
        <p:txBody>
          <a:bodyPr/>
          <a:lstStyle/>
          <a:p>
            <a:r>
              <a:rPr kumimoji="1" lang="en-US" altLang="zh-CN" b="1" dirty="0" smtClean="0"/>
              <a:t>Problem: MOT in surveillance scene</a:t>
            </a:r>
          </a:p>
          <a:p>
            <a:pPr marL="0" indent="0">
              <a:buNone/>
            </a:pPr>
            <a:endParaRPr kumimoji="1" lang="en-US" altLang="zh-CN" b="1" dirty="0" smtClean="0"/>
          </a:p>
          <a:p>
            <a:r>
              <a:rPr kumimoji="1" lang="en-US" altLang="zh-CN" b="1" dirty="0" smtClean="0"/>
              <a:t>Challenges</a:t>
            </a:r>
            <a:endParaRPr kumimoji="1" lang="en-US" altLang="zh-CN" dirty="0" smtClean="0"/>
          </a:p>
          <a:p>
            <a:pPr lvl="1"/>
            <a:r>
              <a:rPr lang="en-US" altLang="zh-CN" b="1" dirty="0">
                <a:solidFill>
                  <a:srgbClr val="1604FC"/>
                </a:solidFill>
              </a:rPr>
              <a:t>Inter-Object Occlusion</a:t>
            </a:r>
          </a:p>
          <a:p>
            <a:pPr lvl="1"/>
            <a:r>
              <a:rPr lang="en-US" altLang="zh-CN" b="1" dirty="0">
                <a:solidFill>
                  <a:srgbClr val="1604FC"/>
                </a:solidFill>
              </a:rPr>
              <a:t>Obstacle </a:t>
            </a:r>
            <a:r>
              <a:rPr lang="en-US" altLang="zh-CN" b="1" dirty="0" smtClean="0">
                <a:solidFill>
                  <a:srgbClr val="1604FC"/>
                </a:solidFill>
              </a:rPr>
              <a:t>Occlusion</a:t>
            </a:r>
            <a:endParaRPr lang="en-US" altLang="zh-CN" dirty="0"/>
          </a:p>
          <a:p>
            <a:endParaRPr kumimoji="1" lang="en-US" altLang="zh-CN" dirty="0" smtClean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EC9ADF-B1B4-4273-93C3-67D3F750645F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Problem</a:t>
            </a:r>
            <a:r>
              <a:rPr kumimoji="1" lang="en-US" altLang="zh-CN" dirty="0"/>
              <a:t> </a:t>
            </a:r>
            <a:r>
              <a:rPr kumimoji="1" lang="en-US" altLang="zh-CN" dirty="0" smtClean="0"/>
              <a:t>and </a:t>
            </a:r>
            <a:r>
              <a:rPr kumimoji="1" lang="en-US" altLang="zh-CN" dirty="0"/>
              <a:t>Challenges</a:t>
            </a:r>
            <a:endParaRPr kumimoji="1" lang="zh-CN" altLang="en-US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75" t="23444" r="14474" b="32552"/>
          <a:stretch/>
        </p:blipFill>
        <p:spPr>
          <a:xfrm>
            <a:off x="1134219" y="3830412"/>
            <a:ext cx="1989182" cy="20417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90" t="23502" r="14160" b="32632"/>
          <a:stretch/>
        </p:blipFill>
        <p:spPr>
          <a:xfrm>
            <a:off x="3883881" y="3839410"/>
            <a:ext cx="2000572" cy="2032749"/>
          </a:xfrm>
          <a:prstGeom prst="rect">
            <a:avLst/>
          </a:prstGeom>
        </p:spPr>
      </p:pic>
      <p:sp>
        <p:nvSpPr>
          <p:cNvPr id="27" name="上箭头 26"/>
          <p:cNvSpPr/>
          <p:nvPr/>
        </p:nvSpPr>
        <p:spPr bwMode="auto">
          <a:xfrm rot="10800000">
            <a:off x="2334445" y="3881734"/>
            <a:ext cx="444697" cy="449785"/>
          </a:xfrm>
          <a:prstGeom prst="upArrow">
            <a:avLst>
              <a:gd name="adj1" fmla="val 35487"/>
              <a:gd name="adj2" fmla="val 56165"/>
            </a:avLst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8" name="上箭头 27"/>
          <p:cNvSpPr/>
          <p:nvPr/>
        </p:nvSpPr>
        <p:spPr bwMode="auto">
          <a:xfrm rot="10800000">
            <a:off x="4161651" y="3867504"/>
            <a:ext cx="444697" cy="449785"/>
          </a:xfrm>
          <a:prstGeom prst="upArrow">
            <a:avLst>
              <a:gd name="adj1" fmla="val 35487"/>
              <a:gd name="adj2" fmla="val 56165"/>
            </a:avLst>
          </a:prstGeom>
          <a:solidFill>
            <a:schemeClr val="accent2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392540" y="5872159"/>
            <a:ext cx="1472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smtClean="0"/>
              <a:t>Frame 51</a:t>
            </a:r>
            <a:endParaRPr kumimoji="1"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4138876" y="5872159"/>
            <a:ext cx="1472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 smtClean="0"/>
              <a:t>Frame 60</a:t>
            </a:r>
            <a:endParaRPr kumimoji="1"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6626891" y="4631715"/>
            <a:ext cx="1675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 smtClean="0">
                <a:solidFill>
                  <a:srgbClr val="FF0000"/>
                </a:solidFill>
              </a:rPr>
              <a:t>ID Switch!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7" name="声音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15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37584"/>
      </p:ext>
    </p:extLst>
  </p:cSld>
  <p:clrMapOvr>
    <a:masterClrMapping/>
  </p:clrMapOvr>
  <p:transition advTm="1209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66738" y="1341438"/>
            <a:ext cx="8001000" cy="1849022"/>
          </a:xfrm>
        </p:spPr>
        <p:txBody>
          <a:bodyPr/>
          <a:lstStyle/>
          <a:p>
            <a:r>
              <a:rPr kumimoji="1" lang="en-US" altLang="zh-CN" b="1" dirty="0" smtClean="0"/>
              <a:t>An attention-based appearance model</a:t>
            </a:r>
          </a:p>
          <a:p>
            <a:r>
              <a:rPr kumimoji="1" lang="en-US" altLang="zh-CN" b="1" dirty="0" smtClean="0"/>
              <a:t>A scene structure model</a:t>
            </a:r>
          </a:p>
          <a:p>
            <a:r>
              <a:rPr kumimoji="1" lang="en-US" altLang="zh-CN" b="1" dirty="0" smtClean="0"/>
              <a:t>An obstacle map segmentation method</a:t>
            </a:r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EC9ADF-B1B4-4273-93C3-67D3F750645F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Our Method</a:t>
            </a:r>
            <a:endParaRPr kumimoji="1" lang="zh-CN" altLang="en-US" dirty="0"/>
          </a:p>
        </p:txBody>
      </p:sp>
      <p:pic>
        <p:nvPicPr>
          <p:cNvPr id="6" name="内容占位符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" t="33447" r="65826" b="43584"/>
          <a:stretch/>
        </p:blipFill>
        <p:spPr bwMode="auto">
          <a:xfrm>
            <a:off x="817459" y="3550824"/>
            <a:ext cx="2475585" cy="1769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内容占位符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54" t="33447" b="37784"/>
          <a:stretch/>
        </p:blipFill>
        <p:spPr bwMode="auto">
          <a:xfrm>
            <a:off x="5717796" y="3550823"/>
            <a:ext cx="3426204" cy="2216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内容占位符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75" t="33447" r="38546" b="43584"/>
          <a:stretch/>
        </p:blipFill>
        <p:spPr bwMode="auto">
          <a:xfrm>
            <a:off x="3293044" y="3550823"/>
            <a:ext cx="2424752" cy="1769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声音 9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15300" y="58293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64990278"/>
      </p:ext>
    </p:extLst>
  </p:cSld>
  <p:clrMapOvr>
    <a:masterClrMapping/>
  </p:clrMapOvr>
  <p:transition advTm="2819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2400" dirty="0" smtClean="0"/>
              <a:t>Tuesday 23 October</a:t>
            </a:r>
          </a:p>
          <a:p>
            <a:r>
              <a:rPr lang="en-US" altLang="zh-CN" sz="2400" dirty="0" smtClean="0"/>
              <a:t>16:30 – 18:00</a:t>
            </a:r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95275" y="2180494"/>
            <a:ext cx="8534400" cy="1011180"/>
          </a:xfrm>
        </p:spPr>
        <p:txBody>
          <a:bodyPr/>
          <a:lstStyle/>
          <a:p>
            <a:pPr algn="ctr"/>
            <a:r>
              <a:rPr lang="en-US" altLang="zh-CN" sz="2800" dirty="0" smtClean="0"/>
              <a:t>Location: Crystal </a:t>
            </a:r>
            <a:r>
              <a:rPr lang="en-US" altLang="zh-CN" sz="2800" dirty="0"/>
              <a:t>Ballroom </a:t>
            </a:r>
            <a:r>
              <a:rPr lang="en-US" altLang="zh-CN" sz="2800" dirty="0" smtClean="0"/>
              <a:t>Lobby</a:t>
            </a:r>
            <a:endParaRPr lang="zh-CN" altLang="en-US" sz="2800" dirty="0"/>
          </a:p>
        </p:txBody>
      </p:sp>
      <p:pic>
        <p:nvPicPr>
          <p:cNvPr id="6" name="声音 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15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2680"/>
      </p:ext>
    </p:extLst>
  </p:cSld>
  <p:clrMapOvr>
    <a:masterClrMapping/>
  </p:clrMapOvr>
  <p:transition advTm="1596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5|4"/>
</p:tagLst>
</file>

<file path=ppt/theme/theme1.xml><?xml version="1.0" encoding="utf-8"?>
<a:theme xmlns:a="http://schemas.openxmlformats.org/drawingml/2006/main" name="IDM">
  <a:themeElements>
    <a:clrScheme name="1_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1_Profile">
      <a:majorFont>
        <a:latin typeface="Book Antiqu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26176</TotalTime>
  <Words>87</Words>
  <Application>Microsoft Macintosh PowerPoint</Application>
  <PresentationFormat>全屏显示(4:3)</PresentationFormat>
  <Paragraphs>33</Paragraphs>
  <Slides>5</Slides>
  <Notes>2</Notes>
  <HiddenSlides>0</HiddenSlides>
  <MMClips>5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Book Antiqua</vt:lpstr>
      <vt:lpstr>Calibri</vt:lpstr>
      <vt:lpstr>Times New Roman</vt:lpstr>
      <vt:lpstr>Wingdings</vt:lpstr>
      <vt:lpstr>黑体</vt:lpstr>
      <vt:lpstr>华文行楷</vt:lpstr>
      <vt:lpstr>宋体</vt:lpstr>
      <vt:lpstr>IDM</vt:lpstr>
      <vt:lpstr>OSMO: Online Specific Models for Occlusion in Multiple Object Tracking under Surveillance Scene</vt:lpstr>
      <vt:lpstr>Problem and Challenges</vt:lpstr>
      <vt:lpstr>Problem and Challenges</vt:lpstr>
      <vt:lpstr>Our Method</vt:lpstr>
      <vt:lpstr>Location: Crystal Ballroom Lobby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Jian Zhang</dc:creator>
  <cp:lastModifiedBy>高 旭</cp:lastModifiedBy>
  <cp:revision>2324</cp:revision>
  <dcterms:created xsi:type="dcterms:W3CDTF">2015-04-20T08:27:29Z</dcterms:created>
  <dcterms:modified xsi:type="dcterms:W3CDTF">2018-10-12T06:46:58Z</dcterms:modified>
</cp:coreProperties>
</file>